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12192000"/>
  <p:embeddedFontLst>
    <p:embeddedFont>
      <p:font typeface="Playfair Display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MubD3HEXPcqKJxTaJG7tRFPoM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5AE273-5CA2-4504-BCAD-10C1AFD16D54}">
  <a:tblStyle styleId="{CF5AE273-5CA2-4504-BCAD-10C1AFD16D5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layfairDisplay-bold.fntdata"/><Relationship Id="rId23" Type="http://schemas.openxmlformats.org/officeDocument/2006/relationships/font" Target="fonts/PlayfairDisplay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layfairDisplay-boldItalic.fntdata"/><Relationship Id="rId25" Type="http://schemas.openxmlformats.org/officeDocument/2006/relationships/font" Target="fonts/PlayfairDisplay-italic.fntdata"/><Relationship Id="rId27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46d7b34f3_1_32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937"/>
                </a:solidFill>
              </a:rPr>
              <a:t>Hi everyone. Today we’re presenting our project of QLoRA Recipe Chef. To be more specific, we fined tune a small language model Qwen 2.5 with Qlora to make it a recipe generator.</a:t>
            </a:r>
            <a:endParaRPr/>
          </a:p>
        </p:txBody>
      </p:sp>
      <p:sp>
        <p:nvSpPr>
          <p:cNvPr id="92" name="Google Shape;92;g3e46d7b34f3_1_32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2937"/>
                </a:solidFill>
              </a:rPr>
              <a:t>Before we get into the details, let’s take a look at the project in one slide.</a:t>
            </a:r>
            <a:endParaRPr>
              <a:solidFill>
                <a:srgbClr val="1F2937"/>
              </a:solidFill>
            </a:endParaRPr>
          </a:p>
          <a:p>
            <a:pPr indent="0" lvl="0" marL="0" rtl="0" algn="l">
              <a:lnSpc>
                <a:spcPct val="13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2937"/>
                </a:solidFill>
              </a:rPr>
              <a:t>On the left, three things make this project stand out. First, it is efficient. We only train 1.18% of the model. The whole training run uses less than 5 gigabytes of GPU memory. Second, it is controllable. The model takes a cuisine tag and a diet tag, so users can steer the output. Third, we measured it carefully. We have five metrics, three baselines, and a rank ablation.</a:t>
            </a:r>
            <a:endParaRPr>
              <a:solidFill>
                <a:srgbClr val="1F2937"/>
              </a:solidFill>
            </a:endParaRPr>
          </a:p>
          <a:p>
            <a:pPr indent="0" lvl="0" marL="0" rtl="0" algn="l">
              <a:lnSpc>
                <a:spcPct val="13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2937"/>
                </a:solidFill>
              </a:rPr>
              <a:t>On the right are the numbers from our evaluation. Perplexity drops by 77%. ROUGE-L goes up by 58%. Ingredient fidelity hits 0.97. And general knowledge actually improves, from 90 to 95%.</a:t>
            </a:r>
            <a:endParaRPr>
              <a:solidFill>
                <a:srgbClr val="1F293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2937"/>
                </a:solidFill>
              </a:rPr>
              <a:t>We will explain each of these numbers later.</a:t>
            </a:r>
            <a:endParaRPr>
              <a:solidFill>
                <a:srgbClr val="1F293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2937"/>
                </a:solidFill>
              </a:rPr>
              <a:t>So, what exactly did we build?</a:t>
            </a:r>
            <a:endParaRPr>
              <a:solidFill>
                <a:srgbClr val="1F2937"/>
              </a:solidFill>
            </a:endParaRPr>
          </a:p>
          <a:p>
            <a:pPr indent="0" lvl="0" marL="0" rtl="0" algn="l">
              <a:lnSpc>
                <a:spcPct val="13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2937"/>
                </a:solidFill>
              </a:rPr>
              <a:t>The base model is Qwen 2.5, the 1.5 billion parameter instruct version. It is open source and free to use.</a:t>
            </a:r>
            <a:endParaRPr>
              <a:solidFill>
                <a:srgbClr val="1F2937"/>
              </a:solidFill>
            </a:endParaRPr>
          </a:p>
          <a:p>
            <a:pPr indent="0" lvl="0" marL="0" rtl="0" algn="l">
              <a:lnSpc>
                <a:spcPct val="13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2937"/>
                </a:solidFill>
              </a:rPr>
              <a:t>The method is QLoRA. That stands for Quantized Low-Rank Adaptation. We will explain how it works in a few slides.</a:t>
            </a:r>
            <a:endParaRPr>
              <a:solidFill>
                <a:srgbClr val="1F2937"/>
              </a:solidFill>
            </a:endParaRPr>
          </a:p>
          <a:p>
            <a:pPr indent="0" lvl="0" marL="0" rtl="0" algn="l">
              <a:lnSpc>
                <a:spcPct val="13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2937"/>
                </a:solidFill>
              </a:rPr>
              <a:t>For data, we used a public dataset called recipe-nlg-llama2.</a:t>
            </a:r>
            <a:endParaRPr>
              <a:solidFill>
                <a:srgbClr val="1F2937"/>
              </a:solidFill>
            </a:endParaRPr>
          </a:p>
          <a:p>
            <a:pPr indent="0" lvl="0" marL="0" rtl="0" algn="l">
              <a:lnSpc>
                <a:spcPct val="13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2937"/>
                </a:solidFill>
              </a:rPr>
              <a:t>Our extension — the thing that makes this project different from existing models — is the cuisine and diet conditioning. We will get to that later as well.</a:t>
            </a:r>
            <a:endParaRPr>
              <a:solidFill>
                <a:srgbClr val="1F2937"/>
              </a:solidFill>
            </a:endParaRPr>
          </a:p>
          <a:p>
            <a:pPr indent="0" lvl="0" marL="0" rtl="0" algn="l">
              <a:lnSpc>
                <a:spcPct val="133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</a:pPr>
            <a:r>
              <a:rPr lang="en-US">
                <a:solidFill>
                  <a:srgbClr val="1F2937"/>
                </a:solidFill>
              </a:rPr>
              <a:t>The example on the right shows what the model does. You give it five ingredients, a cuisine, and a diet. You get back a recipe with the title, the ingredient list, and the directions, all in a clean structured format.</a:t>
            </a:r>
            <a:endParaRPr/>
          </a:p>
        </p:txBody>
      </p:sp>
      <p:sp>
        <p:nvSpPr>
          <p:cNvPr id="140" name="Google Shape;14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2937"/>
                </a:solidFill>
              </a:rPr>
              <a:t>Now let’s get into the details.</a:t>
            </a:r>
            <a:endParaRPr>
              <a:solidFill>
                <a:srgbClr val="1F2937"/>
              </a:solidFill>
            </a:endParaRPr>
          </a:p>
          <a:p>
            <a:pPr indent="0" lvl="0" marL="0" rtl="0" algn="l">
              <a:lnSpc>
                <a:spcPct val="13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2937"/>
                </a:solidFill>
              </a:rPr>
              <a:t>Our dataset recipe-nlg-llama2,  is a chat-formatted version of RecipeNLG, which is a published cooking dataset in 2020.</a:t>
            </a:r>
            <a:endParaRPr>
              <a:solidFill>
                <a:srgbClr val="1F2937"/>
              </a:solidFill>
            </a:endParaRPr>
          </a:p>
          <a:p>
            <a:pPr indent="0" lvl="0" marL="0" rtl="0" algn="l">
              <a:lnSpc>
                <a:spcPct val="13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2937"/>
                </a:solidFill>
              </a:rPr>
              <a:t>Some quick numbers — 2.2 million total recipes. We used 20000 for training, 500 for held-out testing, and the corpus has about 10000 unique ingredients.</a:t>
            </a:r>
            <a:endParaRPr>
              <a:solidFill>
                <a:srgbClr val="1F2937"/>
              </a:solidFill>
            </a:endParaRPr>
          </a:p>
          <a:p>
            <a:pPr indent="0" lvl="0" marL="0" rtl="0" algn="l">
              <a:lnSpc>
                <a:spcPct val="13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2937"/>
                </a:solidFill>
              </a:rPr>
              <a:t>The schema is simple. Each recipe has a title, a bulleted ingredient list with quantities, a bulleted set of cooking steps, an ingredient name list without quantities, and a source tag.</a:t>
            </a:r>
            <a:endParaRPr>
              <a:solidFill>
                <a:srgbClr val="1F293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1F2937"/>
                </a:solidFill>
              </a:rPr>
              <a:t>The chart on the right shows the most common ingredients. You can see that the corpus is very Western — salt, butter, and sugar dominate, which is an limitation of our data. Our model will be better at American or European recipes than, say, Chinese or Korean recipes.</a:t>
            </a:r>
            <a:endParaRPr/>
          </a:p>
        </p:txBody>
      </p:sp>
      <p:sp>
        <p:nvSpPr>
          <p:cNvPr id="167" name="Google Shape;1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e46d7b34f3_1_49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e46d7b34f3_1_49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46d7b34f3_1_408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" name="Google Shape;13;g3e46d7b34f3_1_408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4" name="Google Shape;14;g3e46d7b34f3_1_408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/>
            </a:lvl1pPr>
            <a:lvl2pPr indent="0" lvl="1" marL="0" algn="r">
              <a:spcBef>
                <a:spcPts val="0"/>
              </a:spcBef>
              <a:buNone/>
              <a:defRPr sz="900"/>
            </a:lvl2pPr>
            <a:lvl3pPr indent="0" lvl="2" marL="0" algn="r">
              <a:spcBef>
                <a:spcPts val="0"/>
              </a:spcBef>
              <a:buNone/>
              <a:defRPr sz="900"/>
            </a:lvl3pPr>
            <a:lvl4pPr indent="0" lvl="3" marL="0" algn="r">
              <a:spcBef>
                <a:spcPts val="0"/>
              </a:spcBef>
              <a:buNone/>
              <a:defRPr sz="900"/>
            </a:lvl4pPr>
            <a:lvl5pPr indent="0" lvl="4" marL="0" algn="r">
              <a:spcBef>
                <a:spcPts val="0"/>
              </a:spcBef>
              <a:buNone/>
              <a:defRPr sz="900"/>
            </a:lvl5pPr>
            <a:lvl6pPr indent="0" lvl="5" marL="0" algn="r">
              <a:spcBef>
                <a:spcPts val="0"/>
              </a:spcBef>
              <a:buNone/>
              <a:defRPr sz="900"/>
            </a:lvl6pPr>
            <a:lvl7pPr indent="0" lvl="6" marL="0" algn="r">
              <a:spcBef>
                <a:spcPts val="0"/>
              </a:spcBef>
              <a:buNone/>
              <a:defRPr sz="900"/>
            </a:lvl7pPr>
            <a:lvl8pPr indent="0" lvl="7" marL="0" algn="r">
              <a:spcBef>
                <a:spcPts val="0"/>
              </a:spcBef>
              <a:buNone/>
              <a:defRPr sz="900"/>
            </a:lvl8pPr>
            <a:lvl9pPr indent="0" lvl="8" marL="0" algn="r">
              <a:spcBef>
                <a:spcPts val="0"/>
              </a:spcBef>
              <a:buNone/>
              <a:defRPr sz="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e46d7b34f3_1_512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3" name="Google Shape;23;g3e46d7b34f3_1_512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4" name="Google Shape;24;g3e46d7b34f3_1_512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e46d7b34f3_1_516"/>
          <p:cNvSpPr txBox="1"/>
          <p:nvPr>
            <p:ph type="ctrTitle"/>
          </p:nvPr>
        </p:nvSpPr>
        <p:spPr>
          <a:xfrm>
            <a:off x="457200" y="1420283"/>
            <a:ext cx="51816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7" name="Google Shape;27;g3e46d7b34f3_1_516"/>
          <p:cNvSpPr txBox="1"/>
          <p:nvPr>
            <p:ph idx="1" type="subTitle"/>
          </p:nvPr>
        </p:nvSpPr>
        <p:spPr>
          <a:xfrm>
            <a:off x="914400" y="2590800"/>
            <a:ext cx="42672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g3e46d7b34f3_1_516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9" name="Google Shape;29;g3e46d7b34f3_1_516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0" name="Google Shape;30;g3e46d7b34f3_1_516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e46d7b34f3_1_522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3" name="Google Shape;33;g3e46d7b34f3_1_522"/>
          <p:cNvSpPr txBox="1"/>
          <p:nvPr>
            <p:ph idx="1" type="body"/>
          </p:nvPr>
        </p:nvSpPr>
        <p:spPr>
          <a:xfrm>
            <a:off x="304800" y="10668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34" name="Google Shape;34;g3e46d7b34f3_1_522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5" name="Google Shape;35;g3e46d7b34f3_1_522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6" name="Google Shape;36;g3e46d7b34f3_1_522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e46d7b34f3_1_528"/>
          <p:cNvSpPr txBox="1"/>
          <p:nvPr>
            <p:ph type="title"/>
          </p:nvPr>
        </p:nvSpPr>
        <p:spPr>
          <a:xfrm>
            <a:off x="481542" y="2937933"/>
            <a:ext cx="5181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 cap="none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9" name="Google Shape;39;g3e46d7b34f3_1_528"/>
          <p:cNvSpPr txBox="1"/>
          <p:nvPr>
            <p:ph idx="1" type="body"/>
          </p:nvPr>
        </p:nvSpPr>
        <p:spPr>
          <a:xfrm>
            <a:off x="481542" y="1937809"/>
            <a:ext cx="51816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g3e46d7b34f3_1_528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1" name="Google Shape;41;g3e46d7b34f3_1_528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2" name="Google Shape;42;g3e46d7b34f3_1_528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e46d7b34f3_1_534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5" name="Google Shape;45;g3e46d7b34f3_1_534"/>
          <p:cNvSpPr txBox="1"/>
          <p:nvPr>
            <p:ph idx="1" type="body"/>
          </p:nvPr>
        </p:nvSpPr>
        <p:spPr>
          <a:xfrm>
            <a:off x="304800" y="1066800"/>
            <a:ext cx="26925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492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1pPr>
            <a:lvl2pPr indent="-3302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11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6" name="Google Shape;46;g3e46d7b34f3_1_534"/>
          <p:cNvSpPr txBox="1"/>
          <p:nvPr>
            <p:ph idx="2" type="body"/>
          </p:nvPr>
        </p:nvSpPr>
        <p:spPr>
          <a:xfrm>
            <a:off x="3098800" y="1066800"/>
            <a:ext cx="26925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492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1pPr>
            <a:lvl2pPr indent="-3302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11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7" name="Google Shape;47;g3e46d7b34f3_1_534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8" name="Google Shape;48;g3e46d7b34f3_1_534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9" name="Google Shape;49;g3e46d7b34f3_1_534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46d7b34f3_1_541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2" name="Google Shape;52;g3e46d7b34f3_1_541"/>
          <p:cNvSpPr txBox="1"/>
          <p:nvPr>
            <p:ph idx="1" type="body"/>
          </p:nvPr>
        </p:nvSpPr>
        <p:spPr>
          <a:xfrm>
            <a:off x="304800" y="1023409"/>
            <a:ext cx="26934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9pPr>
          </a:lstStyle>
          <a:p/>
        </p:txBody>
      </p:sp>
      <p:sp>
        <p:nvSpPr>
          <p:cNvPr id="53" name="Google Shape;53;g3e46d7b34f3_1_541"/>
          <p:cNvSpPr txBox="1"/>
          <p:nvPr>
            <p:ph idx="2" type="body"/>
          </p:nvPr>
        </p:nvSpPr>
        <p:spPr>
          <a:xfrm>
            <a:off x="304800" y="1449917"/>
            <a:ext cx="2693400" cy="26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11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54" name="Google Shape;54;g3e46d7b34f3_1_541"/>
          <p:cNvSpPr txBox="1"/>
          <p:nvPr>
            <p:ph idx="3" type="body"/>
          </p:nvPr>
        </p:nvSpPr>
        <p:spPr>
          <a:xfrm>
            <a:off x="3096683" y="1023409"/>
            <a:ext cx="26946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9pPr>
          </a:lstStyle>
          <a:p/>
        </p:txBody>
      </p:sp>
      <p:sp>
        <p:nvSpPr>
          <p:cNvPr id="55" name="Google Shape;55;g3e46d7b34f3_1_541"/>
          <p:cNvSpPr txBox="1"/>
          <p:nvPr>
            <p:ph idx="4" type="body"/>
          </p:nvPr>
        </p:nvSpPr>
        <p:spPr>
          <a:xfrm>
            <a:off x="3096683" y="1449917"/>
            <a:ext cx="2694600" cy="26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11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56" name="Google Shape;56;g3e46d7b34f3_1_541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7" name="Google Shape;57;g3e46d7b34f3_1_541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8" name="Google Shape;58;g3e46d7b34f3_1_541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46d7b34f3_1_550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1" name="Google Shape;61;g3e46d7b34f3_1_550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2" name="Google Shape;62;g3e46d7b34f3_1_550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3" name="Google Shape;63;g3e46d7b34f3_1_550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46d7b34f3_1_555"/>
          <p:cNvSpPr txBox="1"/>
          <p:nvPr>
            <p:ph type="title"/>
          </p:nvPr>
        </p:nvSpPr>
        <p:spPr>
          <a:xfrm>
            <a:off x="304800" y="182033"/>
            <a:ext cx="20055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6" name="Google Shape;66;g3e46d7b34f3_1_555"/>
          <p:cNvSpPr txBox="1"/>
          <p:nvPr>
            <p:ph idx="1" type="body"/>
          </p:nvPr>
        </p:nvSpPr>
        <p:spPr>
          <a:xfrm>
            <a:off x="2383367" y="182033"/>
            <a:ext cx="3407700" cy="3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92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indent="-3302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11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4pPr>
            <a:lvl5pPr indent="-3111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 sz="1300"/>
            </a:lvl5pPr>
            <a:lvl6pPr indent="-3111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6pPr>
            <a:lvl7pPr indent="-3111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7pPr>
            <a:lvl8pPr indent="-3111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8pPr>
            <a:lvl9pPr indent="-3111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9pPr>
          </a:lstStyle>
          <a:p/>
        </p:txBody>
      </p:sp>
      <p:sp>
        <p:nvSpPr>
          <p:cNvPr id="67" name="Google Shape;67;g3e46d7b34f3_1_555"/>
          <p:cNvSpPr txBox="1"/>
          <p:nvPr>
            <p:ph idx="2" type="body"/>
          </p:nvPr>
        </p:nvSpPr>
        <p:spPr>
          <a:xfrm>
            <a:off x="304800" y="956733"/>
            <a:ext cx="2005500" cy="3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68" name="Google Shape;68;g3e46d7b34f3_1_555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9" name="Google Shape;69;g3e46d7b34f3_1_555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0" name="Google Shape;70;g3e46d7b34f3_1_555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46d7b34f3_1_562"/>
          <p:cNvSpPr txBox="1"/>
          <p:nvPr>
            <p:ph type="title"/>
          </p:nvPr>
        </p:nvSpPr>
        <p:spPr>
          <a:xfrm>
            <a:off x="1194859" y="3200400"/>
            <a:ext cx="36576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3" name="Google Shape;73;g3e46d7b34f3_1_562"/>
          <p:cNvSpPr/>
          <p:nvPr>
            <p:ph idx="2" type="pic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g3e46d7b34f3_1_562"/>
          <p:cNvSpPr txBox="1"/>
          <p:nvPr>
            <p:ph idx="1" type="body"/>
          </p:nvPr>
        </p:nvSpPr>
        <p:spPr>
          <a:xfrm>
            <a:off x="1194859" y="3578225"/>
            <a:ext cx="3657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75" name="Google Shape;75;g3e46d7b34f3_1_562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6" name="Google Shape;76;g3e46d7b34f3_1_562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7" name="Google Shape;77;g3e46d7b34f3_1_562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46d7b34f3_1_569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0" name="Google Shape;80;g3e46d7b34f3_1_569"/>
          <p:cNvSpPr txBox="1"/>
          <p:nvPr>
            <p:ph idx="1" type="body"/>
          </p:nvPr>
        </p:nvSpPr>
        <p:spPr>
          <a:xfrm rot="5400000">
            <a:off x="1539300" y="-167700"/>
            <a:ext cx="3017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81" name="Google Shape;81;g3e46d7b34f3_1_569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2" name="Google Shape;82;g3e46d7b34f3_1_569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3" name="Google Shape;83;g3e46d7b34f3_1_569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46d7b34f3_1_575"/>
          <p:cNvSpPr txBox="1"/>
          <p:nvPr>
            <p:ph type="title"/>
          </p:nvPr>
        </p:nvSpPr>
        <p:spPr>
          <a:xfrm rot="5400000">
            <a:off x="3154950" y="1447742"/>
            <a:ext cx="3900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6" name="Google Shape;86;g3e46d7b34f3_1_575"/>
          <p:cNvSpPr txBox="1"/>
          <p:nvPr>
            <p:ph idx="1" type="body"/>
          </p:nvPr>
        </p:nvSpPr>
        <p:spPr>
          <a:xfrm rot="5400000">
            <a:off x="361000" y="126992"/>
            <a:ext cx="3900900" cy="40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87" name="Google Shape;87;g3e46d7b34f3_1_575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8" name="Google Shape;88;g3e46d7b34f3_1_575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9" name="Google Shape;89;g3e46d7b34f3_1_575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e46d7b34f3_1_506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9pPr>
          </a:lstStyle>
          <a:p/>
        </p:txBody>
      </p:sp>
      <p:sp>
        <p:nvSpPr>
          <p:cNvPr id="17" name="Google Shape;17;g3e46d7b34f3_1_506"/>
          <p:cNvSpPr txBox="1"/>
          <p:nvPr>
            <p:ph idx="1" type="body"/>
          </p:nvPr>
        </p:nvSpPr>
        <p:spPr>
          <a:xfrm>
            <a:off x="304800" y="10668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61950" lvl="0" marL="457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92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–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»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11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11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11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11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g3e46d7b34f3_1_506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g3e46d7b34f3_1_506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g3e46d7b34f3_1_506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19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hyperlink" Target="https://fd56c97b162f24d0d0.gradio.live/" TargetMode="External"/><Relationship Id="rId5" Type="http://schemas.openxmlformats.org/officeDocument/2006/relationships/hyperlink" Target="https://6d075db11635a591d1.gradio.live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Relationship Id="rId7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46d7b34f3_1_322"/>
          <p:cNvSpPr/>
          <p:nvPr/>
        </p:nvSpPr>
        <p:spPr>
          <a:xfrm>
            <a:off x="9319108" y="73226"/>
            <a:ext cx="2472892" cy="2432427"/>
          </a:xfrm>
          <a:custGeom>
            <a:rect b="b" l="l" r="r" t="t"/>
            <a:pathLst>
              <a:path extrusionOk="0" h="3644085" w="3704707">
                <a:moveTo>
                  <a:pt x="0" y="0"/>
                </a:moveTo>
                <a:lnTo>
                  <a:pt x="3704707" y="0"/>
                </a:lnTo>
                <a:lnTo>
                  <a:pt x="3704707" y="3644085"/>
                </a:lnTo>
                <a:lnTo>
                  <a:pt x="0" y="3644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g3e46d7b34f3_1_322"/>
          <p:cNvSpPr/>
          <p:nvPr/>
        </p:nvSpPr>
        <p:spPr>
          <a:xfrm rot="795171">
            <a:off x="176507" y="-20035"/>
            <a:ext cx="2306159" cy="2420587"/>
          </a:xfrm>
          <a:custGeom>
            <a:rect b="b" l="l" r="r" t="t"/>
            <a:pathLst>
              <a:path extrusionOk="0" h="3638798" w="3466782">
                <a:moveTo>
                  <a:pt x="0" y="0"/>
                </a:moveTo>
                <a:lnTo>
                  <a:pt x="3466783" y="0"/>
                </a:lnTo>
                <a:lnTo>
                  <a:pt x="3466783" y="3638798"/>
                </a:lnTo>
                <a:lnTo>
                  <a:pt x="0" y="36387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g3e46d7b34f3_1_322"/>
          <p:cNvSpPr/>
          <p:nvPr/>
        </p:nvSpPr>
        <p:spPr>
          <a:xfrm>
            <a:off x="-528154" y="3848383"/>
            <a:ext cx="3015262" cy="2746629"/>
          </a:xfrm>
          <a:custGeom>
            <a:rect b="b" l="l" r="r" t="t"/>
            <a:pathLst>
              <a:path extrusionOk="0" h="4114800" w="4517246">
                <a:moveTo>
                  <a:pt x="0" y="0"/>
                </a:moveTo>
                <a:lnTo>
                  <a:pt x="4517246" y="0"/>
                </a:lnTo>
                <a:lnTo>
                  <a:pt x="4517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g3e46d7b34f3_1_322"/>
          <p:cNvSpPr/>
          <p:nvPr/>
        </p:nvSpPr>
        <p:spPr>
          <a:xfrm>
            <a:off x="10826789" y="3586105"/>
            <a:ext cx="2746629" cy="2746629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g3e46d7b34f3_1_322"/>
          <p:cNvSpPr txBox="1"/>
          <p:nvPr/>
        </p:nvSpPr>
        <p:spPr>
          <a:xfrm>
            <a:off x="1835100" y="2740175"/>
            <a:ext cx="8521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4D3E2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QLoRA Recipe Chef</a:t>
            </a:r>
            <a:endParaRPr sz="72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9" name="Google Shape;99;g3e46d7b34f3_1_322"/>
          <p:cNvSpPr/>
          <p:nvPr/>
        </p:nvSpPr>
        <p:spPr>
          <a:xfrm>
            <a:off x="4327410" y="5369031"/>
            <a:ext cx="3810436" cy="1842865"/>
          </a:xfrm>
          <a:custGeom>
            <a:rect b="b" l="l" r="r" t="t"/>
            <a:pathLst>
              <a:path extrusionOk="0" h="2760847" w="5708519">
                <a:moveTo>
                  <a:pt x="0" y="0"/>
                </a:moveTo>
                <a:lnTo>
                  <a:pt x="5708519" y="0"/>
                </a:lnTo>
                <a:lnTo>
                  <a:pt x="5708519" y="2760847"/>
                </a:lnTo>
                <a:lnTo>
                  <a:pt x="0" y="27608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g3e46d7b34f3_1_322"/>
          <p:cNvSpPr/>
          <p:nvPr/>
        </p:nvSpPr>
        <p:spPr>
          <a:xfrm rot="-1946294">
            <a:off x="4912141" y="-903455"/>
            <a:ext cx="2367224" cy="1614016"/>
          </a:xfrm>
          <a:custGeom>
            <a:rect b="b" l="l" r="r" t="t"/>
            <a:pathLst>
              <a:path extrusionOk="0" h="2421656" w="3551763">
                <a:moveTo>
                  <a:pt x="0" y="0"/>
                </a:moveTo>
                <a:lnTo>
                  <a:pt x="3551762" y="0"/>
                </a:lnTo>
                <a:lnTo>
                  <a:pt x="3551762" y="2421656"/>
                </a:lnTo>
                <a:lnTo>
                  <a:pt x="0" y="242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g3e46d7b34f3_1_322"/>
          <p:cNvSpPr txBox="1"/>
          <p:nvPr/>
        </p:nvSpPr>
        <p:spPr>
          <a:xfrm>
            <a:off x="2108225" y="3955888"/>
            <a:ext cx="824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Controllable recipe generation via parameter-efficient fine-tuning of Qwen 2.5 </a:t>
            </a:r>
            <a:endParaRPr i="1" sz="2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e46d7b34f3_1_322"/>
          <p:cNvSpPr txBox="1"/>
          <p:nvPr/>
        </p:nvSpPr>
        <p:spPr>
          <a:xfrm>
            <a:off x="3835350" y="1786450"/>
            <a:ext cx="452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4125"/>
                </a:solidFill>
                <a:latin typeface="Calibri"/>
                <a:ea typeface="Calibri"/>
                <a:cs typeface="Calibri"/>
                <a:sym typeface="Calibri"/>
              </a:rPr>
              <a:t>Machine Learning II  –  Spring 2026</a:t>
            </a:r>
            <a:endParaRPr sz="1800">
              <a:solidFill>
                <a:srgbClr val="CC41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4125"/>
                </a:solidFill>
                <a:latin typeface="Calibri"/>
                <a:ea typeface="Calibri"/>
                <a:cs typeface="Calibri"/>
                <a:sym typeface="Calibri"/>
              </a:rPr>
              <a:t>Harleen Buttar, Haiyang Hu, Mohan Li, Skylar Liu</a:t>
            </a:r>
            <a:endParaRPr sz="1800">
              <a:solidFill>
                <a:srgbClr val="CC41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plate_motif.png"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74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/>
          <p:nvPr/>
        </p:nvSpPr>
        <p:spPr>
          <a:xfrm>
            <a:off x="960120" y="274320"/>
            <a:ext cx="1091153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6465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at a glance</a:t>
            </a:r>
            <a:endParaRPr i="0" sz="26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960120" y="868680"/>
            <a:ext cx="1463040" cy="36576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QLoRA Recipe Chef  |  Machine Learning II — Final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640080" y="1325880"/>
            <a:ext cx="5760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We fine-tuned a 1.5B-parameter LLM into a structured recipe generator using QLoRA — quantized low-rank adaptation. Given a list of ingredients, a cuisine, and a dietary preference, the model produces a complete recipe.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↻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1280160" y="26974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Efficient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1280160" y="3017520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Only 1.18% of the base model is trainable. Whole run fits well under 5 GB VRAM.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◇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1280160" y="379476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Controllable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1280160" y="4114800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Recipes condition on a cuisine tag and a diet tag, both injected at training 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640080" y="4937760"/>
            <a:ext cx="502920" cy="50292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640080" y="49377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◎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1280160" y="489204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Measured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1280160" y="5212080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 metrics, 3 baselines, 1 rank ablation — not just one ROUGE score.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6858000" y="1930399"/>
            <a:ext cx="4755000" cy="4427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"/>
          <p:cNvSpPr/>
          <p:nvPr/>
        </p:nvSpPr>
        <p:spPr>
          <a:xfrm>
            <a:off x="6858063" y="1922788"/>
            <a:ext cx="475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HEADLINE NUMBERS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7040880" y="2456180"/>
            <a:ext cx="2103000" cy="10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−77.7%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7040880" y="3555746"/>
            <a:ext cx="2103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Perplexity reduction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(12.20 → 2.72)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9326880" y="2456180"/>
            <a:ext cx="2103000" cy="10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+58%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9326880" y="3555746"/>
            <a:ext cx="2103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ROUGE-L vs 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(0.16 → 0.26)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7040880" y="4376420"/>
            <a:ext cx="2103000" cy="10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0.97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7040880" y="5475986"/>
            <a:ext cx="2103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Ingredient fidelity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vs 0.83 baseline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9326880" y="4376420"/>
            <a:ext cx="2103000" cy="10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95%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9326880" y="5475986"/>
            <a:ext cx="2103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General knowledge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retention (vs 90%)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7402404" y="-2121285"/>
            <a:ext cx="3666199" cy="3566211"/>
          </a:xfrm>
          <a:custGeom>
            <a:rect b="b" l="l" r="r" t="t"/>
            <a:pathLst>
              <a:path extrusionOk="0" h="6148640" w="6321032">
                <a:moveTo>
                  <a:pt x="0" y="0"/>
                </a:moveTo>
                <a:lnTo>
                  <a:pt x="6321032" y="0"/>
                </a:lnTo>
                <a:lnTo>
                  <a:pt x="6321032" y="6148640"/>
                </a:lnTo>
                <a:lnTo>
                  <a:pt x="0" y="61486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plate_motif.png" id="142" name="Google Shape;14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74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"/>
          <p:cNvSpPr/>
          <p:nvPr/>
        </p:nvSpPr>
        <p:spPr>
          <a:xfrm>
            <a:off x="960120" y="274320"/>
            <a:ext cx="1091153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6465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we built</a:t>
            </a:r>
            <a:endParaRPr i="0" sz="26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960120" y="868680"/>
            <a:ext cx="1463040" cy="36576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QLoRA Recipe Chef  |  Machine Learning II — Final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9722815" y="384048"/>
            <a:ext cx="2011680" cy="365760"/>
          </a:xfrm>
          <a:prstGeom prst="roundRect">
            <a:avLst>
              <a:gd fmla="val 15000" name="adj"/>
            </a:avLst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9722815" y="38404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CONCISE DESCRIPTION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640143" y="1483360"/>
            <a:ext cx="576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A controllable recipe-generation model: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640080" y="1828800"/>
            <a:ext cx="57607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Base model: </a:t>
            </a:r>
            <a:r>
              <a:rPr b="0" i="0" lang="en-US" sz="13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Qwen 2.5-1.5B-Instruct (Apache 2.0)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6465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Method: </a:t>
            </a:r>
            <a:r>
              <a:rPr b="0" i="0" lang="en-US" sz="13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QLoRA — 4-bit NF4 quantized base + trainable low-rank adapters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6465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Data: </a:t>
            </a:r>
            <a:r>
              <a:rPr b="0" i="0" lang="en-US" sz="13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skadewdl3/recipe-nlg-llama2 (2.23M recipes; we use 20K)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6465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Our extension: </a:t>
            </a:r>
            <a:r>
              <a:rPr b="0" i="0" lang="en-US" sz="13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cuisine + dietary conditioning at training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640080" y="370332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Inspired by Daniel-Krasik/Qwen2.5-1.5B-QLoRA-Recipe (Hugging Face).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40080" y="4297680"/>
            <a:ext cx="5760720" cy="1828800"/>
          </a:xfrm>
          <a:prstGeom prst="rect">
            <a:avLst/>
          </a:prstGeom>
          <a:solidFill>
            <a:srgbClr val="CFE6E2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822960" y="443484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KEY REFERENCES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822960" y="4754880"/>
            <a:ext cx="5394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• Hu et al. (2021). </a:t>
            </a:r>
            <a:r>
              <a:rPr b="0" i="1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LoRA: Low-Rank Adaptation of Large Language Models.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• Dettmers et al. (2023). </a:t>
            </a:r>
            <a:r>
              <a:rPr b="0" i="1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QLoRA: Efficient Finetuning of Quantized LLMs.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• Bień et al. (2020). </a:t>
            </a:r>
            <a:r>
              <a:rPr b="0" i="1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RecipeNLG: A Cooking Recipes Dataset.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• Qwen Team (2024). </a:t>
            </a:r>
            <a:r>
              <a:rPr b="0" i="1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Qwen2.5 Technical Report.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6858000" y="1280160"/>
            <a:ext cx="4754880" cy="4937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6858000" y="137160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EXAMPLE INPUT → OUTPUT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7040880" y="178308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7040880" y="2057400"/>
            <a:ext cx="4389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Ingredients: </a:t>
            </a:r>
            <a:r>
              <a:rPr b="0" i="0" lang="en-US" sz="11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chicken breast, garlic, lemon,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rosemary, olive oil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Cuisine: </a:t>
            </a:r>
            <a:r>
              <a:rPr b="0" i="0" lang="en-US" sz="11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Mediterranean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Diet: </a:t>
            </a:r>
            <a:r>
              <a:rPr b="0" i="0" lang="en-US" sz="11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omnivore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7040880" y="338328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7040880" y="3657600"/>
            <a:ext cx="43891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Title: </a:t>
            </a: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Lemon Rosemary Chicken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Ingredients: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chicken breast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olive oil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garlic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rosemary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lemon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Directions: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Heat oven to 375°F. Place chicken 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roasting pan; season; combine ingredients;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roast until juices run clear.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 rot="2170777">
            <a:off x="4101075" y="187119"/>
            <a:ext cx="954544" cy="853883"/>
          </a:xfrm>
          <a:custGeom>
            <a:rect b="b" l="l" r="r" t="t"/>
            <a:pathLst>
              <a:path extrusionOk="0" h="4114800" w="4599878">
                <a:moveTo>
                  <a:pt x="0" y="0"/>
                </a:moveTo>
                <a:lnTo>
                  <a:pt x="4599878" y="0"/>
                </a:lnTo>
                <a:lnTo>
                  <a:pt x="45998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3"/>
          <p:cNvSpPr/>
          <p:nvPr/>
        </p:nvSpPr>
        <p:spPr>
          <a:xfrm rot="-2359963">
            <a:off x="5547981" y="551739"/>
            <a:ext cx="917532" cy="957575"/>
          </a:xfrm>
          <a:custGeom>
            <a:rect b="b" l="l" r="r" t="t"/>
            <a:pathLst>
              <a:path extrusionOk="0" h="4114800" w="3942727">
                <a:moveTo>
                  <a:pt x="0" y="0"/>
                </a:moveTo>
                <a:lnTo>
                  <a:pt x="3942727" y="0"/>
                </a:lnTo>
                <a:lnTo>
                  <a:pt x="39427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3"/>
          <p:cNvSpPr/>
          <p:nvPr/>
        </p:nvSpPr>
        <p:spPr>
          <a:xfrm rot="9176964">
            <a:off x="6440743" y="-426257"/>
            <a:ext cx="1066013" cy="1085754"/>
          </a:xfrm>
          <a:custGeom>
            <a:rect b="b" l="l" r="r" t="t"/>
            <a:pathLst>
              <a:path extrusionOk="0" h="4114800" w="4039985">
                <a:moveTo>
                  <a:pt x="0" y="0"/>
                </a:moveTo>
                <a:lnTo>
                  <a:pt x="4039985" y="0"/>
                </a:lnTo>
                <a:lnTo>
                  <a:pt x="40399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plate_motif.png" id="169" name="Google Shape;1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74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4"/>
          <p:cNvSpPr/>
          <p:nvPr/>
        </p:nvSpPr>
        <p:spPr>
          <a:xfrm>
            <a:off x="960120" y="274320"/>
            <a:ext cx="1091153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6465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data — RecipeNLG</a:t>
            </a:r>
            <a:endParaRPr i="0" sz="26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960120" y="868680"/>
            <a:ext cx="1463040" cy="36576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QLoRA Recipe Chef  |  Machine Learning II — Final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9722815" y="384048"/>
            <a:ext cx="2011680" cy="365760"/>
          </a:xfrm>
          <a:prstGeom prst="roundRect">
            <a:avLst>
              <a:gd fmla="val 15000" name="adj"/>
            </a:avLst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9722815" y="38404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DESCRIPTION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640080" y="1280160"/>
            <a:ext cx="4114800" cy="5029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822960" y="14173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onsolas"/>
                <a:ea typeface="Consolas"/>
                <a:cs typeface="Consolas"/>
                <a:sym typeface="Consolas"/>
              </a:rPr>
              <a:t>skadewdl3 / recipe-nlg-llama2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822960" y="178308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chat-formatted re-pack of the RecipeNLG corpus (Bień et al., 2020).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822960" y="2377440"/>
            <a:ext cx="1737360" cy="53492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2.23M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822960" y="2912364"/>
            <a:ext cx="17373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Total recipes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2743200" y="2377440"/>
            <a:ext cx="1737360" cy="53492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20K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2743200" y="2912364"/>
            <a:ext cx="17373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Training subset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822960" y="3383280"/>
            <a:ext cx="1737360" cy="53492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822960" y="3918204"/>
            <a:ext cx="17373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Held-out 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2743200" y="3383280"/>
            <a:ext cx="1737360" cy="53492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10,250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2743200" y="3918204"/>
            <a:ext cx="17373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Unique ingredients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822960" y="44348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SCHEMA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8" name="Google Shape;188;p4"/>
          <p:cNvGraphicFramePr/>
          <p:nvPr/>
        </p:nvGraphicFramePr>
        <p:xfrm>
          <a:off x="822960" y="4709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{CF5AE273-5CA2-4504-BCAD-10C1AFD16D54}</a:tableStyleId>
              </a:tblPr>
              <a:tblGrid>
                <a:gridCol w="1188725"/>
                <a:gridCol w="2560325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A9D8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title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64653"/>
                          </a:solidFill>
                        </a:rPr>
                        <a:t>Recipe name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A9D8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ingredients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64653"/>
                          </a:solidFill>
                        </a:rPr>
                        <a:t>Bulleted ingredient list with quantities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A9D8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directions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64653"/>
                          </a:solidFill>
                        </a:rPr>
                        <a:t>Bulleted cooking steps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A9D8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NER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64653"/>
                          </a:solidFill>
                        </a:rPr>
                        <a:t>Comma-separated ingredient names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A9D8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source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64653"/>
                          </a:solidFill>
                        </a:rPr>
                        <a:t>Gathered or Recipes1M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4"/>
          <p:cNvSpPr/>
          <p:nvPr/>
        </p:nvSpPr>
        <p:spPr>
          <a:xfrm>
            <a:off x="5120640" y="13716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Most frequent ingredients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5120640" y="173736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corpus skews Western (salt, butter, flour, eggs) — a real limitation we acknowledge in our conclusions.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top_ingredients.png" id="191" name="Google Shape;19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640" y="2194560"/>
            <a:ext cx="6492240" cy="402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plate_motif.png" id="197" name="Google Shape;19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74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/>
          <p:nvPr/>
        </p:nvSpPr>
        <p:spPr>
          <a:xfrm>
            <a:off x="960120" y="274320"/>
            <a:ext cx="1091153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6465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Our extension</a:t>
            </a:r>
            <a:r>
              <a:rPr b="1" lang="en-US" sz="2600">
                <a:solidFill>
                  <a:srgbClr val="26465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:</a:t>
            </a:r>
            <a:r>
              <a:rPr b="1" i="0" lang="en-US" sz="2600" u="none" cap="none" strike="noStrike">
                <a:solidFill>
                  <a:srgbClr val="26465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cuisine + diet conditioning</a:t>
            </a:r>
            <a:endParaRPr i="0" sz="26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960120" y="868680"/>
            <a:ext cx="1463040" cy="36576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QLoRA Recipe Chef  |  Machine Learning II — Final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9722815" y="384048"/>
            <a:ext cx="2011680" cy="365760"/>
          </a:xfrm>
          <a:prstGeom prst="roundRect">
            <a:avLst>
              <a:gd fmla="val 15000" name="adj"/>
            </a:avLst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9722815" y="38404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DESCRIPTION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640080" y="13258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The dataset has no cuisine or diet labels</a:t>
            </a:r>
            <a:r>
              <a:rPr b="1" lang="en-US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, s</a:t>
            </a:r>
            <a:r>
              <a:rPr b="1" i="0" lang="en-US" sz="14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o we created them.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640080" y="182880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Rule-based tagging on each recipe: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640080" y="2194560"/>
            <a:ext cx="5029200" cy="1280160"/>
          </a:xfrm>
          <a:prstGeom prst="rect">
            <a:avLst/>
          </a:prstGeom>
          <a:solidFill>
            <a:srgbClr val="CFE6E2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822960" y="228600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CUISINE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822960" y="2560320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Keyword spotting on title + ingredients picks one of 7 cuisines (American, Italian, Mexican, Asian, Indian, French, Mediterranean) — default = American.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640080" y="3611880"/>
            <a:ext cx="5029200" cy="1280160"/>
          </a:xfrm>
          <a:prstGeom prst="rect">
            <a:avLst/>
          </a:prstGeom>
          <a:solidFill>
            <a:srgbClr val="FCDDB8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822960" y="370332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F1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86F1E"/>
                </a:solidFill>
                <a:latin typeface="Calibri"/>
                <a:ea typeface="Calibri"/>
                <a:cs typeface="Calibri"/>
                <a:sym typeface="Calibri"/>
              </a:rPr>
              <a:t>DIET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822960" y="3977640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Vegan if no meat / fish / dairy / egg terms; vegetarian if no meat / fish; else omnivore.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640080" y="5074920"/>
            <a:ext cx="5029200" cy="1280160"/>
          </a:xfrm>
          <a:prstGeom prst="rect">
            <a:avLst/>
          </a:prstGeom>
          <a:solidFill>
            <a:srgbClr val="264653"/>
          </a:solidFill>
          <a:ln cap="flat" cmpd="sng" w="12700">
            <a:solidFill>
              <a:srgbClr val="264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822960" y="516636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WHY THIS IS OUR CONTRIBUTION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822960" y="5440680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reference model on Hugging Face is unconditioned. Our tags make the model controllable — same ingredients can yield Italian, Mexican, or Indian recipes by changing one input field.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6035040" y="137160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Label distribution (20K training recipes)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cuisine_diet_dist.png" id="216" name="Google Shape;21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3890" y="1783080"/>
            <a:ext cx="634619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5"/>
          <p:cNvSpPr/>
          <p:nvPr/>
        </p:nvSpPr>
        <p:spPr>
          <a:xfrm>
            <a:off x="6035040" y="5897880"/>
            <a:ext cx="5852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Labels are noisy (rule-based) but diverse — all cuisines and diets are represented, giving the model a signal to learn from.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 flipH="1" rot="-889589">
            <a:off x="9308676" y="-721756"/>
            <a:ext cx="2432669" cy="2011128"/>
          </a:xfrm>
          <a:custGeom>
            <a:rect b="b" l="l" r="r" t="t"/>
            <a:pathLst>
              <a:path extrusionOk="0" h="4114800" w="5533350">
                <a:moveTo>
                  <a:pt x="5533350" y="0"/>
                </a:moveTo>
                <a:lnTo>
                  <a:pt x="0" y="0"/>
                </a:lnTo>
                <a:lnTo>
                  <a:pt x="0" y="4114800"/>
                </a:lnTo>
                <a:lnTo>
                  <a:pt x="5533350" y="4114800"/>
                </a:lnTo>
                <a:lnTo>
                  <a:pt x="553335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"/>
          <p:cNvSpPr/>
          <p:nvPr/>
        </p:nvSpPr>
        <p:spPr>
          <a:xfrm>
            <a:off x="9554281" y="2369788"/>
            <a:ext cx="396900" cy="3969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ssets/plate_motif.png" id="225" name="Google Shape;2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74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6"/>
          <p:cNvSpPr/>
          <p:nvPr/>
        </p:nvSpPr>
        <p:spPr>
          <a:xfrm>
            <a:off x="960120" y="274320"/>
            <a:ext cx="1091153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6465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QLoRA works</a:t>
            </a:r>
            <a:endParaRPr i="0" sz="26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960120" y="868680"/>
            <a:ext cx="1463040" cy="36576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QLoRA Recipe Chef  |  Machine Learning II — Final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9722815" y="384048"/>
            <a:ext cx="2011680" cy="365760"/>
          </a:xfrm>
          <a:prstGeom prst="roundRect">
            <a:avLst>
              <a:gd fmla="val 15000" name="adj"/>
            </a:avLst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9722815" y="38404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COMPONENTS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1371600" y="1371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Freeze the base in 4-bit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1371600" y="1755648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Load Qwen 2.5-1.5B in NF4 quantization with double-quant. Base weights drop from ~3 GB → ~0.8 GB. The base is NEVER updated.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640080" y="3017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1371600" y="30175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Add a low-rank update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1371600" y="3401568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For each linear projection, learn ΔW = BA, where A is r×k and B is d×r with r=16 — dramatically fewer parameters than W itself.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640080" y="4663440"/>
            <a:ext cx="548640" cy="54864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640080" y="46634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1371600" y="46634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Train only the adapter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1371600" y="5047488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Gradients flow through dequantized W₀ into the bf16 LoRA matrices A and B. 8-bit AdamW optimizer with CPU paging keeps memory low.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5595952" y="4431675"/>
            <a:ext cx="45768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"/>
          <p:cNvSpPr/>
          <p:nvPr/>
        </p:nvSpPr>
        <p:spPr>
          <a:xfrm>
            <a:off x="5778835" y="4523105"/>
            <a:ext cx="6492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PARAMETER ACCOUNTING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5778828" y="4843150"/>
            <a:ext cx="4393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For each adapted matrix:  </a:t>
            </a:r>
            <a:r>
              <a:rPr b="1" i="0" lang="en-US" sz="1300" u="none" cap="none" strike="noStrike">
                <a:solidFill>
                  <a:srgbClr val="2A9D8F"/>
                </a:solidFill>
                <a:latin typeface="Consolas"/>
                <a:ea typeface="Consolas"/>
                <a:cs typeface="Consolas"/>
                <a:sym typeface="Consolas"/>
              </a:rPr>
              <a:t>|A| + |B| = r(d + 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64653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vs full FT:  </a:t>
            </a:r>
            <a:r>
              <a:rPr b="1" i="0" lang="en-US" sz="13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d × 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64653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Result: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18.5M trainable / 1.55B total = 1.18% of the base.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6809450" y="1672238"/>
            <a:ext cx="1785900" cy="594300"/>
          </a:xfrm>
          <a:prstGeom prst="roundRect">
            <a:avLst>
              <a:gd fmla="val 3278" name="adj"/>
            </a:avLst>
          </a:prstGeom>
          <a:solidFill>
            <a:srgbClr val="CFE6E2"/>
          </a:solidFill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-US" sz="18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 (frozen, NF4)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6809450" y="2728238"/>
            <a:ext cx="820200" cy="594300"/>
          </a:xfrm>
          <a:prstGeom prst="roundRect">
            <a:avLst>
              <a:gd fmla="val 3278" name="adj"/>
            </a:avLst>
          </a:prstGeom>
          <a:solidFill>
            <a:srgbClr val="FCDDB8"/>
          </a:solidFill>
          <a:ln cap="flat" cmpd="sng" w="381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7775150" y="2728238"/>
            <a:ext cx="820200" cy="594300"/>
          </a:xfrm>
          <a:prstGeom prst="roundRect">
            <a:avLst>
              <a:gd fmla="val 3278" name="adj"/>
            </a:avLst>
          </a:prstGeom>
          <a:solidFill>
            <a:srgbClr val="FCDDB8"/>
          </a:solidFill>
          <a:ln cap="flat" cmpd="sng" w="381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B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5595950" y="2235800"/>
            <a:ext cx="396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latin typeface="Calibri"/>
                <a:ea typeface="Calibri"/>
                <a:cs typeface="Calibri"/>
                <a:sym typeface="Calibri"/>
              </a:rPr>
              <a:t>X</a:t>
            </a:r>
            <a:endParaRPr i="1" sz="2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6"/>
          <p:cNvCxnSpPr>
            <a:stCxn id="247" idx="1"/>
            <a:endCxn id="248" idx="1"/>
          </p:cNvCxnSpPr>
          <p:nvPr/>
        </p:nvCxnSpPr>
        <p:spPr>
          <a:xfrm>
            <a:off x="6809450" y="1969388"/>
            <a:ext cx="600" cy="10560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6"/>
          <p:cNvSpPr txBox="1"/>
          <p:nvPr/>
        </p:nvSpPr>
        <p:spPr>
          <a:xfrm>
            <a:off x="6604700" y="3356325"/>
            <a:ext cx="219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B86F1E"/>
                </a:solidFill>
                <a:latin typeface="Calibri"/>
                <a:ea typeface="Calibri"/>
                <a:cs typeface="Calibri"/>
                <a:sym typeface="Calibri"/>
              </a:rPr>
              <a:t>Trainable LoRA (△W = BA)</a:t>
            </a:r>
            <a:endParaRPr i="1">
              <a:solidFill>
                <a:srgbClr val="B86F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9607531" y="2431150"/>
            <a:ext cx="290400" cy="274200"/>
          </a:xfrm>
          <a:prstGeom prst="mathPlus">
            <a:avLst>
              <a:gd fmla="val 12327" name="adj1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6"/>
          <p:cNvCxnSpPr/>
          <p:nvPr/>
        </p:nvCxnSpPr>
        <p:spPr>
          <a:xfrm>
            <a:off x="8613406" y="2007612"/>
            <a:ext cx="921900" cy="38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" name="Google Shape;255;p6"/>
          <p:cNvCxnSpPr/>
          <p:nvPr/>
        </p:nvCxnSpPr>
        <p:spPr>
          <a:xfrm flipH="1" rot="10800000">
            <a:off x="8613406" y="2744263"/>
            <a:ext cx="927000" cy="28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" name="Google Shape;256;p6"/>
          <p:cNvCxnSpPr/>
          <p:nvPr/>
        </p:nvCxnSpPr>
        <p:spPr>
          <a:xfrm>
            <a:off x="5931398" y="2497400"/>
            <a:ext cx="57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6"/>
          <p:cNvCxnSpPr/>
          <p:nvPr/>
        </p:nvCxnSpPr>
        <p:spPr>
          <a:xfrm>
            <a:off x="10065475" y="2568250"/>
            <a:ext cx="91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8" name="Google Shape;258;p6"/>
          <p:cNvSpPr txBox="1"/>
          <p:nvPr/>
        </p:nvSpPr>
        <p:spPr>
          <a:xfrm>
            <a:off x="10981075" y="2330725"/>
            <a:ext cx="396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latin typeface="Calibri"/>
                <a:ea typeface="Calibri"/>
                <a:cs typeface="Calibri"/>
                <a:sym typeface="Calibri"/>
              </a:rPr>
              <a:t>h</a:t>
            </a:r>
            <a:endParaRPr i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 txBox="1"/>
          <p:nvPr/>
        </p:nvSpPr>
        <p:spPr>
          <a:xfrm>
            <a:off x="6448400" y="1218925"/>
            <a:ext cx="250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Frozen pretrained forward path</a:t>
            </a:r>
            <a:endParaRPr i="1">
              <a:solidFill>
                <a:srgbClr val="2A9D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10826210" y="4597527"/>
            <a:ext cx="1450815" cy="1497088"/>
          </a:xfrm>
          <a:custGeom>
            <a:rect b="b" l="l" r="r" t="t"/>
            <a:pathLst>
              <a:path extrusionOk="0" h="3254540" w="3153945">
                <a:moveTo>
                  <a:pt x="0" y="0"/>
                </a:moveTo>
                <a:lnTo>
                  <a:pt x="3153946" y="0"/>
                </a:lnTo>
                <a:lnTo>
                  <a:pt x="3153946" y="3254540"/>
                </a:lnTo>
                <a:lnTo>
                  <a:pt x="0" y="3254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plate_motif.png" id="266" name="Google Shape;2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74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7"/>
          <p:cNvSpPr/>
          <p:nvPr/>
        </p:nvSpPr>
        <p:spPr>
          <a:xfrm>
            <a:off x="960120" y="274320"/>
            <a:ext cx="1091153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6465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Why QLoRA — measured memory</a:t>
            </a:r>
            <a:endParaRPr i="0" sz="26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960120" y="868680"/>
            <a:ext cx="1463040" cy="36576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QLoRA Recipe Chef  |  Machine Learning II — Final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9722815" y="384048"/>
            <a:ext cx="2011680" cy="365760"/>
          </a:xfrm>
          <a:prstGeom prst="roundRect">
            <a:avLst>
              <a:gd fmla="val 15000" name="adj"/>
            </a:avLst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9722815" y="38404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COMPONENTS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The QLoRA pitch is "fits in tiny GPUs" — we MEASURED it on our actual setup.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4" name="Google Shape;274;p7"/>
          <p:cNvGraphicFramePr/>
          <p:nvPr/>
        </p:nvGraphicFramePr>
        <p:xfrm>
          <a:off x="640080" y="2011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{CF5AE273-5CA2-4504-BCAD-10C1AFD16D54}</a:tableStyleId>
              </a:tblPr>
              <a:tblGrid>
                <a:gridCol w="3017525"/>
                <a:gridCol w="1828800"/>
                <a:gridCol w="2286000"/>
                <a:gridCol w="2194550"/>
                <a:gridCol w="16459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Setting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Frozen weights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Optimizer state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Peak training VRAM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Fits on T4?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4653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4653"/>
                          </a:solidFill>
                        </a:rPr>
                        <a:t>Full fine-tune (FP16)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4653"/>
                          </a:solidFill>
                        </a:rPr>
                        <a:t>~3.0 GB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4653"/>
                          </a:solidFill>
                        </a:rPr>
                        <a:t>~24 GB (Adam FP32)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64653"/>
                          </a:solidFill>
                        </a:rPr>
                        <a:t>~30+ GB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6F5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76F51"/>
                          </a:solidFill>
                        </a:rPr>
                        <a:t>✗  OOM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4653"/>
                          </a:solidFill>
                        </a:rPr>
                        <a:t>LoRA (FP16 base)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4653"/>
                          </a:solidFill>
                        </a:rPr>
                        <a:t>~3.0 GB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4653"/>
                          </a:solidFill>
                        </a:rPr>
                        <a:t>~0.07 GB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64653"/>
                          </a:solidFill>
                        </a:rPr>
                        <a:t>~10 GB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A2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4A261"/>
                          </a:solidFill>
                        </a:rPr>
                        <a:t>✓  tight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QLoRA (NF4 base) — ours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~0.8 GB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~0.07 GB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4.2 GB (measured)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✓  easily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E0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9D8F"/>
                    </a:solidFill>
                  </a:tcPr>
                </a:tc>
              </a:tr>
            </a:tbl>
          </a:graphicData>
        </a:graphic>
      </p:graphicFrame>
      <p:sp>
        <p:nvSpPr>
          <p:cNvPr id="275" name="Google Shape;275;p7"/>
          <p:cNvSpPr/>
          <p:nvPr/>
        </p:nvSpPr>
        <p:spPr>
          <a:xfrm>
            <a:off x="1195703" y="4961900"/>
            <a:ext cx="5487600" cy="1097400"/>
          </a:xfrm>
          <a:prstGeom prst="rect">
            <a:avLst/>
          </a:prstGeom>
          <a:solidFill>
            <a:srgbClr val="FCDDB8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1310029" y="5053340"/>
            <a:ext cx="525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F1E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4D3E26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 b="0" i="0" sz="1200" u="none" cap="none" strike="noStrike">
              <a:solidFill>
                <a:srgbClr val="4D3E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1310029" y="5327658"/>
            <a:ext cx="525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QLoRA cuts peak training VRAM from "won't fit on a $5,000 GPU" to "comfortably fits on a free Colab T4." Same trainable parameter count as LoRA — the win comes entirely from 4-bit quantization of the frozen base.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8411897" y="4518656"/>
            <a:ext cx="2418810" cy="2142375"/>
          </a:xfrm>
          <a:custGeom>
            <a:rect b="b" l="l" r="r" t="t"/>
            <a:pathLst>
              <a:path extrusionOk="0" h="5322670" w="6009466">
                <a:moveTo>
                  <a:pt x="0" y="0"/>
                </a:moveTo>
                <a:lnTo>
                  <a:pt x="6009465" y="0"/>
                </a:lnTo>
                <a:lnTo>
                  <a:pt x="6009465" y="5322670"/>
                </a:lnTo>
                <a:lnTo>
                  <a:pt x="0" y="53226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plate_motif.png" id="284" name="Google Shape;2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74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8"/>
          <p:cNvSpPr/>
          <p:nvPr/>
        </p:nvSpPr>
        <p:spPr>
          <a:xfrm>
            <a:off x="960120" y="274320"/>
            <a:ext cx="1091153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6465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Training setup</a:t>
            </a:r>
            <a:endParaRPr i="0" sz="26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960120" y="868680"/>
            <a:ext cx="1463040" cy="36576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QLoRA Recipe Chef  |  Machine Learning II — Final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9722815" y="384048"/>
            <a:ext cx="2011680" cy="365760"/>
          </a:xfrm>
          <a:prstGeom prst="roundRect">
            <a:avLst>
              <a:gd fmla="val 15000" name="adj"/>
            </a:avLst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9722815" y="38404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DESCRIPTION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SFTTrainer config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640080" y="16002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Completion-only loss — only the assistant tokens are scored, not the prompt.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3" name="Google Shape;293;p8"/>
          <p:cNvGraphicFramePr/>
          <p:nvPr/>
        </p:nvGraphicFramePr>
        <p:xfrm>
          <a:off x="640080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{CF5AE273-5CA2-4504-BCAD-10C1AFD16D54}</a:tableStyleId>
              </a:tblPr>
              <a:tblGrid>
                <a:gridCol w="1554475"/>
                <a:gridCol w="347472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A9D8F"/>
                          </a:solidFill>
                        </a:rPr>
                        <a:t>Steps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26465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400  (~1 epoch over 20K)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A9D8F"/>
                          </a:solidFill>
                        </a:rPr>
                        <a:t>Effective batch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26465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  (per-device 8 × grad accum 2)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A9D8F"/>
                          </a:solidFill>
                        </a:rPr>
                        <a:t>Learning rate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26465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2e-4, cosine + 5% warmup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A9D8F"/>
                          </a:solidFill>
                        </a:rPr>
                        <a:t>Optimizer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26465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paged AdamW 8-bit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A9D8F"/>
                          </a:solidFill>
                        </a:rPr>
                        <a:t>Precision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26465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bf16 compute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A9D8F"/>
                          </a:solidFill>
                        </a:rPr>
                        <a:t>Max seq length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26465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512 tokens  (covers ~94.5% of data)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A9D8F"/>
                          </a:solidFill>
                        </a:rPr>
                        <a:t>LoRA target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26465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all 7 projections per layer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A9D8F"/>
                          </a:solidFill>
                        </a:rPr>
                        <a:t>LoRA r / α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26465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 / 32, dropout 0.05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A9D8F"/>
                          </a:solidFill>
                        </a:rPr>
                        <a:t>Hardware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4653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26465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1× A100 40GB  (~25 min run)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6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4" name="Google Shape;294;p8"/>
          <p:cNvSpPr/>
          <p:nvPr/>
        </p:nvSpPr>
        <p:spPr>
          <a:xfrm>
            <a:off x="6035040" y="128016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Training &amp; eval loss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loss_curve.png" id="295" name="Google Shape;29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5040" y="1691640"/>
            <a:ext cx="5943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8"/>
          <p:cNvSpPr/>
          <p:nvPr/>
        </p:nvSpPr>
        <p:spPr>
          <a:xfrm>
            <a:off x="6035040" y="5486400"/>
            <a:ext cx="5852160" cy="777240"/>
          </a:xfrm>
          <a:prstGeom prst="rect">
            <a:avLst/>
          </a:prstGeom>
          <a:solidFill>
            <a:srgbClr val="CFE6E2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6217920" y="5559552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Sharp drop in the first 100 steps as the model learns recipe format; slower vocabulary refinement after that. No overfit at 400 steps.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 rot="-1359873">
            <a:off x="3471626" y="5165931"/>
            <a:ext cx="2017847" cy="2028914"/>
          </a:xfrm>
          <a:custGeom>
            <a:rect b="b" l="l" r="r" t="t"/>
            <a:pathLst>
              <a:path extrusionOk="0" h="4114800" w="4092356">
                <a:moveTo>
                  <a:pt x="0" y="0"/>
                </a:moveTo>
                <a:lnTo>
                  <a:pt x="4092356" y="0"/>
                </a:lnTo>
                <a:lnTo>
                  <a:pt x="40923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plate_motif.png" id="304" name="Google Shape;3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74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9"/>
          <p:cNvSpPr/>
          <p:nvPr/>
        </p:nvSpPr>
        <p:spPr>
          <a:xfrm>
            <a:off x="960120" y="274320"/>
            <a:ext cx="1091153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6465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Results — </a:t>
            </a:r>
            <a:r>
              <a:rPr b="1" lang="en-US" sz="2600">
                <a:solidFill>
                  <a:srgbClr val="26465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</a:t>
            </a:r>
            <a:r>
              <a:rPr b="1" i="0" lang="en-US" sz="2600" u="none" cap="none" strike="noStrike">
                <a:solidFill>
                  <a:srgbClr val="26465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metrics, 3 systems, 50 test recipes</a:t>
            </a:r>
            <a:endParaRPr i="0" sz="26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960120" y="868680"/>
            <a:ext cx="1463040" cy="36576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QLoRA Recipe Chef  |  Machine Learning II — Final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9722815" y="384048"/>
            <a:ext cx="2011680" cy="365760"/>
          </a:xfrm>
          <a:prstGeom prst="roundRect">
            <a:avLst>
              <a:gd fmla="val 15000" name="adj"/>
            </a:avLst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9722815" y="38404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TRAIN/TEST RESULTS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headline_results.png" id="311" name="Google Shape;31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143000"/>
            <a:ext cx="841248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9"/>
          <p:cNvSpPr/>
          <p:nvPr/>
        </p:nvSpPr>
        <p:spPr>
          <a:xfrm>
            <a:off x="9144000" y="1234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How to read this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9144000" y="1691640"/>
            <a:ext cx="64008" cy="960120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9326880" y="16916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ROUGE jumps a lot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9326880" y="2039112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Fine-tune learns the recipe format and vocabulary.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9144000" y="2743200"/>
            <a:ext cx="64008" cy="96012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9326880" y="274320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BERTScore — 12× gain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9326880" y="3090672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Big semantic alignment improvement over the base model.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9144000" y="3794760"/>
            <a:ext cx="64008" cy="960120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9326880" y="379476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Ingredient fidelity 0.97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9326880" y="4142232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Where fine-tune cleanly beats few-shot — base wanders off-prompt.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9144000" y="4846320"/>
            <a:ext cx="64008" cy="96012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9326880" y="484632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Retention preserved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9326880" y="5193792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Knowledge accuracy actually went UP (90% → 95%).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57200" y="5486400"/>
            <a:ext cx="8412480" cy="777240"/>
          </a:xfrm>
          <a:prstGeom prst="rect">
            <a:avLst/>
          </a:prstGeom>
          <a:solidFill>
            <a:srgbClr val="264653"/>
          </a:solidFill>
          <a:ln cap="flat" cmpd="sng" w="12700">
            <a:solidFill>
              <a:srgbClr val="264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640080" y="5532120"/>
            <a:ext cx="8138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BONUS METRIC: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Perplexity on held-out recipes drops </a:t>
            </a:r>
            <a:r>
              <a:rPr b="1" i="0" lang="en-US" sz="1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12.20 → 2.72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(−77.7%) — model assigns much higher probability to real recipe text.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plate_motif.png" id="332" name="Google Shape;3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74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0"/>
          <p:cNvSpPr/>
          <p:nvPr/>
        </p:nvSpPr>
        <p:spPr>
          <a:xfrm>
            <a:off x="960120" y="274320"/>
            <a:ext cx="1091153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6465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Ablation — does the rank choice matter?</a:t>
            </a:r>
            <a:endParaRPr i="0" sz="26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960120" y="868680"/>
            <a:ext cx="1463040" cy="36576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QLoRA Recipe Chef  |  Machine Learning II — Final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9722815" y="384048"/>
            <a:ext cx="2011680" cy="365760"/>
          </a:xfrm>
          <a:prstGeom prst="roundRect">
            <a:avLst>
              <a:gd fmla="val 15000" name="adj"/>
            </a:avLst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9722815" y="38404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TRAIN/TEST RESULTS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640080" y="128016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LoRA rank ablation: r=16 vs r=4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rank_ablation.png" id="340" name="Google Shape;34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691640"/>
            <a:ext cx="585216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0"/>
          <p:cNvSpPr/>
          <p:nvPr/>
        </p:nvSpPr>
        <p:spPr>
          <a:xfrm>
            <a:off x="640080" y="544068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Same data, same hyperparameters — only rank differs.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6858000" y="12801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Perplexity on held-out recipes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perplexity.png" id="343" name="Google Shape;34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0" y="1691640"/>
            <a:ext cx="475488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0"/>
          <p:cNvSpPr/>
          <p:nvPr/>
        </p:nvSpPr>
        <p:spPr>
          <a:xfrm>
            <a:off x="6858000" y="54406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77.7% reduction — model strongly prefers real recipe text.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solidFill>
            <a:srgbClr val="CFE6E2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868680" y="58978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TAKEAWAY: </a:t>
            </a:r>
            <a:r>
              <a:rPr b="0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r=16 wins (1.083 vs 1.110 eval loss) but r=4 is competitive. LoRA is robust to rank choice within a wide range — useful for compute-constrained settings.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plate_motif.png" id="352" name="Google Shape;3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74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1"/>
          <p:cNvSpPr/>
          <p:nvPr/>
        </p:nvSpPr>
        <p:spPr>
          <a:xfrm>
            <a:off x="960120" y="274320"/>
            <a:ext cx="1091153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6465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Qualitative comparison — base vs fine-tuned</a:t>
            </a:r>
            <a:endParaRPr i="0" sz="26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960120" y="868680"/>
            <a:ext cx="1463040" cy="36576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QLoRA Recipe Chef  |  Machine Learning II — Final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9722815" y="384048"/>
            <a:ext cx="2011680" cy="365760"/>
          </a:xfrm>
          <a:prstGeom prst="roundRect">
            <a:avLst>
              <a:gd fmla="val 15000" name="adj"/>
            </a:avLst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9722815" y="38404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TRAIN/TEST RESULTS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solidFill>
            <a:srgbClr val="264653"/>
          </a:solidFill>
          <a:ln cap="flat" cmpd="sng" w="12700">
            <a:solidFill>
              <a:srgbClr val="264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PROMPT: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chicken breast, garlic, lemon, rosemary, olive oil  |  Cuisine: Mediterranean  |  Diet: omnivore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640080" y="2103120"/>
            <a:ext cx="5394960" cy="411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640080" y="2103120"/>
            <a:ext cx="109728" cy="4114800"/>
          </a:xfrm>
          <a:prstGeom prst="rect">
            <a:avLst/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868680" y="21945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BASE MODEL  (zero-shot)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868680" y="2560320"/>
            <a:ext cx="50749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**Title:** Lemon Garlic Rosemary Chicken</a:t>
            </a:r>
            <a:b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**Ingredient List:**</a:t>
            </a:r>
            <a:br>
              <a:rPr b="1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- 2 boneless, skinless chicken breasts</a:t>
            </a:r>
            <a:b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- 4 cloves garlic (minced)</a:t>
            </a:r>
            <a:b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Juice from 1 lemon</a:t>
            </a:r>
            <a:b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- 2 sprigs fresh rosemary</a:t>
            </a:r>
            <a:b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- 3 tablespoons extra virgin olive oil</a:t>
            </a:r>
            <a:b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Salt and pepper to taste</a:t>
            </a:r>
            <a:b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**Step-by-Step Directions:**</a:t>
            </a:r>
            <a:br>
              <a:rPr b="1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1. **Preheat Oven**: Set your oven to 375°F (190°C).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2. **Prepare Ingredients**: In a small bowl, mix together minced garlic, lemon juice, and olive oil…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6217920" y="2103120"/>
            <a:ext cx="109728" cy="4114800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6446520" y="21945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FINE-TUNED  (ours)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6446520" y="2560320"/>
            <a:ext cx="50749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Title: Lemon Rosemary Chicken</a:t>
            </a:r>
            <a:b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Ingredients:</a:t>
            </a:r>
            <a:br>
              <a:rPr b="1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chicken breast</a:t>
            </a:r>
            <a:b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olive oil</a:t>
            </a:r>
            <a:b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garlic</a:t>
            </a:r>
            <a:b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rosemary</a:t>
            </a:r>
            <a:b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lemon</a:t>
            </a:r>
            <a:b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Directions:</a:t>
            </a:r>
            <a:br>
              <a:rPr b="1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Heat oven to 375 degrees F (190 degrees C). Place chicken in a roasting pan; season with salt and pepper. Combine lemon juice, garlic, and rosemary in a small bowl; brush over chicken. Roast until juices run clear when pierced with a fork, about 45 minutes.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Fine-tuned model produces the exact Title / Ingredients / Directions format. Base model defaults to Markdown headers, longer prose, and more verbose steps.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plate_motif.png" id="375" name="Google Shape;37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74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2"/>
          <p:cNvSpPr/>
          <p:nvPr/>
        </p:nvSpPr>
        <p:spPr>
          <a:xfrm>
            <a:off x="960120" y="274320"/>
            <a:ext cx="1091153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6465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Deployment</a:t>
            </a:r>
            <a:endParaRPr i="0" sz="26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960120" y="868680"/>
            <a:ext cx="1463040" cy="36576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QLoRA Recipe Chef  |  Machine Learning II — Final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9722815" y="384048"/>
            <a:ext cx="2011680" cy="365760"/>
          </a:xfrm>
          <a:prstGeom prst="roundRect">
            <a:avLst>
              <a:gd fmla="val 15000" name="adj"/>
            </a:avLst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9722815" y="38404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640080" y="128016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Three deployment paths from a 30 MB adapter file: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1325880" y="182880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Local Python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1325880" y="2212848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PeftModel.from_pretrained(base, adapter_dir) — one line to load. Reusable inference function recipe_chef() wraps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1325880" y="320040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Hugging Face Hub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1325880" y="3584448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push_to_hub() — three lines. Auto-generated model card (§12.1) includes usage code and our eval numbers.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640080" y="4572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1325880" y="457200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Gradio web app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1325880" y="4956048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Interactive UI with ingredient input, cuisine/diet dropdowns, side-by-side base vs fine-tuned, and live ingredient-fidelity score.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6858000" y="1280160"/>
            <a:ext cx="4754880" cy="4937760"/>
          </a:xfrm>
          <a:prstGeom prst="rect">
            <a:avLst/>
          </a:prstGeom>
          <a:solidFill>
            <a:srgbClr val="264653"/>
          </a:solidFill>
          <a:ln cap="flat" cmpd="sng" w="12700">
            <a:solidFill>
              <a:srgbClr val="264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7040880" y="141732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PRODUCTION INFERENCE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7040880" y="173736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E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FE6E2"/>
                </a:solidFill>
                <a:latin typeface="Calibri"/>
                <a:ea typeface="Calibri"/>
                <a:cs typeface="Calibri"/>
                <a:sym typeface="Calibri"/>
              </a:rPr>
              <a:t>Three lines to load.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7040880" y="2103120"/>
            <a:ext cx="43891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peft import PeftModel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transformers import (AutoModelForCausalLM,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AutoTokenizer, BitsAndBytesConfig)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bnb = BitsAndBytesConfig(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load_in_4bit=True,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bnb_4bit_quant_type='nf4',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bnb_4bit_use_double_quant=True,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bnb_4bit_compute_dtype='bfloat16')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tok  = AutoTokenizer.from_pretrained(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'Qwen/Qwen2.5-1.5B-Instruct')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base = AutoModelForCausalLM.from_pretrained(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'Qwen/Qwen2.5-1.5B-Instruct',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quantization_config=bnb,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device_map='auto')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Load OUR adapter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 = PeftModel.from_pretrained(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base, 'user/recipe-chef-qlora')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4081099" y="-303862"/>
            <a:ext cx="3125414" cy="1511564"/>
          </a:xfrm>
          <a:custGeom>
            <a:rect b="b" l="l" r="r" t="t"/>
            <a:pathLst>
              <a:path extrusionOk="0" h="2760847" w="5708519">
                <a:moveTo>
                  <a:pt x="0" y="0"/>
                </a:moveTo>
                <a:lnTo>
                  <a:pt x="5708519" y="0"/>
                </a:lnTo>
                <a:lnTo>
                  <a:pt x="5708519" y="2760847"/>
                </a:lnTo>
                <a:lnTo>
                  <a:pt x="0" y="27608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plate_motif.png" id="405" name="Google Shape;40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74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3"/>
          <p:cNvSpPr/>
          <p:nvPr/>
        </p:nvSpPr>
        <p:spPr>
          <a:xfrm>
            <a:off x="960120" y="274320"/>
            <a:ext cx="1091153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6465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 demo — Gradio web UI</a:t>
            </a:r>
            <a:endParaRPr i="0" sz="26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960120" y="868680"/>
            <a:ext cx="1463040" cy="36576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QLoRA Recipe Chef  |  Machine Learning II — Final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13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9722815" y="384048"/>
            <a:ext cx="2011680" cy="365760"/>
          </a:xfrm>
          <a:prstGeom prst="roundRect">
            <a:avLst>
              <a:gd fmla="val 15000" name="adj"/>
            </a:avLst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9722815" y="38404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DEMO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solidFill>
            <a:srgbClr val="264653"/>
          </a:solidFill>
          <a:ln cap="flat" cmpd="sng" w="12700">
            <a:solidFill>
              <a:srgbClr val="264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804672" y="1389888"/>
            <a:ext cx="164592" cy="164592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1005840" y="1389888"/>
            <a:ext cx="164592" cy="164592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1207008" y="1389888"/>
            <a:ext cx="164592" cy="164592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3"/>
          <p:cNvSpPr/>
          <p:nvPr/>
        </p:nvSpPr>
        <p:spPr>
          <a:xfrm>
            <a:off x="1554480" y="1280160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qlora-recipe.gradio.app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640080" y="1691640"/>
            <a:ext cx="10972800" cy="4297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914400" y="18288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Recipe Chef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914400" y="224028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QLoRA-fine-tuned Qwen 2.5-1.5B that turns ingredients into structured recipes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914400" y="2697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Ingredients (comma-separated)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914400" y="2971800"/>
            <a:ext cx="4572000" cy="50292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1005840" y="297180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chicken breast, garlic, lemon, rosemary, olive oil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914400" y="361188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Cuisine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914400" y="3886200"/>
            <a:ext cx="2194560" cy="41148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3"/>
          <p:cNvSpPr/>
          <p:nvPr/>
        </p:nvSpPr>
        <p:spPr>
          <a:xfrm>
            <a:off x="1005840" y="388620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Mediterranean 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3291840" y="361188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Diet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3291840" y="3886200"/>
            <a:ext cx="2194560" cy="41148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3"/>
          <p:cNvSpPr/>
          <p:nvPr/>
        </p:nvSpPr>
        <p:spPr>
          <a:xfrm>
            <a:off x="3383280" y="388620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omnivore 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914400" y="44805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☑  Compare with base model    ☐  Creative (sample T=0.7)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914400" y="4937760"/>
            <a:ext cx="4572000" cy="502920"/>
          </a:xfrm>
          <a:prstGeom prst="roundRect">
            <a:avLst>
              <a:gd fmla="val 10909" name="adj"/>
            </a:avLst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3"/>
          <p:cNvSpPr/>
          <p:nvPr/>
        </p:nvSpPr>
        <p:spPr>
          <a:xfrm>
            <a:off x="914400" y="493776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 GENERATE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5943600" y="2697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QLoRA fine-tuned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5943600" y="2971800"/>
            <a:ext cx="5486400" cy="2468880"/>
          </a:xfrm>
          <a:prstGeom prst="rect">
            <a:avLst/>
          </a:prstGeom>
          <a:solidFill>
            <a:srgbClr val="F9F9F9"/>
          </a:solidFill>
          <a:ln cap="flat" cmpd="sng" w="12700">
            <a:solidFill>
              <a:srgbClr val="CFE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3"/>
          <p:cNvSpPr/>
          <p:nvPr/>
        </p:nvSpPr>
        <p:spPr>
          <a:xfrm>
            <a:off x="6080760" y="3063240"/>
            <a:ext cx="530352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Title: Lemon Rosemary Chicken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Ingredients: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chicken breast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olive oil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garlic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rosemary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lemon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Directions: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- Heat oven to 375°F. Place chicken in roasting pan; season; combine ingredients; roast until juices run clear.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5943600" y="5532120"/>
            <a:ext cx="5486400" cy="411480"/>
          </a:xfrm>
          <a:prstGeom prst="roundRect">
            <a:avLst>
              <a:gd fmla="val 11111" name="adj"/>
            </a:avLst>
          </a:prstGeom>
          <a:solidFill>
            <a:srgbClr val="CFE6E2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3"/>
          <p:cNvSpPr/>
          <p:nvPr/>
        </p:nvSpPr>
        <p:spPr>
          <a:xfrm>
            <a:off x="5943600" y="553212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Ingredient fidelity: 100%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>
            <a:hlinkClick r:id="rId4"/>
          </p:cNvPr>
          <p:cNvSpPr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i="1" lang="en-US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DEMO LINK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plate_motif.png" id="443" name="Google Shape;4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74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4"/>
          <p:cNvSpPr/>
          <p:nvPr/>
        </p:nvSpPr>
        <p:spPr>
          <a:xfrm>
            <a:off x="960120" y="274320"/>
            <a:ext cx="1091153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6465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Requirements</a:t>
            </a:r>
            <a:endParaRPr i="0" sz="26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960120" y="868680"/>
            <a:ext cx="1463040" cy="36576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QLoRA Recipe Chef  |  Machine Learning II — Final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14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9722815" y="384048"/>
            <a:ext cx="2011680" cy="365760"/>
          </a:xfrm>
          <a:prstGeom prst="roundRect">
            <a:avLst>
              <a:gd fmla="val 15000" name="adj"/>
            </a:avLst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4"/>
          <p:cNvSpPr/>
          <p:nvPr/>
        </p:nvSpPr>
        <p:spPr>
          <a:xfrm>
            <a:off x="9722815" y="38404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640080" y="1280160"/>
            <a:ext cx="3657600" cy="457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4"/>
          <p:cNvSpPr/>
          <p:nvPr/>
        </p:nvSpPr>
        <p:spPr>
          <a:xfrm>
            <a:off x="640080" y="1280160"/>
            <a:ext cx="3657600" cy="502920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640080" y="12801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868680" y="1965960"/>
            <a:ext cx="3200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Minimum:</a:t>
            </a:r>
            <a:br>
              <a:rPr b="1" i="0" lang="en-US" sz="12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1× GPU, ≥ 12 GB VRAM (free Colab T4)</a:t>
            </a:r>
            <a:b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6465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Recommended:</a:t>
            </a:r>
            <a:br>
              <a:rPr b="1" i="0" lang="en-US" sz="12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1× A100 40 GB (used here)</a:t>
            </a:r>
            <a:b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6465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Measured run:</a:t>
            </a:r>
            <a:br>
              <a:rPr b="1" i="0" lang="en-US" sz="12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4.2 GB peak VRAM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~25 min training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~30 MB adapter checkpoint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4434840" y="1280160"/>
            <a:ext cx="3657600" cy="457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4434840" y="1280160"/>
            <a:ext cx="3657600" cy="50292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4434840" y="12801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SOFTWARE  (pinned)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4663440" y="1965960"/>
            <a:ext cx="3200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r>
              <a:rPr b="0" i="0" lang="en-US" sz="10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         3.12</a:t>
            </a:r>
            <a:br>
              <a:rPr b="0" i="0" lang="en-US" sz="10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torch</a:t>
            </a:r>
            <a:r>
              <a:rPr b="0" i="0" lang="en-US" sz="10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          2.10</a:t>
            </a:r>
            <a:br>
              <a:rPr b="0" i="0" lang="en-US" sz="10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transformers</a:t>
            </a:r>
            <a:r>
              <a:rPr b="0" i="0" lang="en-US" sz="10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   4.46.3</a:t>
            </a:r>
            <a:br>
              <a:rPr b="0" i="0" lang="en-US" sz="10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peft</a:t>
            </a:r>
            <a:r>
              <a:rPr b="0" i="0" lang="en-US" sz="10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           0.13.2</a:t>
            </a:r>
            <a:br>
              <a:rPr b="0" i="0" lang="en-US" sz="10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trl</a:t>
            </a:r>
            <a:r>
              <a:rPr b="0" i="0" lang="en-US" sz="10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            0.12.2</a:t>
            </a:r>
            <a:br>
              <a:rPr b="0" i="0" lang="en-US" sz="10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bitsandbytes</a:t>
            </a:r>
            <a:r>
              <a:rPr b="0" i="0" lang="en-US" sz="10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   0.49.2+</a:t>
            </a:r>
            <a:br>
              <a:rPr b="0" i="0" lang="en-US" sz="10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accelerate</a:t>
            </a:r>
            <a:r>
              <a:rPr b="0" i="0" lang="en-US" sz="10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     1.13</a:t>
            </a:r>
            <a:br>
              <a:rPr b="0" i="0" lang="en-US" sz="10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datasets</a:t>
            </a:r>
            <a:r>
              <a:rPr b="0" i="0" lang="en-US" sz="10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       ≥ 2.20</a:t>
            </a:r>
            <a:br>
              <a:rPr b="0" i="0" lang="en-US" sz="10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evaluate</a:t>
            </a:r>
            <a:r>
              <a:rPr b="0" i="0" lang="en-US" sz="10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       ≥ 0.4</a:t>
            </a:r>
            <a:br>
              <a:rPr b="0" i="0" lang="en-US" sz="10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64653"/>
                </a:solidFill>
                <a:latin typeface="Consolas"/>
                <a:ea typeface="Consolas"/>
                <a:cs typeface="Consolas"/>
                <a:sym typeface="Consolas"/>
              </a:rPr>
              <a:t>gradio</a:t>
            </a:r>
            <a:r>
              <a:rPr b="0" i="0" lang="en-US" sz="100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         ≥ 4.40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8229600" y="1280160"/>
            <a:ext cx="3383280" cy="457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4"/>
          <p:cNvSpPr/>
          <p:nvPr/>
        </p:nvSpPr>
        <p:spPr>
          <a:xfrm>
            <a:off x="8229600" y="1280160"/>
            <a:ext cx="3383280" cy="502920"/>
          </a:xfrm>
          <a:prstGeom prst="rect">
            <a:avLst/>
          </a:prstGeom>
          <a:solidFill>
            <a:srgbClr val="264653"/>
          </a:solidFill>
          <a:ln cap="flat" cmpd="sng" w="12700">
            <a:solidFill>
              <a:srgbClr val="264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4"/>
          <p:cNvSpPr/>
          <p:nvPr/>
        </p:nvSpPr>
        <p:spPr>
          <a:xfrm>
            <a:off x="8229600" y="128016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8458200" y="1965960"/>
            <a:ext cx="29260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Drive-backed caching:</a:t>
            </a:r>
            <a:br>
              <a:rPr b="1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every expensive step writes its output to a shared Drive folder. If Colab dies mid-run, next session loads from cache and skips work that finished.</a:t>
            </a:r>
            <a:b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First full run:</a:t>
            </a:r>
            <a:br>
              <a:rPr b="1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~90 min on T4 / ~25 min on A100</a:t>
            </a:r>
            <a:b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Cached re-run:</a:t>
            </a:r>
            <a:br>
              <a:rPr b="1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~5 min (just loads results)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Single pinned install cell + version-check cell at the top of the notebook makes the environment reproducible on a fresh Colab runtime in 3–5 minutes.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assets/plate_motif.png" id="468" name="Google Shape;4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74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5"/>
          <p:cNvSpPr/>
          <p:nvPr/>
        </p:nvSpPr>
        <p:spPr>
          <a:xfrm>
            <a:off x="960120" y="274320"/>
            <a:ext cx="1091153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6465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Conclusions</a:t>
            </a:r>
            <a:endParaRPr i="0" sz="26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960120" y="868680"/>
            <a:ext cx="1463040" cy="36576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5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QLoRA Recipe Chef  |  Machine Learning II — Final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15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9722815" y="384048"/>
            <a:ext cx="2011680" cy="365760"/>
          </a:xfrm>
          <a:prstGeom prst="roundRect">
            <a:avLst>
              <a:gd fmla="val 15000" name="adj"/>
            </a:avLst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5"/>
          <p:cNvSpPr/>
          <p:nvPr/>
        </p:nvSpPr>
        <p:spPr>
          <a:xfrm>
            <a:off x="9722815" y="38404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640080" y="1280160"/>
            <a:ext cx="5486400" cy="5120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5"/>
          <p:cNvSpPr/>
          <p:nvPr/>
        </p:nvSpPr>
        <p:spPr>
          <a:xfrm>
            <a:off x="640080" y="1280160"/>
            <a:ext cx="5486400" cy="502920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640080" y="128016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WORKED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868680" y="2057400"/>
            <a:ext cx="274320" cy="27432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5"/>
          <p:cNvSpPr/>
          <p:nvPr/>
        </p:nvSpPr>
        <p:spPr>
          <a:xfrm>
            <a:off x="868680" y="20574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1280160" y="201168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QLoRA memory pitch is 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1280160" y="230428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4.2 GB measured vs ~30+ GB for full FT. Free Colab T4 is enough.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868680" y="2926080"/>
            <a:ext cx="274320" cy="27432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5"/>
          <p:cNvSpPr/>
          <p:nvPr/>
        </p:nvSpPr>
        <p:spPr>
          <a:xfrm>
            <a:off x="868680" y="29260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1280160" y="28803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Strong gains on all 5 metrics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1280160" y="317296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ROUGE-L +58%, BERTScore +0.30, perplexity −77.7%, fidelity 0.83 → 0.97.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868680" y="3794760"/>
            <a:ext cx="274320" cy="27432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868680" y="37947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1280160" y="374904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No catastrophic forgetting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1280160" y="404164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General knowledge retention actually IMPROVED (90% → 95%).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868680" y="4663440"/>
            <a:ext cx="274320" cy="27432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5"/>
          <p:cNvSpPr/>
          <p:nvPr/>
        </p:nvSpPr>
        <p:spPr>
          <a:xfrm>
            <a:off x="868680" y="46634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1280160" y="461772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Fine-tune beats few-shot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1280160" y="491032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Especially on ingredient fidelity — few-shot still wanders off-prompt.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868680" y="5532120"/>
            <a:ext cx="274320" cy="27432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868680" y="55321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1280160" y="548640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r=4 is competitive with r=16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1280160" y="577900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LoRA is robust to rank choice — useful for compute-constrained settings.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6309360" y="1280160"/>
            <a:ext cx="530352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5"/>
          <p:cNvSpPr/>
          <p:nvPr/>
        </p:nvSpPr>
        <p:spPr>
          <a:xfrm>
            <a:off x="6309360" y="1280160"/>
            <a:ext cx="5303520" cy="50292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5"/>
          <p:cNvSpPr/>
          <p:nvPr/>
        </p:nvSpPr>
        <p:spPr>
          <a:xfrm>
            <a:off x="6309360" y="128016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  (honest)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5"/>
          <p:cNvSpPr/>
          <p:nvPr/>
        </p:nvSpPr>
        <p:spPr>
          <a:xfrm>
            <a:off x="6537960" y="1920240"/>
            <a:ext cx="49377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•  Dietary conditioning is weak — </a:t>
            </a: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model still includes cheese in "vegan" outputs.</a:t>
            </a:r>
            <a:b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•  Cuisine conditioning is partial — </a:t>
            </a: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Italian vs Mexican can produce nearly identical output.</a:t>
            </a:r>
            <a:b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•  Noisy rule-based labels — </a:t>
            </a: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keyword spotting is a crude tagger.</a:t>
            </a:r>
            <a:b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•  Demo-scale training — </a:t>
            </a: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20K examples / 400 steps; not state-of-the-art.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5"/>
          <p:cNvSpPr/>
          <p:nvPr/>
        </p:nvSpPr>
        <p:spPr>
          <a:xfrm>
            <a:off x="6309360" y="3931920"/>
            <a:ext cx="530352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FE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5"/>
          <p:cNvSpPr/>
          <p:nvPr/>
        </p:nvSpPr>
        <p:spPr>
          <a:xfrm>
            <a:off x="6309360" y="3931920"/>
            <a:ext cx="5303520" cy="502920"/>
          </a:xfrm>
          <a:prstGeom prst="rect">
            <a:avLst/>
          </a:prstGeom>
          <a:solidFill>
            <a:srgbClr val="264653"/>
          </a:solidFill>
          <a:ln cap="flat" cmpd="sng" w="12700">
            <a:solidFill>
              <a:srgbClr val="264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5"/>
          <p:cNvSpPr/>
          <p:nvPr/>
        </p:nvSpPr>
        <p:spPr>
          <a:xfrm>
            <a:off x="6309360" y="393192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5"/>
          <p:cNvSpPr/>
          <p:nvPr/>
        </p:nvSpPr>
        <p:spPr>
          <a:xfrm>
            <a:off x="6537960" y="4572000"/>
            <a:ext cx="49377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•  Curated cuisine taxonomy </a:t>
            </a: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(LLM-as-labeler, not keywords).</a:t>
            </a:r>
            <a:b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•  Scale up </a:t>
            </a: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 the full 2M dataset with 3 epochs.</a:t>
            </a:r>
            <a:b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•  DPO / ORPO </a:t>
            </a: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using paired (good, bad) recipes.</a:t>
            </a:r>
            <a:b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•  Multilingual </a:t>
            </a: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(Spanish, French, Mandarin).</a:t>
            </a:r>
            <a:b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64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•  Image-conditioned </a:t>
            </a: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(pair with a VLM that reads a fridge photo).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D4C2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e46d7b34f3_1_497"/>
          <p:cNvSpPr txBox="1"/>
          <p:nvPr/>
        </p:nvSpPr>
        <p:spPr>
          <a:xfrm>
            <a:off x="1423660" y="1118353"/>
            <a:ext cx="9184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4D3E2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</a:t>
            </a:r>
            <a:endParaRPr sz="72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11" name="Google Shape;511;g3e46d7b34f3_1_497"/>
          <p:cNvSpPr/>
          <p:nvPr/>
        </p:nvSpPr>
        <p:spPr>
          <a:xfrm rot="-3001744">
            <a:off x="10709984" y="1151931"/>
            <a:ext cx="2562570" cy="2812148"/>
          </a:xfrm>
          <a:custGeom>
            <a:rect b="b" l="l" r="r" t="t"/>
            <a:pathLst>
              <a:path extrusionOk="0" h="4225779" w="3850741">
                <a:moveTo>
                  <a:pt x="0" y="0"/>
                </a:moveTo>
                <a:lnTo>
                  <a:pt x="3850742" y="0"/>
                </a:lnTo>
                <a:lnTo>
                  <a:pt x="3850742" y="4225779"/>
                </a:lnTo>
                <a:lnTo>
                  <a:pt x="0" y="4225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2" name="Google Shape;512;g3e46d7b34f3_1_497"/>
          <p:cNvSpPr/>
          <p:nvPr/>
        </p:nvSpPr>
        <p:spPr>
          <a:xfrm>
            <a:off x="5189557" y="5187326"/>
            <a:ext cx="2566850" cy="2746629"/>
          </a:xfrm>
          <a:custGeom>
            <a:rect b="b" l="l" r="r" t="t"/>
            <a:pathLst>
              <a:path extrusionOk="0" h="4114800" w="3845468">
                <a:moveTo>
                  <a:pt x="0" y="0"/>
                </a:moveTo>
                <a:lnTo>
                  <a:pt x="3845468" y="0"/>
                </a:lnTo>
                <a:lnTo>
                  <a:pt x="38454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3" name="Google Shape;513;g3e46d7b34f3_1_497"/>
          <p:cNvSpPr/>
          <p:nvPr/>
        </p:nvSpPr>
        <p:spPr>
          <a:xfrm>
            <a:off x="6834553" y="619197"/>
            <a:ext cx="2472892" cy="2432427"/>
          </a:xfrm>
          <a:custGeom>
            <a:rect b="b" l="l" r="r" t="t"/>
            <a:pathLst>
              <a:path extrusionOk="0" h="3644085" w="3704707">
                <a:moveTo>
                  <a:pt x="0" y="0"/>
                </a:moveTo>
                <a:lnTo>
                  <a:pt x="3704707" y="0"/>
                </a:lnTo>
                <a:lnTo>
                  <a:pt x="3704707" y="3644085"/>
                </a:lnTo>
                <a:lnTo>
                  <a:pt x="0" y="3644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4" name="Google Shape;514;g3e46d7b34f3_1_497"/>
          <p:cNvSpPr/>
          <p:nvPr/>
        </p:nvSpPr>
        <p:spPr>
          <a:xfrm rot="-701362">
            <a:off x="8751746" y="4273353"/>
            <a:ext cx="2746764" cy="2741770"/>
          </a:xfrm>
          <a:custGeom>
            <a:rect b="b" l="l" r="r" t="t"/>
            <a:pathLst>
              <a:path extrusionOk="0" h="4114800" w="4122295">
                <a:moveTo>
                  <a:pt x="0" y="0"/>
                </a:moveTo>
                <a:lnTo>
                  <a:pt x="4122295" y="0"/>
                </a:lnTo>
                <a:lnTo>
                  <a:pt x="41222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5" name="Google Shape;515;g3e46d7b34f3_1_497"/>
          <p:cNvSpPr txBox="1"/>
          <p:nvPr/>
        </p:nvSpPr>
        <p:spPr>
          <a:xfrm>
            <a:off x="1423660" y="2348118"/>
            <a:ext cx="6109500" cy="23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900">
                <a:latin typeface="Calibri"/>
                <a:ea typeface="Calibri"/>
                <a:cs typeface="Calibri"/>
                <a:sym typeface="Calibri"/>
              </a:rPr>
              <a:t>Ask us about…</a:t>
            </a:r>
            <a:endParaRPr i="1" sz="1900"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marR="0" rtl="0" algn="l">
              <a:lnSpc>
                <a:spcPct val="139030"/>
              </a:lnSpc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●"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why we picked R=16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marR="0" rtl="0" algn="l">
              <a:lnSpc>
                <a:spcPct val="139030"/>
              </a:lnSpc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●"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how we measured catastrophic forgetting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marR="0" rtl="0" algn="l">
              <a:lnSpc>
                <a:spcPct val="139030"/>
              </a:lnSpc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●"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the Drive-backed caching design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marR="0" rtl="0" algn="l">
              <a:lnSpc>
                <a:spcPct val="139030"/>
              </a:lnSpc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●"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why dietary conditioning underperformed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e46d7b34f3_1_497"/>
          <p:cNvSpPr/>
          <p:nvPr/>
        </p:nvSpPr>
        <p:spPr>
          <a:xfrm rot="-1074751">
            <a:off x="891303" y="5188318"/>
            <a:ext cx="2012151" cy="2140586"/>
          </a:xfrm>
          <a:custGeom>
            <a:rect b="b" l="l" r="r" t="t"/>
            <a:pathLst>
              <a:path extrusionOk="0" h="4114800" w="3867912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2026-05-24T23:57:18Z</dcterms:created>
  <dc:creator>QLoRA Recipe Chef Team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C3378AF30DC397B85E90136A12C9CE75_42</vt:lpwstr>
  </property>
  <property fmtid="{D5CDD505-2E9C-101B-9397-08002B2CF9AE}" pid="3" name="KSOProductBuildVer">
    <vt:lpwstr>1033-7.2.2.8955</vt:lpwstr>
  </property>
</Properties>
</file>