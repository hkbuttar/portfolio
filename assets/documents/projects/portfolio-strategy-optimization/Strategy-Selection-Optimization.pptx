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q8qaDN8zqVxOoewizHLNI76nM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8E01A2-C75E-4AF1-9346-06E85538D9DE}">
  <a:tblStyle styleId="{808E01A2-C75E-4AF1-9346-06E85538D9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100584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345168" y="100584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912096" y="100584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479024" y="1005840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1045952" y="1005840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778240" y="1572768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345168" y="1572768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912096" y="1572768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479024" y="1572768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1045952" y="1572768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778240" y="2139696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9345168" y="2139696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9912096" y="2139696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0479024" y="2139696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1045952" y="2139696"/>
            <a:ext cx="146304" cy="146304"/>
          </a:xfrm>
          <a:prstGeom prst="ellipse">
            <a:avLst/>
          </a:prstGeom>
          <a:solidFill>
            <a:srgbClr val="2A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8503920" y="274320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1A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1AC"/>
                </a:solidFill>
                <a:latin typeface="Calibri"/>
                <a:ea typeface="Calibri"/>
                <a:cs typeface="Calibri"/>
                <a:sym typeface="Calibri"/>
              </a:rPr>
              <a:t>3 STRATEGIES  ×  5 ASSETS  =  15 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40080" y="685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OPTIMIZATION METHODS — FINAL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40080" y="114300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Strategy–Asset Selection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Under an Operating Cap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080" y="28803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Exact CP-SAT vs. Bayesian Search vs. Greedy Selection, with Shared Convex Risk Sizing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640080" y="3703320"/>
            <a:ext cx="0" cy="960120"/>
          </a:xfrm>
          <a:prstGeom prst="straightConnector1">
            <a:avLst/>
          </a:prstGeom>
          <a:noFill/>
          <a:ln cap="flat" cmpd="sng" w="25400">
            <a:solidFill>
              <a:srgbClr val="C9A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68680" y="3657600"/>
            <a:ext cx="6949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Authors: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Harleen Buttar &amp; Sabyasachi Chowdhury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 Methods, MS Applied Data Science — University of Chicago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40080" y="580644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6C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EB6CC"/>
                </a:solidFill>
                <a:latin typeface="Calibri"/>
                <a:ea typeface="Calibri"/>
                <a:cs typeface="Calibri"/>
                <a:sym typeface="Calibri"/>
              </a:rPr>
              <a:t>An original recreation of an approved proposal — new assets, new signal logic, new solvers (OR-Tools CP-SAT, CVXPY), and an added greedy benchmark — validated by an 18-round semiannual walk-forward backtest.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9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1 · DECISION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Which strategy–asset slots are worth the operating cost of running live?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4A3C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Tie.png" id="47" name="Google Shape;4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949" y="210494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86868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Who decides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8680" y="338328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 portfolio or research lead choosing which strategy–asset pairs to activate at each semiannual rebalance.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34840" y="1691640"/>
            <a:ext cx="356616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4A3C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754880" y="2011680"/>
            <a:ext cx="777240" cy="77724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8149" y="210494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475488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Why it's costly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0" y="338328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Every live pair adds data monitoring, model review, execution oversight, and risk sign-off — capacity is not free.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321040" y="1691640"/>
            <a:ext cx="356616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4A3C4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641080" y="2011680"/>
            <a:ext cx="777240" cy="77724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question.png" id="57" name="Google Shape;5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4349" y="2104949"/>
            <a:ext cx="590702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8641080" y="29260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The real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641080" y="338328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Does an exact discrete optimizer beat black-box Bayesian search or a simple greedy rule — and does a better pick even help out of sample?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6957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68680" y="489204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Downstream flow: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 slots → shared convex QP sizing → fixed weights held over the next 6 months → tested on data neither method used during optimization.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2 · PROBLEM FORMULATION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15 candidates. Two coupled optimization stages.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554480"/>
            <a:ext cx="5486400" cy="4434840"/>
          </a:xfrm>
          <a:prstGeom prst="roundRect">
            <a:avLst>
              <a:gd fmla="val 1649" name="adj"/>
            </a:avLst>
          </a:prstGeom>
          <a:solidFill>
            <a:srgbClr val="F5F6F9"/>
          </a:solidFill>
          <a:ln cap="flat" cmpd="sng" w="127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Stage A — Selection (MIP)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22960" y="2240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3204A"/>
                </a:solidFill>
                <a:latin typeface="Calibri"/>
                <a:ea typeface="Calibri"/>
                <a:cs typeface="Calibri"/>
                <a:sym typeface="Calibri"/>
              </a:rPr>
              <a:t>Decision variable   </a:t>
            </a:r>
            <a:r>
              <a:rPr b="0" i="1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1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s,a</a:t>
            </a: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∈ {0, 1}  —  1 if strategy s is active on asset a</a:t>
            </a:r>
            <a:b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22960" y="29260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04A"/>
                </a:solidFill>
                <a:latin typeface="Calibri"/>
                <a:ea typeface="Calibri"/>
                <a:cs typeface="Calibri"/>
                <a:sym typeface="Calibri"/>
              </a:rPr>
              <a:t>Objective (maximize):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22960" y="3246120"/>
            <a:ext cx="493776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60120" y="324612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s,a  q</a:t>
            </a:r>
            <a:r>
              <a:rPr b="0" baseline="-2500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s,a</a:t>
            </a: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· y</a:t>
            </a:r>
            <a:r>
              <a:rPr b="0" baseline="-2500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s,a</a:t>
            </a:r>
            <a:r>
              <a:rPr b="0" i="0" lang="en-US" sz="14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(q = trailing annualized mean return score)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22960" y="3886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04A"/>
                </a:solidFill>
                <a:latin typeface="Calibri"/>
                <a:ea typeface="Calibri"/>
                <a:cs typeface="Calibri"/>
                <a:sym typeface="Calibri"/>
              </a:rPr>
              <a:t>Subject to: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60120" y="4206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Σs y s,a ≤ 1  ∀a   </a:t>
            </a: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 most one strategy live per asset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60120" y="461772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Σ y s,a ≤ K   </a:t>
            </a: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 most K slots funded in total (K = 3)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60120" y="50292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y s,a ∈ {0,1}   </a:t>
            </a: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binary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22960" y="5532120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Solved exactly with OR-Tools CP-SAT, and independently approximated with Bayesian Optimization and a greedy heuristic, for a genuine head-to-head.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309360" y="1554480"/>
            <a:ext cx="5349240" cy="4434840"/>
          </a:xfrm>
          <a:prstGeom prst="roundRect">
            <a:avLst>
              <a:gd fmla="val 1649" name="adj"/>
            </a:avLst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583680" y="17830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Stage B — Risk Sizing (Convex QP)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83680" y="2212848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Shared identically across all three selection methods — so any performance gap comes only from the selection stage, never from sizing.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583680" y="278892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(maximize):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83680" y="3108960"/>
            <a:ext cx="4800600" cy="548640"/>
          </a:xfrm>
          <a:prstGeom prst="roundRect">
            <a:avLst>
              <a:gd fmla="val 10000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720840" y="310896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ᵀw − (γ/2)·wᵀΣw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583680" y="379476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 to: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720840" y="4114800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C9A227"/>
                </a:solidFill>
                <a:latin typeface="Courier New"/>
                <a:ea typeface="Courier New"/>
                <a:cs typeface="Courier New"/>
                <a:sym typeface="Courier New"/>
              </a:rPr>
              <a:t>0 ≤ w i ≤ w max   </a:t>
            </a: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position cap, w max = 0.60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720840" y="4526280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C9A227"/>
                </a:solidFill>
                <a:latin typeface="Courier New"/>
                <a:ea typeface="Courier New"/>
                <a:cs typeface="Courier New"/>
                <a:sym typeface="Courier New"/>
              </a:rPr>
              <a:t>Σ w i ≤ 1   </a:t>
            </a: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unused capital sits in cash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583680" y="498348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0" i="0" lang="en-US" sz="11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 and Σ are the annualized mean return vector and covariance matrix estimated from the trailing 756-day training window, ridge-stabilized for numerical stability.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 · DATA DESCRIPTION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Five assets, one calendar, thirteen years of daily prices.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1600200"/>
            <a:ext cx="2084832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1225296" y="1874520"/>
            <a:ext cx="731520" cy="73152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line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078" y="196230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548640" y="2743200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SPY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85800" y="3108960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Broad U.S. equity market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79776" y="1600200"/>
            <a:ext cx="2084832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456432" y="1874520"/>
            <a:ext cx="731520" cy="73152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microchip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4214" y="196230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2779776" y="2743200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QQQ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916936" y="3108960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Technology-heavy equities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10912" y="1600200"/>
            <a:ext cx="2084832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687568" y="1874520"/>
            <a:ext cx="731520" cy="7315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itcoin.png"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5350" y="196230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5010912" y="2743200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BTC-USD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148072" y="3108960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Cryptocurrency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242048" y="1600200"/>
            <a:ext cx="2084832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7918704" y="1874520"/>
            <a:ext cx="731520" cy="73152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as.png" id="118" name="Google Shape;11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6486" y="196230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7242048" y="2743200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XOM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379208" y="3108960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Energy-sector single stock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473184" y="1600200"/>
            <a:ext cx="2084832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0149840" y="1874520"/>
            <a:ext cx="731520" cy="73152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ins.png" id="123" name="Google Shape;12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7622" y="196230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9473184" y="2743200"/>
            <a:ext cx="20848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GLD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610344" y="3108960"/>
            <a:ext cx="18105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Gold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379476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822960" y="39776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Source &amp;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22960" y="4361688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Source: 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Daily adjusted closes via yfinance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Window: 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2013-01-01 through 2026-07-29, local disk cache after first pull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Lookback: 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756 trading days (~3 years) per training window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Rebalance: 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every 126 trading days (~6 months)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080760" y="3794760"/>
            <a:ext cx="553212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355080" y="39776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Preprocessing &amp; Leakage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355080" y="4361688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Prices aligned to a common calendar; missing rows dropped only after alignment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Converted to simple daily returns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Signals use data available at or before each date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Strategy returns lag the signal by </a:t>
            </a: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one trading day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to block look-ahead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15 candidates total = 3 strategies × 5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 · DATA DESCRIPTION (CONT.)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Three strategies, deliberately rebuilt from scratch.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8640" y="1691640"/>
            <a:ext cx="3566160" cy="3108960"/>
          </a:xfrm>
          <a:prstGeom prst="roundRect">
            <a:avLst>
              <a:gd fmla="val 2353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86868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22960" y="278892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EMA Trend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22960" y="347472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Long when the 20-day EMA is above the 100-day EMA — a classic dual-moving-average crossover, evaluated per asset.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434840" y="1691640"/>
            <a:ext cx="3566160" cy="3108960"/>
          </a:xfrm>
          <a:prstGeom prst="roundRect">
            <a:avLst>
              <a:gd fmla="val 2353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754880" y="2011680"/>
            <a:ext cx="594360" cy="59436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75488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09160" y="278892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Bollinger Mean-Reversion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09160" y="347472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Long after a low-price excursion, defined as Bollinger %B falling below 0.10 — a genuine oversold trigger, not a flat threshold.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321040" y="1691640"/>
            <a:ext cx="3566160" cy="3108960"/>
          </a:xfrm>
          <a:prstGeom prst="roundRect">
            <a:avLst>
              <a:gd fmla="val 2353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641080" y="2011680"/>
            <a:ext cx="594360" cy="594360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8641080" y="20116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595360" y="2788920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Cross-Sectional Momentum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595360" y="347472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Each day, rank all five assets by trailing 12–1 momentum; activate only the top 2 when their momentum is positive — a real cross-sectional ranker.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strategy returns multiply today's asset return by </a:t>
            </a:r>
            <a:r>
              <a:rPr b="1" i="0" lang="en-US" sz="13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yesterday's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signal — the same one-day lag enforced across every strategy, asset, and rebalance.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4 · SOLUTION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Three ways to pick 3-of-15, one way to size them.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48640" y="16916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13204A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527048" y="1965960"/>
            <a:ext cx="694944" cy="69494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.png"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441" y="2049353"/>
            <a:ext cx="528157" cy="52815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CP-SAT (Exact)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Google OR-Tools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77240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Integer-scaled scores solved as a MIP — guarantees the true optimum, with a formal feasibility/optimality status.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01568" y="16916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379976" y="1965960"/>
            <a:ext cx="694944" cy="694944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ice.png" id="176" name="Google Shape;1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3369" y="2049353"/>
            <a:ext cx="528157" cy="52815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3584448" y="28346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Bayesian Optimization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584448" y="3383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bayesian-optimization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30168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One continuous, rounded variable per asset (4 choices); cardinality violations penalized. Multiple seeds expose run-to-run variability.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254496" y="16916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7232904" y="1965960"/>
            <a:ext cx="694944" cy="694944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ort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6297" y="2049353"/>
            <a:ext cx="528157" cy="52815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6437376" y="28346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Greedy Heuristic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437376" y="3383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Custom, deterministic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83096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Sorts candidates by score, accepts the next one only if its asset is free and the cap allows — fast, but not guaranteed optimal in general.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107424" y="16916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0085832" y="1965960"/>
            <a:ext cx="694944" cy="694944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lance.png" id="188" name="Google Shape;1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9225" y="2049353"/>
            <a:ext cx="528157" cy="52815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9290304" y="28346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Convex QP Sizing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290304" y="3383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CVXPY + OSQP / CLARABEL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9336024" y="379476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One shared mean-variance sizing model applied identically to every method's selected set, with a ridge-stabilized covariance.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The selection stage is the only thing that differs between methods — Stage B (QP sizing) is identical for all three, so any downstream performance gap traces back to selection quality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5 · IMPLEMENTATION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One computational workflow, run identically 18 times.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42036" y="1600200"/>
            <a:ext cx="1965960" cy="1554480"/>
          </a:xfrm>
          <a:prstGeom prst="roundRect">
            <a:avLst>
              <a:gd fmla="val 4706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432408" y="1783080"/>
            <a:ext cx="585216" cy="585216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.png"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2634" y="1853306"/>
            <a:ext cx="444764" cy="4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/>
          <p:nvPr/>
        </p:nvSpPr>
        <p:spPr>
          <a:xfrm>
            <a:off x="833476" y="24688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Cache prices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707996" y="2057400"/>
            <a:ext cx="219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927452" y="1600200"/>
            <a:ext cx="1965960" cy="1554480"/>
          </a:xfrm>
          <a:prstGeom prst="roundRect">
            <a:avLst>
              <a:gd fmla="val 4706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617824" y="1783080"/>
            <a:ext cx="585216" cy="585216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line.png"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8050" y="1853306"/>
            <a:ext cx="444764" cy="4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3018892" y="24688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Build signals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(1-day lag)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893412" y="2057400"/>
            <a:ext cx="219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112868" y="1600200"/>
            <a:ext cx="1965960" cy="1554480"/>
          </a:xfrm>
          <a:prstGeom prst="roundRect">
            <a:avLst>
              <a:gd fmla="val 4706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803240" y="1783080"/>
            <a:ext cx="585216" cy="585216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alance.png" id="214" name="Google Shape;21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466" y="1853306"/>
            <a:ext cx="444764" cy="4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5204308" y="24688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Estimate scores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&amp; covariance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078828" y="2057400"/>
            <a:ext cx="219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298284" y="1600200"/>
            <a:ext cx="1965960" cy="1554480"/>
          </a:xfrm>
          <a:prstGeom prst="roundRect">
            <a:avLst>
              <a:gd fmla="val 4706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988656" y="1783080"/>
            <a:ext cx="585216" cy="585216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olt.png" id="219" name="Google Shape;21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8882" y="1853306"/>
            <a:ext cx="444764" cy="4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/>
          <p:nvPr/>
        </p:nvSpPr>
        <p:spPr>
          <a:xfrm>
            <a:off x="7389724" y="24688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Solve 3 selection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methods + QP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9264244" y="2057400"/>
            <a:ext cx="2194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483700" y="1600200"/>
            <a:ext cx="1965960" cy="1554480"/>
          </a:xfrm>
          <a:prstGeom prst="roundRect">
            <a:avLst>
              <a:gd fmla="val 4706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174072" y="1783080"/>
            <a:ext cx="585216" cy="585216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lock.png" id="224" name="Google Shape;22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4298" y="1853306"/>
            <a:ext cx="444764" cy="4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9575140" y="24688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Hold 126 days,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repeat ×18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48640" y="3429000"/>
            <a:ext cx="5349240" cy="2606040"/>
          </a:xfrm>
          <a:prstGeom prst="roundRect">
            <a:avLst>
              <a:gd fmla="val 2807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822960" y="36301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Key Libraries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22960" y="4050792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ortools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— CP-SAT exact selection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cvxpy + osqp/clarabel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— convex QP sizing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bayesian-optimization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— black-box selection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3204A"/>
                </a:solidFill>
                <a:latin typeface="Courier New"/>
                <a:ea typeface="Courier New"/>
                <a:cs typeface="Courier New"/>
                <a:sym typeface="Courier New"/>
              </a:rPr>
              <a:t>pandas / numpy / yfinance</a:t>
            </a: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  — data &amp;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263640" y="3429000"/>
            <a:ext cx="5349240" cy="2606040"/>
          </a:xfrm>
          <a:prstGeom prst="roundRect">
            <a:avLst>
              <a:gd fmla="val 2807" name="adj"/>
            </a:avLst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537960" y="36301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Modeling Choices &amp; Reproducibility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537960" y="4050792"/>
            <a:ext cx="48463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CP-SAT needs integer coefficients — scores are scaled and rounded without changing the formulation.</a:t>
            </a:r>
            <a:b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Covariance is ridge-stabilized before entering the QP.</a:t>
            </a:r>
            <a:b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Bayesian search runs multiple fixed seeds to expose (not hide) run-to-run variability.</a:t>
            </a:r>
            <a:b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Prices are cached locally, so a rerun is fully deterministic after the first download.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6 ·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18 semiannual rebalances, 2017–2026, fully out of sample.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equity_curves.png" id="241" name="Google Shape;2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80160"/>
            <a:ext cx="6720840" cy="332841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548640" y="4590288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Out-of-sample equity curves — CP-SAT and Greedy overlap exactly.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8"/>
          <p:cNvGraphicFramePr/>
          <p:nvPr/>
        </p:nvGraphicFramePr>
        <p:xfrm>
          <a:off x="74523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{808E01A2-C75E-4AF1-9346-06E85538D9DE}</a:tableStyleId>
              </a:tblPr>
              <a:tblGrid>
                <a:gridCol w="1417325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CAGR%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Sharpe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0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MaxDD%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CP-SAT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-37.6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Greedy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-37.6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Bayesian Opt.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-37.6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Benchmark*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1.165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-31.8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C5C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8"/>
          <p:cNvSpPr/>
          <p:nvPr/>
        </p:nvSpPr>
        <p:spPr>
          <a:xfrm>
            <a:off x="7452360" y="361188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*Naive equal-weight buy-and-hold across all five assets.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452360" y="3977640"/>
            <a:ext cx="4160520" cy="1874520"/>
          </a:xfrm>
          <a:prstGeom prst="roundRect">
            <a:avLst>
              <a:gd fmla="val 3902" name="adj"/>
            </a:avLst>
          </a:prstGeom>
          <a:solidFill>
            <a:srgbClr val="F5F6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680960" y="4114800"/>
            <a:ext cx="3703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62B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62B2B"/>
                </a:solidFill>
                <a:latin typeface="Calibri"/>
                <a:ea typeface="Calibri"/>
                <a:cs typeface="Calibri"/>
                <a:sym typeface="Calibri"/>
              </a:rPr>
              <a:t>Honest finding: </a:t>
            </a:r>
            <a:r>
              <a:rPr b="0" i="0" lang="en-US" sz="11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all three optimized methods underperformed the naive benchmark out-of-sample on every metric — despite CP-SAT and Greedy strictly dominating in-sample. Concentrating into 3 of 15 slots carried more drawdown risk than staying diversified across all five assets.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9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6 · RESULTS (CONT.)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CP-SAT never lost. Bayesian search paid for it in time and stability.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48640" y="12801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48640" y="13716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A4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7A4C"/>
                </a:solidFill>
                <a:latin typeface="Cambria"/>
                <a:ea typeface="Cambria"/>
                <a:cs typeface="Cambria"/>
                <a:sym typeface="Cambria"/>
              </a:rPr>
              <a:t>18/18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77240" y="2057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rebalances where CP-SAT matched or beat both alternatives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434840" y="12801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434840" y="13716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713×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663440" y="2057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faster than Bayesian Optimization (0.0018s vs. 1.283s mean)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321040" y="1280160"/>
            <a:ext cx="356616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94A3C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8321040" y="13716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62B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A62B2B"/>
                </a:solidFill>
                <a:latin typeface="Cambria"/>
                <a:ea typeface="Cambria"/>
                <a:cs typeface="Cambria"/>
                <a:sym typeface="Cambria"/>
              </a:rPr>
              <a:t>0.110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549640" y="2057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mean annualized objective gap Bayesian left on the table vs. CP-SAT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objective_gaps.png" id="265" name="Google Shape;2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880360"/>
            <a:ext cx="93268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7 · SENSITIVITY / SCENARIO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How the picture changes as K and risk aversion move.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sensitivity_k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25880"/>
            <a:ext cx="5486400" cy="302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s/sensitivity_gamma.png" id="276" name="Google Shape;27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325880"/>
            <a:ext cx="5486400" cy="302666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548640" y="4370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Selection objective vs. cap 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63640" y="4370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Cash weight vs. risk aversion 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fmla="val 5161" name="adj"/>
            </a:avLst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868680" y="480060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Raising K from 1 to 5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increases the selection objective for all three methods, with CP-SAT and Greedy tracking each other and Bayesian generally trailing (most visibly at K=2).  </a:t>
            </a:r>
            <a:r>
              <a:rPr b="1" i="0" lang="en-US" sz="125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Raising risk aversion γ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shifts QP weight out of risky slots and into cash. Additional scenarios (position caps, transaction costs, Bayesian search budget) are covered in the full notebook.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9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8 · DEPLOYMENT OR DECISION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From notebook to a repeatable semiannual decision ticket.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078992" y="169164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Refresh adjusted prices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1"/>
          <p:cNvCxnSpPr/>
          <p:nvPr/>
        </p:nvCxnSpPr>
        <p:spPr>
          <a:xfrm>
            <a:off x="740664" y="2075688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1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1078992" y="2258568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Rebuild signals &amp; net strategy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1"/>
          <p:cNvCxnSpPr/>
          <p:nvPr/>
        </p:nvCxnSpPr>
        <p:spPr>
          <a:xfrm>
            <a:off x="740664" y="2642616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1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078992" y="2825496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Estimate trailing scores &amp; covariance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>
            <a:off x="740664" y="3209544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078992" y="3392424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Solve the CP-SAT selection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1"/>
          <p:cNvCxnSpPr/>
          <p:nvPr/>
        </p:nvCxnSpPr>
        <p:spPr>
          <a:xfrm>
            <a:off x="740664" y="3776472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1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78992" y="3959352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Solve the CVXPY sizing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1"/>
          <p:cNvCxnSpPr/>
          <p:nvPr/>
        </p:nvCxnSpPr>
        <p:spPr>
          <a:xfrm>
            <a:off x="740664" y="434340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D7D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1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078992" y="452628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Export a decision ticket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548640" y="5230368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Suitable as a scheduled research workflow or the backend of a lightweight dashboard.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309360" y="1691640"/>
            <a:ext cx="5303520" cy="4160520"/>
          </a:xfrm>
          <a:prstGeom prst="roundRect">
            <a:avLst>
              <a:gd fmla="val 1758" name="adj"/>
            </a:avLst>
          </a:prstGeom>
          <a:solidFill>
            <a:srgbClr val="132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Latest Decision Ticket — 2026-07-28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583680" y="2313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Solver: OR-Tools CP-SAT   ·   K = 3   ·   status: OPTIMAL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583680" y="2743200"/>
            <a:ext cx="4754880" cy="658368"/>
          </a:xfrm>
          <a:prstGeom prst="roundRect">
            <a:avLst>
              <a:gd fmla="val 8333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766560" y="2743200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ema_trend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778240" y="2743200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QQQ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0012680" y="2743200"/>
            <a:ext cx="1325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7.2%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583680" y="3529584"/>
            <a:ext cx="4754880" cy="658368"/>
          </a:xfrm>
          <a:prstGeom prst="roundRect">
            <a:avLst>
              <a:gd fmla="val 8333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6766560" y="3529584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ema_trend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8778240" y="3529584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GLD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0012680" y="3529584"/>
            <a:ext cx="1325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60.0% (cap)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583680" y="4315968"/>
            <a:ext cx="4754880" cy="658368"/>
          </a:xfrm>
          <a:prstGeom prst="roundRect">
            <a:avLst>
              <a:gd fmla="val 8333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766560" y="4315968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cross_sectional_momentum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778240" y="4315968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BTC-USD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10012680" y="4315968"/>
            <a:ext cx="1325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32.8%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583680" y="51937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Cash weight: 0.0%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583680" y="555955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QP status: OPTIMAL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4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9 ·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CPU-only. Fifteen binaries don't need a GPU.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8640" y="1600200"/>
            <a:ext cx="3291840" cy="4297680"/>
          </a:xfrm>
          <a:prstGeom prst="roundRect">
            <a:avLst>
              <a:gd fmla="val 2222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828800" y="1920240"/>
            <a:ext cx="731520" cy="7315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rver.png" id="342" name="Google Shape;3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582" y="2008022"/>
            <a:ext cx="555955" cy="55595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/>
          <p:nvPr/>
        </p:nvSpPr>
        <p:spPr>
          <a:xfrm>
            <a:off x="548640" y="27889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CPU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48640" y="35204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2 cores · 4 GB 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is plenty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868680" y="4343400"/>
            <a:ext cx="2651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B6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EB6CC"/>
                </a:solidFill>
                <a:latin typeface="Calibri"/>
                <a:ea typeface="Calibri"/>
                <a:cs typeface="Calibri"/>
                <a:sym typeface="Calibri"/>
              </a:rPr>
              <a:t>15 binary candidates, a QP with ≤3 free weights, and a 4-choice Bayesian search — none of it benefits meaningfully from a GPU at this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114800" y="1600200"/>
            <a:ext cx="3657600" cy="429768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4389120" y="18288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Environment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389120" y="2286000"/>
            <a:ext cx="31089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Python 3.10–3.13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Internet access needed only for the first Yahoo Finance pull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Prices cached locally after that — reruns need no network</a:t>
            </a:r>
            <a:b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• macOS install cell removes highspy to avoid a libhighs dylib collision with cvxpy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8001000" y="1600200"/>
            <a:ext cx="3639312" cy="4297680"/>
          </a:xfrm>
          <a:prstGeom prst="roundRect">
            <a:avLst>
              <a:gd fmla="val 20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8275320" y="182880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4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04A"/>
                </a:solidFill>
                <a:latin typeface="Cambria"/>
                <a:ea typeface="Cambria"/>
                <a:cs typeface="Cambria"/>
                <a:sym typeface="Cambria"/>
              </a:rPr>
              <a:t>Package Versions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8275320" y="228600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yfinance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275320" y="2670048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pandas / numpy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275320" y="3054096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ortools (CP-SAT)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275320" y="3438144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cvxpy + osqp / clarabel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8275320" y="3822192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bayesian-optimization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275320" y="4206240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matplotlib / seaborn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275320" y="4590288"/>
            <a:ext cx="3090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B1F2A"/>
                </a:solidFill>
                <a:latin typeface="Courier New"/>
                <a:ea typeface="Courier New"/>
                <a:cs typeface="Courier New"/>
                <a:sym typeface="Courier New"/>
              </a:rPr>
              <a:t>•  scikit-learn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1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1AC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1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1A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4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10 · CONCLUSIONS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Exact optimization won the fight it was built for — not the one that mattered most.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fmla="val 1778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822960" y="2039112"/>
            <a:ext cx="502920" cy="502920"/>
          </a:xfrm>
          <a:prstGeom prst="ellipse">
            <a:avLst/>
          </a:prstGeom>
          <a:solidFill>
            <a:srgbClr val="1E7A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g.png" id="369" name="Google Shape;3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0" y="209946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3"/>
          <p:cNvSpPr/>
          <p:nvPr/>
        </p:nvSpPr>
        <p:spPr>
          <a:xfrm>
            <a:off x="1463040" y="2039112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Confirmed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868680" y="2697480"/>
            <a:ext cx="4754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CP-SAT is exactly optimal and reproducible — confirmed at all 18/18 rebalances.</a:t>
            </a: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Bayesian Optimization is slower (~713×) and sometimes misses the optimum (16/18 rebalances, mean gap 0.110, seed-to-seed std ≈ 0.069).</a:t>
            </a: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Greedy matched CP-SAT exactly in every tested window on this small, largely non-conflicting candidate set — a useful finding, not a general guarantee.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6309360" y="1783080"/>
            <a:ext cx="5394960" cy="4114800"/>
          </a:xfrm>
          <a:prstGeom prst="roundRect">
            <a:avLst>
              <a:gd fmla="val 1778" name="adj"/>
            </a:avLst>
          </a:prstGeom>
          <a:solidFill>
            <a:srgbClr val="1E2C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6583680" y="2039112"/>
            <a:ext cx="502920" cy="502920"/>
          </a:xfrm>
          <a:prstGeom prst="ellipse">
            <a:avLst/>
          </a:prstGeom>
          <a:solidFill>
            <a:srgbClr val="A62B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.png" id="374" name="Google Shape;37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4030" y="2099462"/>
            <a:ext cx="382219" cy="38221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3"/>
          <p:cNvSpPr/>
          <p:nvPr/>
        </p:nvSpPr>
        <p:spPr>
          <a:xfrm>
            <a:off x="7223760" y="2039112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 Confirmed / Limits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6629400" y="2697480"/>
            <a:ext cx="4754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DE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Better in-sample selection did not translate to better out-of-sample performance — the equal-weight benchmark won on every metric.</a:t>
            </a: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Trailing return is a noisy proxy for future opportunity; concentrating into 3-of-15 slots added drawdown risk that staying diversified avoided.</a:t>
            </a: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7DEEE"/>
                </a:solidFill>
                <a:latin typeface="Calibri"/>
                <a:ea typeface="Calibri"/>
                <a:cs typeface="Calibri"/>
                <a:sym typeface="Calibri"/>
              </a:rPr>
              <a:t>•  No shorting, taxes, or capacity limits modeled; covariance is sample-based, not regime-aware. Educational study, not investment advice.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1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1AC"/>
                </a:solidFill>
                <a:latin typeface="Calibri"/>
                <a:ea typeface="Calibri"/>
                <a:cs typeface="Calibri"/>
                <a:sym typeface="Calibri"/>
              </a:rPr>
              <a:t>Strategy–Asset Selection Under an Operating 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1A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1A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2026-07-29T21:39:36Z</dcterms:created>
  <dc:creator>PptxGenJS</dc:creator>
</cp:coreProperties>
</file>