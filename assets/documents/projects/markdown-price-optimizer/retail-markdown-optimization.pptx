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5F7FA"/>
                </a:solidFill>
                <a:latin typeface="Arial"/>
              </a:rPr>
              <a:t>Items per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FOODS_3</c:v>
                  </c:pt>
                  <c:pt idx="1">
                    <c:v>HOUSEHOLD_1</c:v>
                  </c:pt>
                  <c:pt idx="2">
                    <c:v>HOUSEHOLD_2</c:v>
                  </c:pt>
                  <c:pt idx="3">
                    <c:v>HOBBIES_1</c:v>
                  </c:pt>
                  <c:pt idx="4">
                    <c:v>FOODS_2</c:v>
                  </c:pt>
                  <c:pt idx="5">
                    <c:v>FOODS_1</c:v>
                  </c:pt>
                  <c:pt idx="6">
                    <c:v>HOBBIES_2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823</c:v>
                </c:pt>
                <c:pt idx="1">
                  <c:v>532</c:v>
                </c:pt>
                <c:pt idx="2">
                  <c:v>515</c:v>
                </c:pt>
                <c:pt idx="3">
                  <c:v>416</c:v>
                </c:pt>
                <c:pt idx="4">
                  <c:v>400</c:v>
                </c:pt>
                <c:pt idx="5">
                  <c:v>216</c:v>
                </c:pt>
                <c:pt idx="6">
                  <c:v>148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2B3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32B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2B3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5F7FA"/>
                </a:solidFill>
                <a:latin typeface="Arial"/>
              </a:rPr>
              <a:t>R²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SKUs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17300</c:v>
                </c:pt>
                <c:pt idx="1">
                  <c:v>8100</c:v>
                </c:pt>
                <c:pt idx="2">
                  <c:v>2900</c:v>
                </c:pt>
                <c:pt idx="3">
                  <c:v>1400</c:v>
                </c:pt>
                <c:pt idx="4">
                  <c:v>790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2B3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32B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2B3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5F7FA"/>
                </a:solidFill>
                <a:latin typeface="Arial"/>
              </a:rPr>
              <a:t>SKU Filtering Funnel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SKUs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Kept</c:v>
                  </c:pt>
                  <c:pt idx="1">
                    <c:v>Bad
Elasticity</c:v>
                  </c:pt>
                  <c:pt idx="2">
                    <c:v>Low R²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4834</c:v>
                </c:pt>
                <c:pt idx="1">
                  <c:v>2998</c:v>
                </c:pt>
                <c:pt idx="2">
                  <c:v>22658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2B3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32B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2B3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C667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66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Flat 20%</c:v>
                  </c:pt>
                  <c:pt idx="1">
                    <c:v>Calendar</c:v>
                  </c:pt>
                  <c:pt idx="2">
                    <c:v>MIP-Optimized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354660</c:v>
                </c:pt>
                <c:pt idx="1">
                  <c:v>391296</c:v>
                </c:pt>
                <c:pt idx="2">
                  <c:v>438202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2B3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32B3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232B3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5F7FA"/>
                </a:solidFill>
                <a:latin typeface="Arial"/>
              </a:rPr>
              <a:t>Revenue by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Dept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HOUSEHOLD_1</c:v>
                  </c:pt>
                  <c:pt idx="1">
                    <c:v>FOODS_3</c:v>
                  </c:pt>
                  <c:pt idx="2">
                    <c:v>HOBBIES_1</c:v>
                  </c:pt>
                  <c:pt idx="3">
                    <c:v>FOODS_2</c:v>
                  </c:pt>
                  <c:pt idx="4">
                    <c:v>FOODS_1</c:v>
                  </c:pt>
                  <c:pt idx="5">
                    <c:v>HOUSEHOLD_2</c:v>
                  </c:pt>
                  <c:pt idx="6">
                    <c:v>HOBBIES_2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158620</c:v>
                </c:pt>
                <c:pt idx="1">
                  <c:v>119475</c:v>
                </c:pt>
                <c:pt idx="2">
                  <c:v>89341</c:v>
                </c:pt>
                <c:pt idx="3">
                  <c:v>36949</c:v>
                </c:pt>
                <c:pt idx="4">
                  <c:v>25244</c:v>
                </c:pt>
                <c:pt idx="5">
                  <c:v>7303</c:v>
                </c:pt>
                <c:pt idx="6">
                  <c:v>1271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2B3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32B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32B3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MIXED-INTEGER PROGRAMMING · RETAIL PRICING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Markdown Optimization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Mixed-Integer Programming for Multi-SKU Clearance Pricing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23367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Improvement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397764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2903220000" dist="967740000" dir="324000000000">
              <a:srgbClr val="000000">
                <a:alpha val="45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423367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4,834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3484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SKU-Store Pairs Optimized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397764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36870894000000" dist="12290298000000" dir="19440000000000000">
              <a:srgbClr val="000000">
                <a:alpha val="4500000000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423367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 min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04672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Solve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Problem to Deployed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468260353800000000" dist="156086784600000000" dir="1.1664e+21">
              <a:srgbClr val="000000">
                <a:alpha val="4500000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must clear seasonal inventory by a deadline — every markdown decision trades revenue against risk.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36576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6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47288" y="196596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5.94690649326e+21" dist="1.98230216442e+21" dir="6.9984e+25">
              <a:srgbClr val="000000">
                <a:alpha val="4.5e+2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75888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75888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75888" y="333756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Mixed-Integer Program recommends the optimal weekly discount for every SKU, grounded in real price elasticity.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53328" y="36576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672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54496" y="196596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7.5525712464402e+25" dist="2.5175237488134e+25" dir="4.19904e+30">
              <a:srgbClr val="000000">
                <a:alpha val="4.5e+2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83096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83096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83096" y="333756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decomposition — clustering, batching, rolling horizon — makes 4,834 SKU-store pairs optimized on a laptop CPU.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0536" y="36576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67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61704" y="196596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9.591765482979054e+29" dist="3.197255160993018e+29" dir="2.519424e+35">
              <a:srgbClr val="000000">
                <a:alpha val="4.5e+3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90304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90304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90304" y="333756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23.6% more revenue recovered than a flat discount policy, validated end-to-end and deployed live.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Markdown Decision Is a Trade-off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48556" y="1828800"/>
            <a:ext cx="3291840" cy="868680"/>
          </a:xfrm>
          <a:prstGeom prst="roundRect">
            <a:avLst>
              <a:gd name="adj" fmla="val 9474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2181542163383399e+34" dist="4.0605140544611325e+33" dir="1.5116544e+40">
              <a:srgbClr val="000000">
                <a:alpha val="4.5e+39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596" y="20848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17236" y="1828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Inventory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423160" y="2697480"/>
            <a:ext cx="914" cy="640080"/>
          </a:xfrm>
          <a:prstGeom prst="line">
            <a:avLst/>
          </a:prstGeom>
          <a:noFill/>
          <a:ln w="19050">
            <a:solidFill>
              <a:srgbClr val="232B3A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822960" y="3337560"/>
            <a:ext cx="3200400" cy="2468880"/>
          </a:xfrm>
          <a:prstGeom prst="roundRect">
            <a:avLst>
              <a:gd name="adj" fmla="val 3333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5470558547496917e+38" dist="5.156852849165638e+37" dir="9.069926400000001e+44">
              <a:srgbClr val="000000">
                <a:alpha val="4.5e+44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3611880"/>
            <a:ext cx="640080" cy="640080"/>
          </a:xfrm>
          <a:prstGeom prst="ellipse">
            <a:avLst/>
          </a:prstGeom>
          <a:solidFill>
            <a:srgbClr val="1B2230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37673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Markdown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7280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remains unsold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80760" y="2697480"/>
            <a:ext cx="914" cy="640080"/>
          </a:xfrm>
          <a:prstGeom prst="line">
            <a:avLst/>
          </a:prstGeom>
          <a:noFill/>
          <a:ln w="19050">
            <a:solidFill>
              <a:srgbClr val="232B3A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480560" y="3337560"/>
            <a:ext cx="3200400" cy="2468880"/>
          </a:xfrm>
          <a:prstGeom prst="roundRect">
            <a:avLst>
              <a:gd name="adj" fmla="val 3333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9647609355321086e+42" dist="6.549203118440361e+41" dir="5.44195584e+49">
              <a:srgbClr val="000000">
                <a:alpha val="4.5e+49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3611880"/>
            <a:ext cx="640080" cy="640080"/>
          </a:xfrm>
          <a:prstGeom prst="ellipse">
            <a:avLst/>
          </a:prstGeom>
          <a:solidFill>
            <a:srgbClr val="1B223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37673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Markdown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754880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revenue recovered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738360" y="2697480"/>
            <a:ext cx="914" cy="640080"/>
          </a:xfrm>
          <a:prstGeom prst="line">
            <a:avLst/>
          </a:prstGeom>
          <a:noFill/>
          <a:ln w="19050">
            <a:solidFill>
              <a:srgbClr val="232B3A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8138160" y="3337560"/>
            <a:ext cx="3200400" cy="2468880"/>
          </a:xfrm>
          <a:prstGeom prst="roundRect">
            <a:avLst>
              <a:gd name="adj" fmla="val 3333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2.495246388125778e+46" dist="8.317487960419258e+45" dir="3.2651735040000005e+54">
              <a:srgbClr val="000000">
                <a:alpha val="4.5e+54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0" y="3611880"/>
            <a:ext cx="640080" cy="640080"/>
          </a:xfrm>
          <a:prstGeom prst="ellipse">
            <a:avLst/>
          </a:prstGeom>
          <a:solidFill>
            <a:srgbClr val="1B223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376732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Markdown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412480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left on the table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M5 Forecasting Accuracy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3.1689629129197376e+50" dist="1.0563209709732457e+50" dir="1.9591041024000004e+59">
              <a:srgbClr val="000000">
                <a:alpha val="4.5e+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933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8.48M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SKU-Store-Week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47288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4.0245828994080665e+54" dist="1.341527633136022e+54" dir="1.1754624614400003e+64">
              <a:srgbClr val="000000">
                <a:alpha val="4.5e+6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7288" y="19933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3,049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47288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5.111220282248245e+58" dist="1.7037400940827478e+58" dir="7.052774768640002e+68">
              <a:srgbClr val="000000">
                <a:alpha val="4.5e+6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9933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54496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61704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6.491249758455271e+62" dist="2.16374991948509e+62" dir="4.2316648611840007e+73">
              <a:srgbClr val="000000">
                <a:alpha val="4.5e+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61704" y="19933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61704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881360" cy="2743200"/>
          </a:xfrm>
          <a:prstGeom prst="roundRect">
            <a:avLst>
              <a:gd name="adj" fmla="val 30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8.243887193238195e+66" dist="2.747962397746064e+66" dir="2.5389989167104004e+78">
              <a:srgbClr val="000000">
                <a:alpha val="4.5e+79"/>
              </a:srgbClr>
            </a:outerShdw>
          </a:effectLst>
        </p:spPr>
      </p:sp>
      <p:graphicFrame>
        <p:nvGraphicFramePr>
          <p:cNvPr id="17" name="Chart 0" descr=""/>
          <p:cNvGraphicFramePr/>
          <p:nvPr/>
        </p:nvGraphicFramePr>
        <p:xfrm>
          <a:off x="868680" y="3703320"/>
          <a:ext cx="104241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Interactive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095248" cy="1691640"/>
          </a:xfrm>
          <a:prstGeom prst="roundRect">
            <a:avLst>
              <a:gd name="adj" fmla="val 6679"/>
            </a:avLst>
          </a:prstGeom>
          <a:solidFill>
            <a:srgbClr val="141922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.0469736735412507e+71" dist="3.4899122451375014e+70" dir="1.5233993500262402e+83">
              <a:srgbClr val="000000">
                <a:alpha val="4.5e+8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1984" y="2889504"/>
            <a:ext cx="91440" cy="9144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017520"/>
            <a:ext cx="1003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Walmart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17040" y="338785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63344" y="2743200"/>
            <a:ext cx="1095248" cy="1691640"/>
          </a:xfrm>
          <a:prstGeom prst="roundRect">
            <a:avLst>
              <a:gd name="adj" fmla="val 6679"/>
            </a:avLst>
          </a:prstGeom>
          <a:solidFill>
            <a:srgbClr val="141922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.3296565653973883e+75" dist="4.432188551324627e+74" dir="9.14039610015744e+87">
              <a:srgbClr val="000000">
                <a:alpha val="4.5e+8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65248" y="2889504"/>
            <a:ext cx="91440" cy="9144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" name="Text 8"/>
          <p:cNvSpPr/>
          <p:nvPr/>
        </p:nvSpPr>
        <p:spPr>
          <a:xfrm>
            <a:off x="1909064" y="3017520"/>
            <a:ext cx="1003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40304" y="338785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86608" y="2743200"/>
            <a:ext cx="1095248" cy="1691640"/>
          </a:xfrm>
          <a:prstGeom prst="roundRect">
            <a:avLst>
              <a:gd name="adj" fmla="val 6679"/>
            </a:avLst>
          </a:prstGeom>
          <a:solidFill>
            <a:srgbClr val="14192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.688663838054683e+79" dist="5.628879460182276e+78" dir="5.484237660094465e+92">
              <a:srgbClr val="000000">
                <a:alpha val="4.5e+9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88512" y="2889504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3132328" y="3017520"/>
            <a:ext cx="1003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3568" y="338785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09872" y="2743200"/>
            <a:ext cx="1095248" cy="1691640"/>
          </a:xfrm>
          <a:prstGeom prst="roundRect">
            <a:avLst>
              <a:gd name="adj" fmla="val 6679"/>
            </a:avLst>
          </a:prstGeom>
          <a:solidFill>
            <a:srgbClr val="14192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2.1446030743294476e+83" dist="7.14867691443149e+82" dir="3.2905425960566786e+97">
              <a:srgbClr val="000000">
                <a:alpha val="4.5e+9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11776" y="2889504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4355592" y="3017520"/>
            <a:ext cx="1003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86832" y="338785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33136" y="2743200"/>
            <a:ext cx="1095248" cy="1691640"/>
          </a:xfrm>
          <a:prstGeom prst="roundRect">
            <a:avLst>
              <a:gd name="adj" fmla="val 6679"/>
            </a:avLst>
          </a:prstGeom>
          <a:solidFill>
            <a:srgbClr val="14192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2.7236459043983984e+87" dist="9.078819681327992e+86" dir="1.9743255576340073e+102">
              <a:srgbClr val="000000">
                <a:alpha val="4.5e+10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2889504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5578856" y="3017520"/>
            <a:ext cx="1003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0096" y="338785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56400" y="2743200"/>
            <a:ext cx="1095248" cy="1691640"/>
          </a:xfrm>
          <a:prstGeom prst="roundRect">
            <a:avLst>
              <a:gd name="adj" fmla="val 6679"/>
            </a:avLst>
          </a:prstGeom>
          <a:solidFill>
            <a:srgbClr val="141922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3.459030298585966e+91" dist="1.153010099528655e+91" dir="1.1845953345804043e+107">
              <a:srgbClr val="000000">
                <a:alpha val="4.5e+10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58304" y="288950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6802120" y="3017520"/>
            <a:ext cx="1003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Integer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33360" y="338785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79664" y="2743200"/>
            <a:ext cx="1095248" cy="1691640"/>
          </a:xfrm>
          <a:prstGeom prst="roundRect">
            <a:avLst>
              <a:gd name="adj" fmla="val 6679"/>
            </a:avLst>
          </a:prstGeom>
          <a:solidFill>
            <a:srgbClr val="141922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4.392968479204177e+95" dist="1.4643228264013918e+95" dir="7.107572007482426e+111">
              <a:srgbClr val="000000">
                <a:alpha val="4.4999999999999995e+11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81568" y="288950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8025384" y="3017520"/>
            <a:ext cx="1003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56624" y="338785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202928" y="2743200"/>
            <a:ext cx="1095248" cy="1691640"/>
          </a:xfrm>
          <a:prstGeom prst="roundRect">
            <a:avLst>
              <a:gd name="adj" fmla="val 6679"/>
            </a:avLst>
          </a:prstGeom>
          <a:solidFill>
            <a:srgbClr val="141922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5.579069968589305e+99" dist="1.8596899895297677e+99" dir="4.2645432044894554e+116">
              <a:srgbClr val="000000">
                <a:alpha val="4.4999999999999995e+119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04832" y="2889504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9248648" y="3017520"/>
            <a:ext cx="1003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Markdown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79888" y="338785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426192" y="2743200"/>
            <a:ext cx="1095248" cy="1691640"/>
          </a:xfrm>
          <a:prstGeom prst="roundRect">
            <a:avLst>
              <a:gd name="adj" fmla="val 6679"/>
            </a:avLst>
          </a:prstGeom>
          <a:solidFill>
            <a:srgbClr val="14192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7.085418860108418e+103" dist="2.361806286702805e+103" dir="2.5587259226936733e+121">
              <a:srgbClr val="000000">
                <a:alpha val="4.4999999999999995e+124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928096" y="288950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10471912" y="3017520"/>
            <a:ext cx="1003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14016" y="4754880"/>
            <a:ext cx="128016" cy="1280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0" name="Text 38"/>
          <p:cNvSpPr/>
          <p:nvPr/>
        </p:nvSpPr>
        <p:spPr>
          <a:xfrm>
            <a:off x="2615184" y="466344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88536" y="4754880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2" name="Text 40"/>
          <p:cNvSpPr/>
          <p:nvPr/>
        </p:nvSpPr>
        <p:spPr>
          <a:xfrm>
            <a:off x="4489704" y="466344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63056" y="475488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6364224" y="466344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037576" y="475488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6" name="Text 44"/>
          <p:cNvSpPr/>
          <p:nvPr/>
        </p:nvSpPr>
        <p:spPr>
          <a:xfrm>
            <a:off x="8238744" y="466344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writes a versioned artifact consumed by the next — every step is independently testable.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Price-Elasticity Estimation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8.998481952337691e+107" dist="2.999493984112562e+107" dir="1.535235553616204e+126">
              <a:srgbClr val="000000">
                <a:alpha val="4.4999999999999995e+129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22960" y="2011680"/>
          <a:ext cx="49834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82880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1428072079468868e+112" dist="3.809357359822954e+111" dir="9.211413321697224e+130">
              <a:srgbClr val="000000">
                <a:alpha val="4.5e+134"/>
              </a:srgbClr>
            </a:outerShdw>
          </a:effectLst>
        </p:spPr>
      </p:sp>
      <p:graphicFrame>
        <p:nvGraphicFramePr>
          <p:cNvPr id="7" name="Chart 1" descr=""/>
          <p:cNvGraphicFramePr/>
          <p:nvPr/>
        </p:nvGraphicFramePr>
        <p:xfrm>
          <a:off x="6355080" y="2011680"/>
          <a:ext cx="49834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4513651540925462e+116" dist="4.837883846975152e+115" dir="5.526847993018334e+135">
              <a:srgbClr val="000000">
                <a:alpha val="4.5e+139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5257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products exhibit insufficient historical price variation, requiring robust filtering before optimization.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Signals to a Pricing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71316" y="1828800"/>
            <a:ext cx="2286000" cy="731520"/>
          </a:xfrm>
          <a:prstGeom prst="roundRect">
            <a:avLst>
              <a:gd name="adj" fmla="val 11250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8432337456975335e+120" dist="6.144112485658443e+119" dir="3.3161087958110005e+140">
              <a:srgbClr val="000000">
                <a:alpha val="4.5e+14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71316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31636" y="1828800"/>
            <a:ext cx="2286000" cy="731520"/>
          </a:xfrm>
          <a:prstGeom prst="roundRect">
            <a:avLst>
              <a:gd name="adj" fmla="val 11250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2.3409068570358677e+124" dist="7.803022856786223e+123" dir="1.9896652774866004e+145">
              <a:srgbClr val="000000">
                <a:alpha val="4.5e+14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31636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71316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672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94076" y="2880360"/>
            <a:ext cx="6400800" cy="1965960"/>
          </a:xfrm>
          <a:prstGeom prst="roundRect">
            <a:avLst>
              <a:gd name="adj" fmla="val 6512"/>
            </a:avLst>
          </a:prstGeom>
          <a:solidFill>
            <a:srgbClr val="2F5FD9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2.972951708435552e+128" dist="9.909839028118503e+127" dir="1.1937991664919603e+150">
              <a:srgbClr val="000000">
                <a:alpha val="4.5e+15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94076" y="313639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894076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Mixed-Integer Program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94076" y="4846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672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76956" y="5440680"/>
            <a:ext cx="2834640" cy="868680"/>
          </a:xfrm>
          <a:prstGeom prst="roundRect">
            <a:avLst>
              <a:gd name="adj" fmla="val 9474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3.775648669713151e+132" dist="1.2585495565710499e+132" dir="7.162794998951762e+154">
              <a:srgbClr val="000000">
                <a:alpha val="4.5e+15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76956" y="5440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77356" y="5440680"/>
            <a:ext cx="2834640" cy="868680"/>
          </a:xfrm>
          <a:prstGeom prst="roundRect">
            <a:avLst>
              <a:gd name="adj" fmla="val 9474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4.795073810535701e+136" dist="1.5983579368452334e+136" dir="4.297676999371057e+159">
              <a:srgbClr val="000000">
                <a:alpha val="4.5000000000000003e+16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77356" y="5440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THE FULL CATALOG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Decomposition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6.0897437393803405e+140" dist="2.0299145797934463e+140" dir="2.5786061996226343e+164">
              <a:srgbClr val="000000">
                <a:alpha val="4.5e+16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94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5B1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201168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7.733974549013033e+144" dist="2.577991516337677e+144" dir="1.5471637197735807e+169">
              <a:srgbClr val="000000">
                <a:alpha val="4.4999999999999995e+17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86200" y="2194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86200" y="2697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5B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201168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9.822147677246551e+148" dist="3.2740492257488497e+148" dir="9.282982318641485e+173">
              <a:srgbClr val="000000">
                <a:alpha val="4.4999999999999997e+17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2194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2697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0684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5B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26880" y="201168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2F5FD9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247412755010312e+153" dist="4.158042516701039e+152" dir="5.569789391184891e+178">
              <a:srgbClr val="000000">
                <a:alpha val="4.4999999999999996e+18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55480" y="2194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2697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194560" y="4389120"/>
            <a:ext cx="7772400" cy="1554480"/>
          </a:xfrm>
          <a:prstGeom prst="roundRect">
            <a:avLst>
              <a:gd name="adj" fmla="val 5294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5842141988630962e+157" dist="5.28071399621032e+156" dir="3.3418736347109347e+183">
              <a:srgbClr val="000000">
                <a:alpha val="4.5e+18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94560" y="4526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3,588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2194560" y="5394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windows solved to proven optimality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Revenue vs. Baseline Policies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4434840"/>
          </a:xfrm>
          <a:prstGeom prst="roundRect">
            <a:avLst>
              <a:gd name="adj" fmla="val 2500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2.011952032556132e+161" dist="6.706506775187106e+160" dir="2.0051241808265608e+188">
              <a:srgbClr val="000000">
                <a:alpha val="4.5e+19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77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+23.6%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Flat 20% Discount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4983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Calendar-Based Markdown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$438,202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Recovered Revenue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828800"/>
            <a:ext cx="7360920" cy="2103120"/>
          </a:xfrm>
          <a:prstGeom prst="roundRect">
            <a:avLst>
              <a:gd name="adj" fmla="val 3913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2.5551790813462877e+165" dist="8.517263604487625e+164" dir="1.2030745084959364e+193">
              <a:srgbClr val="000000">
                <a:alpha val="4.5e+199"/>
              </a:srgbClr>
            </a:outerShdw>
          </a:effectLst>
        </p:spPr>
      </p:sp>
      <p:graphicFrame>
        <p:nvGraphicFramePr>
          <p:cNvPr id="12" name="Chart 0" descr=""/>
          <p:cNvGraphicFramePr/>
          <p:nvPr/>
        </p:nvGraphicFramePr>
        <p:xfrm>
          <a:off x="4343400" y="2011680"/>
          <a:ext cx="69951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160520" y="4114800"/>
            <a:ext cx="7360920" cy="2148840"/>
          </a:xfrm>
          <a:prstGeom prst="roundRect">
            <a:avLst>
              <a:gd name="adj" fmla="val 383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3.2450774333097854e+169" dist="1.0816924777699284e+169" dir="7.218447050975619e+197">
              <a:srgbClr val="000000">
                <a:alpha val="4.4999999999999995e+204"/>
              </a:srgbClr>
            </a:outerShdw>
          </a:effectLst>
        </p:spPr>
      </p:sp>
      <p:graphicFrame>
        <p:nvGraphicFramePr>
          <p:cNvPr id="14" name="Chart 1" descr=""/>
          <p:cNvGraphicFramePr/>
          <p:nvPr/>
        </p:nvGraphicFramePr>
        <p:xfrm>
          <a:off x="4343400" y="4251960"/>
          <a:ext cx="699516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4206240"/>
          </a:xfrm>
          <a:prstGeom prst="roundRect">
            <a:avLst>
              <a:gd name="adj" fmla="val 1957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4.1212483403034276e+173" dist="1.3737494467678092e+173" dir="4.3310682305853715e+202">
              <a:srgbClr val="000000">
                <a:alpha val="4.4999999999999996e+20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10515600" cy="621792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517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0" y="265176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$354k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3920" y="26517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$438k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27355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0" y="327355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03920" y="327355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+23.6%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895344"/>
            <a:ext cx="10515600" cy="621792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9534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Windows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52160" y="389534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38953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3,588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51713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52160" y="451713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03920" y="451713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 min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5138928"/>
            <a:ext cx="10515600" cy="621792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13892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Target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52160" y="513892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03920" y="51389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Fixing a Real Bug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5.233985392185353e+177" dist="1.7446617973951177e+177" dir="2.598640938351223e+207">
              <a:srgbClr val="000000">
                <a:alpha val="4.5e+21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 of a sample SKU's schedule showed price rising mid-horizon — structurally impossible under the model's own monotonic pricing constraint.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6.647161448075399e+181" dist="2.2157204826917993e+181" dir="1.5591845630107338e+212">
              <a:srgbClr val="000000">
                <a:alpha val="4.4999999999999996e+21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240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FIXED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283464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Cross-window decomposition carried each SKU's last committed discount tier forward as a floor for the next rolling-horizon window.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8.441895039055756e+185" dist="2.813965013018585e+185" dir="9.355107378064403e+216">
              <a:srgbClr val="000000">
                <a:alpha val="4.5e+22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240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283464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regression test now asserts monotonicity across full committed schedules — not just within a single window — on every CI run.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072120669960081e+190" dist="3.5737355665336036e+189" dir="5.613064426838642e+221">
              <a:srgbClr val="000000">
                <a:alpha val="4.4999999999999997e+22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correctness: </a:t>
            </a:r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-0.55% revenue ($440,633 → $438,202) — validated, not assumed.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39996" y="178308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.3615932508493028e+194" dist="4.5386441694976765e+193" dir="3.367838656103185e+226">
              <a:srgbClr val="000000">
                <a:alpha val="4.5e+234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916" y="19385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00116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Core Language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109728" cy="10972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7292234285786146e+198" dist="5.764078095262049e+197" dir="2.020703193661911e+231">
              <a:srgbClr val="000000">
                <a:alpha val="4.5e+239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1248" y="3429000"/>
            <a:ext cx="502920" cy="5029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35433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310896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Pyomo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453128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2.1961137542948403e+202" dist="7.320379180982803e+201" dir="1.2124219161971466e+236">
              <a:srgbClr val="000000">
                <a:alpha val="4.4999999999999997e+244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1248" y="4773168"/>
            <a:ext cx="502920" cy="5029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488746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81328" y="4453128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Solver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429000" y="269748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3"/>
          <p:cNvSpPr/>
          <p:nvPr/>
        </p:nvSpPr>
        <p:spPr>
          <a:xfrm>
            <a:off x="36576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429000" y="310896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2.789064467954447e+206" dist="9.296881559848159e+205" dir="7.27453149718288e+240">
              <a:srgbClr val="000000">
                <a:alpha val="4.5e+249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30168" y="3429000"/>
            <a:ext cx="502920" cy="5029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468" y="35433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270248" y="310896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429000" y="4453128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3.542111874302148e+210" dist="1.1807039581007161e+210" dir="4.364718898309728e+245">
              <a:srgbClr val="000000">
                <a:alpha val="4.5e+254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630168" y="4773168"/>
            <a:ext cx="502920" cy="5029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4468" y="488746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70248" y="4453128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6217920" y="2697480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8" name="Text 21"/>
          <p:cNvSpPr/>
          <p:nvPr/>
        </p:nvSpPr>
        <p:spPr>
          <a:xfrm>
            <a:off x="64465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17920" y="310896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4.498482080363728e+214" dist="1.4994940267879094e+214" dir="2.6188313389858368e+250">
              <a:srgbClr val="000000">
                <a:alpha val="4.5e+259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19088" y="3429000"/>
            <a:ext cx="502920" cy="5029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88" y="35433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59168" y="310896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217920" y="4453128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5.713072242061935e+218" dist="1.904357414020645e+218" dir="1.571298803391502e+255">
              <a:srgbClr val="000000">
                <a:alpha val="4.5e+264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419088" y="4773168"/>
            <a:ext cx="502920" cy="5029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388" y="4887468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059168" y="4453128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9006840" y="269748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8" name="Text 29"/>
          <p:cNvSpPr/>
          <p:nvPr/>
        </p:nvSpPr>
        <p:spPr>
          <a:xfrm>
            <a:off x="923544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9006840" y="310896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7.255601747418657e+222" dist="2.4185339158062192e+222" dir="9.427792820349012e+259">
              <a:srgbClr val="000000">
                <a:alpha val="4.5e+269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08008" y="3429000"/>
            <a:ext cx="502920" cy="5029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2308" y="3543300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848088" y="310896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9006840" y="4453128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9.214614219221694e+226" dist="3.0715380730738986e+226" dir="5.656675692209407e+264">
              <a:srgbClr val="000000">
                <a:alpha val="4.5000000000000005e+274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9208008" y="4773168"/>
            <a:ext cx="502920" cy="502920"/>
          </a:xfrm>
          <a:prstGeom prst="ellipse">
            <a:avLst/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2308" y="4887468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848088" y="4453128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2377440"/>
          </a:xfrm>
          <a:prstGeom prst="roundRect">
            <a:avLst>
              <a:gd name="adj" fmla="val 3462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1702560058411551e+231" dist="3.900853352803852e+230" dir="3.3940054153256444e+269">
              <a:srgbClr val="000000">
                <a:alpha val="4.5000000000000004e+27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837944"/>
            <a:ext cx="329184" cy="329184"/>
          </a:xfrm>
          <a:prstGeom prst="ellipse">
            <a:avLst/>
          </a:prstGeom>
          <a:solidFill>
            <a:srgbClr val="1B223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92024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optimization pipeline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97280" y="2368296"/>
            <a:ext cx="329184" cy="329184"/>
          </a:xfrm>
          <a:prstGeom prst="ellipse">
            <a:avLst/>
          </a:prstGeom>
          <a:solidFill>
            <a:srgbClr val="1B223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45059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31343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4,834 SKU-store pairs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097280" y="2898648"/>
            <a:ext cx="329184" cy="329184"/>
          </a:xfrm>
          <a:prstGeom prst="ellipse">
            <a:avLst/>
          </a:prstGeom>
          <a:solidFill>
            <a:srgbClr val="1B223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98094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8437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recovered revenue by 23.6%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1097280" y="3429000"/>
            <a:ext cx="329184" cy="329184"/>
          </a:xfrm>
          <a:prstGeom prst="ellipse">
            <a:avLst/>
          </a:prstGeom>
          <a:solidFill>
            <a:srgbClr val="1B223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3511296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33741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 interactive dashboard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22960" y="4206240"/>
            <a:ext cx="5257800" cy="1005840"/>
          </a:xfrm>
          <a:prstGeom prst="roundRect">
            <a:avLst>
              <a:gd name="adj" fmla="val 8182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486225127418267e+235" dist="4.9540837580608916e+234" dir="2.0364032491953868e+274">
              <a:srgbClr val="000000">
                <a:alpha val="4.5000000000000004e+284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1143000" y="4343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143000" y="4663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github.com/hkbuttar/markdown-price-optimizer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446520" y="4206240"/>
            <a:ext cx="5257800" cy="1005840"/>
          </a:xfrm>
          <a:prstGeom prst="roundRect">
            <a:avLst>
              <a:gd name="adj" fmla="val 8182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1.887505911821199e+239" dist="6.291686372737332e+238" dir="1.221841949517232e+279">
              <a:srgbClr val="000000">
                <a:alpha val="4.500000000000001e+289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766560" y="4343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766560" y="4663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markdown-price-optimizer.streamlit.app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Harleen Buttar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2.3971325080129228e+243" dist="7.990441693376412e+242" dir="7.331051697103393e+283">
              <a:srgbClr val="000000">
                <a:alpha val="4.500000000000001e+29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maximize   </a:t>
            </a:r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Σ Σ  price(t) · unitsSold(i, w, t)   −   λ · Σ leftover(i)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0881360" cy="621792"/>
          </a:xfrm>
          <a:prstGeom prst="roundRect">
            <a:avLst>
              <a:gd name="adj" fmla="val 13235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2608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Σₜ yᵢwₜ =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77840" y="292608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discount tier chosen per SKU-week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881360" cy="621792"/>
          </a:xfrm>
          <a:prstGeom prst="roundRect">
            <a:avLst>
              <a:gd name="adj" fmla="val 13235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61188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Σw unitsSold(i,w) ≤ inventory(i)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361188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sales never exceed starting stock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881360" cy="621792"/>
          </a:xfrm>
          <a:prstGeom prst="roundRect">
            <a:avLst>
              <a:gd name="adj" fmla="val 13235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9768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Σw unitsSold(i,w) ≥ 0.95 · inventory(i)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429768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≥95% of inventory cleared by the horizon 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10881360" cy="621792"/>
          </a:xfrm>
          <a:prstGeom prst="roundRect">
            <a:avLst>
              <a:gd name="adj" fmla="val 13235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98348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tier(i,w) ≥ tier(i,w-1)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498348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depth is non-decreasing over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881360" cy="621792"/>
          </a:xfrm>
          <a:prstGeom prst="roundRect">
            <a:avLst>
              <a:gd name="adj" fmla="val 13235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66928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price(t) ≥ cost(i) · (1+margin)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566928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never falls below cost, except a final week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3.044358285176412e+247" dist="1.0147860950588043e+247" dir="4.3986310182620354e+288">
              <a:srgbClr val="000000">
                <a:alpha val="4.500000000000001e+29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Threshold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≥ 0.05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9,120 SKUs (29.9%)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≥ 0.10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4,834 SKUs (15.9%)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977640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≥ 0.20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1,680 SKUs (5.5%)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709160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709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≥ 0.30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4709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 SKUs (2.0%)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532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thresholds trade catalog coverage for estimate reliability.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82880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3.866335022174043e+251" dist="1.2887783407246816e+251" dir="2.6391786109572213e+293">
              <a:srgbClr val="000000">
                <a:alpha val="4.500000000000001e+30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Assumption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2514600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weeks-of-supply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116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34.6% infeasible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3246120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3246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weeks-of-supply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8116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infeasible (used)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3977640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1B2230"/>
          </a:solidFill>
          <a:ln w="12700">
            <a:solidFill>
              <a:srgbClr val="232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977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weeks-of-supply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8116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revenue ceiling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4800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supply, calibrated to each SKU's own demand, was selected as the most defensible assumption.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Optimized Markdown Schedule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2000"/>
            </a:avLst>
          </a:prstGeom>
          <a:solidFill>
            <a:srgbClr val="141922"/>
          </a:solidFill>
          <a:ln w="12700">
            <a:solidFill>
              <a:srgbClr val="232B3A"/>
            </a:solidFill>
            <a:prstDash val="solid"/>
          </a:ln>
          <a:effectLst>
            <a:outerShdw sx="100000" sy="100000" kx="0" ky="0" algn="bl" rotWithShape="0" blurRad="4.9102454781610346e+255" dist="1.6367484927203455e+255" dir="1.5835071665743328e+298">
              <a:srgbClr val="000000">
                <a:alpha val="Infinity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21031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21031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21031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615184"/>
            <a:ext cx="10515600" cy="420624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15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6151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26151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0" y="261518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358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035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303580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456432"/>
            <a:ext cx="10515600" cy="420624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4564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345643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345643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345643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8770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38770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8770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0" y="387705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297680"/>
            <a:ext cx="10515600" cy="420624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2976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08960" y="42976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42976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4297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7183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47183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7183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863840" y="471830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" y="5138928"/>
            <a:ext cx="10515600" cy="420624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1389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108960" y="5138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5138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63840" y="51389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55595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108960" y="55595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0" y="55595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63840" y="55595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FOODS_1_037 @ TX_3 — discount deepens as the clearance deadline approaches, exactly as the monotonic pricing constraint requires.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2026-07-29T17:14:55Z</dcterms:created>
  <dcterms:modified xsi:type="dcterms:W3CDTF">2026-07-29T17:14:55Z</dcterms:modified>
</cp:coreProperties>
</file>