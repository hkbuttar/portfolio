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NsWIVAu3l+rvSv07B8bCxmJsE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3GHItHPWZppmF6D8694e0Kjkjvyy1S1O/view" TargetMode="External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11480" y="502920"/>
            <a:ext cx="8321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Industry Impact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Analysis</a:t>
            </a:r>
            <a:endParaRPr b="1" i="0" sz="52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lang="en-US" sz="1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By Harleen Buttar</a:t>
            </a:r>
            <a:endParaRPr b="1" sz="1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11480" y="256032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Using NLP to identify which industries and companies are most impacted by AI,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how they are affected, and what drives successful adoption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11480" y="3611880"/>
            <a:ext cx="1965960" cy="96012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1480" y="3666744"/>
            <a:ext cx="1965960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200,469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4139946"/>
            <a:ext cx="1965960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News Articles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560320" y="3611880"/>
            <a:ext cx="1965960" cy="96012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560320" y="3666744"/>
            <a:ext cx="1965960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2022–2026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560320" y="4139946"/>
            <a:ext cx="1965960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Date 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09160" y="3611880"/>
            <a:ext cx="1965960" cy="96012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709160" y="3666744"/>
            <a:ext cx="1965960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9160" y="4139946"/>
            <a:ext cx="1965960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858000" y="3611880"/>
            <a:ext cx="1965960" cy="96012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858000" y="3666744"/>
            <a:ext cx="1965960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858000" y="4139946"/>
            <a:ext cx="1965960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LDA Topics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11480" y="484632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E8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E85"/>
                </a:solidFill>
                <a:latin typeface="Calibri"/>
                <a:ea typeface="Calibri"/>
                <a:cs typeface="Calibri"/>
                <a:sym typeface="Calibri"/>
              </a:rPr>
              <a:t>NLP Final Project  ·  University of Chicago MSCA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Research Context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11480" y="8686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The Goldman Sachs Report (2023)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11480" y="128016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Goldman Sachs estimated that ~25% of work tasks in the US and Europe could be automated using AI — but not all industries equally.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Office &amp; Administrative support faces 46% exposure while building maintenance faces just 1%.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11480" y="27432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Moravec's Paradox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11480" y="315468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hardest problems for AI involve sensorimotor skills, not abstract reasoning — directly explaining why physical jobs are protected.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aligns with the Goldman Sachs findings.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92040" y="868680"/>
            <a:ext cx="384048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892040" y="868680"/>
            <a:ext cx="64008" cy="8961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956048" y="932688"/>
            <a:ext cx="377647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46%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956048" y="1361542"/>
            <a:ext cx="377647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Office &amp; Admin exposure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92040" y="1892808"/>
            <a:ext cx="384048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92040" y="1892808"/>
            <a:ext cx="64008" cy="8961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956048" y="1956816"/>
            <a:ext cx="377647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33%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956048" y="2385670"/>
            <a:ext cx="377647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Community &amp; Social Svcs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92040" y="2916936"/>
            <a:ext cx="384048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92040" y="2916936"/>
            <a:ext cx="64008" cy="8961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956048" y="2980944"/>
            <a:ext cx="377647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956048" y="3409798"/>
            <a:ext cx="377647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Industries (avg)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92040" y="3941064"/>
            <a:ext cx="384048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892040" y="3941064"/>
            <a:ext cx="64008" cy="8961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956048" y="4005072"/>
            <a:ext cx="377647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1%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56048" y="4433926"/>
            <a:ext cx="377647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Building Maintenance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Three Research Questions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11480" y="868680"/>
            <a:ext cx="2697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11480" y="868680"/>
            <a:ext cx="2697480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417320" y="1051560"/>
            <a:ext cx="685800" cy="6858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1417320" y="1078992"/>
            <a:ext cx="685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76072" y="19019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Which Industries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&amp; Companies?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76072" y="265176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Identify which industries and their companies are most likely to be impacted by AI over the next several years.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264408" y="868680"/>
            <a:ext cx="2697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264408" y="868680"/>
            <a:ext cx="2697480" cy="1097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270248" y="1051560"/>
            <a:ext cx="685800" cy="68580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270248" y="1078992"/>
            <a:ext cx="685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29000" y="19019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Positive, Negative,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or Hard to Say?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429000" y="265176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Determine how industries and companies will be impacted — and by what means: automation, augmentation, cost reduction, etc.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17336" y="868680"/>
            <a:ext cx="269748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117336" y="868680"/>
            <a:ext cx="269748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123176" y="1051560"/>
            <a:ext cx="685800" cy="6858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123176" y="1078992"/>
            <a:ext cx="685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81928" y="1901952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What Drives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Successful Adoption?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281928" y="265176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Provide insights into what can make AI adoption successful or unsuccessful based on real-world media evidence.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The Corpus — 200K+ AI/ML/DS News Articles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11480" y="868680"/>
            <a:ext cx="1965960" cy="96012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11480" y="868680"/>
            <a:ext cx="64008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75488" y="932688"/>
            <a:ext cx="1901952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200,469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5488" y="1396746"/>
            <a:ext cx="1901952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Articles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560320" y="868680"/>
            <a:ext cx="1965960" cy="96012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2560320" y="868680"/>
            <a:ext cx="64008" cy="9601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624328" y="932688"/>
            <a:ext cx="1901952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~127K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624328" y="1396746"/>
            <a:ext cx="1901952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After Cleaning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09160" y="868680"/>
            <a:ext cx="1965960" cy="96012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709160" y="868680"/>
            <a:ext cx="64008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773168" y="932688"/>
            <a:ext cx="1901952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3,378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773168" y="1396746"/>
            <a:ext cx="1901952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Translated Articles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858000" y="868680"/>
            <a:ext cx="1965960" cy="96012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858000" y="868680"/>
            <a:ext cx="64008" cy="96012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922008" y="932688"/>
            <a:ext cx="1901952" cy="499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2022–2026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922008" y="1396746"/>
            <a:ext cx="1901952" cy="364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Date Range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11480" y="2011680"/>
            <a:ext cx="8321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 Cloud Storage parquet — web crawl of AI/ML/DS news publications worldwide</a:t>
            </a:r>
            <a:b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Content: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article text, titles, publication dates, source domains</a:t>
            </a:r>
            <a:b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Languages: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Primarily English (98.3%) — 15+ other languages detected and translated</a:t>
            </a:r>
            <a:b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Relevance: </a:t>
            </a: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Filtered to articles containing AI/ML keywords; short/boilerplate content removed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01_article_volume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456432"/>
            <a:ext cx="832104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3840480" y="33375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ChatGPT launch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Language Composition &amp; Translation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0a_language_composition.png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3474720" cy="3474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uploads/00b_translated_languages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1920" y="868680"/>
            <a:ext cx="521208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411480" y="4498848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1.68% of articles were in non-English languages and translated using Google Translate (deep-translator). German dominated (1,246 articles), followed by Italian and Indonesian.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Data Quality — Text Length &amp; Vocabulary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text_length_dist.png"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512064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uploads/wordcloud_raw.png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3246120"/>
            <a:ext cx="859536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5577840" y="868680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cleaning, most articles fall between 500–1,500 words. The word cloud confirms domain relevance — key signals: generative, openai, chatgpt, health, financial, security, india.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Methodology Pipeline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47472" y="960120"/>
            <a:ext cx="1298448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47472" y="960120"/>
            <a:ext cx="1298448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795528" y="1088136"/>
            <a:ext cx="402336" cy="402336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795528" y="1106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02336" y="1554480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Translation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38912" y="2103120"/>
            <a:ext cx="11155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15+ languages →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English (deep-translator)</a:t>
            </a:r>
            <a:endParaRPr sz="9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7"/>
          <p:cNvCxnSpPr/>
          <p:nvPr/>
        </p:nvCxnSpPr>
        <p:spPr>
          <a:xfrm>
            <a:off x="1656893" y="1897380"/>
            <a:ext cx="87782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7"/>
          <p:cNvSpPr/>
          <p:nvPr/>
        </p:nvSpPr>
        <p:spPr>
          <a:xfrm>
            <a:off x="1755673" y="964758"/>
            <a:ext cx="1298400" cy="187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755648" y="960120"/>
            <a:ext cx="1298448" cy="91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2203704" y="1088136"/>
            <a:ext cx="402336" cy="402336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2203704" y="1106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810512" y="1554480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Data Cleaning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847088" y="2103120"/>
            <a:ext cx="11155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HTML, boilerplate,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length filter, dedup</a:t>
            </a:r>
            <a:endParaRPr sz="9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>
            <a:off x="3065069" y="1897380"/>
            <a:ext cx="87782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7"/>
          <p:cNvSpPr/>
          <p:nvPr/>
        </p:nvSpPr>
        <p:spPr>
          <a:xfrm>
            <a:off x="3163824" y="960120"/>
            <a:ext cx="1298448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163824" y="960120"/>
            <a:ext cx="1298448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611880" y="1088136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611880" y="1106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218688" y="1554480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Topic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255264" y="2103120"/>
            <a:ext cx="11155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LDA · NMF · BERTopic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 topics (LDA chosen)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473245" y="1897380"/>
            <a:ext cx="87782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4572000" y="960120"/>
            <a:ext cx="1298448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572000" y="960120"/>
            <a:ext cx="1298448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020056" y="1088136"/>
            <a:ext cx="402336" cy="402336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020056" y="1106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626864" y="1554480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Entity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663440" y="2103120"/>
            <a:ext cx="11155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spaCy NER (ORGs)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tech keyword matching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5881421" y="1897380"/>
            <a:ext cx="87782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5980176" y="960120"/>
            <a:ext cx="1298448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980176" y="960120"/>
            <a:ext cx="129844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6428232" y="1088136"/>
            <a:ext cx="402336" cy="40233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428232" y="1106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035040" y="1554480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Sentiment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071616" y="2103120"/>
            <a:ext cx="11155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DistilBERT fine-tuned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 Financial PhraseBank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7289597" y="1897380"/>
            <a:ext cx="87782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7"/>
          <p:cNvSpPr/>
          <p:nvPr/>
        </p:nvSpPr>
        <p:spPr>
          <a:xfrm>
            <a:off x="7388352" y="960120"/>
            <a:ext cx="1298448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388352" y="960120"/>
            <a:ext cx="1298448" cy="9144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7836408" y="1088136"/>
            <a:ext cx="402336" cy="402336"/>
          </a:xfrm>
          <a:prstGeom prst="ellipse">
            <a:avLst/>
          </a:prstGeom>
          <a:solidFill>
            <a:srgbClr val="1C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7836408" y="1106424"/>
            <a:ext cx="4023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7443216" y="1554480"/>
            <a:ext cx="11887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RAG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479792" y="2103120"/>
            <a:ext cx="11155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ChromaDB + GPT-4o-mini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grounded Q&amp;A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11480" y="306324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Output artifacts saved to Google Drive between each step — no recomputation needed downstream.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11480" y="3493008"/>
            <a:ext cx="196596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11480" y="3493008"/>
            <a:ext cx="64008" cy="8961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75488" y="3557016"/>
            <a:ext cx="190195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~127K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75488" y="3985870"/>
            <a:ext cx="190195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Articles after cleaning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560320" y="3493008"/>
            <a:ext cx="196596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560320" y="3493008"/>
            <a:ext cx="64008" cy="8961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2624328" y="3557016"/>
            <a:ext cx="190195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3,378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2624328" y="3985870"/>
            <a:ext cx="190195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Articles translated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709160" y="3493008"/>
            <a:ext cx="196596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709160" y="3493008"/>
            <a:ext cx="64008" cy="8961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773168" y="3557016"/>
            <a:ext cx="190195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30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773168" y="3985870"/>
            <a:ext cx="190195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LDA topics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858000" y="3493008"/>
            <a:ext cx="1965960" cy="89611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858000" y="3493008"/>
            <a:ext cx="64008" cy="89611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922008" y="3557016"/>
            <a:ext cx="1901952" cy="465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200K+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922008" y="3985870"/>
            <a:ext cx="1901952" cy="3405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Articles indexed in 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Data Cleaning &amp; Preprocessing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11480" y="886968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11480" y="886968"/>
            <a:ext cx="64008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76072" y="9784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HTML Stripping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76072" y="134416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BeautifulSoup removed tags, decoded entities, stripped navigation menus and cookie banners.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709160" y="886968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709160" y="886968"/>
            <a:ext cx="64008" cy="109728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873752" y="9784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Text Normalization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873752" y="134416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Removed URLs, email addresses, boilerplate sentences (subscribe, follow us, etc.), excess whitespace.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11480" y="2121408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11480" y="2121408"/>
            <a:ext cx="64008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576072" y="22128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Language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76072" y="257860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langdetect (deterministic seed) identified 15+ source languages. Non-English articles translated before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709160" y="2121408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709160" y="2121408"/>
            <a:ext cx="64008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873752" y="22128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Relevance Filter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873752" y="257860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Regex-based filter requiring at least one AI/ML keyword (ChatGPT, LLM, neural network, etc.) — removed SEO junk.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11480" y="3355848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411480" y="3355848"/>
            <a:ext cx="64008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76072" y="34472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Length Filter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76072" y="381304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Kept articles between 50–5,000 words. Very short = boilerplate; very long = aggregator pages.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709160" y="3355848"/>
            <a:ext cx="4114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709160" y="3355848"/>
            <a:ext cx="64008" cy="1097280"/>
          </a:xfrm>
          <a:prstGeom prst="rect">
            <a:avLst/>
          </a:prstGeom>
          <a:solidFill>
            <a:srgbClr val="1C2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873752" y="34472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Deduplication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873752" y="381304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Three-pass: exact text hash → (title, source) match → 100-char fingerprint near-dedup. Oldest kept.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11480" y="4800600"/>
            <a:ext cx="83210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Also produced: text_no_stopwords column for topic modeling (kept original text for sentiment, NER, and RAG).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Topic Modeling — Three Methods Evaluated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11480" y="868680"/>
            <a:ext cx="2715768" cy="402336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11480" y="868680"/>
            <a:ext cx="2715768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48640" y="1042416"/>
            <a:ext cx="24414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LDA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48640" y="1554480"/>
            <a:ext cx="24414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Latent Dirichlet Allocation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48640" y="2084832"/>
            <a:ext cx="244144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Probabilistic bag-of-words model. Assigns each article a distribution over topics.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Preprocessing: lemmatized, stopword-removed text fed to CountVectorizer (20K vocab, min_df=10, bigrams).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Result: Most focused, interpretable topics for this corpus. ✓ Chosen method.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48640" y="4572000"/>
            <a:ext cx="2441448" cy="2560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48640" y="4590288"/>
            <a:ext cx="2441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Selected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64408" y="868680"/>
            <a:ext cx="271576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264408" y="868680"/>
            <a:ext cx="2715768" cy="1097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401568" y="1042416"/>
            <a:ext cx="24414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085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6A085"/>
                </a:solidFill>
                <a:latin typeface="Georgia"/>
                <a:ea typeface="Georgia"/>
                <a:cs typeface="Georgia"/>
                <a:sym typeface="Georgia"/>
              </a:rPr>
              <a:t>NMF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401568" y="1554480"/>
            <a:ext cx="24414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Non-Negative 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Factorization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401568" y="2084832"/>
            <a:ext cx="244144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Factorizes TF-IDF matrix. Often produces sharper topics than LDA for short texts.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vocabulary as LDA. NMF topics tended to be more diffuse across this corpus.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Kept for comparison but LDA results used for final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117336" y="868680"/>
            <a:ext cx="2715768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117336" y="868680"/>
            <a:ext cx="2715768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6254496" y="1042416"/>
            <a:ext cx="24414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BERTopic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254496" y="1554480"/>
            <a:ext cx="24414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Semantic 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254496" y="2084832"/>
            <a:ext cx="244144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Uses sentence-transformers (all-MiniLM-L6-v2) + UMAP + HDBSCAN.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Captures semantic meaning beyond word co-occurrence. Auto-detects topic count.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compute-intensive; BERTopic topics were broader and harder to label distinctly.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LDA — Coherence Analysis &amp; Topic Selection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lda_coherence.png"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612648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6583680" y="868680"/>
            <a:ext cx="2468880" cy="301752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675120" y="98755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Why k = 30?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675120" y="1444752"/>
            <a:ext cx="22860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candidates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k=25 (C_v=0.627)</a:t>
            </a: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k=30 (C_v=0.621)</a:t>
            </a: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k=40 (C_v=0.632)</a:t>
            </a: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b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k=30 achieved the best balance of high coherence and low perplexity (~3,500). Crucially, its topics were the most interpretable and industry-distinct upon manual review.</a:t>
            </a: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k=40 had marginally higher C_v but produced overlapping, harder-to-label topics.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11480" y="3995928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C_v coherence measures semantic similarity of top words within each topic — higher values indicate more coherent, human-interpretable topics.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11480" y="4480560"/>
            <a:ext cx="3017520" cy="566928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11480" y="4480560"/>
            <a:ext cx="64008" cy="5669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475488" y="4544568"/>
            <a:ext cx="2953512" cy="294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C_v = 0.621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75488" y="4792370"/>
            <a:ext cx="2953512" cy="21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Coherence at k=30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657600" y="4480560"/>
            <a:ext cx="3017520" cy="566928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657600" y="4480560"/>
            <a:ext cx="64008" cy="5669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3721608" y="4544568"/>
            <a:ext cx="2953512" cy="294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~3,500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721608" y="4792370"/>
            <a:ext cx="2953512" cy="21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Perplexity at k=30 (lowest)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6858000" y="4480560"/>
            <a:ext cx="1874520" cy="566928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858000" y="4480560"/>
            <a:ext cx="64008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6922008" y="4544568"/>
            <a:ext cx="1810512" cy="294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30 Topics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922008" y="4792370"/>
            <a:ext cx="1810512" cy="21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Final LDA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LDA Topics — Prevalence Over Time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8_topic_prevalence.png" id="282" name="Google Shape;2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859536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/>
          <p:nvPr/>
        </p:nvSpPr>
        <p:spPr>
          <a:xfrm>
            <a:off x="411480" y="4681728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 LDA topics labeled using GPT-4o-mini. Topics labeled manually after reviewing top-20 words per topic. LLMs &amp; AI Methods, AI Companies &amp; Industry Competition, and Policy, Risk &amp; Regulation dominate throughout — with Generative AI surging post-ChatGPT launch (late 2022).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Entity Extraction — Organizations &amp; Technologies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411480" y="886968"/>
            <a:ext cx="4023360" cy="397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411480" y="886968"/>
            <a:ext cx="4023360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548640" y="104241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Organizations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566928" y="1508760"/>
            <a:ext cx="3749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Tool: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spaCy en_core_web_lg</a:t>
            </a: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ORG entities from first 2,000 chars per article</a:t>
            </a: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Filter: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Minimum 10 article mentions to reduce noise</a:t>
            </a: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 entities: </a:t>
            </a: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Google, Microsoft, Amazon, Apple, Meta, OpenAI, Nvidia, Twitter/X</a:t>
            </a: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Org → Industry mapping via GPT-4o-mini batch classification into Goldman Sachs industry categories (top 200 orgs).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709160" y="886968"/>
            <a:ext cx="4023360" cy="397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4709160" y="886968"/>
            <a:ext cx="4023360" cy="1097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4846320" y="1042416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AI Technologies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846320" y="1536192"/>
            <a:ext cx="109728" cy="23774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5047488" y="15361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Generative AI / LLMs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846320" y="1865376"/>
            <a:ext cx="109728" cy="23774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5047488" y="186537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Automation &amp; Robotics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846320" y="2194560"/>
            <a:ext cx="109728" cy="23774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5047488" y="2194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NLP / Language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4846320" y="2523744"/>
            <a:ext cx="109728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5047488" y="252374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Computer Vision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846320" y="2852928"/>
            <a:ext cx="109728" cy="23774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5047488" y="285292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Predictive Analytics / 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846320" y="3182112"/>
            <a:ext cx="109728" cy="23774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5047488" y="318211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AI Platforms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846320" y="3511296"/>
            <a:ext cx="109728" cy="237744"/>
          </a:xfrm>
          <a:prstGeom prst="rect">
            <a:avLst/>
          </a:prstGeom>
          <a:solidFill>
            <a:srgbClr val="24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5047488" y="3511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in Healthcare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846320" y="3840480"/>
            <a:ext cx="109728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5047488" y="38404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Chips / Hardware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846320" y="425196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Curated regex keyword list per category. Matched against cleaned article 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Sentiment Model — DistilBERT Fine-Tuning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411480" y="886968"/>
            <a:ext cx="8321040" cy="594360"/>
          </a:xfrm>
          <a:prstGeom prst="rect">
            <a:avLst/>
          </a:prstGeom>
          <a:solidFill>
            <a:srgbClr val="FEF9E7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11480" y="886968"/>
            <a:ext cx="64008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548640" y="886968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660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7D6608"/>
                </a:solidFill>
                <a:latin typeface="Calibri"/>
                <a:ea typeface="Calibri"/>
                <a:cs typeface="Calibri"/>
                <a:sym typeface="Calibri"/>
              </a:rPr>
              <a:t>Project Constraint: The sentiment model must be trained from scratch — pre-fine-tuned HuggingFace sentiment models are not permitted.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11480" y="1609344"/>
            <a:ext cx="27157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11480" y="1609344"/>
            <a:ext cx="2715768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548640" y="1773936"/>
            <a:ext cx="2441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Base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48640" y="2286000"/>
            <a:ext cx="244144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distilbert-base-uncased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 pre-fine-tuned for sentiment — standard masked language model only.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66M parameters, 40% smaller than BERT-base with 97% of its performance.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3264408" y="1609344"/>
            <a:ext cx="27157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3264408" y="1609344"/>
            <a:ext cx="2715768" cy="10972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401568" y="1773936"/>
            <a:ext cx="2441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Training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401568" y="2286000"/>
            <a:ext cx="244144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Emotion Dataset (dair-ai/emotion) </a:t>
            </a:r>
            <a:endParaRPr sz="11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~20,000 labeled social media texts across 6 emotion classes, remapped to 3-class sentiment for news analysis.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3-class: positive / neutral / negative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Split: 70% train / 15% val / 15% test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117336" y="1609344"/>
            <a:ext cx="2715768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6117336" y="1609344"/>
            <a:ext cx="2715768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6254496" y="1773936"/>
            <a:ext cx="24414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Training Config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6254496" y="2286000"/>
            <a:ext cx="2441448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 epochs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Learning rate: 2e-5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Batch size: 32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 length: 128 tokens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Optimizer: AdamW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Early stopping (patience=2)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Mixed precision (fp16 on GPU)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Sentiment score = P(positive) − P(negative), ranging from −1 to +1. Used for all downstream aggregations.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Sentiment Model — Performance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sentiment_confusion_matrix.png" id="345" name="Google Shape;3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429768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4"/>
          <p:cNvSpPr/>
          <p:nvPr/>
        </p:nvSpPr>
        <p:spPr>
          <a:xfrm>
            <a:off x="4800600" y="886968"/>
            <a:ext cx="393192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4937760" y="1005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Test Set Metrics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4937760" y="1536192"/>
            <a:ext cx="3657600" cy="5486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4937760" y="1536192"/>
            <a:ext cx="64008" cy="5486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5093208" y="1572768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7269480" y="157276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~97%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4937760" y="2194560"/>
            <a:ext cx="3657600" cy="5486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4937760" y="2194560"/>
            <a:ext cx="64008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5093208" y="2231136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 — Negative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7269480" y="2231136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High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937760" y="2852928"/>
            <a:ext cx="3657600" cy="5486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4937760" y="2852928"/>
            <a:ext cx="64008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5093208" y="2889504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 — Positive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7269480" y="2889504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High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937760" y="3511296"/>
            <a:ext cx="3657600" cy="5486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4937760" y="3511296"/>
            <a:ext cx="64008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5093208" y="3547872"/>
            <a:ext cx="2286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F1 — Neutral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7269480" y="3547872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Lower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937750" y="4102374"/>
            <a:ext cx="3749100" cy="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Neutral class shows lower recall — expected given the emotion dataset's class imbalance (anger mapped to neutral is underrepresented relative to joy and sadness). Negative and positive classes perform very strongly. </a:t>
            </a:r>
            <a:endParaRPr sz="11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applied to all 200K+ articles at inference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Overall Corpus Sentiment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2_overall_sentiment.png" id="372" name="Google Shape;3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475488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5"/>
          <p:cNvSpPr/>
          <p:nvPr/>
        </p:nvSpPr>
        <p:spPr>
          <a:xfrm>
            <a:off x="5257800" y="886968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5394960" y="10058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Key Observations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5394960" y="1508760"/>
            <a:ext cx="320040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60% Negative</a:t>
            </a:r>
            <a:br>
              <a:rPr b="1" i="0" lang="en-US" sz="11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coverage skews negative — driven by concerns around job displacement, regulation, privacy, and safety risks.</a:t>
            </a: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39.3% Positive</a:t>
            </a:r>
            <a:br>
              <a:rPr b="1" i="0" lang="en-US" sz="115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Positive coverage concentrated in innovation, investment, and productivity gains.</a:t>
            </a: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0.8% Neutral</a:t>
            </a:r>
            <a:br>
              <a:rPr b="1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given the emotion dataset maps only anger to neutral, making it the smallest class by a significant margin.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411480" y="4224528"/>
            <a:ext cx="2560320" cy="749808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411480" y="4224528"/>
            <a:ext cx="64008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475488" y="4288536"/>
            <a:ext cx="2496312" cy="3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60.0%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475488" y="4636922"/>
            <a:ext cx="2496312" cy="284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Negative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3246120" y="4224528"/>
            <a:ext cx="2560320" cy="749808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3246120" y="4224528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3310128" y="4288536"/>
            <a:ext cx="2496312" cy="3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39.3%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3310128" y="4636922"/>
            <a:ext cx="2496312" cy="284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Positive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6080760" y="4224528"/>
            <a:ext cx="2651760" cy="749808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6080760" y="4224528"/>
            <a:ext cx="64008" cy="7498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6144768" y="4288536"/>
            <a:ext cx="2587752" cy="3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0.8%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6144768" y="4636922"/>
            <a:ext cx="2587752" cy="284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Neutral Coverage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Sentiment Over Time — A Negative Trend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3_sentiment_over_time.png" id="395" name="Google Shape;3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438912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uploads/03b_sentiment_score_trend.png" id="396" name="Google Shape;3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886968"/>
            <a:ext cx="438912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6"/>
          <p:cNvSpPr/>
          <p:nvPr/>
        </p:nvSpPr>
        <p:spPr>
          <a:xfrm>
            <a:off x="411480" y="3291840"/>
            <a:ext cx="8321040" cy="155448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411480" y="3291840"/>
            <a:ext cx="64008" cy="1554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548640" y="338328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Trend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48640" y="3767328"/>
            <a:ext cx="80467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Sentiment was roughly balanced in early 2022 but has trended increasingly negative through 2026. The rolling 3-month average declined from ~0 to −0.35 by early 2026. Two notable dips: early 2023 (post-ChatGPT anxiety spike) and mid-2023 (AI regulation debates intensify). The sustained negative trajectory reflects growing public and media concern about AI risks as deployment accelerates.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Q1 — Which Industries Are Most Impacted?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4_topic_sentiment_bar.png" id="408" name="Google Shape;4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548640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7"/>
          <p:cNvSpPr/>
          <p:nvPr/>
        </p:nvSpPr>
        <p:spPr>
          <a:xfrm>
            <a:off x="5989320" y="886968"/>
            <a:ext cx="2743200" cy="4069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6126480" y="100584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Most Positive Topics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144768" y="1417320"/>
            <a:ext cx="91440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6309360" y="141732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Broadcast Media &amp; Local TV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6144768" y="1728216"/>
            <a:ext cx="91440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6309360" y="172821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Startup &amp; Innovation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6144768" y="2039112"/>
            <a:ext cx="91440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6309360" y="20391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Computing &amp; Enterprise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6144768" y="2350008"/>
            <a:ext cx="91440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6309360" y="235000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in Business &amp; Marketing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6144768" y="2660904"/>
            <a:ext cx="91440" cy="21945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6309360" y="266090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Financial Disclosures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6126480" y="309067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E74C3C"/>
                </a:solidFill>
                <a:latin typeface="Georgia"/>
                <a:ea typeface="Georgia"/>
                <a:cs typeface="Georgia"/>
                <a:sym typeface="Georgia"/>
              </a:rPr>
              <a:t>Most Negative Topics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6144768" y="3502152"/>
            <a:ext cx="9144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6309360" y="350215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Entertainment, Culture &amp; Media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6144768" y="3776472"/>
            <a:ext cx="9144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6309360" y="377647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Press Releases &amp; Newswire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6144768" y="4050792"/>
            <a:ext cx="9144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6309360" y="405079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Indian Economy &amp; Banking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6144768" y="4325112"/>
            <a:ext cx="9144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6309360" y="432511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Global Market &amp; Energy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6144768" y="4599432"/>
            <a:ext cx="91440" cy="2011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6309360" y="4599432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Policy, Risk &amp; Regulation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411480" y="502920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LDA topic labels generated via GPT-4o-mini from top-20 words per topic.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Q1 — Which Companies Are Most Impacted?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5_org_sentiment_topbottom.png" id="440" name="Google Shape;4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8686800" cy="416052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8"/>
          <p:cNvSpPr/>
          <p:nvPr/>
        </p:nvSpPr>
        <p:spPr>
          <a:xfrm>
            <a:off x="411480" y="510235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Sentiment attributed at article level — articles mentioning an organization inherit that article's sentiment score. Organizations with ≥15 article mentions included. Note: very positive/negative extremes often reflect niche outlets or press-release-heavy sources.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Q1 — Sentiment Trends: Top 8 Organizations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7_org_sentiment_timeseries.png" id="449" name="Google Shape;4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859536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9"/>
          <p:cNvSpPr/>
          <p:nvPr/>
        </p:nvSpPr>
        <p:spPr>
          <a:xfrm>
            <a:off x="411480" y="4572000"/>
            <a:ext cx="8321040" cy="50292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411480" y="4572000"/>
            <a:ext cx="64008" cy="5029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548640" y="45720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major tech firms trend negative over 2022–2026, tracking the overall corpus. Nvidia shows notable positive spikes around GPU/AI chip announcements. Twitter/X shows the steepest decline post-acquisition (mid-2022).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Q2 — How Are Industries Impacted? Technology 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6_tech_category_sentiment.png" id="460" name="Google Shape;4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4846320" cy="3566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uploads/10_tech_sentiment_stacked.png" id="461" name="Google Shape;4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86968"/>
            <a:ext cx="42062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0"/>
          <p:cNvSpPr/>
          <p:nvPr/>
        </p:nvSpPr>
        <p:spPr>
          <a:xfrm>
            <a:off x="411480" y="4572000"/>
            <a:ext cx="8321040" cy="502920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411480" y="4572000"/>
            <a:ext cx="64008" cy="5029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548640" y="45720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Cloud AI Platforms and Computer Vision receive the most positive coverage — associated with productivity gains and innovation. Automation &amp; Robotics and Generative AI / LLMs are most negative — linked to job displacement fears and misinformation concerns.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1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Q2 — Sentiment vs. Coverage Volume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user-data/uploads/09_tech_sentiment_bubble.png" id="472" name="Google Shape;4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86968"/>
            <a:ext cx="59436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1"/>
          <p:cNvSpPr/>
          <p:nvPr/>
        </p:nvSpPr>
        <p:spPr>
          <a:xfrm>
            <a:off x="6629400" y="886968"/>
            <a:ext cx="25146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6766560" y="100584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How to Read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6766560" y="1444752"/>
            <a:ext cx="22402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X-axis: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Mean sentiment score (−1 to +1)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Y-axis: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Number of articles mentioning this tech category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Bubble size: 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Also article count</a:t>
            </a: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insight:</a:t>
            </a:r>
            <a:b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Generative AI has 80K+ articles but sits slightly negative. Cloud AI Platforms are positive but lower volume. High-volume + negative = highest impact risk.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2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Q3 — RAG System for Grounded Industry Insights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411455" y="819263"/>
            <a:ext cx="8321100" cy="36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2"/>
          <p:cNvSpPr/>
          <p:nvPr/>
        </p:nvSpPr>
        <p:spPr>
          <a:xfrm>
            <a:off x="411480" y="886968"/>
            <a:ext cx="8321040" cy="530352"/>
          </a:xfrm>
          <a:prstGeom prst="rect">
            <a:avLst/>
          </a:prstGeom>
          <a:solidFill>
            <a:srgbClr val="EBF5FB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411480" y="886968"/>
            <a:ext cx="64008" cy="5303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2"/>
          <p:cNvSpPr/>
          <p:nvPr/>
        </p:nvSpPr>
        <p:spPr>
          <a:xfrm>
            <a:off x="548640" y="886968"/>
            <a:ext cx="80924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 answer Q3 — what makes AI adoption successful? — we built a RAG system over the full 200K article corpus that grounds LLM answers in actual news evidence.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411480" y="1554480"/>
            <a:ext cx="1965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411480" y="1554480"/>
            <a:ext cx="1965960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521208" y="169164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980B9"/>
                </a:solidFill>
                <a:latin typeface="Georgia"/>
                <a:ea typeface="Georgia"/>
                <a:cs typeface="Georgia"/>
                <a:sym typeface="Georgia"/>
              </a:rPr>
              <a:t>Embed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521208" y="2121408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all-MiniLM-L6-v2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(sentence-transformers)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384-dim vectors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Batch encoded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0" name="Google Shape;490;p22"/>
          <p:cNvCxnSpPr/>
          <p:nvPr/>
        </p:nvCxnSpPr>
        <p:spPr>
          <a:xfrm>
            <a:off x="2377440" y="260604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22"/>
          <p:cNvSpPr/>
          <p:nvPr/>
        </p:nvSpPr>
        <p:spPr>
          <a:xfrm>
            <a:off x="2560320" y="1554480"/>
            <a:ext cx="1965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2560320" y="1554480"/>
            <a:ext cx="1965960" cy="91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2670048" y="169164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085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6A085"/>
                </a:solidFill>
                <a:latin typeface="Georgia"/>
                <a:ea typeface="Georgia"/>
                <a:cs typeface="Georgia"/>
                <a:sym typeface="Georgia"/>
              </a:rPr>
              <a:t>Store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2670048" y="2121408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Persistent vector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Metadata: sentiment,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topic, date,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22"/>
          <p:cNvCxnSpPr/>
          <p:nvPr/>
        </p:nvCxnSpPr>
        <p:spPr>
          <a:xfrm>
            <a:off x="4526280" y="260604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6" name="Google Shape;496;p22"/>
          <p:cNvSpPr/>
          <p:nvPr/>
        </p:nvSpPr>
        <p:spPr>
          <a:xfrm>
            <a:off x="4709160" y="1554480"/>
            <a:ext cx="1965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2"/>
          <p:cNvSpPr/>
          <p:nvPr/>
        </p:nvSpPr>
        <p:spPr>
          <a:xfrm>
            <a:off x="4709160" y="1554480"/>
            <a:ext cx="196596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4818888" y="169164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E67E22"/>
                </a:solidFill>
                <a:latin typeface="Georgia"/>
                <a:ea typeface="Georgia"/>
                <a:cs typeface="Georgia"/>
                <a:sym typeface="Georgia"/>
              </a:rPr>
              <a:t>Retrieve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4818888" y="2121408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Top-k cosine similarity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Metadata filters: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sentiment / topic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date range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0" name="Google Shape;500;p22"/>
          <p:cNvCxnSpPr/>
          <p:nvPr/>
        </p:nvCxnSpPr>
        <p:spPr>
          <a:xfrm>
            <a:off x="6675120" y="260604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22"/>
          <p:cNvSpPr/>
          <p:nvPr/>
        </p:nvSpPr>
        <p:spPr>
          <a:xfrm>
            <a:off x="6858000" y="1554480"/>
            <a:ext cx="196596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6858000" y="1554480"/>
            <a:ext cx="196596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6967728" y="169164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7AE60"/>
                </a:solidFill>
                <a:latin typeface="Georgia"/>
                <a:ea typeface="Georgia"/>
                <a:cs typeface="Georgia"/>
                <a:sym typeface="Georgia"/>
              </a:rPr>
              <a:t>Generate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6967728" y="2121408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GPT-4o-mini / Claude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Grounded in retrieved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articles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 citations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411480" y="3794760"/>
            <a:ext cx="40690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2"/>
          <p:cNvSpPr/>
          <p:nvPr/>
        </p:nvSpPr>
        <p:spPr>
          <a:xfrm>
            <a:off x="411480" y="3794760"/>
            <a:ext cx="64008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576072" y="385876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Standard query()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576072" y="4224528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Top-k cosine retrieval + optional filters on sentiment, topic, date range. Best for focused questions.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4663440" y="3794760"/>
            <a:ext cx="406908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4663440" y="3794760"/>
            <a:ext cx="64008" cy="1143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2"/>
          <p:cNvSpPr/>
          <p:nvPr/>
        </p:nvSpPr>
        <p:spPr>
          <a:xfrm>
            <a:off x="4828032" y="385876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multi_query()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4828032" y="4224528"/>
            <a:ext cx="37947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decomposes question into 3 sub-queries, retrieves for each, deduplicates, then synthesizes. Better coverage for complex questions.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4023360" y="219456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4023360" y="2240280"/>
            <a:ext cx="1097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1097280" y="3456432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[ INSERT DEMO VIDEO HERE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411480" y="4443984"/>
            <a:ext cx="2788920" cy="475488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>
            <a:off x="457200" y="44531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"Which industries face the most AI job displacement risk?"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3355848" y="4443984"/>
            <a:ext cx="2788920" cy="475488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>
            <a:off x="3401568" y="44531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"What makes AI adoption successful in healthcare?"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6300216" y="4443984"/>
            <a:ext cx="2788920" cy="475488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3"/>
          <p:cNvSpPr/>
          <p:nvPr/>
        </p:nvSpPr>
        <p:spPr>
          <a:xfrm>
            <a:off x="6345936" y="4453128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"How has sentiment around automation changed since 2022?"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p23" title="Screen Recording 2026-05-27 at 3.12.49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767" y="857250"/>
            <a:ext cx="4587233" cy="34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4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Key Findings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411480" y="704088"/>
            <a:ext cx="832104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411480" y="886968"/>
            <a:ext cx="2715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411480" y="886968"/>
            <a:ext cx="2715768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2560320" y="1024128"/>
            <a:ext cx="457200" cy="2560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2560320" y="102412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Q: Context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4"/>
          <p:cNvSpPr/>
          <p:nvPr/>
        </p:nvSpPr>
        <p:spPr>
          <a:xfrm>
            <a:off x="548640" y="1042416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Coverage Exploded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Post-ChatGPT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4"/>
          <p:cNvSpPr/>
          <p:nvPr/>
        </p:nvSpPr>
        <p:spPr>
          <a:xfrm>
            <a:off x="548640" y="1636776"/>
            <a:ext cx="24414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Article volume tripled from late 2022 onward, confirming ChatGPT as the inflection point for mainstream AI coverage.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/>
          <p:nvPr/>
        </p:nvSpPr>
        <p:spPr>
          <a:xfrm>
            <a:off x="3264408" y="886968"/>
            <a:ext cx="2715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4"/>
          <p:cNvSpPr/>
          <p:nvPr/>
        </p:nvSpPr>
        <p:spPr>
          <a:xfrm>
            <a:off x="3264408" y="886968"/>
            <a:ext cx="2715768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4"/>
          <p:cNvSpPr/>
          <p:nvPr/>
        </p:nvSpPr>
        <p:spPr>
          <a:xfrm>
            <a:off x="5413248" y="1024128"/>
            <a:ext cx="457200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4"/>
          <p:cNvSpPr/>
          <p:nvPr/>
        </p:nvSpPr>
        <p:spPr>
          <a:xfrm>
            <a:off x="5413248" y="102412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+ Q2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3401568" y="1042416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Sentiment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Net Negative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3401568" y="1636776"/>
            <a:ext cx="24414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60% of articles are negative. Concerns around job displacement, regulation, and misuse outweigh optimism.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4"/>
          <p:cNvSpPr/>
          <p:nvPr/>
        </p:nvSpPr>
        <p:spPr>
          <a:xfrm>
            <a:off x="6117336" y="886968"/>
            <a:ext cx="2715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6117336" y="886968"/>
            <a:ext cx="271576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4"/>
          <p:cNvSpPr/>
          <p:nvPr/>
        </p:nvSpPr>
        <p:spPr>
          <a:xfrm>
            <a:off x="8266176" y="1024128"/>
            <a:ext cx="45720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4"/>
          <p:cNvSpPr/>
          <p:nvPr/>
        </p:nvSpPr>
        <p:spPr>
          <a:xfrm>
            <a:off x="8266176" y="102412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6254496" y="1042416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Cloud AI &amp; Computer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Vision Most Positive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6254496" y="1636776"/>
            <a:ext cx="24414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Back-end AI infrastructure and computer vision receive the most positive coverage — associated with clear, measurable productivity gains.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411480" y="2898648"/>
            <a:ext cx="2715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4"/>
          <p:cNvSpPr/>
          <p:nvPr/>
        </p:nvSpPr>
        <p:spPr>
          <a:xfrm>
            <a:off x="411480" y="2898648"/>
            <a:ext cx="2715768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4"/>
          <p:cNvSpPr/>
          <p:nvPr/>
        </p:nvSpPr>
        <p:spPr>
          <a:xfrm>
            <a:off x="2560320" y="3035808"/>
            <a:ext cx="45720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2560320" y="30358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548640" y="3054096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Automation &amp; GenAI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Most Controversial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548640" y="3648456"/>
            <a:ext cx="24414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Automation &amp; Robotics and Generative AI have the highest volume AND most negative sentiment — the highest impact-risk combination.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3264408" y="2898648"/>
            <a:ext cx="2715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3264408" y="2898648"/>
            <a:ext cx="2715768" cy="91440"/>
          </a:xfrm>
          <a:prstGeom prst="rect">
            <a:avLst/>
          </a:prstGeom>
          <a:solidFill>
            <a:srgbClr val="24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4"/>
          <p:cNvSpPr/>
          <p:nvPr/>
        </p:nvSpPr>
        <p:spPr>
          <a:xfrm>
            <a:off x="5413248" y="3035808"/>
            <a:ext cx="457200" cy="256032"/>
          </a:xfrm>
          <a:prstGeom prst="rect">
            <a:avLst/>
          </a:prstGeom>
          <a:solidFill>
            <a:srgbClr val="24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4"/>
          <p:cNvSpPr/>
          <p:nvPr/>
        </p:nvSpPr>
        <p:spPr>
          <a:xfrm>
            <a:off x="5413248" y="30358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3401568" y="3054096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Sentiment Trending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More Negative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4"/>
          <p:cNvSpPr/>
          <p:nvPr/>
        </p:nvSpPr>
        <p:spPr>
          <a:xfrm>
            <a:off x="3401568" y="3648456"/>
            <a:ext cx="24414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Rolling average sentiment declined from ~0 in 2022 to −0.35 by 2026, tracking growing regulatory and safety concerns.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4"/>
          <p:cNvSpPr/>
          <p:nvPr/>
        </p:nvSpPr>
        <p:spPr>
          <a:xfrm>
            <a:off x="6117336" y="2898648"/>
            <a:ext cx="271576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4"/>
          <p:cNvSpPr/>
          <p:nvPr/>
        </p:nvSpPr>
        <p:spPr>
          <a:xfrm>
            <a:off x="6117336" y="2898648"/>
            <a:ext cx="2715768" cy="914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4"/>
          <p:cNvSpPr/>
          <p:nvPr/>
        </p:nvSpPr>
        <p:spPr>
          <a:xfrm>
            <a:off x="8266176" y="3035808"/>
            <a:ext cx="457200" cy="25603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4"/>
          <p:cNvSpPr/>
          <p:nvPr/>
        </p:nvSpPr>
        <p:spPr>
          <a:xfrm>
            <a:off x="8266176" y="30358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6254496" y="3054096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RAG Enables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4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1C2B4A"/>
                </a:solidFill>
                <a:latin typeface="Georgia"/>
                <a:ea typeface="Georgia"/>
                <a:cs typeface="Georgia"/>
                <a:sym typeface="Georgia"/>
              </a:rPr>
              <a:t>Grounded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6254496" y="3648456"/>
            <a:ext cx="24414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Our RAG system lets analysts query 200K articles with evidence-backed answers, filtered by sentiment, topic, and date.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B4A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5"/>
          <p:cNvSpPr/>
          <p:nvPr/>
        </p:nvSpPr>
        <p:spPr>
          <a:xfrm>
            <a:off x="411480" y="45720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5"/>
          <p:cNvSpPr/>
          <p:nvPr/>
        </p:nvSpPr>
        <p:spPr>
          <a:xfrm>
            <a:off x="411480" y="1280160"/>
            <a:ext cx="8321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8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Media coverage validates Goldman Sachs's predictions: industries built on knowledge work and information processing dominate AI coverage — and sentiment around their transformation is net negative. The most at-risk areas — automation and generative AI — combine high volume with high negativity. Meanwhile, targeted applications like Cloud AI and Computer Vision attract more measured, positive coverage.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D6E8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6E8F7"/>
                </a:solidFill>
                <a:latin typeface="Calibri"/>
                <a:ea typeface="Calibri"/>
                <a:cs typeface="Calibri"/>
                <a:sym typeface="Calibri"/>
              </a:rPr>
              <a:t>Successful AI adoption, as evidenced in our RAG-queried corpus, correlates with clear use cases, measurable ROI, and human-in-the-loop governance.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411480" y="3456432"/>
            <a:ext cx="2715768" cy="10515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5"/>
          <p:cNvSpPr/>
          <p:nvPr/>
        </p:nvSpPr>
        <p:spPr>
          <a:xfrm>
            <a:off x="411480" y="3456432"/>
            <a:ext cx="2715768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5"/>
          <p:cNvSpPr/>
          <p:nvPr/>
        </p:nvSpPr>
        <p:spPr>
          <a:xfrm>
            <a:off x="548640" y="3602736"/>
            <a:ext cx="2441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coverage is mainstream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accelerating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5"/>
          <p:cNvSpPr/>
          <p:nvPr/>
        </p:nvSpPr>
        <p:spPr>
          <a:xfrm>
            <a:off x="3264408" y="3456432"/>
            <a:ext cx="2715768" cy="10515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5"/>
          <p:cNvSpPr/>
          <p:nvPr/>
        </p:nvSpPr>
        <p:spPr>
          <a:xfrm>
            <a:off x="3264408" y="3456432"/>
            <a:ext cx="2715768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5"/>
          <p:cNvSpPr/>
          <p:nvPr/>
        </p:nvSpPr>
        <p:spPr>
          <a:xfrm>
            <a:off x="3401568" y="3602736"/>
            <a:ext cx="2441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Net negative sentiment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reflects real societal concern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5"/>
          <p:cNvSpPr/>
          <p:nvPr/>
        </p:nvSpPr>
        <p:spPr>
          <a:xfrm>
            <a:off x="6117336" y="3456432"/>
            <a:ext cx="2715768" cy="10515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5"/>
          <p:cNvSpPr/>
          <p:nvPr/>
        </p:nvSpPr>
        <p:spPr>
          <a:xfrm>
            <a:off x="6117336" y="3456432"/>
            <a:ext cx="2715768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5"/>
          <p:cNvSpPr/>
          <p:nvPr/>
        </p:nvSpPr>
        <p:spPr>
          <a:xfrm>
            <a:off x="6254496" y="3602736"/>
            <a:ext cx="2441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Specific, bounded applications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Georgia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get the best reception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7A9A"/>
                </a:solidFill>
                <a:latin typeface="Calibri"/>
                <a:ea typeface="Calibri"/>
                <a:cs typeface="Calibri"/>
                <a:sym typeface="Calibri"/>
              </a:rPr>
              <a:t>Thank you  ·  Questions welcome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2026-05-27T19:36:11Z</dcterms:created>
  <dc:creator>PptxGenJS</dc:creator>
</cp:coreProperties>
</file>