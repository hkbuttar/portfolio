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54894ebc4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c54894ebc4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54894eb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br>
              <a:rPr lang="en"/>
            </a:br>
            <a:br>
              <a:rPr lang="en"/>
            </a:br>
            <a:r>
              <a:rPr lang="en" sz="1200">
                <a:solidFill>
                  <a:srgbClr val="272622"/>
                </a:solidFill>
              </a:rPr>
              <a:t>Product size recommendation and fit prediction are critical to improving online shopping experiences and reducing return rates. Customers frequently receive ill-fitting clothing because standard sizing fails to account for variation in body types, brand-specific sizing conventions, and subjective fit preferences. We built an end-to-end machine learning pipeline that discovers latent body-type segments, predicts fit outcomes (Small / Fit / Large), and recommends optimal sizes for new customer–product pairs.</a:t>
            </a:r>
            <a:endParaRPr sz="900">
              <a:solidFill>
                <a:schemeClr val="dk1"/>
              </a:solidFill>
            </a:endParaRPr>
          </a:p>
          <a:p>
            <a:pPr indent="0" lvl="0" marL="0" rtl="0" algn="l">
              <a:spcBef>
                <a:spcPts val="0"/>
              </a:spcBef>
              <a:spcAft>
                <a:spcPts val="0"/>
              </a:spcAft>
              <a:buNone/>
            </a:pPr>
            <a:r>
              <a:t/>
            </a:r>
            <a:endParaRPr/>
          </a:p>
        </p:txBody>
      </p:sp>
      <p:sp>
        <p:nvSpPr>
          <p:cNvPr id="148" name="Google Shape;148;g3c54894ebc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54894ebc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p:txBody>
      </p:sp>
      <p:sp>
        <p:nvSpPr>
          <p:cNvPr id="165" name="Google Shape;165;g3c54894ebc4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54894ebc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p:txBody>
      </p:sp>
      <p:sp>
        <p:nvSpPr>
          <p:cNvPr id="192" name="Google Shape;192;g3c54894ebc4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54894ebc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Converted the units consistently into inches and pounds (sizing data)</a:t>
            </a:r>
            <a:endParaRPr/>
          </a:p>
          <a:p>
            <a:pPr indent="-298450" lvl="0" marL="457200" rtl="0" algn="l">
              <a:spcBef>
                <a:spcPts val="0"/>
              </a:spcBef>
              <a:spcAft>
                <a:spcPts val="0"/>
              </a:spcAft>
              <a:buSzPts val="1100"/>
              <a:buChar char="-"/>
            </a:pPr>
            <a:r>
              <a:rPr lang="en"/>
              <a:t>Converted the breast size into bust band + cup size (numerical)</a:t>
            </a:r>
            <a:endParaRPr/>
          </a:p>
          <a:p>
            <a:pPr indent="-298450" lvl="0" marL="457200" rtl="0" algn="l">
              <a:spcBef>
                <a:spcPts val="0"/>
              </a:spcBef>
              <a:spcAft>
                <a:spcPts val="0"/>
              </a:spcAft>
              <a:buSzPts val="1100"/>
              <a:buChar char="-"/>
            </a:pPr>
            <a:r>
              <a:t/>
            </a:r>
            <a:endParaRPr/>
          </a:p>
        </p:txBody>
      </p:sp>
      <p:sp>
        <p:nvSpPr>
          <p:cNvPr id="221" name="Google Shape;221;g3c54894ebc4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54894ebc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Predicting clothing fit requires understanding two distinct but equally important dimensions of why fit fails: </a:t>
            </a:r>
            <a:r>
              <a:rPr i="1" lang="en">
                <a:solidFill>
                  <a:schemeClr val="dk1"/>
                </a:solidFill>
              </a:rPr>
              <a:t>who the customer is</a:t>
            </a:r>
            <a:r>
              <a:rPr lang="en">
                <a:solidFill>
                  <a:schemeClr val="dk1"/>
                </a:solidFill>
              </a:rPr>
              <a:t> and </a:t>
            </a:r>
            <a:r>
              <a:rPr i="1" lang="en">
                <a:solidFill>
                  <a:schemeClr val="dk1"/>
                </a:solidFill>
              </a:rPr>
              <a:t>what they are renting</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In phase I, after basic Exploratory Data Analysis, we dive deeper into finding the realistic dimensions that differentiate one size from another, understand who the customers are and </a:t>
            </a:r>
            <a:r>
              <a:rPr i="1" lang="en">
                <a:solidFill>
                  <a:schemeClr val="dk1"/>
                </a:solidFill>
              </a:rPr>
              <a:t>what they are renting</a:t>
            </a:r>
            <a:r>
              <a:rPr lang="en">
                <a:solidFill>
                  <a:schemeClr val="dk1"/>
                </a:solidFill>
              </a:rPr>
              <a:t> (garment context) through clustering. We also incorporate LDA to understand customers subjective experiences through the reviews. Together they transform raw data into the complete feature space needed to predict whether a piece of cloth will fit before a customer ever tries it 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50" name="Google Shape;250;g3c54894ebc4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54894ebc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Body measurements form continuous, overlapping segments — not discrete groups.</a:t>
            </a:r>
            <a:r>
              <a:rPr lang="en">
                <a:solidFill>
                  <a:schemeClr val="dk1"/>
                </a:solidFill>
              </a:rPr>
              <a:t> Across all clustering methods, no sharp boundaries emerged between body types. Most customers fall within a broad continuum, which is precisely why fixed sizing systems fail — and why soft assignments (GMM confidence scores, DBSCAN outlier flags) are more informative than hard labels alone.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Categorical context matters as much as physical measurements.</a:t>
            </a:r>
            <a:r>
              <a:rPr lang="en">
                <a:solidFill>
                  <a:schemeClr val="dk1"/>
                </a:solidFill>
              </a:rPr>
              <a:t> K-Modes revealed that fit complaints cluster around specific combinations of garment category, body type, and rental occasion — patterns invisible to numeric clustering. A customer's fit outcome is shaped by what they're renting and why, not just their measurements.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 meaningful minority of customers are consistently mis-served.</a:t>
            </a:r>
            <a:r>
              <a:rPr lang="en">
                <a:solidFill>
                  <a:schemeClr val="dk1"/>
                </a:solidFill>
              </a:rPr>
              <a:t> Every clustering method surfaced a subset of users whose body profiles sit outside the mainstream — DBSCAN's noise points, GMM's low-confidence assignments, and K-Means' smallest clusters all point to the same population. These are the customers most likely to report poor fit, and the highest-value targets for personalized sizing recommendations.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69" name="Google Shape;269;g3c54894ebc4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54894ebc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Clustering was used to uncover latent structure in body profiles and fit feedback in the RentTheRunway dataset. </a:t>
            </a:r>
            <a:r>
              <a:rPr b="1" lang="en" sz="1000">
                <a:solidFill>
                  <a:srgbClr val="272622"/>
                </a:solidFill>
              </a:rPr>
              <a:t>DBSCAN identified dense regions</a:t>
            </a:r>
            <a:r>
              <a:rPr lang="en" sz="1000">
                <a:solidFill>
                  <a:srgbClr val="272622"/>
                </a:solidFill>
              </a:rPr>
              <a:t> of similar body measurements and flagged outliers, while </a:t>
            </a:r>
            <a:r>
              <a:rPr b="1" lang="en" sz="1000">
                <a:solidFill>
                  <a:srgbClr val="272622"/>
                </a:solidFill>
              </a:rPr>
              <a:t>K-Means segmented users </a:t>
            </a:r>
            <a:r>
              <a:rPr lang="en" sz="1000">
                <a:solidFill>
                  <a:srgbClr val="272622"/>
                </a:solidFill>
              </a:rPr>
              <a:t>based on standardized body measurements. A </a:t>
            </a:r>
            <a:r>
              <a:rPr b="1" lang="en" sz="1000">
                <a:solidFill>
                  <a:srgbClr val="272622"/>
                </a:solidFill>
              </a:rPr>
              <a:t>Gaussian Mixture Model (GMM) captured overlapping body-type distributions</a:t>
            </a:r>
            <a:r>
              <a:rPr lang="en" sz="1000">
                <a:solidFill>
                  <a:srgbClr val="272622"/>
                </a:solidFill>
              </a:rPr>
              <a:t> through probabilistic clusters, and K</a:t>
            </a:r>
            <a:r>
              <a:rPr b="1" lang="en" sz="1000">
                <a:solidFill>
                  <a:srgbClr val="272622"/>
                </a:solidFill>
              </a:rPr>
              <a:t>-Modes segmented categorical rental patterns</a:t>
            </a:r>
            <a:r>
              <a:rPr lang="en" sz="1000">
                <a:solidFill>
                  <a:srgbClr val="272622"/>
                </a:solidFill>
              </a:rPr>
              <a:t> such as fit outcome, clothing category, and occasion. Together, these methods reveal how body characteristics and rental context relate to clothing fit outcomes.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300" name="Google Shape;300;g3c54894ebc4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54894ebc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Text Preprocessing and Tokenization</a:t>
            </a:r>
            <a:br>
              <a:rPr b="1" lang="en">
                <a:solidFill>
                  <a:schemeClr val="dk1"/>
                </a:solidFill>
              </a:rPr>
            </a:br>
            <a:r>
              <a:rPr lang="en">
                <a:solidFill>
                  <a:schemeClr val="dk1"/>
                </a:solidFill>
              </a:rPr>
              <a:t> Customer review text from the RentTheRunway dataset was cleaned and normalized by converting text to lowercase, removing punctuation and stopwords, and applying lemmatization. Domain-specific stopwords (e.g., “dress”, “rent”, “size”) were also removed to reduce noise and ensure the LDA model focused on meaningful semantic signals in the reviews.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Topic Modeling with LDA</a:t>
            </a:r>
            <a:br>
              <a:rPr b="1" lang="en">
                <a:solidFill>
                  <a:schemeClr val="dk1"/>
                </a:solidFill>
              </a:rPr>
            </a:br>
            <a:r>
              <a:rPr lang="en">
                <a:solidFill>
                  <a:schemeClr val="dk1"/>
                </a:solidFill>
              </a:rPr>
              <a:t> Latent Dirichlet Allocation (LDA) was applied to the processed review corpus using the Gensim library. A bag-of-words representation was constructed from a filtered dictionary that removed extremely rare and overly common tokens. Multiple models were trained with different numbers of topics, and topic coherence (c_v) was used to evaluate model 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Topic Selection and Feature Generation</a:t>
            </a:r>
            <a:br>
              <a:rPr b="1" lang="en">
                <a:solidFill>
                  <a:schemeClr val="dk1"/>
                </a:solidFill>
              </a:rPr>
            </a:br>
            <a:r>
              <a:rPr lang="en">
                <a:solidFill>
                  <a:schemeClr val="dk1"/>
                </a:solidFill>
              </a:rPr>
              <a:t> The optimal number of topics was selected based on the highest coherence score (k = 11). The final LDA model produced topic probability distributions for each review, and the dominant topic and topic proportions were extracted. These topic distributions were then used as additional features for downstream classification models predicting clothing fit outcomes.</a:t>
            </a:r>
            <a:endParaRPr>
              <a:solidFill>
                <a:schemeClr val="dk1"/>
              </a:solidFill>
            </a:endParaRPr>
          </a:p>
          <a:p>
            <a:pPr indent="0" lvl="0" marL="0" rtl="0" algn="l">
              <a:spcBef>
                <a:spcPts val="1200"/>
              </a:spcBef>
              <a:spcAft>
                <a:spcPts val="0"/>
              </a:spcAft>
              <a:buNone/>
            </a:pPr>
            <a:r>
              <a:t/>
            </a:r>
            <a:endParaRPr/>
          </a:p>
        </p:txBody>
      </p:sp>
      <p:sp>
        <p:nvSpPr>
          <p:cNvPr id="319" name="Google Shape;319;g3c54894ebc4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54894ebc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lang="en">
                <a:solidFill>
                  <a:schemeClr val="dk1"/>
                </a:solidFill>
              </a:rPr>
              <a:t>LDA topic modeling on 176,562 RentTheRunway reviews identified 11 coherent themes related to garment fit, construction, styling, occasions, and user experiences. Topics related to sizing feedback, fabric and construction, and undergarment structure were the most prevalent across reviews. Reviews labeled as “Small” or “Large” showed higher proportions of the sizing discussion topic, while reviews labeled “Fit” contained more positive social experience language, suggesting that topic distributions capture meaningful signals related to perceived fit. These topic probabilities were incorporated as additional features for downstream fit prediction models.</a:t>
            </a:r>
            <a:endParaRPr/>
          </a:p>
        </p:txBody>
      </p:sp>
      <p:sp>
        <p:nvSpPr>
          <p:cNvPr id="351" name="Google Shape;351;g3c54894ebc4_0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55fba444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a:p>
            <a:pPr indent="0" lvl="0" marL="0" rtl="0" algn="l">
              <a:spcBef>
                <a:spcPts val="0"/>
              </a:spcBef>
              <a:spcAft>
                <a:spcPts val="0"/>
              </a:spcAft>
              <a:buNone/>
            </a:pPr>
            <a:r>
              <a:rPr lang="en" sz="1300"/>
              <a:t>These seven models were chosen because fit prediction is driven by a mix of continuous measurements, categorical garment features, and probabilistic text signals — and no single algorithm handles all of these input types equally well, so running multiple model families ensures the pipeline captures every dimension of the problem. Cross-validating all seven then allows the best-performing model to be selected with confidence, giving the business a reliable, generalizable tool for telling customers whether a garment will fit before it ever ships.</a:t>
            </a:r>
            <a:endParaRPr sz="1300"/>
          </a:p>
        </p:txBody>
      </p:sp>
      <p:sp>
        <p:nvSpPr>
          <p:cNvPr id="368" name="Google Shape;368;g3c55fba444f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c55fba444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SKYLAR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1 — Feature Engineering and Data Integration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model garment fit outcomes (Small, Fit, Large), we constructed a feature set that combines raw body measurements with information derived from earlier unsupervised analyses. The base dataset was enriched with cluster assignments from DBSCAN, Gaussian Mixture Models, and K-Means, along with topic features extracted from LDA applied to review text. Numeric variables were imputed using median values and standardized, while cluster-based features were treated as categorical variables and encoded using one-hot encoding. Binary indicators such as DBSCAN outlier status were also included. These transformations were implemented through a unified preprocessing pipeline using a </a:t>
            </a:r>
            <a:r>
              <a:rPr lang="en">
                <a:solidFill>
                  <a:srgbClr val="188038"/>
                </a:solidFill>
                <a:latin typeface="Roboto Mono"/>
                <a:ea typeface="Roboto Mono"/>
                <a:cs typeface="Roboto Mono"/>
                <a:sym typeface="Roboto Mono"/>
              </a:rPr>
              <a:t>ColumnTransformer</a:t>
            </a:r>
            <a:r>
              <a:rPr lang="en">
                <a:solidFill>
                  <a:schemeClr val="dk1"/>
                </a:solidFill>
              </a:rPr>
              <a:t>, ensuring consistent feature preparation across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2 — Model Training Framework</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All models were implemented using scikit-learn pipelines that combine preprocessing and model estimation into a single workflow. This structure ensures that data transformations are applied consistently within each fold of cross-validation and prevents information leakage between training and validation data. Hyperparameters were tuned using </a:t>
            </a:r>
            <a:r>
              <a:rPr lang="en">
                <a:solidFill>
                  <a:srgbClr val="188038"/>
                </a:solidFill>
                <a:latin typeface="Roboto Mono"/>
                <a:ea typeface="Roboto Mono"/>
                <a:cs typeface="Roboto Mono"/>
                <a:sym typeface="Roboto Mono"/>
              </a:rPr>
              <a:t>GridSearchCV</a:t>
            </a:r>
            <a:r>
              <a:rPr lang="en">
                <a:solidFill>
                  <a:schemeClr val="dk1"/>
                </a:solidFill>
              </a:rPr>
              <a:t> with five-fold stratified cross-validation, using macro F1-score as the evaluation metric to account for class imbalance across the three fit categories.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3 — Evaluation and Prediction Outputs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hyperparameter tuning, the best-performing configuration from cross-validation was retrained on the full training set and evaluated on a held-out test set. Model performance was assessed using classification reports and confusion matrices to evaluate prediction accuracy across the Small, Fit, and Large classes. In addition to discrete predictions, class probabilities were generated for each observation, allowing downstream analysis of prediction confidence and model behavior across different body profiles.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
        <p:nvSpPr>
          <p:cNvPr id="386" name="Google Shape;386;g3c55fba444f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c55fba444f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SKYLAR</a:t>
            </a:r>
            <a:endParaRPr>
              <a:solidFill>
                <a:schemeClr val="dk1"/>
              </a:solidFill>
            </a:endParaRPr>
          </a:p>
          <a:p>
            <a:pPr indent="0" lvl="0" marL="0" rtl="0" algn="l">
              <a:lnSpc>
                <a:spcPct val="115000"/>
              </a:lnSpc>
              <a:spcBef>
                <a:spcPts val="1200"/>
              </a:spcBef>
              <a:spcAft>
                <a:spcPts val="1200"/>
              </a:spcAft>
              <a:buNone/>
            </a:pPr>
            <a:r>
              <a:rPr lang="en" sz="1200">
                <a:solidFill>
                  <a:schemeClr val="dk1"/>
                </a:solidFill>
              </a:rPr>
              <a:t>Multiple classification models were evaluated to predict garment fit outcomes (Small, Fit, Large) using body measurements, clustering features, and topic features. Tree-based models (CART, Bagging, Random Forest) achieved 73–77% accuracy but struggled with the minority Small class due to class imbalance. Kernel SVM improved performance to 82% accuracy, while KNN delivered the best results with 91% accuracy and 0.90 weighted F1. In contrast, Linear SVM largely defaulted to the majority Fit class, and Naive Bayes underperformed due to violated independence assumptions. Overall, non-linear models such as Kernel SVM and KNN performed best for predicting clothing fit.</a:t>
            </a:r>
            <a:endParaRPr b="1" sz="1500">
              <a:solidFill>
                <a:schemeClr val="dk1"/>
              </a:solidFill>
            </a:endParaRPr>
          </a:p>
        </p:txBody>
      </p:sp>
      <p:sp>
        <p:nvSpPr>
          <p:cNvPr id="417" name="Google Shape;417;g3c55fba444f_1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c55fba444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Preparation and Feature Sets</a:t>
            </a:r>
            <a:br>
              <a:rPr b="1" lang="en">
                <a:solidFill>
                  <a:schemeClr val="dk1"/>
                </a:solidFill>
              </a:rPr>
            </a:br>
            <a:r>
              <a:rPr lang="en">
                <a:solidFill>
                  <a:schemeClr val="dk1"/>
                </a:solidFill>
              </a:rPr>
              <a:t>Two datasets were used for the comparison: a </a:t>
            </a:r>
            <a:r>
              <a:rPr b="1" lang="en">
                <a:solidFill>
                  <a:schemeClr val="dk1"/>
                </a:solidFill>
              </a:rPr>
              <a:t>simple baseline dataset</a:t>
            </a:r>
            <a:r>
              <a:rPr lang="en">
                <a:solidFill>
                  <a:schemeClr val="dk1"/>
                </a:solidFill>
              </a:rPr>
              <a:t> containing three basic demographic features (weight, age, and height) and a </a:t>
            </a:r>
            <a:r>
              <a:rPr b="1" lang="en">
                <a:solidFill>
                  <a:schemeClr val="dk1"/>
                </a:solidFill>
              </a:rPr>
              <a:t>rich feature dataset derived from the RentTheRunway (RTR) data</a:t>
            </a:r>
            <a:r>
              <a:rPr lang="en">
                <a:solidFill>
                  <a:schemeClr val="dk1"/>
                </a:solidFill>
              </a:rPr>
              <a:t> containing engineered and contextual variables. For the simple dataset, rows with missing values were removed and the target variable representing clothing fit (Small, Fit, Large) was encoded numerically. The dataset was then split into </a:t>
            </a:r>
            <a:r>
              <a:rPr b="1" lang="en">
                <a:solidFill>
                  <a:schemeClr val="dk1"/>
                </a:solidFill>
              </a:rPr>
              <a:t>training and test sets using stratified sampling (80/20 split)</a:t>
            </a:r>
            <a:r>
              <a:rPr lang="en">
                <a:solidFill>
                  <a:schemeClr val="dk1"/>
                </a:solidFill>
              </a:rPr>
              <a:t> to preserve class proportions. For the RTR dataset, previously generated model probability outputs were loaded and converted into predicted classes by selecting the class with the highest predicted probability.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Model Training and Hyperparameter Optimization</a:t>
            </a:r>
            <a:br>
              <a:rPr b="1" lang="en">
                <a:solidFill>
                  <a:schemeClr val="dk1"/>
                </a:solidFill>
              </a:rPr>
            </a:br>
            <a:r>
              <a:rPr lang="en">
                <a:solidFill>
                  <a:schemeClr val="dk1"/>
                </a:solidFill>
              </a:rPr>
              <a:t>Seven classification algorithms were evaluated: </a:t>
            </a:r>
            <a:r>
              <a:rPr b="1" lang="en">
                <a:solidFill>
                  <a:schemeClr val="dk1"/>
                </a:solidFill>
              </a:rPr>
              <a:t>Linear SVM, Kernel SVM, CART decision tree, Random Forest, Bagging, KNN, and Naive Bayes</a:t>
            </a:r>
            <a:r>
              <a:rPr lang="en">
                <a:solidFill>
                  <a:schemeClr val="dk1"/>
                </a:solidFill>
              </a:rPr>
              <a:t>. For the simple dataset, each model was implemented within a </a:t>
            </a:r>
            <a:r>
              <a:rPr b="1" lang="en">
                <a:solidFill>
                  <a:schemeClr val="dk1"/>
                </a:solidFill>
              </a:rPr>
              <a:t>scikit-learn pipeline</a:t>
            </a:r>
            <a:r>
              <a:rPr lang="en">
                <a:solidFill>
                  <a:schemeClr val="dk1"/>
                </a:solidFill>
              </a:rPr>
              <a:t> that included preprocessing steps such as median imputation and feature scaling where appropriate. Hyperparameters were tuned using </a:t>
            </a:r>
            <a:r>
              <a:rPr b="1" lang="en">
                <a:solidFill>
                  <a:schemeClr val="dk1"/>
                </a:solidFill>
              </a:rPr>
              <a:t>GridSearchCV with 5-fold stratified cross-validation</a:t>
            </a:r>
            <a:r>
              <a:rPr lang="en">
                <a:solidFill>
                  <a:schemeClr val="dk1"/>
                </a:solidFill>
              </a:rPr>
              <a:t>, optimizing for </a:t>
            </a:r>
            <a:r>
              <a:rPr b="1" lang="en">
                <a:solidFill>
                  <a:schemeClr val="dk1"/>
                </a:solidFill>
              </a:rPr>
              <a:t>macro-F1 score</a:t>
            </a:r>
            <a:r>
              <a:rPr lang="en">
                <a:solidFill>
                  <a:schemeClr val="dk1"/>
                </a:solidFill>
              </a:rPr>
              <a:t> to ensure balanced performance across the three classes. To reduce computational cost, </a:t>
            </a:r>
            <a:r>
              <a:rPr b="1" lang="en">
                <a:solidFill>
                  <a:schemeClr val="dk1"/>
                </a:solidFill>
              </a:rPr>
              <a:t>Kernel SVM was trained on a 20,000-row subset</a:t>
            </a:r>
            <a:r>
              <a:rPr lang="en">
                <a:solidFill>
                  <a:schemeClr val="dk1"/>
                </a:solidFill>
              </a:rPr>
              <a:t> of the training data during hyperparameter tuning.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Evaluation and Comparative Analysis</a:t>
            </a:r>
            <a:br>
              <a:rPr b="1" lang="en">
                <a:solidFill>
                  <a:schemeClr val="dk1"/>
                </a:solidFill>
              </a:rPr>
            </a:br>
            <a:r>
              <a:rPr lang="en">
                <a:solidFill>
                  <a:schemeClr val="dk1"/>
                </a:solidFill>
              </a:rPr>
              <a:t>After training, the best model from each grid search was evaluated on the held-out test set using </a:t>
            </a:r>
            <a:r>
              <a:rPr b="1" lang="en">
                <a:solidFill>
                  <a:schemeClr val="dk1"/>
                </a:solidFill>
              </a:rPr>
              <a:t>accuracy and macro-F1 score</a:t>
            </a:r>
            <a:r>
              <a:rPr lang="en">
                <a:solidFill>
                  <a:schemeClr val="dk1"/>
                </a:solidFill>
              </a:rPr>
              <a:t>, along with per-class F1 scores for Small, Fit, and Large categories. For the RTR models, predictions were reconstructed from stored probability outputs and evaluated using the same metrics to ensure consistency. Results from both datasets were merged into a single comparison table, and the </a:t>
            </a:r>
            <a:r>
              <a:rPr b="1" lang="en">
                <a:solidFill>
                  <a:schemeClr val="dk1"/>
                </a:solidFill>
              </a:rPr>
              <a:t>performance differences (Δ Accuracy and Δ Macro-F1)</a:t>
            </a:r>
            <a:r>
              <a:rPr lang="en">
                <a:solidFill>
                  <a:schemeClr val="dk1"/>
                </a:solidFill>
              </a:rPr>
              <a:t> were calculated to quantify the impact of the richer feature set. Visualizations were then generated to compare model performance, highlight macro-F1 improvements, and analyze per-class predictive performance.</a:t>
            </a:r>
            <a:endParaRPr b="1">
              <a:solidFill>
                <a:schemeClr val="dk1"/>
              </a:solidFill>
            </a:endParaRPr>
          </a:p>
          <a:p>
            <a:pPr indent="0" lvl="0" marL="0" rtl="0" algn="l">
              <a:spcBef>
                <a:spcPts val="1200"/>
              </a:spcBef>
              <a:spcAft>
                <a:spcPts val="0"/>
              </a:spcAft>
              <a:buNone/>
            </a:pPr>
            <a:r>
              <a:t/>
            </a:r>
            <a:endParaRPr/>
          </a:p>
        </p:txBody>
      </p:sp>
      <p:sp>
        <p:nvSpPr>
          <p:cNvPr id="438" name="Google Shape;438;g3c55fba444f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55fba444f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Comparing models trained on the </a:t>
            </a:r>
            <a:r>
              <a:rPr b="1" lang="en">
                <a:solidFill>
                  <a:schemeClr val="dk1"/>
                </a:solidFill>
              </a:rPr>
              <a:t>rich RTR feature set</a:t>
            </a:r>
            <a:r>
              <a:rPr lang="en">
                <a:solidFill>
                  <a:schemeClr val="dk1"/>
                </a:solidFill>
              </a:rPr>
              <a:t> with those trained on the </a:t>
            </a:r>
            <a:r>
              <a:rPr b="1" lang="en">
                <a:solidFill>
                  <a:schemeClr val="dk1"/>
                </a:solidFill>
              </a:rPr>
              <a:t>simple baseline features</a:t>
            </a:r>
            <a:r>
              <a:rPr lang="en">
                <a:solidFill>
                  <a:schemeClr val="dk1"/>
                </a:solidFill>
              </a:rPr>
              <a:t> reveals that richer feature engineering benefits some algorithms substantially while hurting others. The largest improvement occurs with </a:t>
            </a:r>
            <a:r>
              <a:rPr b="1" lang="en">
                <a:solidFill>
                  <a:schemeClr val="dk1"/>
                </a:solidFill>
              </a:rPr>
              <a:t>KNN</a:t>
            </a:r>
            <a:r>
              <a:rPr lang="en">
                <a:solidFill>
                  <a:schemeClr val="dk1"/>
                </a:solidFill>
              </a:rPr>
              <a:t>, whose macro-F1 increases from </a:t>
            </a:r>
            <a:r>
              <a:rPr b="1" lang="en">
                <a:solidFill>
                  <a:schemeClr val="dk1"/>
                </a:solidFill>
              </a:rPr>
              <a:t>0.677 to 0.869</a:t>
            </a:r>
            <a:r>
              <a:rPr lang="en">
                <a:solidFill>
                  <a:schemeClr val="dk1"/>
                </a:solidFill>
              </a:rPr>
              <a:t> and accuracy rises from </a:t>
            </a:r>
            <a:r>
              <a:rPr b="1" lang="en">
                <a:solidFill>
                  <a:schemeClr val="dk1"/>
                </a:solidFill>
              </a:rPr>
              <a:t>72.1% to 90.7%</a:t>
            </a:r>
            <a:r>
              <a:rPr lang="en">
                <a:solidFill>
                  <a:schemeClr val="dk1"/>
                </a:solidFill>
              </a:rPr>
              <a:t>, indicating that the richer representation captures meaningful similarity structure that distance-based models can exploit. </a:t>
            </a:r>
            <a:r>
              <a:rPr b="1" lang="en">
                <a:solidFill>
                  <a:schemeClr val="dk1"/>
                </a:solidFill>
              </a:rPr>
              <a:t>Kernel SVM</a:t>
            </a:r>
            <a:r>
              <a:rPr lang="en">
                <a:solidFill>
                  <a:schemeClr val="dk1"/>
                </a:solidFill>
              </a:rPr>
              <a:t> also improves notably (macro-F1 </a:t>
            </a:r>
            <a:r>
              <a:rPr b="1" lang="en">
                <a:solidFill>
                  <a:schemeClr val="dk1"/>
                </a:solidFill>
              </a:rPr>
              <a:t>0.686 → 0.780</a:t>
            </a:r>
            <a:r>
              <a:rPr lang="en">
                <a:solidFill>
                  <a:schemeClr val="dk1"/>
                </a:solidFill>
              </a:rPr>
              <a:t>), while ensemble models such as </a:t>
            </a:r>
            <a:r>
              <a:rPr b="1" lang="en">
                <a:solidFill>
                  <a:schemeClr val="dk1"/>
                </a:solidFill>
              </a:rPr>
              <a:t>Random Forest</a:t>
            </a:r>
            <a:r>
              <a:rPr lang="en">
                <a:solidFill>
                  <a:schemeClr val="dk1"/>
                </a:solidFill>
              </a:rPr>
              <a:t> and </a:t>
            </a:r>
            <a:r>
              <a:rPr b="1" lang="en">
                <a:solidFill>
                  <a:schemeClr val="dk1"/>
                </a:solidFill>
              </a:rPr>
              <a:t>Bagging</a:t>
            </a:r>
            <a:r>
              <a:rPr lang="en">
                <a:solidFill>
                  <a:schemeClr val="dk1"/>
                </a:solidFill>
              </a:rPr>
              <a:t> see smaller but consistent gains. In contrast, </a:t>
            </a:r>
            <a:r>
              <a:rPr b="1" lang="en">
                <a:solidFill>
                  <a:schemeClr val="dk1"/>
                </a:solidFill>
              </a:rPr>
              <a:t>Linear SVM</a:t>
            </a:r>
            <a:r>
              <a:rPr lang="en">
                <a:solidFill>
                  <a:schemeClr val="dk1"/>
                </a:solidFill>
              </a:rPr>
              <a:t>, </a:t>
            </a:r>
            <a:r>
              <a:rPr b="1" lang="en">
                <a:solidFill>
                  <a:schemeClr val="dk1"/>
                </a:solidFill>
              </a:rPr>
              <a:t>CART</a:t>
            </a:r>
            <a:r>
              <a:rPr lang="en">
                <a:solidFill>
                  <a:schemeClr val="dk1"/>
                </a:solidFill>
              </a:rPr>
              <a:t>, and especially </a:t>
            </a:r>
            <a:r>
              <a:rPr b="1" lang="en">
                <a:solidFill>
                  <a:schemeClr val="dk1"/>
                </a:solidFill>
              </a:rPr>
              <a:t>Naive Bayes</a:t>
            </a:r>
            <a:r>
              <a:rPr lang="en">
                <a:solidFill>
                  <a:schemeClr val="dk1"/>
                </a:solidFill>
              </a:rPr>
              <a:t> perform worse with the richer features, likely because the expanded feature space introduces correlations and nonlinear interactions that these models cannot effectively capture. Overall, the results suggest that the RTR rich feature set provides significant predictive value when paired with models capable of modeling nonlinear relationships, with </a:t>
            </a:r>
            <a:r>
              <a:rPr b="1" lang="en">
                <a:solidFill>
                  <a:schemeClr val="dk1"/>
                </a:solidFill>
              </a:rPr>
              <a:t>KNN emerging as the strongest overall performer</a:t>
            </a:r>
            <a:r>
              <a:rPr lang="en">
                <a:solidFill>
                  <a:schemeClr val="dk1"/>
                </a:solidFill>
              </a:rPr>
              <a:t>.</a:t>
            </a:r>
            <a:endParaRPr>
              <a:solidFill>
                <a:schemeClr val="dk1"/>
              </a:solidFill>
            </a:endParaRPr>
          </a:p>
        </p:txBody>
      </p:sp>
      <p:sp>
        <p:nvSpPr>
          <p:cNvPr id="470" name="Google Shape;470;g3c55fba444f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c55fba444f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c55fba444f_1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c55fba444f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Collaborative Filtering Framework</a:t>
            </a:r>
            <a:br>
              <a:rPr b="1" lang="en">
                <a:solidFill>
                  <a:schemeClr val="dk1"/>
                </a:solidFill>
              </a:rPr>
            </a:br>
            <a:r>
              <a:rPr lang="en">
                <a:solidFill>
                  <a:schemeClr val="dk1"/>
                </a:solidFill>
              </a:rPr>
              <a:t>The recommender system is built using a collaborative filtering approach that leverages historical interactions between users and clothing sizes. A sparse user–item matrix is constructed where rows represent users and columns represent category–size combinations (e.g., dress–8, top–4). Each cell stores the estimated probability that a given size fits the user, derived from the ensemble model predictions. Cosine similarity is then used to measure similarity between users based on their fit behavior across these category–size interactions, allowing the system to identify the most relevant neighbors for a given query.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Similarity-Based Size Prediction</a:t>
            </a:r>
            <a:br>
              <a:rPr b="1" lang="en">
                <a:solidFill>
                  <a:schemeClr val="dk1"/>
                </a:solidFill>
              </a:rPr>
            </a:br>
            <a:r>
              <a:rPr lang="en">
                <a:solidFill>
                  <a:schemeClr val="dk1"/>
                </a:solidFill>
              </a:rPr>
              <a:t>For a recommendation request, the system identifies the most similar users (top-k neighbors) and aggregates their fit probabilities for each candidate size within the requested product category. Rather than using a simple average, the model applies a similarity-weighted aggregation so that more similar users contribute more heavily to the predicted fit probability. This produces a score representing how likely each size is to fit the target user, based on patterns observed among users with similar body measurements and fit histories.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Popularity Prior and Cold-Start Handling</a:t>
            </a:r>
            <a:br>
              <a:rPr b="1" lang="en">
                <a:solidFill>
                  <a:schemeClr val="dk1"/>
                </a:solidFill>
              </a:rPr>
            </a:br>
            <a:r>
              <a:rPr lang="en">
                <a:solidFill>
                  <a:schemeClr val="dk1"/>
                </a:solidFill>
              </a:rPr>
              <a:t>To improve robustness when historical interactions are sparse, the recommender incorporates a category-specific size popularity prior, which captures the overall frequency of each size being chosen within a category. This prior is combined with the similarity-based score to stabilize predictions and prevent extreme recommendations from small neighbor sets. For new users without prior purchase history, the system performs cold-start matching by identifying the training user with the most similar body measurements (height, weight, age, bust band, cup size) and using that user’s interaction profile as a proxy for generating recommendations.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504" name="Google Shape;504;g3c55fba444f_1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c55fba444f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300">
                <a:solidFill>
                  <a:schemeClr val="dk1"/>
                </a:solidFill>
              </a:rPr>
              <a:t>Within RentTheRunway, the recommender achieves lower performance (Hit@1 = 3.0%, Hit@3 = 9.1%) due to data sparsity and the user-level split, which requires predictions for unseen users. In contrast, the cross-retailer model trained on ModCloth performs better (Hit@1 ≈ 10.5%, Hit@3 ≈ 32.2%) because normalized product categories allow broader size patterns to transfer across retailers despite different item IDs.</a:t>
            </a:r>
            <a:endParaRPr sz="1300"/>
          </a:p>
        </p:txBody>
      </p:sp>
      <p:sp>
        <p:nvSpPr>
          <p:cNvPr id="534" name="Google Shape;534;g3c55fba444f_1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c55fba444f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3c55fba444f_0_6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55fba444f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3c55fba444f_1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c55fba444f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3c55fba444f_1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55fba444f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c55fba444f_1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c54894ebc4_2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c54894ebc4_2_3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c54894ebc4_2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g3c54894ebc4_2_3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 Id="rId10" Type="http://schemas.openxmlformats.org/officeDocument/2006/relationships/image" Target="../media/image6.png"/><Relationship Id="rId9"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8.png"/><Relationship Id="rId4" Type="http://schemas.openxmlformats.org/officeDocument/2006/relationships/image" Target="../media/image10.png"/><Relationship Id="rId10"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5.png"/><Relationship Id="rId6" Type="http://schemas.openxmlformats.org/officeDocument/2006/relationships/image" Target="../media/image84.jpg"/><Relationship Id="rId7" Type="http://schemas.openxmlformats.org/officeDocument/2006/relationships/image" Target="../media/image11.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 Id="rId11" Type="http://schemas.openxmlformats.org/officeDocument/2006/relationships/image" Target="../media/image56.png"/><Relationship Id="rId10" Type="http://schemas.openxmlformats.org/officeDocument/2006/relationships/image" Target="../media/image22.png"/><Relationship Id="rId12" Type="http://schemas.openxmlformats.org/officeDocument/2006/relationships/image" Target="../media/image15.png"/><Relationship Id="rId9"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0.png"/><Relationship Id="rId7" Type="http://schemas.openxmlformats.org/officeDocument/2006/relationships/image" Target="../media/image18.png"/><Relationship Id="rId8" Type="http://schemas.openxmlformats.org/officeDocument/2006/relationships/image" Target="../media/image3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1.png"/><Relationship Id="rId11" Type="http://schemas.openxmlformats.org/officeDocument/2006/relationships/image" Target="../media/image24.png"/><Relationship Id="rId10" Type="http://schemas.openxmlformats.org/officeDocument/2006/relationships/image" Target="../media/image29.png"/><Relationship Id="rId9"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26.jpg"/><Relationship Id="rId7" Type="http://schemas.openxmlformats.org/officeDocument/2006/relationships/image" Target="../media/image21.png"/><Relationship Id="rId8"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1.png"/><Relationship Id="rId11" Type="http://schemas.openxmlformats.org/officeDocument/2006/relationships/image" Target="../media/image24.png"/><Relationship Id="rId10" Type="http://schemas.openxmlformats.org/officeDocument/2006/relationships/image" Target="../media/image29.png"/><Relationship Id="rId9"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26.jpg"/><Relationship Id="rId7" Type="http://schemas.openxmlformats.org/officeDocument/2006/relationships/image" Target="../media/image21.png"/><Relationship Id="rId8" Type="http://schemas.openxmlformats.org/officeDocument/2006/relationships/image" Target="../media/image4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7.png"/><Relationship Id="rId4" Type="http://schemas.openxmlformats.org/officeDocument/2006/relationships/image" Target="../media/image36.png"/><Relationship Id="rId11" Type="http://schemas.openxmlformats.org/officeDocument/2006/relationships/image" Target="../media/image44.png"/><Relationship Id="rId10" Type="http://schemas.openxmlformats.org/officeDocument/2006/relationships/image" Target="../media/image35.png"/><Relationship Id="rId9"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image" Target="../media/image39.png"/><Relationship Id="rId7" Type="http://schemas.openxmlformats.org/officeDocument/2006/relationships/image" Target="../media/image43.png"/><Relationship Id="rId8" Type="http://schemas.openxmlformats.org/officeDocument/2006/relationships/image" Target="../media/image38.png"/></Relationships>
</file>

<file path=ppt/slides/_rels/slide7.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55.png"/><Relationship Id="rId13" Type="http://schemas.openxmlformats.org/officeDocument/2006/relationships/image" Target="../media/image67.png"/><Relationship Id="rId12" Type="http://schemas.openxmlformats.org/officeDocument/2006/relationships/image" Target="../media/image46.png"/><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7.png"/><Relationship Id="rId4" Type="http://schemas.openxmlformats.org/officeDocument/2006/relationships/image" Target="../media/image28.png"/><Relationship Id="rId9" Type="http://schemas.openxmlformats.org/officeDocument/2006/relationships/image" Target="../media/image45.png"/><Relationship Id="rId15" Type="http://schemas.openxmlformats.org/officeDocument/2006/relationships/image" Target="../media/image72.png"/><Relationship Id="rId14" Type="http://schemas.openxmlformats.org/officeDocument/2006/relationships/image" Target="../media/image51.png"/><Relationship Id="rId17" Type="http://schemas.openxmlformats.org/officeDocument/2006/relationships/image" Target="../media/image52.png"/><Relationship Id="rId16" Type="http://schemas.openxmlformats.org/officeDocument/2006/relationships/image" Target="../media/image50.png"/><Relationship Id="rId5" Type="http://schemas.openxmlformats.org/officeDocument/2006/relationships/image" Target="../media/image57.png"/><Relationship Id="rId6" Type="http://schemas.openxmlformats.org/officeDocument/2006/relationships/image" Target="../media/image53.png"/><Relationship Id="rId7" Type="http://schemas.openxmlformats.org/officeDocument/2006/relationships/image" Target="../media/image41.png"/><Relationship Id="rId8" Type="http://schemas.openxmlformats.org/officeDocument/2006/relationships/image" Target="../media/image48.png"/></Relationships>
</file>

<file path=ppt/slides/_rels/slide8.xml.rels><?xml version="1.0" encoding="UTF-8" standalone="yes"?><Relationships xmlns="http://schemas.openxmlformats.org/package/2006/relationships"><Relationship Id="rId11" Type="http://schemas.openxmlformats.org/officeDocument/2006/relationships/image" Target="../media/image126.png"/><Relationship Id="rId10" Type="http://schemas.openxmlformats.org/officeDocument/2006/relationships/image" Target="../media/image72.png"/><Relationship Id="rId13" Type="http://schemas.openxmlformats.org/officeDocument/2006/relationships/image" Target="../media/image59.png"/><Relationship Id="rId12" Type="http://schemas.openxmlformats.org/officeDocument/2006/relationships/image" Target="../media/image65.png"/><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9.png"/><Relationship Id="rId4" Type="http://schemas.openxmlformats.org/officeDocument/2006/relationships/image" Target="../media/image61.png"/><Relationship Id="rId9" Type="http://schemas.openxmlformats.org/officeDocument/2006/relationships/image" Target="../media/image60.png"/><Relationship Id="rId5" Type="http://schemas.openxmlformats.org/officeDocument/2006/relationships/image" Target="../media/image21.png"/><Relationship Id="rId6" Type="http://schemas.openxmlformats.org/officeDocument/2006/relationships/image" Target="../media/image85.png"/><Relationship Id="rId7" Type="http://schemas.openxmlformats.org/officeDocument/2006/relationships/image" Target="../media/image66.png"/><Relationship Id="rId8" Type="http://schemas.openxmlformats.org/officeDocument/2006/relationships/image" Target="../media/image58.png"/></Relationships>
</file>

<file path=ppt/slides/_rels/slide9.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49.png"/><Relationship Id="rId13" Type="http://schemas.openxmlformats.org/officeDocument/2006/relationships/image" Target="../media/image67.png"/><Relationship Id="rId12" Type="http://schemas.openxmlformats.org/officeDocument/2006/relationships/image" Target="../media/image46.png"/><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7.png"/><Relationship Id="rId4" Type="http://schemas.openxmlformats.org/officeDocument/2006/relationships/image" Target="../media/image28.png"/><Relationship Id="rId9" Type="http://schemas.openxmlformats.org/officeDocument/2006/relationships/image" Target="../media/image45.png"/><Relationship Id="rId15" Type="http://schemas.openxmlformats.org/officeDocument/2006/relationships/image" Target="../media/image72.png"/><Relationship Id="rId14" Type="http://schemas.openxmlformats.org/officeDocument/2006/relationships/image" Target="../media/image51.png"/><Relationship Id="rId17" Type="http://schemas.openxmlformats.org/officeDocument/2006/relationships/image" Target="../media/image62.png"/><Relationship Id="rId16" Type="http://schemas.openxmlformats.org/officeDocument/2006/relationships/image" Target="../media/image50.png"/><Relationship Id="rId5" Type="http://schemas.openxmlformats.org/officeDocument/2006/relationships/image" Target="../media/image57.png"/><Relationship Id="rId6" Type="http://schemas.openxmlformats.org/officeDocument/2006/relationships/image" Target="../media/image53.png"/><Relationship Id="rId7" Type="http://schemas.openxmlformats.org/officeDocument/2006/relationships/image" Target="../media/image41.png"/><Relationship Id="rId8" Type="http://schemas.openxmlformats.org/officeDocument/2006/relationships/image" Target="../media/image48.png"/></Relationships>
</file>

<file path=ppt/slides/_rels/slide10.xml.rels><?xml version="1.0" encoding="UTF-8" standalone="yes"?><Relationships xmlns="http://schemas.openxmlformats.org/package/2006/relationships"><Relationship Id="rId11" Type="http://schemas.openxmlformats.org/officeDocument/2006/relationships/image" Target="../media/image64.png"/><Relationship Id="rId10" Type="http://schemas.openxmlformats.org/officeDocument/2006/relationships/image" Target="../media/image63.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9.png"/><Relationship Id="rId4" Type="http://schemas.openxmlformats.org/officeDocument/2006/relationships/image" Target="../media/image61.png"/><Relationship Id="rId9" Type="http://schemas.openxmlformats.org/officeDocument/2006/relationships/image" Target="../media/image90.png"/><Relationship Id="rId5" Type="http://schemas.openxmlformats.org/officeDocument/2006/relationships/image" Target="../media/image21.png"/><Relationship Id="rId6" Type="http://schemas.openxmlformats.org/officeDocument/2006/relationships/image" Target="../media/image85.png"/><Relationship Id="rId7" Type="http://schemas.openxmlformats.org/officeDocument/2006/relationships/image" Target="../media/image66.png"/><Relationship Id="rId8" Type="http://schemas.openxmlformats.org/officeDocument/2006/relationships/image" Target="../media/image72.png"/></Relationships>
</file>

<file path=ppt/slides/_rels/slide11.xml.rels><?xml version="1.0" encoding="UTF-8" standalone="yes"?><Relationships xmlns="http://schemas.openxmlformats.org/package/2006/relationships"><Relationship Id="rId10" Type="http://schemas.openxmlformats.org/officeDocument/2006/relationships/image" Target="../media/image74.png"/><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39.png"/><Relationship Id="rId7" Type="http://schemas.openxmlformats.org/officeDocument/2006/relationships/image" Target="../media/image43.png"/><Relationship Id="rId8" Type="http://schemas.openxmlformats.org/officeDocument/2006/relationships/image" Target="../media/image3.png"/></Relationships>
</file>

<file path=ppt/slides/_rels/slide12.xml.rels><?xml version="1.0" encoding="UTF-8" standalone="yes"?><Relationships xmlns="http://schemas.openxmlformats.org/package/2006/relationships"><Relationship Id="rId11" Type="http://schemas.openxmlformats.org/officeDocument/2006/relationships/image" Target="../media/image46.png"/><Relationship Id="rId10" Type="http://schemas.openxmlformats.org/officeDocument/2006/relationships/image" Target="../media/image49.png"/><Relationship Id="rId13" Type="http://schemas.openxmlformats.org/officeDocument/2006/relationships/image" Target="../media/image51.png"/><Relationship Id="rId12" Type="http://schemas.openxmlformats.org/officeDocument/2006/relationships/image" Target="../media/image67.pn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7.png"/><Relationship Id="rId4" Type="http://schemas.openxmlformats.org/officeDocument/2006/relationships/image" Target="../media/image28.png"/><Relationship Id="rId9" Type="http://schemas.openxmlformats.org/officeDocument/2006/relationships/image" Target="../media/image45.png"/><Relationship Id="rId15" Type="http://schemas.openxmlformats.org/officeDocument/2006/relationships/image" Target="../media/image50.png"/><Relationship Id="rId14" Type="http://schemas.openxmlformats.org/officeDocument/2006/relationships/image" Target="../media/image72.png"/><Relationship Id="rId16" Type="http://schemas.openxmlformats.org/officeDocument/2006/relationships/image" Target="../media/image60.png"/><Relationship Id="rId5" Type="http://schemas.openxmlformats.org/officeDocument/2006/relationships/image" Target="../media/image57.png"/><Relationship Id="rId6" Type="http://schemas.openxmlformats.org/officeDocument/2006/relationships/image" Target="../media/image53.png"/><Relationship Id="rId7" Type="http://schemas.openxmlformats.org/officeDocument/2006/relationships/image" Target="../media/image41.png"/><Relationship Id="rId8" Type="http://schemas.openxmlformats.org/officeDocument/2006/relationships/image" Target="../media/image48.png"/></Relationships>
</file>

<file path=ppt/slides/_rels/slide13.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58.png"/><Relationship Id="rId13" Type="http://schemas.openxmlformats.org/officeDocument/2006/relationships/image" Target="../media/image69.png"/><Relationship Id="rId12" Type="http://schemas.openxmlformats.org/officeDocument/2006/relationships/image" Target="../media/image126.png"/><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79.png"/><Relationship Id="rId4" Type="http://schemas.openxmlformats.org/officeDocument/2006/relationships/image" Target="../media/image61.png"/><Relationship Id="rId9" Type="http://schemas.openxmlformats.org/officeDocument/2006/relationships/image" Target="../media/image70.png"/><Relationship Id="rId15" Type="http://schemas.openxmlformats.org/officeDocument/2006/relationships/image" Target="../media/image55.png"/><Relationship Id="rId14" Type="http://schemas.openxmlformats.org/officeDocument/2006/relationships/image" Target="../media/image71.png"/><Relationship Id="rId5" Type="http://schemas.openxmlformats.org/officeDocument/2006/relationships/image" Target="../media/image21.png"/><Relationship Id="rId6" Type="http://schemas.openxmlformats.org/officeDocument/2006/relationships/image" Target="../media/image85.png"/><Relationship Id="rId7" Type="http://schemas.openxmlformats.org/officeDocument/2006/relationships/image" Target="../media/image66.png"/><Relationship Id="rId8" Type="http://schemas.openxmlformats.org/officeDocument/2006/relationships/image" Target="../media/image2.png"/></Relationships>
</file>

<file path=ppt/slides/_rels/slide14.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49.png"/><Relationship Id="rId13" Type="http://schemas.openxmlformats.org/officeDocument/2006/relationships/image" Target="../media/image67.png"/><Relationship Id="rId12" Type="http://schemas.openxmlformats.org/officeDocument/2006/relationships/image" Target="../media/image46.png"/><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7.png"/><Relationship Id="rId4" Type="http://schemas.openxmlformats.org/officeDocument/2006/relationships/image" Target="../media/image28.png"/><Relationship Id="rId9" Type="http://schemas.openxmlformats.org/officeDocument/2006/relationships/image" Target="../media/image45.png"/><Relationship Id="rId15" Type="http://schemas.openxmlformats.org/officeDocument/2006/relationships/image" Target="../media/image72.png"/><Relationship Id="rId14" Type="http://schemas.openxmlformats.org/officeDocument/2006/relationships/image" Target="../media/image51.png"/><Relationship Id="rId17" Type="http://schemas.openxmlformats.org/officeDocument/2006/relationships/image" Target="../media/image73.png"/><Relationship Id="rId16" Type="http://schemas.openxmlformats.org/officeDocument/2006/relationships/image" Target="../media/image50.png"/><Relationship Id="rId5" Type="http://schemas.openxmlformats.org/officeDocument/2006/relationships/image" Target="../media/image57.png"/><Relationship Id="rId6" Type="http://schemas.openxmlformats.org/officeDocument/2006/relationships/image" Target="../media/image53.png"/><Relationship Id="rId7" Type="http://schemas.openxmlformats.org/officeDocument/2006/relationships/image" Target="../media/image41.png"/><Relationship Id="rId8" Type="http://schemas.openxmlformats.org/officeDocument/2006/relationships/image" Target="../media/image48.png"/></Relationships>
</file>

<file path=ppt/slides/_rels/slide15.xml.rels><?xml version="1.0" encoding="UTF-8" standalone="yes"?><Relationships xmlns="http://schemas.openxmlformats.org/package/2006/relationships"><Relationship Id="rId11" Type="http://schemas.openxmlformats.org/officeDocument/2006/relationships/image" Target="../media/image76.png"/><Relationship Id="rId10" Type="http://schemas.openxmlformats.org/officeDocument/2006/relationships/image" Target="../media/image72.png"/><Relationship Id="rId13" Type="http://schemas.openxmlformats.org/officeDocument/2006/relationships/image" Target="../media/image78.png"/><Relationship Id="rId12"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9.png"/><Relationship Id="rId4" Type="http://schemas.openxmlformats.org/officeDocument/2006/relationships/image" Target="../media/image61.png"/><Relationship Id="rId9" Type="http://schemas.openxmlformats.org/officeDocument/2006/relationships/image" Target="../media/image60.png"/><Relationship Id="rId5" Type="http://schemas.openxmlformats.org/officeDocument/2006/relationships/image" Target="../media/image21.png"/><Relationship Id="rId6" Type="http://schemas.openxmlformats.org/officeDocument/2006/relationships/image" Target="../media/image85.png"/><Relationship Id="rId7" Type="http://schemas.openxmlformats.org/officeDocument/2006/relationships/image" Target="../media/image66.png"/><Relationship Id="rId8" Type="http://schemas.openxmlformats.org/officeDocument/2006/relationships/image" Target="../media/image58.png"/></Relationships>
</file>

<file path=ppt/slides/_rels/slide16.xml.rels><?xml version="1.0" encoding="UTF-8" standalone="yes"?><Relationships xmlns="http://schemas.openxmlformats.org/package/2006/relationships"><Relationship Id="rId10" Type="http://schemas.openxmlformats.org/officeDocument/2006/relationships/image" Target="../media/image81.png"/><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39.png"/><Relationship Id="rId7" Type="http://schemas.openxmlformats.org/officeDocument/2006/relationships/image" Target="../media/image43.png"/><Relationship Id="rId8" Type="http://schemas.openxmlformats.org/officeDocument/2006/relationships/image" Target="../media/image3.png"/></Relationships>
</file>

<file path=ppt/slides/_rels/slide17.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49.png"/><Relationship Id="rId13" Type="http://schemas.openxmlformats.org/officeDocument/2006/relationships/image" Target="../media/image67.png"/><Relationship Id="rId12" Type="http://schemas.openxmlformats.org/officeDocument/2006/relationships/image" Target="../media/image46.png"/><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28.png"/><Relationship Id="rId9" Type="http://schemas.openxmlformats.org/officeDocument/2006/relationships/image" Target="../media/image45.png"/><Relationship Id="rId15" Type="http://schemas.openxmlformats.org/officeDocument/2006/relationships/image" Target="../media/image72.png"/><Relationship Id="rId14" Type="http://schemas.openxmlformats.org/officeDocument/2006/relationships/image" Target="../media/image51.png"/><Relationship Id="rId17" Type="http://schemas.openxmlformats.org/officeDocument/2006/relationships/image" Target="../media/image82.png"/><Relationship Id="rId16" Type="http://schemas.openxmlformats.org/officeDocument/2006/relationships/image" Target="../media/image50.png"/><Relationship Id="rId5" Type="http://schemas.openxmlformats.org/officeDocument/2006/relationships/image" Target="../media/image57.png"/><Relationship Id="rId6" Type="http://schemas.openxmlformats.org/officeDocument/2006/relationships/image" Target="../media/image53.png"/><Relationship Id="rId7" Type="http://schemas.openxmlformats.org/officeDocument/2006/relationships/image" Target="../media/image41.png"/><Relationship Id="rId8"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1.png"/><Relationship Id="rId4" Type="http://schemas.openxmlformats.org/officeDocument/2006/relationships/image" Target="../media/image93.png"/><Relationship Id="rId5" Type="http://schemas.openxmlformats.org/officeDocument/2006/relationships/image" Target="../media/image17.png"/><Relationship Id="rId6" Type="http://schemas.openxmlformats.org/officeDocument/2006/relationships/image" Target="../media/image77.png"/><Relationship Id="rId7" Type="http://schemas.openxmlformats.org/officeDocument/2006/relationships/image" Target="../media/image88.png"/><Relationship Id="rId8" Type="http://schemas.openxmlformats.org/officeDocument/2006/relationships/image" Target="../media/image95.png"/></Relationships>
</file>

<file path=ppt/slides/_rels/slide19.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3" Type="http://schemas.openxmlformats.org/officeDocument/2006/relationships/image" Target="../media/image111.png"/><Relationship Id="rId12" Type="http://schemas.openxmlformats.org/officeDocument/2006/relationships/image" Target="../media/image108.png"/><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79.png"/><Relationship Id="rId4" Type="http://schemas.openxmlformats.org/officeDocument/2006/relationships/image" Target="../media/image86.png"/><Relationship Id="rId9" Type="http://schemas.openxmlformats.org/officeDocument/2006/relationships/image" Target="../media/image121.png"/><Relationship Id="rId14" Type="http://schemas.openxmlformats.org/officeDocument/2006/relationships/image" Target="../media/image104.png"/><Relationship Id="rId5" Type="http://schemas.openxmlformats.org/officeDocument/2006/relationships/image" Target="../media/image61.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87.png"/></Relationships>
</file>

<file path=ppt/slides/_rels/slide20.xml.rels><?xml version="1.0" encoding="UTF-8" standalone="yes"?><Relationships xmlns="http://schemas.openxmlformats.org/package/2006/relationships"><Relationship Id="rId10" Type="http://schemas.openxmlformats.org/officeDocument/2006/relationships/image" Target="../media/image116.png"/><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5.png"/><Relationship Id="rId5" Type="http://schemas.openxmlformats.org/officeDocument/2006/relationships/image" Target="../media/image13.png"/><Relationship Id="rId6" Type="http://schemas.openxmlformats.org/officeDocument/2006/relationships/image" Target="../media/image39.png"/><Relationship Id="rId7" Type="http://schemas.openxmlformats.org/officeDocument/2006/relationships/image" Target="../media/image43.png"/><Relationship Id="rId8" Type="http://schemas.openxmlformats.org/officeDocument/2006/relationships/image" Target="../media/image3.png"/></Relationships>
</file>

<file path=ppt/slides/_rels/slide21.xml.rels><?xml version="1.0" encoding="UTF-8" standalone="yes"?><Relationships xmlns="http://schemas.openxmlformats.org/package/2006/relationships"><Relationship Id="rId11" Type="http://schemas.openxmlformats.org/officeDocument/2006/relationships/hyperlink" Target="https://github.com/hkbuttar/Machine-Learning-Final-Project" TargetMode="External"/><Relationship Id="rId10"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15.png"/><Relationship Id="rId4" Type="http://schemas.openxmlformats.org/officeDocument/2006/relationships/image" Target="../media/image91.png"/><Relationship Id="rId9" Type="http://schemas.openxmlformats.org/officeDocument/2006/relationships/image" Target="../media/image102.png"/><Relationship Id="rId5" Type="http://schemas.openxmlformats.org/officeDocument/2006/relationships/image" Target="../media/image97.png"/><Relationship Id="rId6" Type="http://schemas.openxmlformats.org/officeDocument/2006/relationships/image" Target="../media/image94.png"/><Relationship Id="rId7" Type="http://schemas.openxmlformats.org/officeDocument/2006/relationships/image" Target="../media/image17.png"/><Relationship Id="rId8" Type="http://schemas.openxmlformats.org/officeDocument/2006/relationships/image" Target="../media/image96.png"/></Relationships>
</file>

<file path=ppt/slides/_rels/slide22.xml.rels><?xml version="1.0" encoding="UTF-8" standalone="yes"?><Relationships xmlns="http://schemas.openxmlformats.org/package/2006/relationships"><Relationship Id="rId10" Type="http://schemas.openxmlformats.org/officeDocument/2006/relationships/image" Target="../media/image30.png"/><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15.png"/><Relationship Id="rId4" Type="http://schemas.openxmlformats.org/officeDocument/2006/relationships/image" Target="../media/image91.png"/><Relationship Id="rId9" Type="http://schemas.openxmlformats.org/officeDocument/2006/relationships/image" Target="../media/image102.png"/><Relationship Id="rId5" Type="http://schemas.openxmlformats.org/officeDocument/2006/relationships/image" Target="../media/image97.png"/><Relationship Id="rId6" Type="http://schemas.openxmlformats.org/officeDocument/2006/relationships/image" Target="../media/image94.png"/><Relationship Id="rId7" Type="http://schemas.openxmlformats.org/officeDocument/2006/relationships/image" Target="../media/image17.png"/><Relationship Id="rId8" Type="http://schemas.openxmlformats.org/officeDocument/2006/relationships/image" Target="../media/image96.png"/></Relationships>
</file>

<file path=ppt/slides/_rels/slide23.xml.rels><?xml version="1.0" encoding="UTF-8" standalone="yes"?><Relationships xmlns="http://schemas.openxmlformats.org/package/2006/relationships"><Relationship Id="rId11" Type="http://schemas.openxmlformats.org/officeDocument/2006/relationships/image" Target="../media/image95.png"/><Relationship Id="rId10" Type="http://schemas.openxmlformats.org/officeDocument/2006/relationships/image" Target="../media/image125.png"/><Relationship Id="rId13" Type="http://schemas.openxmlformats.org/officeDocument/2006/relationships/image" Target="../media/image101.png"/><Relationship Id="rId12" Type="http://schemas.openxmlformats.org/officeDocument/2006/relationships/image" Target="../media/image103.png"/><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18.png"/><Relationship Id="rId4" Type="http://schemas.openxmlformats.org/officeDocument/2006/relationships/image" Target="../media/image123.png"/><Relationship Id="rId9" Type="http://schemas.openxmlformats.org/officeDocument/2006/relationships/image" Target="../media/image64.png"/><Relationship Id="rId15" Type="http://schemas.openxmlformats.org/officeDocument/2006/relationships/image" Target="../media/image127.png"/><Relationship Id="rId14" Type="http://schemas.openxmlformats.org/officeDocument/2006/relationships/image" Target="../media/image52.png"/><Relationship Id="rId17" Type="http://schemas.openxmlformats.org/officeDocument/2006/relationships/image" Target="../media/image82.png"/><Relationship Id="rId16" Type="http://schemas.openxmlformats.org/officeDocument/2006/relationships/image" Target="../media/image107.png"/><Relationship Id="rId5" Type="http://schemas.openxmlformats.org/officeDocument/2006/relationships/image" Target="../media/image120.png"/><Relationship Id="rId6" Type="http://schemas.openxmlformats.org/officeDocument/2006/relationships/image" Target="../media/image78.png"/><Relationship Id="rId7" Type="http://schemas.openxmlformats.org/officeDocument/2006/relationships/image" Target="../media/image122.png"/><Relationship Id="rId8" Type="http://schemas.openxmlformats.org/officeDocument/2006/relationships/image" Target="../media/image104.png"/></Relationships>
</file>

<file path=ppt/slides/_rels/slide24.xml.rels><?xml version="1.0" encoding="UTF-8" standalone="yes"?><Relationships xmlns="http://schemas.openxmlformats.org/package/2006/relationships"><Relationship Id="rId11" Type="http://schemas.openxmlformats.org/officeDocument/2006/relationships/image" Target="../media/image114.png"/><Relationship Id="rId10" Type="http://schemas.openxmlformats.org/officeDocument/2006/relationships/image" Target="../media/image117.png"/><Relationship Id="rId13" Type="http://schemas.openxmlformats.org/officeDocument/2006/relationships/image" Target="../media/image73.png"/><Relationship Id="rId12" Type="http://schemas.openxmlformats.org/officeDocument/2006/relationships/image" Target="../media/image112.png"/><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06.png"/><Relationship Id="rId4" Type="http://schemas.openxmlformats.org/officeDocument/2006/relationships/image" Target="../media/image44.png"/><Relationship Id="rId9" Type="http://schemas.openxmlformats.org/officeDocument/2006/relationships/image" Target="../media/image109.png"/><Relationship Id="rId15" Type="http://schemas.openxmlformats.org/officeDocument/2006/relationships/image" Target="../media/image81.png"/><Relationship Id="rId14" Type="http://schemas.openxmlformats.org/officeDocument/2006/relationships/image" Target="../media/image62.png"/><Relationship Id="rId17" Type="http://schemas.openxmlformats.org/officeDocument/2006/relationships/image" Target="../media/image59.png"/><Relationship Id="rId16" Type="http://schemas.openxmlformats.org/officeDocument/2006/relationships/image" Target="../media/image119.png"/><Relationship Id="rId5" Type="http://schemas.openxmlformats.org/officeDocument/2006/relationships/image" Target="../media/image105.png"/><Relationship Id="rId6" Type="http://schemas.openxmlformats.org/officeDocument/2006/relationships/image" Target="../media/image124.png"/><Relationship Id="rId18" Type="http://schemas.openxmlformats.org/officeDocument/2006/relationships/image" Target="../media/image74.png"/><Relationship Id="rId7" Type="http://schemas.openxmlformats.org/officeDocument/2006/relationships/image" Target="../media/image110.png"/><Relationship Id="rId8"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28" name="Shape 128"/>
        <p:cNvGrpSpPr/>
        <p:nvPr/>
      </p:nvGrpSpPr>
      <p:grpSpPr>
        <a:xfrm>
          <a:off x="0" y="0"/>
          <a:ext cx="0" cy="0"/>
          <a:chOff x="0" y="0"/>
          <a:chExt cx="0" cy="0"/>
        </a:xfrm>
      </p:grpSpPr>
      <p:sp>
        <p:nvSpPr>
          <p:cNvPr id="129" name="Google Shape;129;p25"/>
          <p:cNvSpPr/>
          <p:nvPr/>
        </p:nvSpPr>
        <p:spPr>
          <a:xfrm rot="-258638">
            <a:off x="4632535" y="1439559"/>
            <a:ext cx="5076912" cy="4461337"/>
          </a:xfrm>
          <a:custGeom>
            <a:rect b="b" l="l" r="r" t="t"/>
            <a:pathLst>
              <a:path extrusionOk="0" h="8942144" w="10175981">
                <a:moveTo>
                  <a:pt x="0" y="0"/>
                </a:moveTo>
                <a:lnTo>
                  <a:pt x="10175981" y="0"/>
                </a:lnTo>
                <a:lnTo>
                  <a:pt x="10175981" y="8942144"/>
                </a:lnTo>
                <a:lnTo>
                  <a:pt x="0" y="8942144"/>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rot="-10538450">
            <a:off x="-505325" y="-1839133"/>
            <a:ext cx="4308359" cy="3785970"/>
          </a:xfrm>
          <a:custGeom>
            <a:rect b="b" l="l" r="r" t="t"/>
            <a:pathLst>
              <a:path extrusionOk="0" h="7571941" w="8616718">
                <a:moveTo>
                  <a:pt x="0" y="0"/>
                </a:moveTo>
                <a:lnTo>
                  <a:pt x="8616718" y="0"/>
                </a:lnTo>
                <a:lnTo>
                  <a:pt x="8616718" y="7571941"/>
                </a:lnTo>
                <a:lnTo>
                  <a:pt x="0" y="7571941"/>
                </a:lnTo>
                <a:lnTo>
                  <a:pt x="0" y="0"/>
                </a:lnTo>
                <a:close/>
              </a:path>
            </a:pathLst>
          </a:custGeom>
          <a:blipFill rotWithShape="1">
            <a:blip r:embed="rId3">
              <a:alphaModFix/>
            </a:blip>
            <a:stretch>
              <a:fillRect b="0" l="0" r="0" t="0"/>
            </a:stretch>
          </a:blipFill>
          <a:ln>
            <a:noFill/>
          </a:ln>
        </p:spPr>
      </p:sp>
      <p:sp>
        <p:nvSpPr>
          <p:cNvPr id="131" name="Google Shape;131;p25"/>
          <p:cNvSpPr/>
          <p:nvPr/>
        </p:nvSpPr>
        <p:spPr>
          <a:xfrm>
            <a:off x="790396" y="514350"/>
            <a:ext cx="7563208" cy="390704"/>
          </a:xfrm>
          <a:custGeom>
            <a:rect b="b" l="l" r="r" t="t"/>
            <a:pathLst>
              <a:path extrusionOk="0" h="781407" w="15126415">
                <a:moveTo>
                  <a:pt x="0" y="0"/>
                </a:moveTo>
                <a:lnTo>
                  <a:pt x="15126416" y="0"/>
                </a:lnTo>
                <a:lnTo>
                  <a:pt x="15126416" y="781407"/>
                </a:lnTo>
                <a:lnTo>
                  <a:pt x="0" y="781407"/>
                </a:lnTo>
                <a:lnTo>
                  <a:pt x="0" y="0"/>
                </a:lnTo>
                <a:close/>
              </a:path>
            </a:pathLst>
          </a:custGeom>
          <a:blipFill rotWithShape="1">
            <a:blip r:embed="rId4">
              <a:alphaModFix/>
            </a:blip>
            <a:stretch>
              <a:fillRect b="-181694" l="-4551" r="-4531" t="-467931"/>
            </a:stretch>
          </a:blipFill>
          <a:ln cap="rnd" cmpd="sng" w="28575">
            <a:solidFill>
              <a:srgbClr val="F8D5D7"/>
            </a:solidFill>
            <a:prstDash val="solid"/>
            <a:round/>
            <a:headEnd len="sm" w="sm" type="none"/>
            <a:tailEnd len="sm" w="sm" type="none"/>
          </a:ln>
        </p:spPr>
      </p:sp>
      <p:sp>
        <p:nvSpPr>
          <p:cNvPr id="132" name="Google Shape;132;p25"/>
          <p:cNvSpPr/>
          <p:nvPr/>
        </p:nvSpPr>
        <p:spPr>
          <a:xfrm>
            <a:off x="-60862" y="3671527"/>
            <a:ext cx="9265725" cy="1556422"/>
          </a:xfrm>
          <a:custGeom>
            <a:rect b="b" l="l" r="r" t="t"/>
            <a:pathLst>
              <a:path extrusionOk="0" h="3112843" w="18531450">
                <a:moveTo>
                  <a:pt x="0" y="0"/>
                </a:moveTo>
                <a:lnTo>
                  <a:pt x="18531450" y="0"/>
                </a:lnTo>
                <a:lnTo>
                  <a:pt x="18531450" y="3112843"/>
                </a:lnTo>
                <a:lnTo>
                  <a:pt x="0" y="3112843"/>
                </a:lnTo>
                <a:lnTo>
                  <a:pt x="0" y="0"/>
                </a:lnTo>
                <a:close/>
              </a:path>
            </a:pathLst>
          </a:custGeom>
          <a:blipFill rotWithShape="1">
            <a:blip r:embed="rId5">
              <a:alphaModFix/>
            </a:blip>
            <a:stretch>
              <a:fillRect b="-18055" l="-38259" r="-5587" t="-21098"/>
            </a:stretch>
          </a:blipFill>
          <a:ln cap="sq" cmpd="sng" w="28575">
            <a:solidFill>
              <a:srgbClr val="545454"/>
            </a:solidFill>
            <a:prstDash val="solid"/>
            <a:miter lim="8000"/>
            <a:headEnd len="sm" w="sm" type="none"/>
            <a:tailEnd len="sm" w="sm" type="none"/>
          </a:ln>
        </p:spPr>
      </p:sp>
      <p:sp>
        <p:nvSpPr>
          <p:cNvPr id="133" name="Google Shape;133;p25"/>
          <p:cNvSpPr/>
          <p:nvPr/>
        </p:nvSpPr>
        <p:spPr>
          <a:xfrm>
            <a:off x="2029877" y="1498415"/>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6">
              <a:alphaModFix amt="54000"/>
            </a:blip>
            <a:stretch>
              <a:fillRect b="-126619" l="0" r="0" t="0"/>
            </a:stretch>
          </a:blipFill>
          <a:ln>
            <a:noFill/>
          </a:ln>
        </p:spPr>
      </p:sp>
      <p:sp>
        <p:nvSpPr>
          <p:cNvPr id="134" name="Google Shape;134;p25"/>
          <p:cNvSpPr/>
          <p:nvPr/>
        </p:nvSpPr>
        <p:spPr>
          <a:xfrm rot="471784">
            <a:off x="451421" y="1664230"/>
            <a:ext cx="2687478" cy="3832410"/>
          </a:xfrm>
          <a:custGeom>
            <a:rect b="b" l="l" r="r" t="t"/>
            <a:pathLst>
              <a:path extrusionOk="0" h="7664820" w="5374955">
                <a:moveTo>
                  <a:pt x="0" y="0"/>
                </a:moveTo>
                <a:lnTo>
                  <a:pt x="5374955" y="0"/>
                </a:lnTo>
                <a:lnTo>
                  <a:pt x="5374955" y="7664820"/>
                </a:lnTo>
                <a:lnTo>
                  <a:pt x="0" y="7664820"/>
                </a:lnTo>
                <a:lnTo>
                  <a:pt x="0" y="0"/>
                </a:lnTo>
                <a:close/>
              </a:path>
            </a:pathLst>
          </a:custGeom>
          <a:blipFill rotWithShape="1">
            <a:blip r:embed="rId7">
              <a:alphaModFix/>
            </a:blip>
            <a:stretch>
              <a:fillRect b="0" l="0" r="0" t="0"/>
            </a:stretch>
          </a:blipFill>
          <a:ln>
            <a:noFill/>
          </a:ln>
        </p:spPr>
      </p:sp>
      <p:sp>
        <p:nvSpPr>
          <p:cNvPr id="135" name="Google Shape;135;p25"/>
          <p:cNvSpPr txBox="1"/>
          <p:nvPr/>
        </p:nvSpPr>
        <p:spPr>
          <a:xfrm>
            <a:off x="5696521" y="1248668"/>
            <a:ext cx="26850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Predicting Clothing Fit</a:t>
            </a:r>
            <a:endParaRPr sz="700"/>
          </a:p>
        </p:txBody>
      </p:sp>
      <p:sp>
        <p:nvSpPr>
          <p:cNvPr id="136" name="Google Shape;136;p25"/>
          <p:cNvSpPr/>
          <p:nvPr/>
        </p:nvSpPr>
        <p:spPr>
          <a:xfrm rot="-540697">
            <a:off x="2973016" y="2859464"/>
            <a:ext cx="2162455" cy="3029709"/>
          </a:xfrm>
          <a:custGeom>
            <a:rect b="b" l="l" r="r" t="t"/>
            <a:pathLst>
              <a:path extrusionOk="0" h="6059418" w="4324909">
                <a:moveTo>
                  <a:pt x="0" y="0"/>
                </a:moveTo>
                <a:lnTo>
                  <a:pt x="4324909" y="0"/>
                </a:lnTo>
                <a:lnTo>
                  <a:pt x="4324909" y="6059418"/>
                </a:lnTo>
                <a:lnTo>
                  <a:pt x="0" y="6059418"/>
                </a:lnTo>
                <a:lnTo>
                  <a:pt x="0" y="0"/>
                </a:lnTo>
                <a:close/>
              </a:path>
            </a:pathLst>
          </a:custGeom>
          <a:blipFill rotWithShape="1">
            <a:blip r:embed="rId8">
              <a:alphaModFix/>
            </a:blip>
            <a:stretch>
              <a:fillRect b="0" l="0" r="0" t="0"/>
            </a:stretch>
          </a:blipFill>
          <a:ln>
            <a:noFill/>
          </a:ln>
        </p:spPr>
      </p:sp>
      <p:sp>
        <p:nvSpPr>
          <p:cNvPr id="137" name="Google Shape;137;p25"/>
          <p:cNvSpPr/>
          <p:nvPr/>
        </p:nvSpPr>
        <p:spPr>
          <a:xfrm rot="-5400000">
            <a:off x="8435292" y="1194694"/>
            <a:ext cx="230697" cy="338017"/>
          </a:xfrm>
          <a:custGeom>
            <a:rect b="b" l="l" r="r" t="t"/>
            <a:pathLst>
              <a:path extrusionOk="0" h="676034" w="461393">
                <a:moveTo>
                  <a:pt x="0" y="0"/>
                </a:moveTo>
                <a:lnTo>
                  <a:pt x="461393" y="0"/>
                </a:lnTo>
                <a:lnTo>
                  <a:pt x="461393" y="676034"/>
                </a:lnTo>
                <a:lnTo>
                  <a:pt x="0" y="676034"/>
                </a:lnTo>
                <a:lnTo>
                  <a:pt x="0" y="0"/>
                </a:lnTo>
                <a:close/>
              </a:path>
            </a:pathLst>
          </a:custGeom>
          <a:blipFill rotWithShape="1">
            <a:blip r:embed="rId9">
              <a:alphaModFix/>
            </a:blip>
            <a:stretch>
              <a:fillRect b="0" l="0" r="0" t="0"/>
            </a:stretch>
          </a:blipFill>
          <a:ln>
            <a:noFill/>
          </a:ln>
        </p:spPr>
      </p:sp>
      <p:sp>
        <p:nvSpPr>
          <p:cNvPr id="138" name="Google Shape;138;p25"/>
          <p:cNvSpPr/>
          <p:nvPr/>
        </p:nvSpPr>
        <p:spPr>
          <a:xfrm>
            <a:off x="8381632" y="4071472"/>
            <a:ext cx="942281" cy="302847"/>
          </a:xfrm>
          <a:custGeom>
            <a:rect b="b" l="l" r="r" t="t"/>
            <a:pathLst>
              <a:path extrusionOk="0" h="605693" w="1884562">
                <a:moveTo>
                  <a:pt x="0" y="0"/>
                </a:moveTo>
                <a:lnTo>
                  <a:pt x="1884561" y="0"/>
                </a:lnTo>
                <a:lnTo>
                  <a:pt x="1884561" y="605693"/>
                </a:lnTo>
                <a:lnTo>
                  <a:pt x="0" y="605693"/>
                </a:lnTo>
                <a:lnTo>
                  <a:pt x="0" y="0"/>
                </a:lnTo>
                <a:close/>
              </a:path>
            </a:pathLst>
          </a:custGeom>
          <a:blipFill rotWithShape="1">
            <a:blip r:embed="rId10">
              <a:alphaModFix amt="57000"/>
            </a:blip>
            <a:stretch>
              <a:fillRect b="-211139" l="0" r="0" t="0"/>
            </a:stretch>
          </a:blipFill>
          <a:ln>
            <a:noFill/>
          </a:ln>
        </p:spPr>
      </p:sp>
      <p:sp>
        <p:nvSpPr>
          <p:cNvPr id="139" name="Google Shape;139;p25"/>
          <p:cNvSpPr txBox="1"/>
          <p:nvPr/>
        </p:nvSpPr>
        <p:spPr>
          <a:xfrm>
            <a:off x="5696521" y="4275088"/>
            <a:ext cx="2051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Harleen Kaur Buttar</a:t>
            </a:r>
            <a:endParaRPr sz="700"/>
          </a:p>
        </p:txBody>
      </p:sp>
      <p:sp>
        <p:nvSpPr>
          <p:cNvPr id="140" name="Google Shape;140;p25"/>
          <p:cNvSpPr txBox="1"/>
          <p:nvPr/>
        </p:nvSpPr>
        <p:spPr>
          <a:xfrm>
            <a:off x="5696521" y="2397381"/>
            <a:ext cx="2471700" cy="4431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A Machine Learning Approach to Size Recommendation</a:t>
            </a:r>
            <a:endParaRPr sz="700"/>
          </a:p>
        </p:txBody>
      </p:sp>
      <p:sp>
        <p:nvSpPr>
          <p:cNvPr id="141" name="Google Shape;141;p25"/>
          <p:cNvSpPr txBox="1"/>
          <p:nvPr/>
        </p:nvSpPr>
        <p:spPr>
          <a:xfrm>
            <a:off x="5948671" y="617305"/>
            <a:ext cx="2180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272622"/>
                </a:solidFill>
              </a:rPr>
              <a:t>March 10th, 2026</a:t>
            </a:r>
            <a:endParaRPr sz="700"/>
          </a:p>
        </p:txBody>
      </p:sp>
      <p:sp>
        <p:nvSpPr>
          <p:cNvPr id="142" name="Google Shape;142;p25"/>
          <p:cNvSpPr txBox="1"/>
          <p:nvPr/>
        </p:nvSpPr>
        <p:spPr>
          <a:xfrm>
            <a:off x="5696521" y="4454500"/>
            <a:ext cx="1097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Dora Jiayue Li</a:t>
            </a:r>
            <a:endParaRPr sz="700"/>
          </a:p>
        </p:txBody>
      </p:sp>
      <p:sp>
        <p:nvSpPr>
          <p:cNvPr id="143" name="Google Shape;143;p25"/>
          <p:cNvSpPr txBox="1"/>
          <p:nvPr/>
        </p:nvSpPr>
        <p:spPr>
          <a:xfrm>
            <a:off x="6630409" y="4454500"/>
            <a:ext cx="1097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Skylar Liu</a:t>
            </a:r>
            <a:endParaRPr sz="700"/>
          </a:p>
        </p:txBody>
      </p:sp>
      <p:sp>
        <p:nvSpPr>
          <p:cNvPr id="144" name="Google Shape;144;p25"/>
          <p:cNvSpPr txBox="1"/>
          <p:nvPr/>
        </p:nvSpPr>
        <p:spPr>
          <a:xfrm>
            <a:off x="954333" y="617305"/>
            <a:ext cx="21807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Machine Learning 1</a:t>
            </a:r>
            <a:endParaRPr sz="700"/>
          </a:p>
        </p:txBody>
      </p:sp>
      <p:sp>
        <p:nvSpPr>
          <p:cNvPr id="145" name="Google Shape;145;p25"/>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49" name="Shape 149"/>
        <p:cNvGrpSpPr/>
        <p:nvPr/>
      </p:nvGrpSpPr>
      <p:grpSpPr>
        <a:xfrm>
          <a:off x="0" y="0"/>
          <a:ext cx="0" cy="0"/>
          <a:chOff x="0" y="0"/>
          <a:chExt cx="0" cy="0"/>
        </a:xfrm>
      </p:grpSpPr>
      <p:sp>
        <p:nvSpPr>
          <p:cNvPr id="150" name="Google Shape;150;p26"/>
          <p:cNvSpPr/>
          <p:nvPr/>
        </p:nvSpPr>
        <p:spPr>
          <a:xfrm rot="-2456596">
            <a:off x="-1584633" y="-416004"/>
            <a:ext cx="4196663" cy="2832747"/>
          </a:xfrm>
          <a:custGeom>
            <a:rect b="b" l="l" r="r" t="t"/>
            <a:pathLst>
              <a:path extrusionOk="0" h="5668188" w="8397316">
                <a:moveTo>
                  <a:pt x="0" y="0"/>
                </a:moveTo>
                <a:lnTo>
                  <a:pt x="8397316" y="0"/>
                </a:lnTo>
                <a:lnTo>
                  <a:pt x="8397316" y="5668188"/>
                </a:lnTo>
                <a:lnTo>
                  <a:pt x="0" y="5668188"/>
                </a:lnTo>
                <a:lnTo>
                  <a:pt x="0" y="0"/>
                </a:lnTo>
                <a:close/>
              </a:path>
            </a:pathLst>
          </a:custGeom>
          <a:blipFill rotWithShape="1">
            <a:blip r:embed="rId3">
              <a:alphaModFix/>
            </a:blip>
            <a:stretch>
              <a:fillRect b="0" l="0" r="0" t="0"/>
            </a:stretch>
          </a:blipFill>
          <a:ln>
            <a:noFill/>
          </a:ln>
        </p:spPr>
      </p:sp>
      <p:sp>
        <p:nvSpPr>
          <p:cNvPr id="151" name="Google Shape;151;p26"/>
          <p:cNvSpPr/>
          <p:nvPr/>
        </p:nvSpPr>
        <p:spPr>
          <a:xfrm rot="310108">
            <a:off x="-149728" y="2693653"/>
            <a:ext cx="9424530" cy="3429134"/>
          </a:xfrm>
          <a:custGeom>
            <a:rect b="b" l="l" r="r" t="t"/>
            <a:pathLst>
              <a:path extrusionOk="0" h="6864707" w="18866755">
                <a:moveTo>
                  <a:pt x="0" y="1619451"/>
                </a:moveTo>
                <a:lnTo>
                  <a:pt x="18405232" y="0"/>
                </a:lnTo>
                <a:lnTo>
                  <a:pt x="18866754" y="5245257"/>
                </a:lnTo>
                <a:lnTo>
                  <a:pt x="461522" y="6864708"/>
                </a:lnTo>
                <a:lnTo>
                  <a:pt x="0" y="1619451"/>
                </a:lnTo>
                <a:close/>
              </a:path>
            </a:pathLst>
          </a:custGeom>
          <a:blipFill rotWithShape="1">
            <a:blip r:embed="rId4">
              <a:alphaModFix/>
            </a:blip>
            <a:stretch>
              <a:fillRect b="-4210" l="-2600" r="-6611" t="-8730"/>
            </a:stretch>
          </a:blipFill>
          <a:ln cap="sq" cmpd="sng" w="28575">
            <a:solidFill>
              <a:srgbClr val="545454"/>
            </a:solidFill>
            <a:prstDash val="solid"/>
            <a:miter lim="8000"/>
            <a:headEnd len="sm" w="sm" type="none"/>
            <a:tailEnd len="sm" w="sm" type="none"/>
          </a:ln>
        </p:spPr>
      </p:sp>
      <p:sp>
        <p:nvSpPr>
          <p:cNvPr id="152" name="Google Shape;152;p26"/>
          <p:cNvSpPr/>
          <p:nvPr/>
        </p:nvSpPr>
        <p:spPr>
          <a:xfrm rot="8550068">
            <a:off x="6376359" y="4252721"/>
            <a:ext cx="3475183" cy="2345749"/>
          </a:xfrm>
          <a:custGeom>
            <a:rect b="b" l="l" r="r" t="t"/>
            <a:pathLst>
              <a:path extrusionOk="0" h="4681851" w="6936076">
                <a:moveTo>
                  <a:pt x="0" y="0"/>
                </a:moveTo>
                <a:lnTo>
                  <a:pt x="6936076" y="0"/>
                </a:lnTo>
                <a:lnTo>
                  <a:pt x="6936076" y="4681852"/>
                </a:lnTo>
                <a:lnTo>
                  <a:pt x="0" y="4681852"/>
                </a:lnTo>
                <a:lnTo>
                  <a:pt x="0" y="0"/>
                </a:lnTo>
                <a:close/>
              </a:path>
            </a:pathLst>
          </a:custGeom>
          <a:blipFill rotWithShape="1">
            <a:blip r:embed="rId3">
              <a:alphaModFix/>
            </a:blip>
            <a:stretch>
              <a:fillRect b="0" l="0" r="0" t="0"/>
            </a:stretch>
          </a:blipFill>
          <a:ln>
            <a:noFill/>
          </a:ln>
        </p:spPr>
      </p:sp>
      <p:sp>
        <p:nvSpPr>
          <p:cNvPr id="153" name="Google Shape;153;p26"/>
          <p:cNvSpPr/>
          <p:nvPr/>
        </p:nvSpPr>
        <p:spPr>
          <a:xfrm rot="-5400000">
            <a:off x="7460043" y="-230773"/>
            <a:ext cx="1635326" cy="1720782"/>
          </a:xfrm>
          <a:custGeom>
            <a:rect b="b" l="l" r="r" t="t"/>
            <a:pathLst>
              <a:path extrusionOk="0" h="3441564" w="3270651">
                <a:moveTo>
                  <a:pt x="0" y="0"/>
                </a:moveTo>
                <a:lnTo>
                  <a:pt x="3270651" y="0"/>
                </a:lnTo>
                <a:lnTo>
                  <a:pt x="3270651" y="3441564"/>
                </a:lnTo>
                <a:lnTo>
                  <a:pt x="0" y="3441564"/>
                </a:lnTo>
                <a:lnTo>
                  <a:pt x="0" y="0"/>
                </a:lnTo>
                <a:close/>
              </a:path>
            </a:pathLst>
          </a:custGeom>
          <a:blipFill rotWithShape="1">
            <a:blip r:embed="rId5">
              <a:alphaModFix amt="54000"/>
            </a:blip>
            <a:stretch>
              <a:fillRect b="0" l="0" r="0" t="-1100"/>
            </a:stretch>
          </a:blipFill>
          <a:ln>
            <a:noFill/>
          </a:ln>
        </p:spPr>
      </p:sp>
      <p:sp>
        <p:nvSpPr>
          <p:cNvPr id="154" name="Google Shape;154;p26"/>
          <p:cNvSpPr/>
          <p:nvPr/>
        </p:nvSpPr>
        <p:spPr>
          <a:xfrm>
            <a:off x="1001146" y="700802"/>
            <a:ext cx="3369893" cy="3745450"/>
          </a:xfrm>
          <a:custGeom>
            <a:rect b="b" l="l" r="r" t="t"/>
            <a:pathLst>
              <a:path extrusionOk="0" h="3242814" w="2917656">
                <a:moveTo>
                  <a:pt x="2503394" y="38122"/>
                </a:moveTo>
                <a:cubicBezTo>
                  <a:pt x="2481694" y="13865"/>
                  <a:pt x="2450689" y="0"/>
                  <a:pt x="2090453"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2632040"/>
                </a:lnTo>
                <a:cubicBezTo>
                  <a:pt x="0" y="2660179"/>
                  <a:pt x="10372" y="2687331"/>
                  <a:pt x="29133" y="2708303"/>
                </a:cubicBezTo>
                <a:lnTo>
                  <a:pt x="248999" y="2954086"/>
                </a:lnTo>
                <a:cubicBezTo>
                  <a:pt x="270698" y="2978343"/>
                  <a:pt x="301704" y="2992207"/>
                  <a:pt x="334250" y="2992207"/>
                </a:cubicBezTo>
                <a:lnTo>
                  <a:pt x="587615" y="2992207"/>
                </a:lnTo>
                <a:cubicBezTo>
                  <a:pt x="620162" y="2992207"/>
                  <a:pt x="651168" y="3006073"/>
                  <a:pt x="672868" y="3030330"/>
                </a:cubicBezTo>
                <a:lnTo>
                  <a:pt x="828844" y="3204692"/>
                </a:lnTo>
                <a:cubicBezTo>
                  <a:pt x="850543" y="3228949"/>
                  <a:pt x="881549" y="3242814"/>
                  <a:pt x="914095" y="3242814"/>
                </a:cubicBezTo>
                <a:lnTo>
                  <a:pt x="2803271" y="3242814"/>
                </a:lnTo>
                <a:cubicBezTo>
                  <a:pt x="2833608" y="3242814"/>
                  <a:pt x="2862702" y="3230763"/>
                  <a:pt x="2884154" y="3209312"/>
                </a:cubicBezTo>
                <a:cubicBezTo>
                  <a:pt x="2905605" y="3187861"/>
                  <a:pt x="2917656" y="3158767"/>
                  <a:pt x="2917656" y="3128430"/>
                </a:cubicBezTo>
                <a:lnTo>
                  <a:pt x="2917656" y="2992207"/>
                </a:lnTo>
                <a:lnTo>
                  <a:pt x="2917656" y="567445"/>
                </a:lnTo>
                <a:cubicBezTo>
                  <a:pt x="2917656" y="524794"/>
                  <a:pt x="2901935" y="483639"/>
                  <a:pt x="2873499" y="451851"/>
                </a:cubicBezTo>
                <a:close/>
              </a:path>
            </a:pathLst>
          </a:custGeom>
          <a:blipFill rotWithShape="1">
            <a:blip r:embed="rId6">
              <a:alphaModFix/>
            </a:blip>
            <a:stretch>
              <a:fillRect b="0" l="-59289" r="-3655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 name="Google Shape;155;p26"/>
          <p:cNvSpPr txBox="1"/>
          <p:nvPr/>
        </p:nvSpPr>
        <p:spPr>
          <a:xfrm>
            <a:off x="4625000" y="1740050"/>
            <a:ext cx="35211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Business Problem</a:t>
            </a:r>
            <a:endParaRPr sz="700"/>
          </a:p>
        </p:txBody>
      </p:sp>
      <p:sp>
        <p:nvSpPr>
          <p:cNvPr id="156" name="Google Shape;156;p26"/>
          <p:cNvSpPr/>
          <p:nvPr/>
        </p:nvSpPr>
        <p:spPr>
          <a:xfrm rot="-867146">
            <a:off x="8073256" y="-103856"/>
            <a:ext cx="1551439" cy="2208454"/>
          </a:xfrm>
          <a:custGeom>
            <a:rect b="b" l="l" r="r" t="t"/>
            <a:pathLst>
              <a:path extrusionOk="0" h="4409418" w="3097616">
                <a:moveTo>
                  <a:pt x="0" y="0"/>
                </a:moveTo>
                <a:lnTo>
                  <a:pt x="3097616" y="0"/>
                </a:lnTo>
                <a:lnTo>
                  <a:pt x="3097616" y="4409419"/>
                </a:lnTo>
                <a:lnTo>
                  <a:pt x="0" y="4409419"/>
                </a:lnTo>
                <a:lnTo>
                  <a:pt x="0" y="0"/>
                </a:lnTo>
                <a:close/>
              </a:path>
            </a:pathLst>
          </a:custGeom>
          <a:blipFill rotWithShape="1">
            <a:blip r:embed="rId7">
              <a:alphaModFix/>
            </a:blip>
            <a:stretch>
              <a:fillRect b="0" l="0" r="0" t="0"/>
            </a:stretch>
          </a:blipFill>
          <a:ln>
            <a:noFill/>
          </a:ln>
        </p:spPr>
      </p:sp>
      <p:sp>
        <p:nvSpPr>
          <p:cNvPr id="157" name="Google Shape;157;p26"/>
          <p:cNvSpPr/>
          <p:nvPr/>
        </p:nvSpPr>
        <p:spPr>
          <a:xfrm rot="-533899">
            <a:off x="373931" y="3598538"/>
            <a:ext cx="1677659" cy="2061639"/>
          </a:xfrm>
          <a:custGeom>
            <a:rect b="b" l="l" r="r" t="t"/>
            <a:pathLst>
              <a:path extrusionOk="0" h="4114800" w="3348418">
                <a:moveTo>
                  <a:pt x="0" y="0"/>
                </a:moveTo>
                <a:lnTo>
                  <a:pt x="3348419" y="0"/>
                </a:lnTo>
                <a:lnTo>
                  <a:pt x="3348419" y="4114800"/>
                </a:lnTo>
                <a:lnTo>
                  <a:pt x="0" y="4114800"/>
                </a:lnTo>
                <a:lnTo>
                  <a:pt x="0" y="0"/>
                </a:lnTo>
                <a:close/>
              </a:path>
            </a:pathLst>
          </a:custGeom>
          <a:blipFill rotWithShape="1">
            <a:blip r:embed="rId8">
              <a:alphaModFix/>
            </a:blip>
            <a:stretch>
              <a:fillRect b="0" l="0" r="0" t="0"/>
            </a:stretch>
          </a:blipFill>
          <a:ln>
            <a:noFill/>
          </a:ln>
        </p:spPr>
      </p:sp>
      <p:sp>
        <p:nvSpPr>
          <p:cNvPr id="158" name="Google Shape;158;p26"/>
          <p:cNvSpPr/>
          <p:nvPr/>
        </p:nvSpPr>
        <p:spPr>
          <a:xfrm>
            <a:off x="431214" y="514350"/>
            <a:ext cx="410868" cy="268091"/>
          </a:xfrm>
          <a:custGeom>
            <a:rect b="b" l="l" r="r" t="t"/>
            <a:pathLst>
              <a:path extrusionOk="0" h="536182" w="821736">
                <a:moveTo>
                  <a:pt x="0" y="0"/>
                </a:moveTo>
                <a:lnTo>
                  <a:pt x="821735" y="0"/>
                </a:lnTo>
                <a:lnTo>
                  <a:pt x="821735" y="536182"/>
                </a:lnTo>
                <a:lnTo>
                  <a:pt x="0" y="536182"/>
                </a:lnTo>
                <a:lnTo>
                  <a:pt x="0" y="0"/>
                </a:lnTo>
                <a:close/>
              </a:path>
            </a:pathLst>
          </a:custGeom>
          <a:blipFill rotWithShape="1">
            <a:blip r:embed="rId9">
              <a:alphaModFix/>
            </a:blip>
            <a:stretch>
              <a:fillRect b="0" l="0" r="0" t="0"/>
            </a:stretch>
          </a:blipFill>
          <a:ln>
            <a:noFill/>
          </a:ln>
        </p:spPr>
      </p:sp>
      <p:sp>
        <p:nvSpPr>
          <p:cNvPr id="159" name="Google Shape;159;p26"/>
          <p:cNvSpPr/>
          <p:nvPr/>
        </p:nvSpPr>
        <p:spPr>
          <a:xfrm>
            <a:off x="4512363" y="-111841"/>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10">
              <a:alphaModFix amt="57000"/>
            </a:blip>
            <a:stretch>
              <a:fillRect b="0" l="0" r="0" t="0"/>
            </a:stretch>
          </a:blipFill>
          <a:ln>
            <a:noFill/>
          </a:ln>
        </p:spPr>
      </p:sp>
      <p:sp>
        <p:nvSpPr>
          <p:cNvPr id="160" name="Google Shape;160;p26"/>
          <p:cNvSpPr txBox="1"/>
          <p:nvPr/>
        </p:nvSpPr>
        <p:spPr>
          <a:xfrm>
            <a:off x="4625000" y="3187150"/>
            <a:ext cx="4041000" cy="1767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272622"/>
                </a:solidFill>
              </a:rPr>
              <a:t>Product size recommendation and fit prediction improve online shopping and reduce returns. </a:t>
            </a:r>
            <a:endParaRPr sz="12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272622"/>
                </a:solidFill>
              </a:rPr>
              <a:t>This project builds a machine learning pipeline that identifies body-type segments, predicts fit outcomes (Small / Fit / Large), and recommends optimal sizes for customer–product pairs.</a:t>
            </a:r>
            <a:endParaRPr sz="1200">
              <a:solidFill>
                <a:srgbClr val="272622"/>
              </a:solidFill>
            </a:endParaRPr>
          </a:p>
          <a:p>
            <a:pPr indent="0" lvl="0" marL="0" marR="0" rtl="0" algn="l">
              <a:lnSpc>
                <a:spcPct val="140000"/>
              </a:lnSpc>
              <a:spcBef>
                <a:spcPts val="1200"/>
              </a:spcBef>
              <a:spcAft>
                <a:spcPts val="0"/>
              </a:spcAft>
              <a:buNone/>
            </a:pPr>
            <a:r>
              <a:t/>
            </a:r>
            <a:endParaRPr sz="1200">
              <a:solidFill>
                <a:srgbClr val="272622"/>
              </a:solidFill>
            </a:endParaRPr>
          </a:p>
        </p:txBody>
      </p:sp>
      <p:sp>
        <p:nvSpPr>
          <p:cNvPr id="161" name="Google Shape;161;p26"/>
          <p:cNvSpPr txBox="1"/>
          <p:nvPr/>
        </p:nvSpPr>
        <p:spPr>
          <a:xfrm>
            <a:off x="5292047" y="1046388"/>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162" name="Google Shape;162;p26"/>
          <p:cNvSpPr txBox="1"/>
          <p:nvPr>
            <p:ph idx="12" type="sldNum"/>
          </p:nvPr>
        </p:nvSpPr>
        <p:spPr>
          <a:xfrm>
            <a:off x="8071300" y="54959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66" name="Shape 166"/>
        <p:cNvGrpSpPr/>
        <p:nvPr/>
      </p:nvGrpSpPr>
      <p:grpSpPr>
        <a:xfrm>
          <a:off x="0" y="0"/>
          <a:ext cx="0" cy="0"/>
          <a:chOff x="0" y="0"/>
          <a:chExt cx="0" cy="0"/>
        </a:xfrm>
      </p:grpSpPr>
      <p:sp>
        <p:nvSpPr>
          <p:cNvPr id="167" name="Google Shape;167;p27"/>
          <p:cNvSpPr/>
          <p:nvPr/>
        </p:nvSpPr>
        <p:spPr>
          <a:xfrm rot="-9552556">
            <a:off x="-911058" y="2561070"/>
            <a:ext cx="2484790" cy="2289113"/>
          </a:xfrm>
          <a:custGeom>
            <a:rect b="b" l="l" r="r" t="t"/>
            <a:pathLst>
              <a:path extrusionOk="0" h="4577654" w="4968959">
                <a:moveTo>
                  <a:pt x="0" y="0"/>
                </a:moveTo>
                <a:lnTo>
                  <a:pt x="4968959" y="0"/>
                </a:lnTo>
                <a:lnTo>
                  <a:pt x="4968959" y="4577654"/>
                </a:lnTo>
                <a:lnTo>
                  <a:pt x="0" y="4577654"/>
                </a:lnTo>
                <a:lnTo>
                  <a:pt x="0" y="0"/>
                </a:lnTo>
                <a:close/>
              </a:path>
            </a:pathLst>
          </a:custGeom>
          <a:blipFill rotWithShape="1">
            <a:blip r:embed="rId3">
              <a:alphaModFix/>
            </a:blip>
            <a:stretch>
              <a:fillRect b="0" l="0" r="0" t="0"/>
            </a:stretch>
          </a:blipFill>
          <a:ln>
            <a:noFill/>
          </a:ln>
        </p:spPr>
      </p:sp>
      <p:sp>
        <p:nvSpPr>
          <p:cNvPr id="168" name="Google Shape;168;p27"/>
          <p:cNvSpPr/>
          <p:nvPr/>
        </p:nvSpPr>
        <p:spPr>
          <a:xfrm>
            <a:off x="7371426" y="1641665"/>
            <a:ext cx="1411588" cy="1665590"/>
          </a:xfrm>
          <a:custGeom>
            <a:rect b="b" l="l" r="r" t="t"/>
            <a:pathLst>
              <a:path extrusionOk="0" h="3331180" w="2823175">
                <a:moveTo>
                  <a:pt x="0" y="0"/>
                </a:moveTo>
                <a:lnTo>
                  <a:pt x="2823175" y="0"/>
                </a:lnTo>
                <a:lnTo>
                  <a:pt x="2823175" y="3331180"/>
                </a:lnTo>
                <a:lnTo>
                  <a:pt x="0" y="3331180"/>
                </a:lnTo>
                <a:lnTo>
                  <a:pt x="0" y="0"/>
                </a:lnTo>
                <a:close/>
              </a:path>
            </a:pathLst>
          </a:custGeom>
          <a:blipFill rotWithShape="1">
            <a:blip r:embed="rId4">
              <a:alphaModFix amt="54000"/>
            </a:blip>
            <a:stretch>
              <a:fillRect b="0" l="0" r="0" t="0"/>
            </a:stretch>
          </a:blipFill>
          <a:ln>
            <a:noFill/>
          </a:ln>
        </p:spPr>
      </p:sp>
      <p:sp>
        <p:nvSpPr>
          <p:cNvPr id="169" name="Google Shape;169;p27"/>
          <p:cNvSpPr/>
          <p:nvPr/>
        </p:nvSpPr>
        <p:spPr>
          <a:xfrm rot="-2480867">
            <a:off x="6920681" y="-1180732"/>
            <a:ext cx="3061894" cy="2820769"/>
          </a:xfrm>
          <a:custGeom>
            <a:rect b="b" l="l" r="r" t="t"/>
            <a:pathLst>
              <a:path extrusionOk="0" h="5646906" w="6129613">
                <a:moveTo>
                  <a:pt x="0" y="0"/>
                </a:moveTo>
                <a:lnTo>
                  <a:pt x="6129613" y="0"/>
                </a:lnTo>
                <a:lnTo>
                  <a:pt x="6129613" y="5646906"/>
                </a:lnTo>
                <a:lnTo>
                  <a:pt x="0" y="5646906"/>
                </a:lnTo>
                <a:lnTo>
                  <a:pt x="0" y="0"/>
                </a:lnTo>
                <a:close/>
              </a:path>
            </a:pathLst>
          </a:custGeom>
          <a:blipFill rotWithShape="1">
            <a:blip r:embed="rId3">
              <a:alphaModFix/>
            </a:blip>
            <a:stretch>
              <a:fillRect b="0" l="0" r="0" t="0"/>
            </a:stretch>
          </a:blipFill>
          <a:ln>
            <a:noFill/>
          </a:ln>
        </p:spPr>
      </p:sp>
      <p:sp>
        <p:nvSpPr>
          <p:cNvPr id="170" name="Google Shape;170;p27"/>
          <p:cNvSpPr/>
          <p:nvPr/>
        </p:nvSpPr>
        <p:spPr>
          <a:xfrm>
            <a:off x="-110020" y="3987372"/>
            <a:ext cx="9334537" cy="1544722"/>
          </a:xfrm>
          <a:custGeom>
            <a:rect b="b" l="l" r="r" t="t"/>
            <a:pathLst>
              <a:path extrusionOk="0" h="3089445" w="18669074">
                <a:moveTo>
                  <a:pt x="0" y="0"/>
                </a:moveTo>
                <a:lnTo>
                  <a:pt x="18669073" y="0"/>
                </a:lnTo>
                <a:lnTo>
                  <a:pt x="18669073" y="3089445"/>
                </a:lnTo>
                <a:lnTo>
                  <a:pt x="0" y="3089445"/>
                </a:lnTo>
                <a:lnTo>
                  <a:pt x="0" y="0"/>
                </a:lnTo>
                <a:close/>
              </a:path>
            </a:pathLst>
          </a:custGeom>
          <a:blipFill rotWithShape="1">
            <a:blip r:embed="rId5">
              <a:alphaModFix/>
            </a:blip>
            <a:stretch>
              <a:fillRect b="-37861" l="-8110" r="-5310" t="-126013"/>
            </a:stretch>
          </a:blipFill>
          <a:ln cap="sq" cmpd="sng" w="28575">
            <a:solidFill>
              <a:srgbClr val="545454"/>
            </a:solidFill>
            <a:prstDash val="solid"/>
            <a:miter lim="8000"/>
            <a:headEnd len="sm" w="sm" type="none"/>
            <a:tailEnd len="sm" w="sm" type="none"/>
          </a:ln>
        </p:spPr>
      </p:sp>
      <p:sp>
        <p:nvSpPr>
          <p:cNvPr id="171" name="Google Shape;171;p27"/>
          <p:cNvSpPr/>
          <p:nvPr/>
        </p:nvSpPr>
        <p:spPr>
          <a:xfrm rot="292966">
            <a:off x="836816" y="3356504"/>
            <a:ext cx="2385920" cy="1727865"/>
          </a:xfrm>
          <a:custGeom>
            <a:rect b="b" l="l" r="r" t="t"/>
            <a:pathLst>
              <a:path extrusionOk="0" h="2258478" w="4778415">
                <a:moveTo>
                  <a:pt x="0" y="384444"/>
                </a:moveTo>
                <a:lnTo>
                  <a:pt x="4622558" y="0"/>
                </a:lnTo>
                <a:lnTo>
                  <a:pt x="4778415" y="1874035"/>
                </a:lnTo>
                <a:lnTo>
                  <a:pt x="155857"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2" name="Google Shape;172;p27"/>
          <p:cNvSpPr/>
          <p:nvPr/>
        </p:nvSpPr>
        <p:spPr>
          <a:xfrm rot="292966">
            <a:off x="3353387" y="3356522"/>
            <a:ext cx="2385920" cy="1739120"/>
          </a:xfrm>
          <a:custGeom>
            <a:rect b="b" l="l" r="r" t="t"/>
            <a:pathLst>
              <a:path extrusionOk="0" h="2258478" w="4778415">
                <a:moveTo>
                  <a:pt x="0" y="384444"/>
                </a:moveTo>
                <a:lnTo>
                  <a:pt x="4622558" y="0"/>
                </a:lnTo>
                <a:lnTo>
                  <a:pt x="4778416" y="1874035"/>
                </a:lnTo>
                <a:lnTo>
                  <a:pt x="155858"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3" name="Google Shape;173;p27"/>
          <p:cNvSpPr/>
          <p:nvPr/>
        </p:nvSpPr>
        <p:spPr>
          <a:xfrm rot="292966">
            <a:off x="5867144" y="3356299"/>
            <a:ext cx="2385920" cy="1745213"/>
          </a:xfrm>
          <a:custGeom>
            <a:rect b="b" l="l" r="r" t="t"/>
            <a:pathLst>
              <a:path extrusionOk="0" h="2258478" w="4778415">
                <a:moveTo>
                  <a:pt x="0" y="384444"/>
                </a:moveTo>
                <a:lnTo>
                  <a:pt x="4622558" y="0"/>
                </a:lnTo>
                <a:lnTo>
                  <a:pt x="4778415" y="1874035"/>
                </a:lnTo>
                <a:lnTo>
                  <a:pt x="155857"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4" name="Google Shape;174;p27"/>
          <p:cNvSpPr/>
          <p:nvPr/>
        </p:nvSpPr>
        <p:spPr>
          <a:xfrm rot="-746126">
            <a:off x="3456347" y="104457"/>
            <a:ext cx="2357836" cy="2124999"/>
          </a:xfrm>
          <a:custGeom>
            <a:rect b="b" l="l" r="r" t="t"/>
            <a:pathLst>
              <a:path extrusionOk="0" h="4256708" w="4723116">
                <a:moveTo>
                  <a:pt x="0" y="0"/>
                </a:moveTo>
                <a:lnTo>
                  <a:pt x="4723116" y="0"/>
                </a:lnTo>
                <a:lnTo>
                  <a:pt x="4723116" y="4256708"/>
                </a:lnTo>
                <a:lnTo>
                  <a:pt x="0" y="4256708"/>
                </a:lnTo>
                <a:lnTo>
                  <a:pt x="0" y="0"/>
                </a:lnTo>
                <a:close/>
              </a:path>
            </a:pathLst>
          </a:custGeom>
          <a:blipFill rotWithShape="1">
            <a:blip r:embed="rId7">
              <a:alphaModFix/>
            </a:blip>
            <a:stretch>
              <a:fillRect b="0" l="0" r="0" t="0"/>
            </a:stretch>
          </a:blipFill>
          <a:ln>
            <a:noFill/>
          </a:ln>
        </p:spPr>
      </p:sp>
      <p:sp>
        <p:nvSpPr>
          <p:cNvPr id="175" name="Google Shape;175;p27"/>
          <p:cNvSpPr/>
          <p:nvPr/>
        </p:nvSpPr>
        <p:spPr>
          <a:xfrm>
            <a:off x="4318562" y="1224529"/>
            <a:ext cx="3872361" cy="1719961"/>
          </a:xfrm>
          <a:custGeom>
            <a:rect b="b" l="l" r="r" t="t"/>
            <a:pathLst>
              <a:path extrusionOk="0" h="532908" w="1199802">
                <a:moveTo>
                  <a:pt x="34989" y="0"/>
                </a:moveTo>
                <a:lnTo>
                  <a:pt x="1164813" y="0"/>
                </a:lnTo>
                <a:cubicBezTo>
                  <a:pt x="1184137" y="0"/>
                  <a:pt x="1199802" y="15665"/>
                  <a:pt x="1199802" y="34989"/>
                </a:cubicBezTo>
                <a:lnTo>
                  <a:pt x="1199802" y="497919"/>
                </a:lnTo>
                <a:cubicBezTo>
                  <a:pt x="1199802" y="517243"/>
                  <a:pt x="1184137" y="532908"/>
                  <a:pt x="1164813" y="532908"/>
                </a:cubicBezTo>
                <a:lnTo>
                  <a:pt x="34989" y="532908"/>
                </a:lnTo>
                <a:cubicBezTo>
                  <a:pt x="15665" y="532908"/>
                  <a:pt x="0" y="517243"/>
                  <a:pt x="0" y="497919"/>
                </a:cubicBezTo>
                <a:lnTo>
                  <a:pt x="0" y="34989"/>
                </a:lnTo>
                <a:cubicBezTo>
                  <a:pt x="0" y="15665"/>
                  <a:pt x="15665" y="0"/>
                  <a:pt x="34989" y="0"/>
                </a:cubicBezTo>
                <a:close/>
              </a:path>
            </a:pathLst>
          </a:custGeom>
          <a:blipFill rotWithShape="1">
            <a:blip r:embed="rId8">
              <a:alphaModFix/>
            </a:blip>
            <a:stretch>
              <a:fillRect b="-13890" l="0" r="0" t="-1388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27"/>
          <p:cNvSpPr/>
          <p:nvPr/>
        </p:nvSpPr>
        <p:spPr>
          <a:xfrm>
            <a:off x="3526339" y="3906540"/>
            <a:ext cx="276033" cy="552065"/>
          </a:xfrm>
          <a:custGeom>
            <a:rect b="b" l="l" r="r" t="t"/>
            <a:pathLst>
              <a:path extrusionOk="0" h="1104131" w="552066">
                <a:moveTo>
                  <a:pt x="0" y="0"/>
                </a:moveTo>
                <a:lnTo>
                  <a:pt x="552066" y="0"/>
                </a:lnTo>
                <a:lnTo>
                  <a:pt x="552066" y="1104131"/>
                </a:lnTo>
                <a:lnTo>
                  <a:pt x="0" y="1104131"/>
                </a:lnTo>
                <a:lnTo>
                  <a:pt x="0" y="0"/>
                </a:lnTo>
                <a:close/>
              </a:path>
            </a:pathLst>
          </a:custGeom>
          <a:blipFill rotWithShape="1">
            <a:blip r:embed="rId9">
              <a:alphaModFix/>
            </a:blip>
            <a:stretch>
              <a:fillRect b="0" l="0" r="0" t="0"/>
            </a:stretch>
          </a:blipFill>
          <a:ln>
            <a:noFill/>
          </a:ln>
        </p:spPr>
      </p:sp>
      <p:sp>
        <p:nvSpPr>
          <p:cNvPr id="177" name="Google Shape;177;p27"/>
          <p:cNvSpPr/>
          <p:nvPr/>
        </p:nvSpPr>
        <p:spPr>
          <a:xfrm>
            <a:off x="6116720" y="3944403"/>
            <a:ext cx="276033" cy="552065"/>
          </a:xfrm>
          <a:custGeom>
            <a:rect b="b" l="l" r="r" t="t"/>
            <a:pathLst>
              <a:path extrusionOk="0" h="1104131" w="552066">
                <a:moveTo>
                  <a:pt x="0" y="0"/>
                </a:moveTo>
                <a:lnTo>
                  <a:pt x="552065" y="0"/>
                </a:lnTo>
                <a:lnTo>
                  <a:pt x="552065" y="1104131"/>
                </a:lnTo>
                <a:lnTo>
                  <a:pt x="0" y="1104131"/>
                </a:lnTo>
                <a:lnTo>
                  <a:pt x="0" y="0"/>
                </a:lnTo>
                <a:close/>
              </a:path>
            </a:pathLst>
          </a:custGeom>
          <a:blipFill rotWithShape="1">
            <a:blip r:embed="rId10">
              <a:alphaModFix/>
            </a:blip>
            <a:stretch>
              <a:fillRect b="0" l="0" r="0" t="0"/>
            </a:stretch>
          </a:blipFill>
          <a:ln>
            <a:noFill/>
          </a:ln>
        </p:spPr>
      </p:sp>
      <p:sp>
        <p:nvSpPr>
          <p:cNvPr id="178" name="Google Shape;178;p27"/>
          <p:cNvSpPr/>
          <p:nvPr/>
        </p:nvSpPr>
        <p:spPr>
          <a:xfrm>
            <a:off x="1004516" y="3944403"/>
            <a:ext cx="369884" cy="552065"/>
          </a:xfrm>
          <a:custGeom>
            <a:rect b="b" l="l" r="r" t="t"/>
            <a:pathLst>
              <a:path extrusionOk="0" h="1104131" w="739768">
                <a:moveTo>
                  <a:pt x="0" y="0"/>
                </a:moveTo>
                <a:lnTo>
                  <a:pt x="739768" y="0"/>
                </a:lnTo>
                <a:lnTo>
                  <a:pt x="739768" y="1104131"/>
                </a:lnTo>
                <a:lnTo>
                  <a:pt x="0" y="1104131"/>
                </a:lnTo>
                <a:lnTo>
                  <a:pt x="0" y="0"/>
                </a:lnTo>
                <a:close/>
              </a:path>
            </a:pathLst>
          </a:custGeom>
          <a:blipFill rotWithShape="1">
            <a:blip r:embed="rId11">
              <a:alphaModFix/>
            </a:blip>
            <a:stretch>
              <a:fillRect b="0" l="0" r="0" t="0"/>
            </a:stretch>
          </a:blipFill>
          <a:ln>
            <a:noFill/>
          </a:ln>
        </p:spPr>
      </p:sp>
      <p:sp>
        <p:nvSpPr>
          <p:cNvPr id="179" name="Google Shape;179;p27"/>
          <p:cNvSpPr/>
          <p:nvPr/>
        </p:nvSpPr>
        <p:spPr>
          <a:xfrm>
            <a:off x="514350" y="413942"/>
            <a:ext cx="220982" cy="200817"/>
          </a:xfrm>
          <a:custGeom>
            <a:rect b="b" l="l" r="r" t="t"/>
            <a:pathLst>
              <a:path extrusionOk="0" h="401634" w="441963">
                <a:moveTo>
                  <a:pt x="0" y="0"/>
                </a:moveTo>
                <a:lnTo>
                  <a:pt x="441963" y="0"/>
                </a:lnTo>
                <a:lnTo>
                  <a:pt x="441963" y="401634"/>
                </a:lnTo>
                <a:lnTo>
                  <a:pt x="0" y="401634"/>
                </a:lnTo>
                <a:lnTo>
                  <a:pt x="0" y="0"/>
                </a:lnTo>
                <a:close/>
              </a:path>
            </a:pathLst>
          </a:custGeom>
          <a:blipFill rotWithShape="1">
            <a:blip r:embed="rId12">
              <a:alphaModFix/>
            </a:blip>
            <a:stretch>
              <a:fillRect b="0" l="0" r="0" t="0"/>
            </a:stretch>
          </a:blipFill>
          <a:ln>
            <a:noFill/>
          </a:ln>
        </p:spPr>
      </p:sp>
      <p:sp>
        <p:nvSpPr>
          <p:cNvPr id="180" name="Google Shape;180;p27"/>
          <p:cNvSpPr txBox="1"/>
          <p:nvPr/>
        </p:nvSpPr>
        <p:spPr>
          <a:xfrm>
            <a:off x="895800" y="1397875"/>
            <a:ext cx="2900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Analytical Plan</a:t>
            </a:r>
            <a:endParaRPr sz="700"/>
          </a:p>
        </p:txBody>
      </p:sp>
      <p:sp>
        <p:nvSpPr>
          <p:cNvPr id="181" name="Google Shape;181;p27"/>
          <p:cNvSpPr txBox="1"/>
          <p:nvPr/>
        </p:nvSpPr>
        <p:spPr>
          <a:xfrm>
            <a:off x="978973" y="2458400"/>
            <a:ext cx="3013200" cy="70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200">
                <a:solidFill>
                  <a:srgbClr val="272622"/>
                </a:solidFill>
              </a:rPr>
              <a:t>Expected Results</a:t>
            </a:r>
            <a:r>
              <a:rPr lang="en" sz="1200">
                <a:solidFill>
                  <a:srgbClr val="272622"/>
                </a:solidFill>
              </a:rPr>
              <a:t>: A recommendation pipeline that will take in body measurements and return sizes of items</a:t>
            </a:r>
            <a:endParaRPr sz="700"/>
          </a:p>
        </p:txBody>
      </p:sp>
      <p:sp>
        <p:nvSpPr>
          <p:cNvPr id="182" name="Google Shape;182;p27"/>
          <p:cNvSpPr txBox="1"/>
          <p:nvPr/>
        </p:nvSpPr>
        <p:spPr>
          <a:xfrm>
            <a:off x="1516423" y="3742321"/>
            <a:ext cx="1628700" cy="88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Discover latent structure in customer body types, product categories, and review language.</a:t>
            </a:r>
            <a:endParaRPr sz="700"/>
          </a:p>
        </p:txBody>
      </p:sp>
      <p:sp>
        <p:nvSpPr>
          <p:cNvPr id="183" name="Google Shape;183;p27"/>
          <p:cNvSpPr txBox="1"/>
          <p:nvPr/>
        </p:nvSpPr>
        <p:spPr>
          <a:xfrm>
            <a:off x="1516423"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1</a:t>
            </a:r>
            <a:endParaRPr sz="700"/>
          </a:p>
        </p:txBody>
      </p:sp>
      <p:sp>
        <p:nvSpPr>
          <p:cNvPr id="184" name="Google Shape;184;p27"/>
          <p:cNvSpPr txBox="1"/>
          <p:nvPr/>
        </p:nvSpPr>
        <p:spPr>
          <a:xfrm>
            <a:off x="4039721" y="3742321"/>
            <a:ext cx="16287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Predict fit outcome (Small / Fit / Large) as a multiclass classification problem with imbalanced labels.</a:t>
            </a:r>
            <a:endParaRPr sz="700"/>
          </a:p>
        </p:txBody>
      </p:sp>
      <p:sp>
        <p:nvSpPr>
          <p:cNvPr id="185" name="Google Shape;185;p27"/>
          <p:cNvSpPr txBox="1"/>
          <p:nvPr/>
        </p:nvSpPr>
        <p:spPr>
          <a:xfrm>
            <a:off x="4039721"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2</a:t>
            </a:r>
            <a:endParaRPr sz="700"/>
          </a:p>
        </p:txBody>
      </p:sp>
      <p:sp>
        <p:nvSpPr>
          <p:cNvPr id="186" name="Google Shape;186;p27"/>
          <p:cNvSpPr txBox="1"/>
          <p:nvPr/>
        </p:nvSpPr>
        <p:spPr>
          <a:xfrm>
            <a:off x="6557043" y="3742321"/>
            <a:ext cx="16287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Prescriptive system that recommends the size most likely to produce a "Fit" outcome for a new customer–product pair.</a:t>
            </a:r>
            <a:endParaRPr sz="700"/>
          </a:p>
        </p:txBody>
      </p:sp>
      <p:sp>
        <p:nvSpPr>
          <p:cNvPr id="187" name="Google Shape;187;p27"/>
          <p:cNvSpPr txBox="1"/>
          <p:nvPr/>
        </p:nvSpPr>
        <p:spPr>
          <a:xfrm>
            <a:off x="6557043"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3</a:t>
            </a:r>
            <a:endParaRPr sz="700"/>
          </a:p>
        </p:txBody>
      </p:sp>
      <p:sp>
        <p:nvSpPr>
          <p:cNvPr id="188" name="Google Shape;188;p27"/>
          <p:cNvSpPr txBox="1"/>
          <p:nvPr/>
        </p:nvSpPr>
        <p:spPr>
          <a:xfrm>
            <a:off x="1252852" y="842347"/>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189" name="Google Shape;189;p27"/>
          <p:cNvSpPr txBox="1"/>
          <p:nvPr>
            <p:ph idx="12" type="sldNum"/>
          </p:nvPr>
        </p:nvSpPr>
        <p:spPr>
          <a:xfrm>
            <a:off x="8077200" y="52949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93" name="Shape 193"/>
        <p:cNvGrpSpPr/>
        <p:nvPr/>
      </p:nvGrpSpPr>
      <p:grpSpPr>
        <a:xfrm>
          <a:off x="0" y="0"/>
          <a:ext cx="0" cy="0"/>
          <a:chOff x="0" y="0"/>
          <a:chExt cx="0" cy="0"/>
        </a:xfrm>
      </p:grpSpPr>
      <p:sp>
        <p:nvSpPr>
          <p:cNvPr id="194" name="Google Shape;194;p28"/>
          <p:cNvSpPr/>
          <p:nvPr/>
        </p:nvSpPr>
        <p:spPr>
          <a:xfrm rot="-499954">
            <a:off x="6381616" y="3680991"/>
            <a:ext cx="2982129" cy="2747286"/>
          </a:xfrm>
          <a:custGeom>
            <a:rect b="b" l="l" r="r" t="t"/>
            <a:pathLst>
              <a:path extrusionOk="0" h="5491483" w="5960905">
                <a:moveTo>
                  <a:pt x="0" y="0"/>
                </a:moveTo>
                <a:lnTo>
                  <a:pt x="5960904" y="0"/>
                </a:lnTo>
                <a:lnTo>
                  <a:pt x="5960904" y="5491483"/>
                </a:lnTo>
                <a:lnTo>
                  <a:pt x="0" y="5491483"/>
                </a:lnTo>
                <a:lnTo>
                  <a:pt x="0" y="0"/>
                </a:lnTo>
                <a:close/>
              </a:path>
            </a:pathLst>
          </a:custGeom>
          <a:blipFill rotWithShape="1">
            <a:blip r:embed="rId3">
              <a:alphaModFix/>
            </a:blip>
            <a:stretch>
              <a:fillRect b="0" l="0" r="0" t="0"/>
            </a:stretch>
          </a:blipFill>
          <a:ln>
            <a:noFill/>
          </a:ln>
        </p:spPr>
      </p:sp>
      <p:sp>
        <p:nvSpPr>
          <p:cNvPr id="195" name="Google Shape;195;p28"/>
          <p:cNvSpPr/>
          <p:nvPr/>
        </p:nvSpPr>
        <p:spPr>
          <a:xfrm rot="2064314">
            <a:off x="3202929" y="-1140710"/>
            <a:ext cx="2800034" cy="2579531"/>
          </a:xfrm>
          <a:custGeom>
            <a:rect b="b" l="l" r="r" t="t"/>
            <a:pathLst>
              <a:path extrusionOk="0" h="5159449" w="5600488">
                <a:moveTo>
                  <a:pt x="0" y="0"/>
                </a:moveTo>
                <a:lnTo>
                  <a:pt x="5600488" y="0"/>
                </a:lnTo>
                <a:lnTo>
                  <a:pt x="5600488" y="5159450"/>
                </a:lnTo>
                <a:lnTo>
                  <a:pt x="0" y="5159450"/>
                </a:lnTo>
                <a:lnTo>
                  <a:pt x="0" y="0"/>
                </a:lnTo>
                <a:close/>
              </a:path>
            </a:pathLst>
          </a:custGeom>
          <a:blipFill rotWithShape="1">
            <a:blip r:embed="rId3">
              <a:alphaModFix/>
            </a:blip>
            <a:stretch>
              <a:fillRect b="0" l="0" r="0" t="0"/>
            </a:stretch>
          </a:blipFill>
          <a:ln>
            <a:noFill/>
          </a:ln>
        </p:spPr>
      </p:sp>
      <p:sp>
        <p:nvSpPr>
          <p:cNvPr id="196" name="Google Shape;196;p28"/>
          <p:cNvSpPr/>
          <p:nvPr/>
        </p:nvSpPr>
        <p:spPr>
          <a:xfrm>
            <a:off x="-1619432" y="-72635"/>
            <a:ext cx="2186703" cy="5288770"/>
          </a:xfrm>
          <a:custGeom>
            <a:rect b="b" l="l" r="r" t="t"/>
            <a:pathLst>
              <a:path extrusionOk="0" h="10577540" w="4373406">
                <a:moveTo>
                  <a:pt x="0" y="0"/>
                </a:moveTo>
                <a:lnTo>
                  <a:pt x="4373406" y="0"/>
                </a:lnTo>
                <a:lnTo>
                  <a:pt x="4373406" y="10577540"/>
                </a:lnTo>
                <a:lnTo>
                  <a:pt x="0" y="10577540"/>
                </a:lnTo>
                <a:lnTo>
                  <a:pt x="0" y="0"/>
                </a:lnTo>
                <a:close/>
              </a:path>
            </a:pathLst>
          </a:custGeom>
          <a:blipFill rotWithShape="1">
            <a:blip r:embed="rId4">
              <a:alphaModFix/>
            </a:blip>
            <a:stretch>
              <a:fillRect b="-6300" l="-52640" r="-26890" t="-890"/>
            </a:stretch>
          </a:blipFill>
          <a:ln cap="sq" cmpd="sng" w="28575">
            <a:solidFill>
              <a:srgbClr val="545454"/>
            </a:solidFill>
            <a:prstDash val="solid"/>
            <a:miter lim="8000"/>
            <a:headEnd len="sm" w="sm" type="none"/>
            <a:tailEnd len="sm" w="sm" type="none"/>
          </a:ln>
        </p:spPr>
      </p:sp>
      <p:sp>
        <p:nvSpPr>
          <p:cNvPr id="197" name="Google Shape;197;p28"/>
          <p:cNvSpPr/>
          <p:nvPr/>
        </p:nvSpPr>
        <p:spPr>
          <a:xfrm>
            <a:off x="8629650" y="258878"/>
            <a:ext cx="918856" cy="483548"/>
          </a:xfrm>
          <a:custGeom>
            <a:rect b="b" l="l" r="r" t="t"/>
            <a:pathLst>
              <a:path extrusionOk="0" h="967096" w="1837712">
                <a:moveTo>
                  <a:pt x="0" y="0"/>
                </a:moveTo>
                <a:lnTo>
                  <a:pt x="1837712" y="0"/>
                </a:lnTo>
                <a:lnTo>
                  <a:pt x="1837712" y="967097"/>
                </a:lnTo>
                <a:lnTo>
                  <a:pt x="0" y="967097"/>
                </a:lnTo>
                <a:lnTo>
                  <a:pt x="0" y="0"/>
                </a:lnTo>
                <a:close/>
              </a:path>
            </a:pathLst>
          </a:custGeom>
          <a:blipFill rotWithShape="1">
            <a:blip r:embed="rId5">
              <a:alphaModFix amt="57000"/>
            </a:blip>
            <a:stretch>
              <a:fillRect b="0" l="0" r="0" t="0"/>
            </a:stretch>
          </a:blipFill>
          <a:ln>
            <a:noFill/>
          </a:ln>
        </p:spPr>
      </p:sp>
      <p:sp>
        <p:nvSpPr>
          <p:cNvPr id="198" name="Google Shape;198;p28"/>
          <p:cNvSpPr txBox="1"/>
          <p:nvPr/>
        </p:nvSpPr>
        <p:spPr>
          <a:xfrm>
            <a:off x="5114707" y="3132879"/>
            <a:ext cx="31605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Data Description</a:t>
            </a:r>
            <a:endParaRPr sz="700"/>
          </a:p>
        </p:txBody>
      </p:sp>
      <p:sp>
        <p:nvSpPr>
          <p:cNvPr id="199" name="Google Shape;199;p28"/>
          <p:cNvSpPr/>
          <p:nvPr/>
        </p:nvSpPr>
        <p:spPr>
          <a:xfrm>
            <a:off x="5114707" y="742427"/>
            <a:ext cx="3160002" cy="1986076"/>
          </a:xfrm>
          <a:custGeom>
            <a:rect b="b" l="l" r="r" t="t"/>
            <a:pathLst>
              <a:path extrusionOk="0" h="673246" w="1071187">
                <a:moveTo>
                  <a:pt x="53893" y="0"/>
                </a:moveTo>
                <a:lnTo>
                  <a:pt x="1017294" y="0"/>
                </a:lnTo>
                <a:cubicBezTo>
                  <a:pt x="1047058" y="0"/>
                  <a:pt x="1071187" y="24129"/>
                  <a:pt x="1071187" y="53893"/>
                </a:cubicBezTo>
                <a:lnTo>
                  <a:pt x="1071187" y="619353"/>
                </a:lnTo>
                <a:cubicBezTo>
                  <a:pt x="1071187" y="649117"/>
                  <a:pt x="1047058" y="673246"/>
                  <a:pt x="1017294" y="673246"/>
                </a:cubicBezTo>
                <a:lnTo>
                  <a:pt x="53893" y="673246"/>
                </a:lnTo>
                <a:cubicBezTo>
                  <a:pt x="24129" y="673246"/>
                  <a:pt x="0" y="649117"/>
                  <a:pt x="0" y="619353"/>
                </a:cubicBezTo>
                <a:lnTo>
                  <a:pt x="0" y="53893"/>
                </a:lnTo>
                <a:cubicBezTo>
                  <a:pt x="0" y="24129"/>
                  <a:pt x="24129" y="0"/>
                  <a:pt x="53893" y="0"/>
                </a:cubicBezTo>
                <a:close/>
              </a:path>
            </a:pathLst>
          </a:custGeom>
          <a:blipFill rotWithShape="1">
            <a:blip r:embed="rId6">
              <a:alphaModFix/>
            </a:blip>
            <a:stretch>
              <a:fillRect b="0" l="-5370" r="-538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0" name="Google Shape;200;p28"/>
          <p:cNvSpPr/>
          <p:nvPr/>
        </p:nvSpPr>
        <p:spPr>
          <a:xfrm>
            <a:off x="868925" y="28338"/>
            <a:ext cx="3503348" cy="5086835"/>
          </a:xfrm>
          <a:custGeom>
            <a:rect b="b" l="l" r="r" t="t"/>
            <a:pathLst>
              <a:path extrusionOk="0" h="5271332" w="7006696">
                <a:moveTo>
                  <a:pt x="0" y="0"/>
                </a:moveTo>
                <a:lnTo>
                  <a:pt x="7006696" y="0"/>
                </a:lnTo>
                <a:lnTo>
                  <a:pt x="7006696" y="5271332"/>
                </a:lnTo>
                <a:lnTo>
                  <a:pt x="0" y="5271332"/>
                </a:lnTo>
                <a:lnTo>
                  <a:pt x="0" y="0"/>
                </a:lnTo>
                <a:close/>
              </a:path>
            </a:pathLst>
          </a:custGeom>
          <a:blipFill rotWithShape="1">
            <a:blip r:embed="rId7">
              <a:alphaModFix/>
            </a:blip>
            <a:stretch>
              <a:fillRect b="-19450" l="-4450" r="-18711" t="-22769"/>
            </a:stretch>
          </a:blipFill>
          <a:ln cap="rnd" cmpd="sng" w="38100">
            <a:solidFill>
              <a:srgbClr val="F8D5D7"/>
            </a:solidFill>
            <a:prstDash val="solid"/>
            <a:round/>
            <a:headEnd len="sm" w="sm" type="none"/>
            <a:tailEnd len="sm" w="sm" type="none"/>
          </a:ln>
        </p:spPr>
      </p:sp>
      <p:cxnSp>
        <p:nvCxnSpPr>
          <p:cNvPr id="201" name="Google Shape;201;p28"/>
          <p:cNvCxnSpPr/>
          <p:nvPr/>
        </p:nvCxnSpPr>
        <p:spPr>
          <a:xfrm>
            <a:off x="1726791" y="2302690"/>
            <a:ext cx="2354100" cy="0"/>
          </a:xfrm>
          <a:prstGeom prst="straightConnector1">
            <a:avLst/>
          </a:prstGeom>
          <a:noFill/>
          <a:ln cap="rnd" cmpd="sng" w="28575">
            <a:solidFill>
              <a:srgbClr val="D9D9D9"/>
            </a:solidFill>
            <a:prstDash val="lgDash"/>
            <a:round/>
            <a:headEnd len="sm" w="sm" type="none"/>
            <a:tailEnd len="sm" w="sm" type="none"/>
          </a:ln>
        </p:spPr>
      </p:cxnSp>
      <p:cxnSp>
        <p:nvCxnSpPr>
          <p:cNvPr id="202" name="Google Shape;202;p28"/>
          <p:cNvCxnSpPr/>
          <p:nvPr/>
        </p:nvCxnSpPr>
        <p:spPr>
          <a:xfrm>
            <a:off x="1726791" y="3786440"/>
            <a:ext cx="2354100" cy="0"/>
          </a:xfrm>
          <a:prstGeom prst="straightConnector1">
            <a:avLst/>
          </a:prstGeom>
          <a:noFill/>
          <a:ln cap="rnd" cmpd="sng" w="28575">
            <a:solidFill>
              <a:srgbClr val="D9D9D9"/>
            </a:solidFill>
            <a:prstDash val="lgDash"/>
            <a:round/>
            <a:headEnd len="sm" w="sm" type="none"/>
            <a:tailEnd len="sm" w="sm" type="none"/>
          </a:ln>
        </p:spPr>
      </p:cxnSp>
      <p:sp>
        <p:nvSpPr>
          <p:cNvPr id="203" name="Google Shape;203;p28"/>
          <p:cNvSpPr/>
          <p:nvPr/>
        </p:nvSpPr>
        <p:spPr>
          <a:xfrm rot="-1154972">
            <a:off x="7749825" y="2861011"/>
            <a:ext cx="2307630" cy="2618587"/>
          </a:xfrm>
          <a:custGeom>
            <a:rect b="b" l="l" r="r" t="t"/>
            <a:pathLst>
              <a:path extrusionOk="0" h="5232141" w="4610824">
                <a:moveTo>
                  <a:pt x="0" y="0"/>
                </a:moveTo>
                <a:lnTo>
                  <a:pt x="4610825" y="0"/>
                </a:lnTo>
                <a:lnTo>
                  <a:pt x="4610825" y="5232141"/>
                </a:lnTo>
                <a:lnTo>
                  <a:pt x="0" y="5232141"/>
                </a:lnTo>
                <a:lnTo>
                  <a:pt x="0" y="0"/>
                </a:lnTo>
                <a:close/>
              </a:path>
            </a:pathLst>
          </a:custGeom>
          <a:blipFill rotWithShape="1">
            <a:blip r:embed="rId8">
              <a:alphaModFix/>
            </a:blip>
            <a:stretch>
              <a:fillRect b="0" l="0" r="0" t="0"/>
            </a:stretch>
          </a:blipFill>
          <a:ln>
            <a:noFill/>
          </a:ln>
        </p:spPr>
      </p:sp>
      <p:sp>
        <p:nvSpPr>
          <p:cNvPr id="204" name="Google Shape;204;p28"/>
          <p:cNvSpPr/>
          <p:nvPr/>
        </p:nvSpPr>
        <p:spPr>
          <a:xfrm>
            <a:off x="1068554" y="1454446"/>
            <a:ext cx="503851" cy="405600"/>
          </a:xfrm>
          <a:custGeom>
            <a:rect b="b" l="l" r="r" t="t"/>
            <a:pathLst>
              <a:path extrusionOk="0" h="811201" w="1007703">
                <a:moveTo>
                  <a:pt x="0" y="0"/>
                </a:moveTo>
                <a:lnTo>
                  <a:pt x="1007703" y="0"/>
                </a:lnTo>
                <a:lnTo>
                  <a:pt x="1007703" y="811201"/>
                </a:lnTo>
                <a:lnTo>
                  <a:pt x="0" y="811201"/>
                </a:lnTo>
                <a:lnTo>
                  <a:pt x="0" y="0"/>
                </a:lnTo>
                <a:close/>
              </a:path>
            </a:pathLst>
          </a:custGeom>
          <a:blipFill rotWithShape="1">
            <a:blip r:embed="rId9">
              <a:alphaModFix/>
            </a:blip>
            <a:stretch>
              <a:fillRect b="0" l="0" r="0" t="0"/>
            </a:stretch>
          </a:blipFill>
          <a:ln>
            <a:noFill/>
          </a:ln>
        </p:spPr>
      </p:sp>
      <p:sp>
        <p:nvSpPr>
          <p:cNvPr id="205" name="Google Shape;205;p28"/>
          <p:cNvSpPr/>
          <p:nvPr/>
        </p:nvSpPr>
        <p:spPr>
          <a:xfrm>
            <a:off x="1109230" y="4179585"/>
            <a:ext cx="422500" cy="405600"/>
          </a:xfrm>
          <a:custGeom>
            <a:rect b="b" l="l" r="r" t="t"/>
            <a:pathLst>
              <a:path extrusionOk="0" h="811201" w="845001">
                <a:moveTo>
                  <a:pt x="0" y="0"/>
                </a:moveTo>
                <a:lnTo>
                  <a:pt x="845001" y="0"/>
                </a:lnTo>
                <a:lnTo>
                  <a:pt x="845001" y="811201"/>
                </a:lnTo>
                <a:lnTo>
                  <a:pt x="0" y="811201"/>
                </a:lnTo>
                <a:lnTo>
                  <a:pt x="0" y="0"/>
                </a:lnTo>
                <a:close/>
              </a:path>
            </a:pathLst>
          </a:custGeom>
          <a:blipFill rotWithShape="1">
            <a:blip r:embed="rId10">
              <a:alphaModFix/>
            </a:blip>
            <a:stretch>
              <a:fillRect b="0" l="0" r="0" t="0"/>
            </a:stretch>
          </a:blipFill>
          <a:ln>
            <a:noFill/>
          </a:ln>
        </p:spPr>
      </p:sp>
      <p:sp>
        <p:nvSpPr>
          <p:cNvPr id="206" name="Google Shape;206;p28"/>
          <p:cNvSpPr/>
          <p:nvPr/>
        </p:nvSpPr>
        <p:spPr>
          <a:xfrm>
            <a:off x="1134157" y="2907078"/>
            <a:ext cx="372646" cy="405600"/>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07" name="Google Shape;207;p28"/>
          <p:cNvSpPr txBox="1"/>
          <p:nvPr/>
        </p:nvSpPr>
        <p:spPr>
          <a:xfrm>
            <a:off x="1726800" y="1133725"/>
            <a:ext cx="22914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Rent The Runway (RTR)</a:t>
            </a:r>
            <a:endParaRPr sz="700"/>
          </a:p>
        </p:txBody>
      </p:sp>
      <p:sp>
        <p:nvSpPr>
          <p:cNvPr id="208" name="Google Shape;208;p28"/>
          <p:cNvSpPr txBox="1"/>
          <p:nvPr/>
        </p:nvSpPr>
        <p:spPr>
          <a:xfrm>
            <a:off x="1726800" y="1364201"/>
            <a:ext cx="2354100" cy="892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000">
                <a:solidFill>
                  <a:srgbClr val="272622"/>
                </a:solidFill>
              </a:rPr>
              <a:t>192,544 rental transactions with detailed fit feedback, body measurements, review text, ratings, and occasion context, making it the primary dataset for modeling clothing size recommendations.</a:t>
            </a:r>
            <a:endParaRPr sz="700"/>
          </a:p>
        </p:txBody>
      </p:sp>
      <p:sp>
        <p:nvSpPr>
          <p:cNvPr id="209" name="Google Shape;209;p28"/>
          <p:cNvSpPr txBox="1"/>
          <p:nvPr/>
        </p:nvSpPr>
        <p:spPr>
          <a:xfrm>
            <a:off x="1726791" y="2373640"/>
            <a:ext cx="15198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ModCloth</a:t>
            </a:r>
            <a:endParaRPr sz="700"/>
          </a:p>
        </p:txBody>
      </p:sp>
      <p:sp>
        <p:nvSpPr>
          <p:cNvPr id="210" name="Google Shape;210;p28"/>
          <p:cNvSpPr txBox="1"/>
          <p:nvPr/>
        </p:nvSpPr>
        <p:spPr>
          <a:xfrm>
            <a:off x="1726800" y="2601150"/>
            <a:ext cx="2447100" cy="1131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050">
                <a:solidFill>
                  <a:schemeClr val="dk1"/>
                </a:solidFill>
              </a:rPr>
              <a:t>82,790 purchase transactions with fit feedback, partial body measurements, and review data, used as a secondary dataset to evaluate cross-retailer generalization of the size recommendation models.</a:t>
            </a:r>
            <a:endParaRPr sz="1050"/>
          </a:p>
        </p:txBody>
      </p:sp>
      <p:sp>
        <p:nvSpPr>
          <p:cNvPr id="211" name="Google Shape;211;p28"/>
          <p:cNvSpPr txBox="1"/>
          <p:nvPr/>
        </p:nvSpPr>
        <p:spPr>
          <a:xfrm>
            <a:off x="1726802" y="3822025"/>
            <a:ext cx="17973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Clothes-Size-Prediction</a:t>
            </a:r>
            <a:endParaRPr sz="700"/>
          </a:p>
        </p:txBody>
      </p:sp>
      <p:sp>
        <p:nvSpPr>
          <p:cNvPr id="212" name="Google Shape;212;p28"/>
          <p:cNvSpPr txBox="1"/>
          <p:nvPr/>
        </p:nvSpPr>
        <p:spPr>
          <a:xfrm>
            <a:off x="1726800" y="4042400"/>
            <a:ext cx="2354100" cy="128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100">
                <a:solidFill>
                  <a:schemeClr val="dk1"/>
                </a:solidFill>
              </a:rPr>
              <a:t>119,218 records with clean height, weight, and age features mapped to clothing sizes (XXS–XXXL), used as a baseline dataset for benchmarking classifier performance.</a:t>
            </a:r>
            <a:endParaRPr sz="1100">
              <a:solidFill>
                <a:schemeClr val="dk1"/>
              </a:solidFill>
            </a:endParaRPr>
          </a:p>
          <a:p>
            <a:pPr indent="0" lvl="0" marL="0" marR="0" rtl="0" algn="l">
              <a:lnSpc>
                <a:spcPct val="120000"/>
              </a:lnSpc>
              <a:spcBef>
                <a:spcPts val="1200"/>
              </a:spcBef>
              <a:spcAft>
                <a:spcPts val="0"/>
              </a:spcAft>
              <a:buNone/>
            </a:pPr>
            <a:r>
              <a:t/>
            </a:r>
            <a:endParaRPr sz="1000">
              <a:solidFill>
                <a:srgbClr val="272622"/>
              </a:solidFill>
            </a:endParaRPr>
          </a:p>
        </p:txBody>
      </p:sp>
      <p:sp>
        <p:nvSpPr>
          <p:cNvPr id="213" name="Google Shape;213;p28"/>
          <p:cNvSpPr txBox="1"/>
          <p:nvPr/>
        </p:nvSpPr>
        <p:spPr>
          <a:xfrm>
            <a:off x="-2950083" y="3479406"/>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214" name="Google Shape;214;p28"/>
          <p:cNvSpPr/>
          <p:nvPr/>
        </p:nvSpPr>
        <p:spPr>
          <a:xfrm>
            <a:off x="1134157" y="336827"/>
            <a:ext cx="372646" cy="405601"/>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15" name="Google Shape;215;p28"/>
          <p:cNvSpPr txBox="1"/>
          <p:nvPr/>
        </p:nvSpPr>
        <p:spPr>
          <a:xfrm>
            <a:off x="1616500" y="81975"/>
            <a:ext cx="2008200" cy="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Downloading The Data</a:t>
            </a:r>
            <a:endParaRPr b="1" sz="1200">
              <a:solidFill>
                <a:schemeClr val="dk1"/>
              </a:solidFill>
            </a:endParaRPr>
          </a:p>
        </p:txBody>
      </p:sp>
      <p:sp>
        <p:nvSpPr>
          <p:cNvPr id="216" name="Google Shape;216;p28"/>
          <p:cNvSpPr txBox="1"/>
          <p:nvPr/>
        </p:nvSpPr>
        <p:spPr>
          <a:xfrm>
            <a:off x="1616500" y="297850"/>
            <a:ext cx="23541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The datasets were downloaded from Kaggle using the KaggleHub API and stored in the Data/Raw directory for preprocessing and analysis.</a:t>
            </a:r>
            <a:endParaRPr sz="1000">
              <a:solidFill>
                <a:schemeClr val="dk1"/>
              </a:solidFill>
            </a:endParaRPr>
          </a:p>
        </p:txBody>
      </p:sp>
      <p:cxnSp>
        <p:nvCxnSpPr>
          <p:cNvPr id="217" name="Google Shape;217;p28"/>
          <p:cNvCxnSpPr/>
          <p:nvPr/>
        </p:nvCxnSpPr>
        <p:spPr>
          <a:xfrm>
            <a:off x="1663941" y="1055990"/>
            <a:ext cx="2354100" cy="0"/>
          </a:xfrm>
          <a:prstGeom prst="straightConnector1">
            <a:avLst/>
          </a:prstGeom>
          <a:noFill/>
          <a:ln cap="rnd" cmpd="sng" w="28575">
            <a:solidFill>
              <a:srgbClr val="D9D9D9"/>
            </a:solidFill>
            <a:prstDash val="lgDash"/>
            <a:round/>
            <a:headEnd len="sm" w="sm" type="none"/>
            <a:tailEnd len="sm" w="sm" type="none"/>
          </a:ln>
        </p:spPr>
      </p:cxnSp>
      <p:sp>
        <p:nvSpPr>
          <p:cNvPr id="218" name="Google Shape;218;p28"/>
          <p:cNvSpPr txBox="1"/>
          <p:nvPr>
            <p:ph idx="12" type="sldNum"/>
          </p:nvPr>
        </p:nvSpPr>
        <p:spPr>
          <a:xfrm>
            <a:off x="8013000" y="48043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22" name="Shape 222"/>
        <p:cNvGrpSpPr/>
        <p:nvPr/>
      </p:nvGrpSpPr>
      <p:grpSpPr>
        <a:xfrm>
          <a:off x="0" y="0"/>
          <a:ext cx="0" cy="0"/>
          <a:chOff x="0" y="0"/>
          <a:chExt cx="0" cy="0"/>
        </a:xfrm>
      </p:grpSpPr>
      <p:sp>
        <p:nvSpPr>
          <p:cNvPr id="223" name="Google Shape;223;p29"/>
          <p:cNvSpPr/>
          <p:nvPr/>
        </p:nvSpPr>
        <p:spPr>
          <a:xfrm rot="-499954">
            <a:off x="6381616" y="3680991"/>
            <a:ext cx="2982129" cy="2747286"/>
          </a:xfrm>
          <a:custGeom>
            <a:rect b="b" l="l" r="r" t="t"/>
            <a:pathLst>
              <a:path extrusionOk="0" h="5491483" w="5960905">
                <a:moveTo>
                  <a:pt x="0" y="0"/>
                </a:moveTo>
                <a:lnTo>
                  <a:pt x="5960904" y="0"/>
                </a:lnTo>
                <a:lnTo>
                  <a:pt x="5960904" y="5491483"/>
                </a:lnTo>
                <a:lnTo>
                  <a:pt x="0" y="5491483"/>
                </a:lnTo>
                <a:lnTo>
                  <a:pt x="0" y="0"/>
                </a:lnTo>
                <a:close/>
              </a:path>
            </a:pathLst>
          </a:custGeom>
          <a:blipFill rotWithShape="1">
            <a:blip r:embed="rId3">
              <a:alphaModFix/>
            </a:blip>
            <a:stretch>
              <a:fillRect b="0" l="0" r="0" t="0"/>
            </a:stretch>
          </a:blipFill>
          <a:ln>
            <a:noFill/>
          </a:ln>
        </p:spPr>
      </p:sp>
      <p:sp>
        <p:nvSpPr>
          <p:cNvPr id="224" name="Google Shape;224;p29"/>
          <p:cNvSpPr/>
          <p:nvPr/>
        </p:nvSpPr>
        <p:spPr>
          <a:xfrm rot="2064314">
            <a:off x="3202929" y="-1140710"/>
            <a:ext cx="2800034" cy="2579531"/>
          </a:xfrm>
          <a:custGeom>
            <a:rect b="b" l="l" r="r" t="t"/>
            <a:pathLst>
              <a:path extrusionOk="0" h="5159449" w="5600488">
                <a:moveTo>
                  <a:pt x="0" y="0"/>
                </a:moveTo>
                <a:lnTo>
                  <a:pt x="5600488" y="0"/>
                </a:lnTo>
                <a:lnTo>
                  <a:pt x="5600488" y="5159450"/>
                </a:lnTo>
                <a:lnTo>
                  <a:pt x="0" y="5159450"/>
                </a:lnTo>
                <a:lnTo>
                  <a:pt x="0" y="0"/>
                </a:lnTo>
                <a:close/>
              </a:path>
            </a:pathLst>
          </a:custGeom>
          <a:blipFill rotWithShape="1">
            <a:blip r:embed="rId3">
              <a:alphaModFix/>
            </a:blip>
            <a:stretch>
              <a:fillRect b="0" l="0" r="0" t="0"/>
            </a:stretch>
          </a:blipFill>
          <a:ln>
            <a:noFill/>
          </a:ln>
        </p:spPr>
      </p:sp>
      <p:sp>
        <p:nvSpPr>
          <p:cNvPr id="225" name="Google Shape;225;p29"/>
          <p:cNvSpPr/>
          <p:nvPr/>
        </p:nvSpPr>
        <p:spPr>
          <a:xfrm>
            <a:off x="-1619432" y="-72635"/>
            <a:ext cx="2186703" cy="5288770"/>
          </a:xfrm>
          <a:custGeom>
            <a:rect b="b" l="l" r="r" t="t"/>
            <a:pathLst>
              <a:path extrusionOk="0" h="10577540" w="4373406">
                <a:moveTo>
                  <a:pt x="0" y="0"/>
                </a:moveTo>
                <a:lnTo>
                  <a:pt x="4373406" y="0"/>
                </a:lnTo>
                <a:lnTo>
                  <a:pt x="4373406" y="10577540"/>
                </a:lnTo>
                <a:lnTo>
                  <a:pt x="0" y="10577540"/>
                </a:lnTo>
                <a:lnTo>
                  <a:pt x="0" y="0"/>
                </a:lnTo>
                <a:close/>
              </a:path>
            </a:pathLst>
          </a:custGeom>
          <a:blipFill rotWithShape="1">
            <a:blip r:embed="rId4">
              <a:alphaModFix/>
            </a:blip>
            <a:stretch>
              <a:fillRect b="-6300" l="-52640" r="-26890" t="-890"/>
            </a:stretch>
          </a:blipFill>
          <a:ln cap="sq" cmpd="sng" w="28575">
            <a:solidFill>
              <a:srgbClr val="545454"/>
            </a:solidFill>
            <a:prstDash val="solid"/>
            <a:miter lim="8000"/>
            <a:headEnd len="sm" w="sm" type="none"/>
            <a:tailEnd len="sm" w="sm" type="none"/>
          </a:ln>
        </p:spPr>
      </p:sp>
      <p:sp>
        <p:nvSpPr>
          <p:cNvPr id="226" name="Google Shape;226;p29"/>
          <p:cNvSpPr/>
          <p:nvPr/>
        </p:nvSpPr>
        <p:spPr>
          <a:xfrm>
            <a:off x="8629650" y="258878"/>
            <a:ext cx="918856" cy="483548"/>
          </a:xfrm>
          <a:custGeom>
            <a:rect b="b" l="l" r="r" t="t"/>
            <a:pathLst>
              <a:path extrusionOk="0" h="967096" w="1837712">
                <a:moveTo>
                  <a:pt x="0" y="0"/>
                </a:moveTo>
                <a:lnTo>
                  <a:pt x="1837712" y="0"/>
                </a:lnTo>
                <a:lnTo>
                  <a:pt x="1837712" y="967097"/>
                </a:lnTo>
                <a:lnTo>
                  <a:pt x="0" y="967097"/>
                </a:lnTo>
                <a:lnTo>
                  <a:pt x="0" y="0"/>
                </a:lnTo>
                <a:close/>
              </a:path>
            </a:pathLst>
          </a:custGeom>
          <a:blipFill rotWithShape="1">
            <a:blip r:embed="rId5">
              <a:alphaModFix amt="57000"/>
            </a:blip>
            <a:stretch>
              <a:fillRect b="0" l="0" r="0" t="0"/>
            </a:stretch>
          </a:blipFill>
          <a:ln>
            <a:noFill/>
          </a:ln>
        </p:spPr>
      </p:sp>
      <p:sp>
        <p:nvSpPr>
          <p:cNvPr id="227" name="Google Shape;227;p29"/>
          <p:cNvSpPr txBox="1"/>
          <p:nvPr/>
        </p:nvSpPr>
        <p:spPr>
          <a:xfrm>
            <a:off x="5114707" y="3132879"/>
            <a:ext cx="31605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Data Cleaning</a:t>
            </a:r>
            <a:endParaRPr sz="700"/>
          </a:p>
        </p:txBody>
      </p:sp>
      <p:sp>
        <p:nvSpPr>
          <p:cNvPr id="228" name="Google Shape;228;p29"/>
          <p:cNvSpPr/>
          <p:nvPr/>
        </p:nvSpPr>
        <p:spPr>
          <a:xfrm>
            <a:off x="5114707" y="742427"/>
            <a:ext cx="3160002" cy="1986076"/>
          </a:xfrm>
          <a:custGeom>
            <a:rect b="b" l="l" r="r" t="t"/>
            <a:pathLst>
              <a:path extrusionOk="0" h="673246" w="1071187">
                <a:moveTo>
                  <a:pt x="53893" y="0"/>
                </a:moveTo>
                <a:lnTo>
                  <a:pt x="1017294" y="0"/>
                </a:lnTo>
                <a:cubicBezTo>
                  <a:pt x="1047058" y="0"/>
                  <a:pt x="1071187" y="24129"/>
                  <a:pt x="1071187" y="53893"/>
                </a:cubicBezTo>
                <a:lnTo>
                  <a:pt x="1071187" y="619353"/>
                </a:lnTo>
                <a:cubicBezTo>
                  <a:pt x="1071187" y="649117"/>
                  <a:pt x="1047058" y="673246"/>
                  <a:pt x="1017294" y="673246"/>
                </a:cubicBezTo>
                <a:lnTo>
                  <a:pt x="53893" y="673246"/>
                </a:lnTo>
                <a:cubicBezTo>
                  <a:pt x="24129" y="673246"/>
                  <a:pt x="0" y="649117"/>
                  <a:pt x="0" y="619353"/>
                </a:cubicBezTo>
                <a:lnTo>
                  <a:pt x="0" y="53893"/>
                </a:lnTo>
                <a:cubicBezTo>
                  <a:pt x="0" y="24129"/>
                  <a:pt x="24129" y="0"/>
                  <a:pt x="53893" y="0"/>
                </a:cubicBezTo>
                <a:close/>
              </a:path>
            </a:pathLst>
          </a:custGeom>
          <a:blipFill rotWithShape="1">
            <a:blip r:embed="rId6">
              <a:alphaModFix/>
            </a:blip>
            <a:stretch>
              <a:fillRect b="0" l="-5370" r="-538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9" name="Google Shape;229;p29"/>
          <p:cNvSpPr/>
          <p:nvPr/>
        </p:nvSpPr>
        <p:spPr>
          <a:xfrm>
            <a:off x="868925" y="28338"/>
            <a:ext cx="3503348" cy="5086835"/>
          </a:xfrm>
          <a:custGeom>
            <a:rect b="b" l="l" r="r" t="t"/>
            <a:pathLst>
              <a:path extrusionOk="0" h="5271332" w="7006696">
                <a:moveTo>
                  <a:pt x="0" y="0"/>
                </a:moveTo>
                <a:lnTo>
                  <a:pt x="7006696" y="0"/>
                </a:lnTo>
                <a:lnTo>
                  <a:pt x="7006696" y="5271332"/>
                </a:lnTo>
                <a:lnTo>
                  <a:pt x="0" y="5271332"/>
                </a:lnTo>
                <a:lnTo>
                  <a:pt x="0" y="0"/>
                </a:lnTo>
                <a:close/>
              </a:path>
            </a:pathLst>
          </a:custGeom>
          <a:blipFill rotWithShape="1">
            <a:blip r:embed="rId7">
              <a:alphaModFix/>
            </a:blip>
            <a:stretch>
              <a:fillRect b="-19450" l="-4450" r="-18711" t="-22769"/>
            </a:stretch>
          </a:blipFill>
          <a:ln cap="rnd" cmpd="sng" w="38100">
            <a:solidFill>
              <a:srgbClr val="F8D5D7"/>
            </a:solidFill>
            <a:prstDash val="solid"/>
            <a:round/>
            <a:headEnd len="sm" w="sm" type="none"/>
            <a:tailEnd len="sm" w="sm" type="none"/>
          </a:ln>
        </p:spPr>
      </p:sp>
      <p:cxnSp>
        <p:nvCxnSpPr>
          <p:cNvPr id="230" name="Google Shape;230;p29"/>
          <p:cNvCxnSpPr/>
          <p:nvPr/>
        </p:nvCxnSpPr>
        <p:spPr>
          <a:xfrm>
            <a:off x="1726791" y="2302690"/>
            <a:ext cx="2354100" cy="0"/>
          </a:xfrm>
          <a:prstGeom prst="straightConnector1">
            <a:avLst/>
          </a:prstGeom>
          <a:noFill/>
          <a:ln cap="rnd" cmpd="sng" w="28575">
            <a:solidFill>
              <a:srgbClr val="D9D9D9"/>
            </a:solidFill>
            <a:prstDash val="lgDash"/>
            <a:round/>
            <a:headEnd len="sm" w="sm" type="none"/>
            <a:tailEnd len="sm" w="sm" type="none"/>
          </a:ln>
        </p:spPr>
      </p:cxnSp>
      <p:cxnSp>
        <p:nvCxnSpPr>
          <p:cNvPr id="231" name="Google Shape;231;p29"/>
          <p:cNvCxnSpPr/>
          <p:nvPr/>
        </p:nvCxnSpPr>
        <p:spPr>
          <a:xfrm>
            <a:off x="1726791" y="3818340"/>
            <a:ext cx="2354100" cy="0"/>
          </a:xfrm>
          <a:prstGeom prst="straightConnector1">
            <a:avLst/>
          </a:prstGeom>
          <a:noFill/>
          <a:ln cap="rnd" cmpd="sng" w="28575">
            <a:solidFill>
              <a:srgbClr val="D9D9D9"/>
            </a:solidFill>
            <a:prstDash val="lgDash"/>
            <a:round/>
            <a:headEnd len="sm" w="sm" type="none"/>
            <a:tailEnd len="sm" w="sm" type="none"/>
          </a:ln>
        </p:spPr>
      </p:cxnSp>
      <p:sp>
        <p:nvSpPr>
          <p:cNvPr id="232" name="Google Shape;232;p29"/>
          <p:cNvSpPr/>
          <p:nvPr/>
        </p:nvSpPr>
        <p:spPr>
          <a:xfrm rot="-850509">
            <a:off x="7935635" y="2977721"/>
            <a:ext cx="2306478" cy="2617280"/>
          </a:xfrm>
          <a:custGeom>
            <a:rect b="b" l="l" r="r" t="t"/>
            <a:pathLst>
              <a:path extrusionOk="0" h="5232141" w="4610824">
                <a:moveTo>
                  <a:pt x="0" y="0"/>
                </a:moveTo>
                <a:lnTo>
                  <a:pt x="4610825" y="0"/>
                </a:lnTo>
                <a:lnTo>
                  <a:pt x="4610825" y="5232141"/>
                </a:lnTo>
                <a:lnTo>
                  <a:pt x="0" y="5232141"/>
                </a:lnTo>
                <a:lnTo>
                  <a:pt x="0" y="0"/>
                </a:lnTo>
                <a:close/>
              </a:path>
            </a:pathLst>
          </a:custGeom>
          <a:blipFill rotWithShape="1">
            <a:blip r:embed="rId8">
              <a:alphaModFix/>
            </a:blip>
            <a:stretch>
              <a:fillRect b="0" l="0" r="0" t="0"/>
            </a:stretch>
          </a:blipFill>
          <a:ln>
            <a:noFill/>
          </a:ln>
        </p:spPr>
      </p:sp>
      <p:sp>
        <p:nvSpPr>
          <p:cNvPr id="233" name="Google Shape;233;p29"/>
          <p:cNvSpPr/>
          <p:nvPr/>
        </p:nvSpPr>
        <p:spPr>
          <a:xfrm>
            <a:off x="1068554" y="1454446"/>
            <a:ext cx="503851" cy="405600"/>
          </a:xfrm>
          <a:custGeom>
            <a:rect b="b" l="l" r="r" t="t"/>
            <a:pathLst>
              <a:path extrusionOk="0" h="811201" w="1007703">
                <a:moveTo>
                  <a:pt x="0" y="0"/>
                </a:moveTo>
                <a:lnTo>
                  <a:pt x="1007703" y="0"/>
                </a:lnTo>
                <a:lnTo>
                  <a:pt x="1007703" y="811201"/>
                </a:lnTo>
                <a:lnTo>
                  <a:pt x="0" y="811201"/>
                </a:lnTo>
                <a:lnTo>
                  <a:pt x="0" y="0"/>
                </a:lnTo>
                <a:close/>
              </a:path>
            </a:pathLst>
          </a:custGeom>
          <a:blipFill rotWithShape="1">
            <a:blip r:embed="rId9">
              <a:alphaModFix/>
            </a:blip>
            <a:stretch>
              <a:fillRect b="0" l="0" r="0" t="0"/>
            </a:stretch>
          </a:blipFill>
          <a:ln>
            <a:noFill/>
          </a:ln>
        </p:spPr>
      </p:sp>
      <p:sp>
        <p:nvSpPr>
          <p:cNvPr id="234" name="Google Shape;234;p29"/>
          <p:cNvSpPr/>
          <p:nvPr/>
        </p:nvSpPr>
        <p:spPr>
          <a:xfrm>
            <a:off x="1109230" y="4179585"/>
            <a:ext cx="422500" cy="405600"/>
          </a:xfrm>
          <a:custGeom>
            <a:rect b="b" l="l" r="r" t="t"/>
            <a:pathLst>
              <a:path extrusionOk="0" h="811201" w="845001">
                <a:moveTo>
                  <a:pt x="0" y="0"/>
                </a:moveTo>
                <a:lnTo>
                  <a:pt x="845001" y="0"/>
                </a:lnTo>
                <a:lnTo>
                  <a:pt x="845001" y="811201"/>
                </a:lnTo>
                <a:lnTo>
                  <a:pt x="0" y="811201"/>
                </a:lnTo>
                <a:lnTo>
                  <a:pt x="0" y="0"/>
                </a:lnTo>
                <a:close/>
              </a:path>
            </a:pathLst>
          </a:custGeom>
          <a:blipFill rotWithShape="1">
            <a:blip r:embed="rId10">
              <a:alphaModFix/>
            </a:blip>
            <a:stretch>
              <a:fillRect b="0" l="0" r="0" t="0"/>
            </a:stretch>
          </a:blipFill>
          <a:ln>
            <a:noFill/>
          </a:ln>
        </p:spPr>
      </p:sp>
      <p:sp>
        <p:nvSpPr>
          <p:cNvPr id="235" name="Google Shape;235;p29"/>
          <p:cNvSpPr/>
          <p:nvPr/>
        </p:nvSpPr>
        <p:spPr>
          <a:xfrm>
            <a:off x="1134157" y="2907078"/>
            <a:ext cx="372646" cy="405600"/>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36" name="Google Shape;236;p29"/>
          <p:cNvSpPr txBox="1"/>
          <p:nvPr/>
        </p:nvSpPr>
        <p:spPr>
          <a:xfrm>
            <a:off x="1726800" y="1133725"/>
            <a:ext cx="1467900" cy="1077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t/>
            </a:r>
            <a:endParaRPr sz="700"/>
          </a:p>
        </p:txBody>
      </p:sp>
      <p:sp>
        <p:nvSpPr>
          <p:cNvPr id="237" name="Google Shape;237;p29"/>
          <p:cNvSpPr txBox="1"/>
          <p:nvPr/>
        </p:nvSpPr>
        <p:spPr>
          <a:xfrm>
            <a:off x="1726788" y="1325338"/>
            <a:ext cx="2354100" cy="708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000">
                <a:solidFill>
                  <a:srgbClr val="272622"/>
                </a:solidFill>
              </a:rPr>
              <a:t>One-hot encoded </a:t>
            </a:r>
            <a:r>
              <a:rPr lang="en" sz="1000">
                <a:solidFill>
                  <a:srgbClr val="272622"/>
                </a:solidFill>
              </a:rPr>
              <a:t>categorical variables (fit feedback, body type, rental occasion, length feedback) into numeric labels for modeling</a:t>
            </a:r>
            <a:r>
              <a:rPr lang="en" sz="1000">
                <a:solidFill>
                  <a:srgbClr val="272622"/>
                </a:solidFill>
              </a:rPr>
              <a:t>.</a:t>
            </a:r>
            <a:endParaRPr sz="700"/>
          </a:p>
        </p:txBody>
      </p:sp>
      <p:sp>
        <p:nvSpPr>
          <p:cNvPr id="238" name="Google Shape;238;p29"/>
          <p:cNvSpPr txBox="1"/>
          <p:nvPr/>
        </p:nvSpPr>
        <p:spPr>
          <a:xfrm>
            <a:off x="-5687609" y="2302690"/>
            <a:ext cx="15198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ModCloth</a:t>
            </a:r>
            <a:endParaRPr sz="700"/>
          </a:p>
        </p:txBody>
      </p:sp>
      <p:sp>
        <p:nvSpPr>
          <p:cNvPr id="239" name="Google Shape;239;p29"/>
          <p:cNvSpPr txBox="1"/>
          <p:nvPr/>
        </p:nvSpPr>
        <p:spPr>
          <a:xfrm>
            <a:off x="1726791" y="2671134"/>
            <a:ext cx="2354100" cy="778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100">
                <a:solidFill>
                  <a:schemeClr val="dk1"/>
                </a:solidFill>
              </a:rPr>
              <a:t>Removed high-null columns (&gt;80%), dropped rows with missing target labels, and standardized column names and formats.</a:t>
            </a:r>
            <a:endParaRPr sz="700"/>
          </a:p>
        </p:txBody>
      </p:sp>
      <p:sp>
        <p:nvSpPr>
          <p:cNvPr id="240" name="Google Shape;240;p29"/>
          <p:cNvSpPr txBox="1"/>
          <p:nvPr/>
        </p:nvSpPr>
        <p:spPr>
          <a:xfrm>
            <a:off x="-4576248" y="3132875"/>
            <a:ext cx="17973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Clothes-Size-Prediction</a:t>
            </a:r>
            <a:endParaRPr sz="700"/>
          </a:p>
        </p:txBody>
      </p:sp>
      <p:sp>
        <p:nvSpPr>
          <p:cNvPr id="241" name="Google Shape;241;p29"/>
          <p:cNvSpPr txBox="1"/>
          <p:nvPr/>
        </p:nvSpPr>
        <p:spPr>
          <a:xfrm>
            <a:off x="1726803" y="4010510"/>
            <a:ext cx="2354100" cy="128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100">
                <a:solidFill>
                  <a:schemeClr val="dk1"/>
                </a:solidFill>
              </a:rPr>
              <a:t>Filtered unrealistic age, height, and weight values and converted them into same units </a:t>
            </a:r>
            <a:r>
              <a:rPr b="1" lang="en" sz="1100">
                <a:solidFill>
                  <a:schemeClr val="dk1"/>
                </a:solidFill>
              </a:rPr>
              <a:t>(inches + pounds)</a:t>
            </a:r>
            <a:r>
              <a:rPr lang="en" sz="1100">
                <a:solidFill>
                  <a:schemeClr val="dk1"/>
                </a:solidFill>
              </a:rPr>
              <a:t>, keep features </a:t>
            </a:r>
            <a:r>
              <a:rPr lang="en" sz="1100">
                <a:solidFill>
                  <a:schemeClr val="dk1"/>
                </a:solidFill>
              </a:rPr>
              <a:t>consistent </a:t>
            </a:r>
            <a:r>
              <a:rPr lang="en" sz="1100">
                <a:solidFill>
                  <a:schemeClr val="dk1"/>
                </a:solidFill>
              </a:rPr>
              <a:t>across datasets for modeling.</a:t>
            </a:r>
            <a:endParaRPr sz="1100">
              <a:solidFill>
                <a:schemeClr val="dk1"/>
              </a:solidFill>
            </a:endParaRPr>
          </a:p>
          <a:p>
            <a:pPr indent="0" lvl="0" marL="0" marR="0" rtl="0" algn="l">
              <a:lnSpc>
                <a:spcPct val="120000"/>
              </a:lnSpc>
              <a:spcBef>
                <a:spcPts val="1200"/>
              </a:spcBef>
              <a:spcAft>
                <a:spcPts val="0"/>
              </a:spcAft>
              <a:buNone/>
            </a:pPr>
            <a:r>
              <a:t/>
            </a:r>
            <a:endParaRPr sz="1000">
              <a:solidFill>
                <a:srgbClr val="272622"/>
              </a:solidFill>
            </a:endParaRPr>
          </a:p>
        </p:txBody>
      </p:sp>
      <p:sp>
        <p:nvSpPr>
          <p:cNvPr id="242" name="Google Shape;242;p29"/>
          <p:cNvSpPr txBox="1"/>
          <p:nvPr/>
        </p:nvSpPr>
        <p:spPr>
          <a:xfrm>
            <a:off x="-2950083" y="3479406"/>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243" name="Google Shape;243;p29"/>
          <p:cNvSpPr/>
          <p:nvPr/>
        </p:nvSpPr>
        <p:spPr>
          <a:xfrm>
            <a:off x="1134157" y="336827"/>
            <a:ext cx="372646" cy="405601"/>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44" name="Google Shape;244;p29"/>
          <p:cNvSpPr txBox="1"/>
          <p:nvPr/>
        </p:nvSpPr>
        <p:spPr>
          <a:xfrm>
            <a:off x="-4283950" y="95200"/>
            <a:ext cx="2008200" cy="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Downloading The Data</a:t>
            </a:r>
            <a:endParaRPr b="1" sz="1200">
              <a:solidFill>
                <a:schemeClr val="dk1"/>
              </a:solidFill>
            </a:endParaRPr>
          </a:p>
        </p:txBody>
      </p:sp>
      <p:sp>
        <p:nvSpPr>
          <p:cNvPr id="245" name="Google Shape;245;p29"/>
          <p:cNvSpPr txBox="1"/>
          <p:nvPr/>
        </p:nvSpPr>
        <p:spPr>
          <a:xfrm>
            <a:off x="1663950" y="189300"/>
            <a:ext cx="23541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Standardized</a:t>
            </a:r>
            <a:r>
              <a:rPr lang="en" sz="1000">
                <a:solidFill>
                  <a:schemeClr val="dk1"/>
                </a:solidFill>
              </a:rPr>
              <a:t> body measurements by converting height, weight, and bust size into numeric features and computing BMI.</a:t>
            </a:r>
            <a:endParaRPr sz="1000">
              <a:solidFill>
                <a:schemeClr val="dk1"/>
              </a:solidFill>
            </a:endParaRPr>
          </a:p>
        </p:txBody>
      </p:sp>
      <p:cxnSp>
        <p:nvCxnSpPr>
          <p:cNvPr id="246" name="Google Shape;246;p29"/>
          <p:cNvCxnSpPr/>
          <p:nvPr/>
        </p:nvCxnSpPr>
        <p:spPr>
          <a:xfrm>
            <a:off x="1663928" y="1055990"/>
            <a:ext cx="2354100" cy="0"/>
          </a:xfrm>
          <a:prstGeom prst="straightConnector1">
            <a:avLst/>
          </a:prstGeom>
          <a:noFill/>
          <a:ln cap="rnd" cmpd="sng" w="28575">
            <a:solidFill>
              <a:srgbClr val="D9D9D9"/>
            </a:solidFill>
            <a:prstDash val="lgDash"/>
            <a:round/>
            <a:headEnd len="sm" w="sm" type="none"/>
            <a:tailEnd len="sm" w="sm" type="none"/>
          </a:ln>
        </p:spPr>
      </p:cxnSp>
      <p:sp>
        <p:nvSpPr>
          <p:cNvPr id="247" name="Google Shape;247;p29"/>
          <p:cNvSpPr txBox="1"/>
          <p:nvPr>
            <p:ph idx="12" type="sldNum"/>
          </p:nvPr>
        </p:nvSpPr>
        <p:spPr>
          <a:xfrm>
            <a:off x="8077200" y="49324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51" name="Shape 251"/>
        <p:cNvGrpSpPr/>
        <p:nvPr/>
      </p:nvGrpSpPr>
      <p:grpSpPr>
        <a:xfrm>
          <a:off x="0" y="0"/>
          <a:ext cx="0" cy="0"/>
          <a:chOff x="0" y="0"/>
          <a:chExt cx="0" cy="0"/>
        </a:xfrm>
      </p:grpSpPr>
      <p:sp>
        <p:nvSpPr>
          <p:cNvPr id="252" name="Google Shape;252;p30"/>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253" name="Google Shape;253;p30"/>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254" name="Google Shape;254;p30"/>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255" name="Google Shape;255;p30"/>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256" name="Google Shape;256;p30"/>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257" name="Google Shape;257;p30"/>
          <p:cNvSpPr/>
          <p:nvPr/>
        </p:nvSpPr>
        <p:spPr>
          <a:xfrm>
            <a:off x="957150" y="2571750"/>
            <a:ext cx="7351889" cy="2057988"/>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258" name="Google Shape;258;p30"/>
          <p:cNvSpPr/>
          <p:nvPr/>
        </p:nvSpPr>
        <p:spPr>
          <a:xfrm>
            <a:off x="7662258" y="2426548"/>
            <a:ext cx="499218" cy="622080"/>
          </a:xfrm>
          <a:custGeom>
            <a:rect b="b" l="l" r="r" t="t"/>
            <a:pathLst>
              <a:path extrusionOk="0" h="1244159" w="998437">
                <a:moveTo>
                  <a:pt x="0" y="0"/>
                </a:moveTo>
                <a:lnTo>
                  <a:pt x="998437" y="0"/>
                </a:lnTo>
                <a:lnTo>
                  <a:pt x="998437" y="1244158"/>
                </a:lnTo>
                <a:lnTo>
                  <a:pt x="0" y="1244158"/>
                </a:lnTo>
                <a:lnTo>
                  <a:pt x="0" y="0"/>
                </a:lnTo>
                <a:close/>
              </a:path>
            </a:pathLst>
          </a:custGeom>
          <a:blipFill rotWithShape="1">
            <a:blip r:embed="rId8">
              <a:alphaModFix/>
            </a:blip>
            <a:stretch>
              <a:fillRect b="0" l="0" r="0" t="0"/>
            </a:stretch>
          </a:blipFill>
          <a:ln>
            <a:noFill/>
          </a:ln>
        </p:spPr>
      </p:sp>
      <p:sp>
        <p:nvSpPr>
          <p:cNvPr id="259" name="Google Shape;259;p30"/>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1: Unsupervised Models</a:t>
            </a:r>
            <a:endParaRPr sz="700"/>
          </a:p>
        </p:txBody>
      </p:sp>
      <p:sp>
        <p:nvSpPr>
          <p:cNvPr id="260" name="Google Shape;260;p30"/>
          <p:cNvSpPr txBox="1"/>
          <p:nvPr/>
        </p:nvSpPr>
        <p:spPr>
          <a:xfrm>
            <a:off x="957150" y="1207650"/>
            <a:ext cx="2340600" cy="12189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Clustering</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Font typeface="Arial"/>
              <a:buChar char="●"/>
            </a:pPr>
            <a:r>
              <a:rPr b="1" lang="en" sz="1200">
                <a:solidFill>
                  <a:srgbClr val="272622"/>
                </a:solidFill>
              </a:rPr>
              <a:t>K-modes</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DBSCAN</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K-means</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GMM</a:t>
            </a:r>
            <a:endParaRPr b="1" sz="1200">
              <a:solidFill>
                <a:srgbClr val="272622"/>
              </a:solidFill>
            </a:endParaRPr>
          </a:p>
        </p:txBody>
      </p:sp>
      <p:sp>
        <p:nvSpPr>
          <p:cNvPr id="261" name="Google Shape;261;p30"/>
          <p:cNvSpPr txBox="1"/>
          <p:nvPr/>
        </p:nvSpPr>
        <p:spPr>
          <a:xfrm>
            <a:off x="1121900" y="2761000"/>
            <a:ext cx="5303400" cy="20532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200">
                <a:solidFill>
                  <a:srgbClr val="272622"/>
                </a:solidFill>
              </a:rPr>
              <a:t>Through the clustering we aim to find dimensions of </a:t>
            </a:r>
            <a:r>
              <a:rPr b="1" lang="en" sz="1200">
                <a:solidFill>
                  <a:srgbClr val="272622"/>
                </a:solidFill>
              </a:rPr>
              <a:t>why fit fails</a:t>
            </a:r>
            <a:r>
              <a:rPr lang="en" sz="1200">
                <a:solidFill>
                  <a:srgbClr val="272622"/>
                </a:solidFill>
              </a:rPr>
              <a:t>, especially understand who the customers are and what they are renting.</a:t>
            </a:r>
            <a:endParaRPr sz="1200">
              <a:solidFill>
                <a:srgbClr val="272622"/>
              </a:solidFill>
            </a:endParaRPr>
          </a:p>
          <a:p>
            <a:pPr indent="0" lvl="0" marL="0" rtl="0" algn="l">
              <a:lnSpc>
                <a:spcPct val="140000"/>
              </a:lnSpc>
              <a:spcBef>
                <a:spcPts val="0"/>
              </a:spcBef>
              <a:spcAft>
                <a:spcPts val="0"/>
              </a:spcAft>
              <a:buNone/>
            </a:pPr>
            <a:r>
              <a:t/>
            </a:r>
            <a:endParaRPr sz="1200">
              <a:solidFill>
                <a:srgbClr val="272622"/>
              </a:solidFill>
            </a:endParaRPr>
          </a:p>
          <a:p>
            <a:pPr indent="0" lvl="0" marL="0" rtl="0" algn="l">
              <a:lnSpc>
                <a:spcPct val="140000"/>
              </a:lnSpc>
              <a:spcBef>
                <a:spcPts val="0"/>
              </a:spcBef>
              <a:spcAft>
                <a:spcPts val="0"/>
              </a:spcAft>
              <a:buNone/>
            </a:pPr>
            <a:r>
              <a:rPr lang="en" sz="1200">
                <a:solidFill>
                  <a:srgbClr val="272622"/>
                </a:solidFill>
              </a:rPr>
              <a:t>LDA translated unstructured customer language into structured probability distributions that could be encoded into the Phase II classifier as features.</a:t>
            </a:r>
            <a:endParaRPr sz="1200">
              <a:solidFill>
                <a:srgbClr val="272622"/>
              </a:solidFill>
            </a:endParaRPr>
          </a:p>
          <a:p>
            <a:pPr indent="0" lvl="0" marL="0" rtl="0" algn="l">
              <a:lnSpc>
                <a:spcPct val="140000"/>
              </a:lnSpc>
              <a:spcBef>
                <a:spcPts val="0"/>
              </a:spcBef>
              <a:spcAft>
                <a:spcPts val="0"/>
              </a:spcAft>
              <a:buNone/>
            </a:pPr>
            <a:r>
              <a:t/>
            </a:r>
            <a:endParaRPr sz="1300">
              <a:solidFill>
                <a:srgbClr val="272622"/>
              </a:solidFill>
            </a:endParaRPr>
          </a:p>
          <a:p>
            <a:pPr indent="0" lvl="0" marL="0" rtl="0" algn="l">
              <a:lnSpc>
                <a:spcPct val="140000"/>
              </a:lnSpc>
              <a:spcBef>
                <a:spcPts val="0"/>
              </a:spcBef>
              <a:spcAft>
                <a:spcPts val="0"/>
              </a:spcAft>
              <a:buNone/>
            </a:pPr>
            <a:r>
              <a:t/>
            </a:r>
            <a:endParaRPr sz="1300">
              <a:solidFill>
                <a:srgbClr val="272622"/>
              </a:solidFill>
            </a:endParaRPr>
          </a:p>
          <a:p>
            <a:pPr indent="0" lvl="0" marL="0" rtl="0" algn="l">
              <a:lnSpc>
                <a:spcPct val="140000"/>
              </a:lnSpc>
              <a:spcBef>
                <a:spcPts val="0"/>
              </a:spcBef>
              <a:spcAft>
                <a:spcPts val="0"/>
              </a:spcAft>
              <a:buClr>
                <a:schemeClr val="dk1"/>
              </a:buClr>
              <a:buSzPts val="1100"/>
              <a:buFont typeface="Arial"/>
              <a:buNone/>
            </a:pPr>
            <a:r>
              <a:t/>
            </a:r>
            <a:endParaRPr sz="1300">
              <a:solidFill>
                <a:srgbClr val="272622"/>
              </a:solidFill>
            </a:endParaRPr>
          </a:p>
        </p:txBody>
      </p:sp>
      <p:sp>
        <p:nvSpPr>
          <p:cNvPr id="262" name="Google Shape;262;p30"/>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9">
              <a:alphaModFix amt="57000"/>
            </a:blip>
            <a:stretch>
              <a:fillRect b="0" l="0" r="0" t="0"/>
            </a:stretch>
          </a:blipFill>
          <a:ln>
            <a:noFill/>
          </a:ln>
        </p:spPr>
      </p:sp>
      <p:sp>
        <p:nvSpPr>
          <p:cNvPr id="263" name="Google Shape;263;p30"/>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10">
              <a:alphaModFix/>
            </a:blip>
            <a:stretch>
              <a:fillRect b="0" l="0" r="0" t="0"/>
            </a:stretch>
          </a:blipFill>
          <a:ln>
            <a:noFill/>
          </a:ln>
        </p:spPr>
      </p:sp>
      <p:sp>
        <p:nvSpPr>
          <p:cNvPr id="264" name="Google Shape;264;p30"/>
          <p:cNvSpPr txBox="1"/>
          <p:nvPr/>
        </p:nvSpPr>
        <p:spPr>
          <a:xfrm>
            <a:off x="2977925" y="1207650"/>
            <a:ext cx="2340600" cy="4431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Review based segment</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Font typeface="Arial"/>
              <a:buChar char="●"/>
            </a:pPr>
            <a:r>
              <a:rPr b="1" lang="en" sz="1200">
                <a:solidFill>
                  <a:srgbClr val="272622"/>
                </a:solidFill>
              </a:rPr>
              <a:t>LDA</a:t>
            </a:r>
            <a:endParaRPr b="1" sz="1200">
              <a:solidFill>
                <a:srgbClr val="272622"/>
              </a:solidFill>
            </a:endParaRPr>
          </a:p>
        </p:txBody>
      </p:sp>
      <p:sp>
        <p:nvSpPr>
          <p:cNvPr id="265" name="Google Shape;265;p30"/>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66" name="Google Shape;266;p30"/>
          <p:cNvSpPr/>
          <p:nvPr/>
        </p:nvSpPr>
        <p:spPr>
          <a:xfrm>
            <a:off x="6551772" y="3335866"/>
            <a:ext cx="614191" cy="529740"/>
          </a:xfrm>
          <a:custGeom>
            <a:rect b="b" l="l" r="r" t="t"/>
            <a:pathLst>
              <a:path extrusionOk="0" h="1059480" w="1228382">
                <a:moveTo>
                  <a:pt x="0" y="0"/>
                </a:moveTo>
                <a:lnTo>
                  <a:pt x="1228382" y="0"/>
                </a:lnTo>
                <a:lnTo>
                  <a:pt x="1228382" y="1059480"/>
                </a:lnTo>
                <a:lnTo>
                  <a:pt x="0" y="1059480"/>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70" name="Shape 270"/>
        <p:cNvGrpSpPr/>
        <p:nvPr/>
      </p:nvGrpSpPr>
      <p:grpSpPr>
        <a:xfrm>
          <a:off x="0" y="0"/>
          <a:ext cx="0" cy="0"/>
          <a:chOff x="0" y="0"/>
          <a:chExt cx="0" cy="0"/>
        </a:xfrm>
      </p:grpSpPr>
      <p:sp>
        <p:nvSpPr>
          <p:cNvPr id="271" name="Google Shape;271;p31"/>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272" name="Google Shape;272;p31"/>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273" name="Google Shape;273;p31"/>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274" name="Google Shape;274;p31"/>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275" name="Google Shape;275;p31"/>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276" name="Google Shape;276;p31"/>
          <p:cNvSpPr/>
          <p:nvPr/>
        </p:nvSpPr>
        <p:spPr>
          <a:xfrm>
            <a:off x="946175" y="1324427"/>
            <a:ext cx="2304272" cy="3026463"/>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7" name="Google Shape;277;p31"/>
          <p:cNvSpPr/>
          <p:nvPr/>
        </p:nvSpPr>
        <p:spPr>
          <a:xfrm>
            <a:off x="3419876" y="1327881"/>
            <a:ext cx="2304271" cy="3026463"/>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8" name="Google Shape;278;p31"/>
          <p:cNvSpPr/>
          <p:nvPr/>
        </p:nvSpPr>
        <p:spPr>
          <a:xfrm>
            <a:off x="5893552" y="1327880"/>
            <a:ext cx="2304271" cy="3026463"/>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9" name="Google Shape;279;p31"/>
          <p:cNvSpPr/>
          <p:nvPr/>
        </p:nvSpPr>
        <p:spPr>
          <a:xfrm>
            <a:off x="1109025" y="1465775"/>
            <a:ext cx="353089" cy="351586"/>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280" name="Google Shape;280;p31"/>
          <p:cNvSpPr/>
          <p:nvPr/>
        </p:nvSpPr>
        <p:spPr>
          <a:xfrm>
            <a:off x="6048612" y="1492889"/>
            <a:ext cx="353089" cy="351586"/>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281" name="Google Shape;281;p31"/>
          <p:cNvSpPr/>
          <p:nvPr/>
        </p:nvSpPr>
        <p:spPr>
          <a:xfrm rot="954371">
            <a:off x="-990992" y="-1280937"/>
            <a:ext cx="2299307" cy="2865181"/>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0">
              <a:alphaModFix/>
            </a:blip>
            <a:stretch>
              <a:fillRect b="0" l="0" r="0" t="0"/>
            </a:stretch>
          </a:blipFill>
          <a:ln>
            <a:noFill/>
          </a:ln>
        </p:spPr>
      </p:sp>
      <p:sp>
        <p:nvSpPr>
          <p:cNvPr id="282" name="Google Shape;282;p31"/>
          <p:cNvSpPr/>
          <p:nvPr/>
        </p:nvSpPr>
        <p:spPr>
          <a:xfrm>
            <a:off x="3598690" y="1492889"/>
            <a:ext cx="353089" cy="351586"/>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1">
              <a:alphaModFix/>
            </a:blip>
            <a:stretch>
              <a:fillRect b="0" l="0" r="0" t="0"/>
            </a:stretch>
          </a:blipFill>
          <a:ln>
            <a:noFill/>
          </a:ln>
        </p:spPr>
      </p:sp>
      <p:sp>
        <p:nvSpPr>
          <p:cNvPr id="283" name="Google Shape;283;p31"/>
          <p:cNvSpPr/>
          <p:nvPr/>
        </p:nvSpPr>
        <p:spPr>
          <a:xfrm>
            <a:off x="1143126" y="1500750"/>
            <a:ext cx="288886" cy="276849"/>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284" name="Google Shape;284;p31"/>
          <p:cNvSpPr/>
          <p:nvPr/>
        </p:nvSpPr>
        <p:spPr>
          <a:xfrm>
            <a:off x="6081725" y="1533501"/>
            <a:ext cx="288886" cy="276849"/>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285" name="Google Shape;285;p31"/>
          <p:cNvSpPr/>
          <p:nvPr/>
        </p:nvSpPr>
        <p:spPr>
          <a:xfrm>
            <a:off x="3627172" y="1533501"/>
            <a:ext cx="300922" cy="276849"/>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286" name="Google Shape;286;p31"/>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287" name="Google Shape;287;p31"/>
          <p:cNvSpPr/>
          <p:nvPr/>
        </p:nvSpPr>
        <p:spPr>
          <a:xfrm>
            <a:off x="5167519" y="980410"/>
            <a:ext cx="352832" cy="295678"/>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288" name="Google Shape;288;p31"/>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289" name="Google Shape;289;p31"/>
          <p:cNvSpPr txBox="1"/>
          <p:nvPr/>
        </p:nvSpPr>
        <p:spPr>
          <a:xfrm>
            <a:off x="2041904" y="294179"/>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Cl</a:t>
            </a:r>
            <a:r>
              <a:rPr lang="en" sz="3400">
                <a:solidFill>
                  <a:srgbClr val="272622"/>
                </a:solidFill>
              </a:rPr>
              <a:t>ustering Methodology</a:t>
            </a:r>
            <a:endParaRPr sz="700"/>
          </a:p>
        </p:txBody>
      </p:sp>
      <p:sp>
        <p:nvSpPr>
          <p:cNvPr id="290" name="Google Shape;290;p31"/>
          <p:cNvSpPr txBox="1"/>
          <p:nvPr/>
        </p:nvSpPr>
        <p:spPr>
          <a:xfrm>
            <a:off x="1578646" y="1533518"/>
            <a:ext cx="14046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No cluster count assumed</a:t>
            </a:r>
            <a:endParaRPr sz="700"/>
          </a:p>
        </p:txBody>
      </p:sp>
      <p:sp>
        <p:nvSpPr>
          <p:cNvPr id="291" name="Google Shape;291;p31"/>
          <p:cNvSpPr txBox="1"/>
          <p:nvPr/>
        </p:nvSpPr>
        <p:spPr>
          <a:xfrm>
            <a:off x="1215675" y="2344812"/>
            <a:ext cx="1770000" cy="1523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000">
                <a:solidFill>
                  <a:schemeClr val="dk1"/>
                </a:solidFill>
              </a:rPr>
              <a:t>DBSCAN finds dense regions naturally, while GMM selects k via BIC/AIC. </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K-Means and K-Modes used elbow plots to let the data guide selection.</a:t>
            </a:r>
            <a:endParaRPr sz="1000">
              <a:solidFill>
                <a:schemeClr val="dk1"/>
              </a:solidFill>
            </a:endParaRPr>
          </a:p>
          <a:p>
            <a:pPr indent="0" lvl="0" marL="0" marR="0" rtl="0" algn="l">
              <a:lnSpc>
                <a:spcPct val="130000"/>
              </a:lnSpc>
              <a:spcBef>
                <a:spcPts val="1200"/>
              </a:spcBef>
              <a:spcAft>
                <a:spcPts val="0"/>
              </a:spcAft>
              <a:buNone/>
            </a:pPr>
            <a:r>
              <a:t/>
            </a:r>
            <a:endParaRPr sz="1000">
              <a:solidFill>
                <a:srgbClr val="272622"/>
              </a:solidFill>
            </a:endParaRPr>
          </a:p>
        </p:txBody>
      </p:sp>
      <p:sp>
        <p:nvSpPr>
          <p:cNvPr id="292" name="Google Shape;292;p31"/>
          <p:cNvSpPr txBox="1"/>
          <p:nvPr/>
        </p:nvSpPr>
        <p:spPr>
          <a:xfrm>
            <a:off x="6554807" y="1533518"/>
            <a:ext cx="1404600" cy="5754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100">
                <a:solidFill>
                  <a:schemeClr val="dk1"/>
                </a:solidFill>
              </a:rPr>
              <a:t>Numeric and categorical structure modeled separately</a:t>
            </a:r>
            <a:endParaRPr sz="700"/>
          </a:p>
        </p:txBody>
      </p:sp>
      <p:sp>
        <p:nvSpPr>
          <p:cNvPr id="293" name="Google Shape;293;p31"/>
          <p:cNvSpPr txBox="1"/>
          <p:nvPr/>
        </p:nvSpPr>
        <p:spPr>
          <a:xfrm>
            <a:off x="6048600" y="2305325"/>
            <a:ext cx="21492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K-Means, GMM, and DBSCAN operate on continuous body measurements;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K-Modes operates on categorical features like garment type and rental occasion.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Using both captures multidimensional customer behavior </a:t>
            </a:r>
            <a:endParaRPr sz="700"/>
          </a:p>
        </p:txBody>
      </p:sp>
      <p:sp>
        <p:nvSpPr>
          <p:cNvPr id="294" name="Google Shape;294;p31"/>
          <p:cNvSpPr txBox="1"/>
          <p:nvPr/>
        </p:nvSpPr>
        <p:spPr>
          <a:xfrm>
            <a:off x="4045800" y="1496500"/>
            <a:ext cx="1574700" cy="6279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Features </a:t>
            </a:r>
            <a:r>
              <a:rPr b="1" lang="en" sz="1200">
                <a:solidFill>
                  <a:srgbClr val="272622"/>
                </a:solidFill>
              </a:rPr>
              <a:t>engineered</a:t>
            </a:r>
            <a:r>
              <a:rPr b="1" lang="en" sz="1200">
                <a:solidFill>
                  <a:srgbClr val="272622"/>
                </a:solidFill>
              </a:rPr>
              <a:t> specifically for each method</a:t>
            </a:r>
            <a:endParaRPr sz="700"/>
          </a:p>
        </p:txBody>
      </p:sp>
      <p:sp>
        <p:nvSpPr>
          <p:cNvPr id="295" name="Google Shape;295;p31"/>
          <p:cNvSpPr txBox="1"/>
          <p:nvPr/>
        </p:nvSpPr>
        <p:spPr>
          <a:xfrm>
            <a:off x="3687000" y="2344800"/>
            <a:ext cx="1933500" cy="2208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Numeric features were standardized for distance-based methods; </a:t>
            </a:r>
            <a:endParaRPr sz="10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categorical features were isolated for K-Modes. </a:t>
            </a:r>
            <a:endParaRPr sz="10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Feature selection was tailored to the assumptions of each algorithm rather than using a one-size-fits-all input.</a:t>
            </a:r>
            <a:endParaRPr sz="1000">
              <a:solidFill>
                <a:srgbClr val="272622"/>
              </a:solidFill>
            </a:endParaRPr>
          </a:p>
          <a:p>
            <a:pPr indent="0" lvl="1" marL="0" marR="0" rtl="0" algn="l">
              <a:lnSpc>
                <a:spcPct val="130000"/>
              </a:lnSpc>
              <a:spcBef>
                <a:spcPts val="1200"/>
              </a:spcBef>
              <a:spcAft>
                <a:spcPts val="0"/>
              </a:spcAft>
              <a:buNone/>
            </a:pPr>
            <a:r>
              <a:t/>
            </a:r>
            <a:endParaRPr sz="1000">
              <a:solidFill>
                <a:srgbClr val="272622"/>
              </a:solidFill>
            </a:endParaRPr>
          </a:p>
        </p:txBody>
      </p:sp>
      <p:sp>
        <p:nvSpPr>
          <p:cNvPr id="296" name="Google Shape;296;p31"/>
          <p:cNvSpPr txBox="1"/>
          <p:nvPr>
            <p:ph idx="12" type="sldNum"/>
          </p:nvPr>
        </p:nvSpPr>
        <p:spPr>
          <a:xfrm>
            <a:off x="7937088" y="48361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97" name="Google Shape;297;p31"/>
          <p:cNvSpPr/>
          <p:nvPr/>
        </p:nvSpPr>
        <p:spPr>
          <a:xfrm>
            <a:off x="148295" y="4354341"/>
            <a:ext cx="622505" cy="552473"/>
          </a:xfrm>
          <a:custGeom>
            <a:rect b="b" l="l" r="r" t="t"/>
            <a:pathLst>
              <a:path extrusionOk="0" h="1104946" w="1245010">
                <a:moveTo>
                  <a:pt x="0" y="0"/>
                </a:moveTo>
                <a:lnTo>
                  <a:pt x="1245010" y="0"/>
                </a:lnTo>
                <a:lnTo>
                  <a:pt x="1245010" y="1104946"/>
                </a:lnTo>
                <a:lnTo>
                  <a:pt x="0" y="1104946"/>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01" name="Shape 301"/>
        <p:cNvGrpSpPr/>
        <p:nvPr/>
      </p:nvGrpSpPr>
      <p:grpSpPr>
        <a:xfrm>
          <a:off x="0" y="0"/>
          <a:ext cx="0" cy="0"/>
          <a:chOff x="0" y="0"/>
          <a:chExt cx="0" cy="0"/>
        </a:xfrm>
      </p:grpSpPr>
      <p:sp>
        <p:nvSpPr>
          <p:cNvPr id="302" name="Google Shape;302;p32"/>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303" name="Google Shape;303;p32"/>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304" name="Google Shape;304;p32"/>
          <p:cNvSpPr/>
          <p:nvPr/>
        </p:nvSpPr>
        <p:spPr>
          <a:xfrm>
            <a:off x="4102875" y="2351225"/>
            <a:ext cx="5432999" cy="2105295"/>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305" name="Google Shape;305;p32"/>
          <p:cNvSpPr/>
          <p:nvPr/>
        </p:nvSpPr>
        <p:spPr>
          <a:xfrm>
            <a:off x="-403025" y="198874"/>
            <a:ext cx="4374009" cy="2105295"/>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306" name="Google Shape;306;p32"/>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307" name="Google Shape;307;p32"/>
          <p:cNvSpPr txBox="1"/>
          <p:nvPr/>
        </p:nvSpPr>
        <p:spPr>
          <a:xfrm>
            <a:off x="4164925" y="13760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a:t>
            </a:r>
            <a:r>
              <a:rPr lang="en" sz="3400">
                <a:solidFill>
                  <a:srgbClr val="272622"/>
                </a:solidFill>
              </a:rPr>
              <a:t>lustering Overview</a:t>
            </a:r>
            <a:endParaRPr sz="700"/>
          </a:p>
        </p:txBody>
      </p:sp>
      <p:sp>
        <p:nvSpPr>
          <p:cNvPr id="308" name="Google Shape;308;p32"/>
          <p:cNvSpPr/>
          <p:nvPr/>
        </p:nvSpPr>
        <p:spPr>
          <a:xfrm rot="465910">
            <a:off x="7473981" y="1785666"/>
            <a:ext cx="1972092" cy="3729725"/>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8">
              <a:alphaModFix/>
            </a:blip>
            <a:stretch>
              <a:fillRect b="0" l="0" r="0" t="0"/>
            </a:stretch>
          </a:blipFill>
          <a:ln>
            <a:noFill/>
          </a:ln>
        </p:spPr>
      </p:sp>
      <p:sp>
        <p:nvSpPr>
          <p:cNvPr id="309" name="Google Shape;309;p32"/>
          <p:cNvSpPr/>
          <p:nvPr/>
        </p:nvSpPr>
        <p:spPr>
          <a:xfrm rot="-915307">
            <a:off x="-103624" y="518075"/>
            <a:ext cx="1226423" cy="1747245"/>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9">
              <a:alphaModFix/>
            </a:blip>
            <a:stretch>
              <a:fillRect b="0" l="0" r="0" t="0"/>
            </a:stretch>
          </a:blipFill>
          <a:ln>
            <a:noFill/>
          </a:ln>
        </p:spPr>
      </p:sp>
      <p:sp>
        <p:nvSpPr>
          <p:cNvPr id="310" name="Google Shape;310;p32"/>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0">
              <a:alphaModFix amt="57000"/>
            </a:blip>
            <a:stretch>
              <a:fillRect b="0" l="-107609" r="-111809" t="-27711"/>
            </a:stretch>
          </a:blipFill>
          <a:ln>
            <a:noFill/>
          </a:ln>
        </p:spPr>
      </p:sp>
      <p:sp>
        <p:nvSpPr>
          <p:cNvPr id="311" name="Google Shape;311;p32"/>
          <p:cNvSpPr txBox="1"/>
          <p:nvPr/>
        </p:nvSpPr>
        <p:spPr>
          <a:xfrm>
            <a:off x="548950" y="2688525"/>
            <a:ext cx="3178500" cy="15393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1200"/>
              </a:spcAft>
              <a:buClr>
                <a:schemeClr val="dk1"/>
              </a:buClr>
              <a:buSzPts val="1100"/>
              <a:buFont typeface="Arial"/>
              <a:buNone/>
            </a:pPr>
            <a:r>
              <a:rPr lang="en" sz="1000">
                <a:solidFill>
                  <a:srgbClr val="272622"/>
                </a:solidFill>
              </a:rPr>
              <a:t>Clustering uncovered latent structure in body profiles and fit feedback in the RentTheRunway dataset. DBSCAN, K-Means, and GMM segmented users based on body measurements, while K-Modes captured patterns in categorical variables like fit outcome, clothing category, and occasion, revealing how body characteristics and rental context relate to fit outcomes.</a:t>
            </a:r>
            <a:endParaRPr sz="1000">
              <a:solidFill>
                <a:srgbClr val="272622"/>
              </a:solidFill>
            </a:endParaRPr>
          </a:p>
        </p:txBody>
      </p:sp>
      <p:sp>
        <p:nvSpPr>
          <p:cNvPr id="312" name="Google Shape;312;p32"/>
          <p:cNvSpPr txBox="1"/>
          <p:nvPr/>
        </p:nvSpPr>
        <p:spPr>
          <a:xfrm>
            <a:off x="-3097920" y="1230405"/>
            <a:ext cx="1201200" cy="1692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1" i="0" lang="en" sz="1100" u="none" cap="none" strike="noStrike">
                <a:solidFill>
                  <a:srgbClr val="272622"/>
                </a:solidFill>
                <a:latin typeface="Arial"/>
                <a:ea typeface="Arial"/>
                <a:cs typeface="Arial"/>
                <a:sym typeface="Arial"/>
              </a:rPr>
              <a:t>Borcelle Studio</a:t>
            </a:r>
            <a:endParaRPr sz="700"/>
          </a:p>
        </p:txBody>
      </p:sp>
      <p:pic>
        <p:nvPicPr>
          <p:cNvPr id="313" name="Google Shape;313;p32"/>
          <p:cNvPicPr preferRelativeResize="0"/>
          <p:nvPr/>
        </p:nvPicPr>
        <p:blipFill>
          <a:blip r:embed="rId11">
            <a:alphaModFix/>
          </a:blip>
          <a:stretch>
            <a:fillRect/>
          </a:stretch>
        </p:blipFill>
        <p:spPr>
          <a:xfrm>
            <a:off x="1637313" y="266149"/>
            <a:ext cx="2265714" cy="1970551"/>
          </a:xfrm>
          <a:prstGeom prst="rect">
            <a:avLst/>
          </a:prstGeom>
          <a:noFill/>
          <a:ln>
            <a:noFill/>
          </a:ln>
        </p:spPr>
      </p:pic>
      <p:pic>
        <p:nvPicPr>
          <p:cNvPr id="314" name="Google Shape;314;p32"/>
          <p:cNvPicPr preferRelativeResize="0"/>
          <p:nvPr/>
        </p:nvPicPr>
        <p:blipFill>
          <a:blip r:embed="rId12">
            <a:alphaModFix/>
          </a:blip>
          <a:stretch>
            <a:fillRect/>
          </a:stretch>
        </p:blipFill>
        <p:spPr>
          <a:xfrm>
            <a:off x="4164925" y="2386700"/>
            <a:ext cx="2723369" cy="2027926"/>
          </a:xfrm>
          <a:prstGeom prst="rect">
            <a:avLst/>
          </a:prstGeom>
          <a:noFill/>
          <a:ln>
            <a:noFill/>
          </a:ln>
        </p:spPr>
      </p:pic>
      <p:sp>
        <p:nvSpPr>
          <p:cNvPr id="315" name="Google Shape;315;p32"/>
          <p:cNvSpPr txBox="1"/>
          <p:nvPr>
            <p:ph idx="12" type="sldNum"/>
          </p:nvPr>
        </p:nvSpPr>
        <p:spPr>
          <a:xfrm>
            <a:off x="7926625" y="49206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16" name="Google Shape;316;p32"/>
          <p:cNvSpPr/>
          <p:nvPr/>
        </p:nvSpPr>
        <p:spPr>
          <a:xfrm>
            <a:off x="7317389" y="348937"/>
            <a:ext cx="464846" cy="529740"/>
          </a:xfrm>
          <a:custGeom>
            <a:rect b="b" l="l" r="r" t="t"/>
            <a:pathLst>
              <a:path extrusionOk="0" h="1059480" w="929693">
                <a:moveTo>
                  <a:pt x="0" y="0"/>
                </a:moveTo>
                <a:lnTo>
                  <a:pt x="929693" y="0"/>
                </a:lnTo>
                <a:lnTo>
                  <a:pt x="929693" y="1059479"/>
                </a:lnTo>
                <a:lnTo>
                  <a:pt x="0" y="1059479"/>
                </a:lnTo>
                <a:lnTo>
                  <a:pt x="0" y="0"/>
                </a:lnTo>
                <a:close/>
              </a:path>
            </a:pathLst>
          </a:custGeom>
          <a:blipFill rotWithShape="1">
            <a:blip r:embed="rId1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20" name="Shape 320"/>
        <p:cNvGrpSpPr/>
        <p:nvPr/>
      </p:nvGrpSpPr>
      <p:grpSpPr>
        <a:xfrm>
          <a:off x="0" y="0"/>
          <a:ext cx="0" cy="0"/>
          <a:chOff x="0" y="0"/>
          <a:chExt cx="0" cy="0"/>
        </a:xfrm>
      </p:grpSpPr>
      <p:sp>
        <p:nvSpPr>
          <p:cNvPr id="321" name="Google Shape;321;p33"/>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322" name="Google Shape;322;p33"/>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323" name="Google Shape;323;p33"/>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324" name="Google Shape;324;p33"/>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325" name="Google Shape;325;p33"/>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326" name="Google Shape;326;p33"/>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7" name="Google Shape;327;p33"/>
          <p:cNvSpPr/>
          <p:nvPr/>
        </p:nvSpPr>
        <p:spPr>
          <a:xfrm>
            <a:off x="3419875" y="1769168"/>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8" name="Google Shape;328;p33"/>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9" name="Google Shape;329;p33"/>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330" name="Google Shape;330;p33"/>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331" name="Google Shape;331;p33"/>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332" name="Google Shape;332;p33"/>
          <p:cNvSpPr/>
          <p:nvPr/>
        </p:nvSpPr>
        <p:spPr>
          <a:xfrm rot="1263482">
            <a:off x="-897961" y="-1048190"/>
            <a:ext cx="2295851" cy="2860873"/>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333" name="Google Shape;333;p33"/>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334" name="Google Shape;334;p33"/>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335" name="Google Shape;335;p33"/>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336" name="Google Shape;336;p33"/>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337" name="Google Shape;337;p33"/>
          <p:cNvSpPr/>
          <p:nvPr/>
        </p:nvSpPr>
        <p:spPr>
          <a:xfrm>
            <a:off x="5641129" y="1134127"/>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338" name="Google Shape;338;p33"/>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339" name="Google Shape;339;p33"/>
          <p:cNvSpPr txBox="1"/>
          <p:nvPr/>
        </p:nvSpPr>
        <p:spPr>
          <a:xfrm>
            <a:off x="2041904" y="228604"/>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LDA</a:t>
            </a:r>
            <a:r>
              <a:rPr lang="en" sz="3400">
                <a:solidFill>
                  <a:srgbClr val="272622"/>
                </a:solidFill>
              </a:rPr>
              <a:t> Methodology</a:t>
            </a:r>
            <a:endParaRPr sz="700"/>
          </a:p>
        </p:txBody>
      </p:sp>
      <p:sp>
        <p:nvSpPr>
          <p:cNvPr id="340" name="Google Shape;340;p33"/>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341" name="Google Shape;341;p33"/>
          <p:cNvSpPr txBox="1"/>
          <p:nvPr/>
        </p:nvSpPr>
        <p:spPr>
          <a:xfrm>
            <a:off x="1578650" y="1944825"/>
            <a:ext cx="14046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Text Preprocessing</a:t>
            </a:r>
            <a:endParaRPr sz="700"/>
          </a:p>
        </p:txBody>
      </p:sp>
      <p:sp>
        <p:nvSpPr>
          <p:cNvPr id="342" name="Google Shape;342;p33"/>
          <p:cNvSpPr txBox="1"/>
          <p:nvPr/>
        </p:nvSpPr>
        <p:spPr>
          <a:xfrm>
            <a:off x="1067150" y="2262650"/>
            <a:ext cx="2054700" cy="1954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 sz="1000">
                <a:solidFill>
                  <a:srgbClr val="272622"/>
                </a:solidFill>
              </a:rPr>
              <a:t>Review text was cleaned and normalized by converting all text to lowercase, removing punctuation and stopwords, and applying lemmatization. </a:t>
            </a:r>
            <a:endParaRPr sz="1000">
              <a:solidFill>
                <a:srgbClr val="272622"/>
              </a:solidFill>
            </a:endParaRPr>
          </a:p>
          <a:p>
            <a:pPr indent="0" lvl="0" marL="0" marR="0" rtl="0" algn="l">
              <a:lnSpc>
                <a:spcPct val="130000"/>
              </a:lnSpc>
              <a:spcBef>
                <a:spcPts val="0"/>
              </a:spcBef>
              <a:spcAft>
                <a:spcPts val="0"/>
              </a:spcAft>
              <a:buNone/>
            </a:pPr>
            <a:r>
              <a:t/>
            </a:r>
            <a:endParaRPr sz="1000">
              <a:solidFill>
                <a:srgbClr val="272622"/>
              </a:solidFill>
            </a:endParaRPr>
          </a:p>
          <a:p>
            <a:pPr indent="0" lvl="0" marL="0" marR="0" rtl="0" algn="l">
              <a:lnSpc>
                <a:spcPct val="130000"/>
              </a:lnSpc>
              <a:spcBef>
                <a:spcPts val="0"/>
              </a:spcBef>
              <a:spcAft>
                <a:spcPts val="0"/>
              </a:spcAft>
              <a:buNone/>
            </a:pPr>
            <a:r>
              <a:rPr lang="en" sz="1000">
                <a:solidFill>
                  <a:srgbClr val="272622"/>
                </a:solidFill>
              </a:rPr>
              <a:t>Domain-specific stopwords related to clothing and rentals were also removed to reduce noise and improve topic quality.</a:t>
            </a:r>
            <a:endParaRPr sz="700"/>
          </a:p>
        </p:txBody>
      </p:sp>
      <p:sp>
        <p:nvSpPr>
          <p:cNvPr id="343" name="Google Shape;343;p33"/>
          <p:cNvSpPr txBox="1"/>
          <p:nvPr/>
        </p:nvSpPr>
        <p:spPr>
          <a:xfrm>
            <a:off x="6512300" y="1862102"/>
            <a:ext cx="14895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Topic Selection and Feature Extraction</a:t>
            </a:r>
            <a:endParaRPr sz="700"/>
          </a:p>
        </p:txBody>
      </p:sp>
      <p:sp>
        <p:nvSpPr>
          <p:cNvPr id="344" name="Google Shape;344;p33"/>
          <p:cNvSpPr txBox="1"/>
          <p:nvPr/>
        </p:nvSpPr>
        <p:spPr>
          <a:xfrm>
            <a:off x="6105625" y="2362750"/>
            <a:ext cx="1938900" cy="17547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The model with the highest coherence score (k = 11 topics) was selected as the final model.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Topic probability distributions and dominant topics were extracted for each review and used as additional features for downstream predictive models.</a:t>
            </a:r>
            <a:endParaRPr sz="700"/>
          </a:p>
        </p:txBody>
      </p:sp>
      <p:sp>
        <p:nvSpPr>
          <p:cNvPr id="345" name="Google Shape;345;p33"/>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LDA Topic Modeling</a:t>
            </a:r>
            <a:endParaRPr sz="700"/>
          </a:p>
        </p:txBody>
      </p:sp>
      <p:sp>
        <p:nvSpPr>
          <p:cNvPr id="346" name="Google Shape;346;p33"/>
          <p:cNvSpPr txBox="1"/>
          <p:nvPr/>
        </p:nvSpPr>
        <p:spPr>
          <a:xfrm>
            <a:off x="3586450" y="2262700"/>
            <a:ext cx="20547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L</a:t>
            </a:r>
            <a:r>
              <a:rPr lang="en" sz="1000">
                <a:solidFill>
                  <a:srgbClr val="272622"/>
                </a:solidFill>
              </a:rPr>
              <a:t>atent Dirichlet </a:t>
            </a:r>
            <a:r>
              <a:rPr lang="en" sz="1000">
                <a:solidFill>
                  <a:srgbClr val="272622"/>
                </a:solidFill>
              </a:rPr>
              <a:t>Allocation (LDA) was applied to the processed reviews using a bag-of-words representation.</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Multiple models were trained with different numbers of topics, and topic coherence (c_v) was used to evaluate and compare model quality.</a:t>
            </a:r>
            <a:endParaRPr sz="700"/>
          </a:p>
        </p:txBody>
      </p:sp>
      <p:sp>
        <p:nvSpPr>
          <p:cNvPr id="347" name="Google Shape;347;p33"/>
          <p:cNvSpPr txBox="1"/>
          <p:nvPr>
            <p:ph idx="12" type="sldNum"/>
          </p:nvPr>
        </p:nvSpPr>
        <p:spPr>
          <a:xfrm>
            <a:off x="8001800" y="48832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48" name="Google Shape;348;p33"/>
          <p:cNvSpPr/>
          <p:nvPr/>
        </p:nvSpPr>
        <p:spPr>
          <a:xfrm>
            <a:off x="225083" y="4355749"/>
            <a:ext cx="686859" cy="529740"/>
          </a:xfrm>
          <a:custGeom>
            <a:rect b="b" l="l" r="r" t="t"/>
            <a:pathLst>
              <a:path extrusionOk="0" h="1059480" w="1373717">
                <a:moveTo>
                  <a:pt x="0" y="0"/>
                </a:moveTo>
                <a:lnTo>
                  <a:pt x="1373717" y="0"/>
                </a:lnTo>
                <a:lnTo>
                  <a:pt x="1373717" y="1059479"/>
                </a:lnTo>
                <a:lnTo>
                  <a:pt x="0" y="1059479"/>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52" name="Shape 352"/>
        <p:cNvGrpSpPr/>
        <p:nvPr/>
      </p:nvGrpSpPr>
      <p:grpSpPr>
        <a:xfrm>
          <a:off x="0" y="0"/>
          <a:ext cx="0" cy="0"/>
          <a:chOff x="0" y="0"/>
          <a:chExt cx="0" cy="0"/>
        </a:xfrm>
      </p:grpSpPr>
      <p:sp>
        <p:nvSpPr>
          <p:cNvPr id="353" name="Google Shape;353;p34"/>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354" name="Google Shape;354;p34"/>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355" name="Google Shape;355;p34"/>
          <p:cNvSpPr/>
          <p:nvPr/>
        </p:nvSpPr>
        <p:spPr>
          <a:xfrm>
            <a:off x="3565775" y="2656725"/>
            <a:ext cx="5541659" cy="1832224"/>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356" name="Google Shape;356;p34"/>
          <p:cNvSpPr/>
          <p:nvPr/>
        </p:nvSpPr>
        <p:spPr>
          <a:xfrm>
            <a:off x="56275" y="538350"/>
            <a:ext cx="4505229" cy="1761754"/>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357" name="Google Shape;357;p34"/>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358" name="Google Shape;358;p34"/>
          <p:cNvSpPr txBox="1"/>
          <p:nvPr/>
        </p:nvSpPr>
        <p:spPr>
          <a:xfrm>
            <a:off x="5117425" y="12515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LDA</a:t>
            </a:r>
            <a:r>
              <a:rPr lang="en" sz="3400">
                <a:solidFill>
                  <a:srgbClr val="272622"/>
                </a:solidFill>
              </a:rPr>
              <a:t> Overview</a:t>
            </a:r>
            <a:endParaRPr sz="700"/>
          </a:p>
        </p:txBody>
      </p:sp>
      <p:sp>
        <p:nvSpPr>
          <p:cNvPr id="359" name="Google Shape;359;p34"/>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8">
              <a:alphaModFix amt="57000"/>
            </a:blip>
            <a:stretch>
              <a:fillRect b="0" l="-107609" r="-111809" t="-27711"/>
            </a:stretch>
          </a:blipFill>
          <a:ln>
            <a:noFill/>
          </a:ln>
        </p:spPr>
      </p:sp>
      <p:sp>
        <p:nvSpPr>
          <p:cNvPr id="360" name="Google Shape;360;p34"/>
          <p:cNvSpPr txBox="1"/>
          <p:nvPr/>
        </p:nvSpPr>
        <p:spPr>
          <a:xfrm>
            <a:off x="250600" y="2691950"/>
            <a:ext cx="3184500" cy="2065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chemeClr val="dk1"/>
                </a:solidFill>
              </a:rPr>
              <a:t>LDA identified </a:t>
            </a:r>
            <a:r>
              <a:rPr b="1" lang="en" sz="1100">
                <a:solidFill>
                  <a:schemeClr val="dk1"/>
                </a:solidFill>
              </a:rPr>
              <a:t>11 meaningful topics</a:t>
            </a:r>
            <a:r>
              <a:rPr lang="en" sz="1100">
                <a:solidFill>
                  <a:schemeClr val="dk1"/>
                </a:solidFill>
              </a:rPr>
              <a:t> in RentTheRunway reviews related to sizing, fabric, styling, and rental experiences. </a:t>
            </a:r>
            <a:endParaRPr sz="1100">
              <a:solidFill>
                <a:schemeClr val="dk1"/>
              </a:solidFill>
            </a:endParaRPr>
          </a:p>
          <a:p>
            <a:pPr indent="0" lvl="0" marL="0" marR="0" rtl="0" algn="l">
              <a:lnSpc>
                <a:spcPct val="140000"/>
              </a:lnSpc>
              <a:spcBef>
                <a:spcPts val="0"/>
              </a:spcBef>
              <a:spcAft>
                <a:spcPts val="0"/>
              </a:spcAft>
              <a:buNone/>
            </a:pPr>
            <a:r>
              <a:t/>
            </a:r>
            <a:endParaRPr sz="1100">
              <a:solidFill>
                <a:schemeClr val="dk1"/>
              </a:solidFill>
            </a:endParaRPr>
          </a:p>
          <a:p>
            <a:pPr indent="0" lvl="0" marL="0" marR="0" rtl="0" algn="l">
              <a:lnSpc>
                <a:spcPct val="140000"/>
              </a:lnSpc>
              <a:spcBef>
                <a:spcPts val="0"/>
              </a:spcBef>
              <a:spcAft>
                <a:spcPts val="0"/>
              </a:spcAft>
              <a:buNone/>
            </a:pPr>
            <a:r>
              <a:rPr lang="en" sz="1100">
                <a:solidFill>
                  <a:schemeClr val="dk1"/>
                </a:solidFill>
              </a:rPr>
              <a:t>Reviews labeled </a:t>
            </a:r>
            <a:r>
              <a:rPr b="1" lang="en" sz="1100">
                <a:solidFill>
                  <a:schemeClr val="dk1"/>
                </a:solidFill>
              </a:rPr>
              <a:t>“Small” or “Large” contained more sizing-related language</a:t>
            </a:r>
            <a:r>
              <a:rPr lang="en" sz="1100">
                <a:solidFill>
                  <a:schemeClr val="dk1"/>
                </a:solidFill>
              </a:rPr>
              <a:t>, while </a:t>
            </a:r>
            <a:r>
              <a:rPr b="1" lang="en" sz="1100">
                <a:solidFill>
                  <a:schemeClr val="dk1"/>
                </a:solidFill>
              </a:rPr>
              <a:t>“Fit” reviews emphasized positive experiences</a:t>
            </a:r>
            <a:r>
              <a:rPr lang="en" sz="1100">
                <a:solidFill>
                  <a:schemeClr val="dk1"/>
                </a:solidFill>
              </a:rPr>
              <a:t>, indicating that topic patterns capture useful signals for predicting clothing fit.</a:t>
            </a:r>
            <a:endParaRPr sz="700"/>
          </a:p>
        </p:txBody>
      </p:sp>
      <p:sp>
        <p:nvSpPr>
          <p:cNvPr id="361" name="Google Shape;361;p34"/>
          <p:cNvSpPr txBox="1"/>
          <p:nvPr/>
        </p:nvSpPr>
        <p:spPr>
          <a:xfrm>
            <a:off x="4929055" y="870317"/>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pic>
        <p:nvPicPr>
          <p:cNvPr id="362" name="Google Shape;362;p34"/>
          <p:cNvPicPr preferRelativeResize="0"/>
          <p:nvPr/>
        </p:nvPicPr>
        <p:blipFill>
          <a:blip r:embed="rId9">
            <a:alphaModFix/>
          </a:blip>
          <a:stretch>
            <a:fillRect/>
          </a:stretch>
        </p:blipFill>
        <p:spPr>
          <a:xfrm>
            <a:off x="106975" y="620350"/>
            <a:ext cx="4374025" cy="1588575"/>
          </a:xfrm>
          <a:prstGeom prst="rect">
            <a:avLst/>
          </a:prstGeom>
          <a:noFill/>
          <a:ln>
            <a:noFill/>
          </a:ln>
        </p:spPr>
      </p:pic>
      <p:pic>
        <p:nvPicPr>
          <p:cNvPr id="363" name="Google Shape;363;p34"/>
          <p:cNvPicPr preferRelativeResize="0"/>
          <p:nvPr/>
        </p:nvPicPr>
        <p:blipFill>
          <a:blip r:embed="rId10">
            <a:alphaModFix/>
          </a:blip>
          <a:stretch>
            <a:fillRect/>
          </a:stretch>
        </p:blipFill>
        <p:spPr>
          <a:xfrm>
            <a:off x="3607350" y="2691962"/>
            <a:ext cx="5458499" cy="1761750"/>
          </a:xfrm>
          <a:prstGeom prst="rect">
            <a:avLst/>
          </a:prstGeom>
          <a:noFill/>
          <a:ln>
            <a:noFill/>
          </a:ln>
        </p:spPr>
      </p:pic>
      <p:sp>
        <p:nvSpPr>
          <p:cNvPr id="364" name="Google Shape;364;p34"/>
          <p:cNvSpPr txBox="1"/>
          <p:nvPr>
            <p:ph idx="12" type="sldNum"/>
          </p:nvPr>
        </p:nvSpPr>
        <p:spPr>
          <a:xfrm>
            <a:off x="8014529" y="48754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65" name="Google Shape;365;p34"/>
          <p:cNvSpPr/>
          <p:nvPr/>
        </p:nvSpPr>
        <p:spPr>
          <a:xfrm>
            <a:off x="7737706" y="417639"/>
            <a:ext cx="501370" cy="552473"/>
          </a:xfrm>
          <a:custGeom>
            <a:rect b="b" l="l" r="r" t="t"/>
            <a:pathLst>
              <a:path extrusionOk="0" h="1104946" w="1002739">
                <a:moveTo>
                  <a:pt x="0" y="0"/>
                </a:moveTo>
                <a:lnTo>
                  <a:pt x="1002738" y="0"/>
                </a:lnTo>
                <a:lnTo>
                  <a:pt x="1002738" y="1104946"/>
                </a:lnTo>
                <a:lnTo>
                  <a:pt x="0" y="1104946"/>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69" name="Shape 369"/>
        <p:cNvGrpSpPr/>
        <p:nvPr/>
      </p:nvGrpSpPr>
      <p:grpSpPr>
        <a:xfrm>
          <a:off x="0" y="0"/>
          <a:ext cx="0" cy="0"/>
          <a:chOff x="0" y="0"/>
          <a:chExt cx="0" cy="0"/>
        </a:xfrm>
      </p:grpSpPr>
      <p:sp>
        <p:nvSpPr>
          <p:cNvPr id="370" name="Google Shape;370;p35"/>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371" name="Google Shape;371;p35"/>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372" name="Google Shape;372;p35"/>
          <p:cNvSpPr/>
          <p:nvPr/>
        </p:nvSpPr>
        <p:spPr>
          <a:xfrm>
            <a:off x="-226799" y="4278475"/>
            <a:ext cx="9597603" cy="906902"/>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373" name="Google Shape;373;p35"/>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374" name="Google Shape;374;p35"/>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375" name="Google Shape;375;p35"/>
          <p:cNvSpPr/>
          <p:nvPr/>
        </p:nvSpPr>
        <p:spPr>
          <a:xfrm>
            <a:off x="957153" y="2392200"/>
            <a:ext cx="7351889" cy="2236943"/>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376" name="Google Shape;376;p35"/>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2: Supervised Models</a:t>
            </a:r>
            <a:endParaRPr sz="700"/>
          </a:p>
        </p:txBody>
      </p:sp>
      <p:sp>
        <p:nvSpPr>
          <p:cNvPr id="377" name="Google Shape;377;p35"/>
          <p:cNvSpPr txBox="1"/>
          <p:nvPr/>
        </p:nvSpPr>
        <p:spPr>
          <a:xfrm>
            <a:off x="957125" y="1168925"/>
            <a:ext cx="2340600" cy="960300"/>
          </a:xfrm>
          <a:prstGeom prst="rect">
            <a:avLst/>
          </a:prstGeom>
          <a:noFill/>
          <a:ln>
            <a:noFill/>
          </a:ln>
        </p:spPr>
        <p:txBody>
          <a:bodyPr anchorCtr="0" anchor="t" bIns="0" lIns="0" spcFirstLastPara="1" rIns="0" wrap="square" tIns="0">
            <a:spAutoFit/>
          </a:bodyPr>
          <a:lstStyle/>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Bagging</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CART</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Kernel SVM</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KNN</a:t>
            </a:r>
            <a:endParaRPr b="1" sz="1200">
              <a:solidFill>
                <a:srgbClr val="272622"/>
              </a:solidFill>
            </a:endParaRPr>
          </a:p>
        </p:txBody>
      </p:sp>
      <p:sp>
        <p:nvSpPr>
          <p:cNvPr id="378" name="Google Shape;378;p35"/>
          <p:cNvSpPr txBox="1"/>
          <p:nvPr/>
        </p:nvSpPr>
        <p:spPr>
          <a:xfrm>
            <a:off x="1115000" y="2692575"/>
            <a:ext cx="7095000" cy="142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a:solidFill>
                  <a:srgbClr val="272622"/>
                </a:solidFill>
              </a:rPr>
              <a:t>These seven models were chosen because fit prediction is driven by a mix of continuous measurements, categorical features, and probabilistic text signals. We ran multiple models to ensure the pipeline captures every dimension of the problem. Cross-validating all seven then allows the best-performing model to be selected with confidence, giving the business a reliable, generalizable tool for telling customers whether clothes will fit.</a:t>
            </a:r>
            <a:endParaRPr>
              <a:solidFill>
                <a:srgbClr val="272622"/>
              </a:solidFill>
            </a:endParaRPr>
          </a:p>
        </p:txBody>
      </p:sp>
      <p:sp>
        <p:nvSpPr>
          <p:cNvPr id="379" name="Google Shape;379;p35"/>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380" name="Google Shape;380;p35"/>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381" name="Google Shape;381;p35"/>
          <p:cNvSpPr txBox="1"/>
          <p:nvPr/>
        </p:nvSpPr>
        <p:spPr>
          <a:xfrm>
            <a:off x="3348450" y="1162325"/>
            <a:ext cx="2447100" cy="973500"/>
          </a:xfrm>
          <a:prstGeom prst="rect">
            <a:avLst/>
          </a:prstGeom>
          <a:noFill/>
          <a:ln>
            <a:noFill/>
          </a:ln>
        </p:spPr>
        <p:txBody>
          <a:bodyPr anchorCtr="0" anchor="t" bIns="91425" lIns="91425" spcFirstLastPara="1" rIns="91425" wrap="square" tIns="91425">
            <a:noAutofit/>
          </a:bodyPr>
          <a:lstStyle/>
          <a:p>
            <a:pPr indent="-304800" lvl="0" marL="457200" rtl="0" algn="l">
              <a:lnSpc>
                <a:spcPct val="140000"/>
              </a:lnSpc>
              <a:spcBef>
                <a:spcPts val="0"/>
              </a:spcBef>
              <a:spcAft>
                <a:spcPts val="0"/>
              </a:spcAft>
              <a:buClr>
                <a:schemeClr val="dk1"/>
              </a:buClr>
              <a:buSzPts val="1200"/>
              <a:buChar char="●"/>
            </a:pPr>
            <a:r>
              <a:rPr b="1" lang="en" sz="1200">
                <a:solidFill>
                  <a:schemeClr val="dk1"/>
                </a:solidFill>
              </a:rPr>
              <a:t>Linear SVM</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Naive Bayes</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Random Forest</a:t>
            </a:r>
            <a:endParaRPr b="1" sz="1200">
              <a:solidFill>
                <a:schemeClr val="dk1"/>
              </a:solidFill>
            </a:endParaRPr>
          </a:p>
        </p:txBody>
      </p:sp>
      <p:sp>
        <p:nvSpPr>
          <p:cNvPr id="382" name="Google Shape;382;p35"/>
          <p:cNvSpPr txBox="1"/>
          <p:nvPr>
            <p:ph idx="12" type="sldNum"/>
          </p:nvPr>
        </p:nvSpPr>
        <p:spPr>
          <a:xfrm>
            <a:off x="7959775" y="48825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35"/>
          <p:cNvSpPr/>
          <p:nvPr/>
        </p:nvSpPr>
        <p:spPr>
          <a:xfrm>
            <a:off x="2" y="4467062"/>
            <a:ext cx="725671" cy="529740"/>
          </a:xfrm>
          <a:custGeom>
            <a:rect b="b" l="l" r="r" t="t"/>
            <a:pathLst>
              <a:path extrusionOk="0" h="1059480" w="1451342">
                <a:moveTo>
                  <a:pt x="0" y="0"/>
                </a:moveTo>
                <a:lnTo>
                  <a:pt x="1451341" y="0"/>
                </a:lnTo>
                <a:lnTo>
                  <a:pt x="1451341" y="1059479"/>
                </a:lnTo>
                <a:lnTo>
                  <a:pt x="0" y="1059479"/>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87" name="Shape 387"/>
        <p:cNvGrpSpPr/>
        <p:nvPr/>
      </p:nvGrpSpPr>
      <p:grpSpPr>
        <a:xfrm>
          <a:off x="0" y="0"/>
          <a:ext cx="0" cy="0"/>
          <a:chOff x="0" y="0"/>
          <a:chExt cx="0" cy="0"/>
        </a:xfrm>
      </p:grpSpPr>
      <p:sp>
        <p:nvSpPr>
          <p:cNvPr id="388" name="Google Shape;388;p36"/>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389" name="Google Shape;389;p36"/>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390" name="Google Shape;390;p36"/>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391" name="Google Shape;391;p36"/>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392" name="Google Shape;392;p36"/>
          <p:cNvSpPr/>
          <p:nvPr/>
        </p:nvSpPr>
        <p:spPr>
          <a:xfrm rot="-1225340">
            <a:off x="7338093" y="65522"/>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393" name="Google Shape;393;p36"/>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4" name="Google Shape;394;p36"/>
          <p:cNvSpPr/>
          <p:nvPr/>
        </p:nvSpPr>
        <p:spPr>
          <a:xfrm>
            <a:off x="3419863" y="1769168"/>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5" name="Google Shape;395;p36"/>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6" name="Google Shape;396;p36"/>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397" name="Google Shape;397;p36"/>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398" name="Google Shape;398;p36"/>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399" name="Google Shape;399;p36"/>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1">
              <a:alphaModFix/>
            </a:blip>
            <a:stretch>
              <a:fillRect b="0" l="0" r="0" t="0"/>
            </a:stretch>
          </a:blipFill>
          <a:ln>
            <a:noFill/>
          </a:ln>
        </p:spPr>
      </p:sp>
      <p:sp>
        <p:nvSpPr>
          <p:cNvPr id="400" name="Google Shape;400;p36"/>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2">
              <a:alphaModFix/>
            </a:blip>
            <a:stretch>
              <a:fillRect b="0" l="0" r="0" t="0"/>
            </a:stretch>
          </a:blipFill>
          <a:ln>
            <a:noFill/>
          </a:ln>
        </p:spPr>
      </p:sp>
      <p:sp>
        <p:nvSpPr>
          <p:cNvPr id="401" name="Google Shape;401;p36"/>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402" name="Google Shape;402;p36"/>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4">
              <a:alphaModFix amt="57000"/>
            </a:blip>
            <a:stretch>
              <a:fillRect b="0" l="-12740" r="-13100" t="-209674"/>
            </a:stretch>
          </a:blipFill>
          <a:ln>
            <a:noFill/>
          </a:ln>
        </p:spPr>
      </p:sp>
      <p:sp>
        <p:nvSpPr>
          <p:cNvPr id="403" name="Google Shape;403;p36"/>
          <p:cNvSpPr/>
          <p:nvPr/>
        </p:nvSpPr>
        <p:spPr>
          <a:xfrm>
            <a:off x="4931979" y="1275914"/>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5">
              <a:alphaModFix/>
            </a:blip>
            <a:stretch>
              <a:fillRect b="0" l="0" r="0" t="0"/>
            </a:stretch>
          </a:blipFill>
          <a:ln>
            <a:noFill/>
          </a:ln>
        </p:spPr>
      </p:sp>
      <p:sp>
        <p:nvSpPr>
          <p:cNvPr id="404" name="Google Shape;404;p36"/>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5">
              <a:alphaModFix/>
            </a:blip>
            <a:stretch>
              <a:fillRect b="0" l="0" r="0" t="0"/>
            </a:stretch>
          </a:blipFill>
          <a:ln>
            <a:noFill/>
          </a:ln>
        </p:spPr>
      </p:sp>
      <p:sp>
        <p:nvSpPr>
          <p:cNvPr id="405" name="Google Shape;405;p36"/>
          <p:cNvSpPr txBox="1"/>
          <p:nvPr/>
        </p:nvSpPr>
        <p:spPr>
          <a:xfrm>
            <a:off x="2041904" y="228604"/>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Models</a:t>
            </a:r>
            <a:r>
              <a:rPr lang="en" sz="3400">
                <a:solidFill>
                  <a:srgbClr val="272622"/>
                </a:solidFill>
              </a:rPr>
              <a:t> Methodology</a:t>
            </a:r>
            <a:endParaRPr sz="700"/>
          </a:p>
        </p:txBody>
      </p:sp>
      <p:sp>
        <p:nvSpPr>
          <p:cNvPr id="406" name="Google Shape;406;p36"/>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407" name="Google Shape;407;p36"/>
          <p:cNvSpPr txBox="1"/>
          <p:nvPr/>
        </p:nvSpPr>
        <p:spPr>
          <a:xfrm>
            <a:off x="1578650"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 Engineering</a:t>
            </a:r>
            <a:endParaRPr sz="700"/>
          </a:p>
        </p:txBody>
      </p:sp>
      <p:sp>
        <p:nvSpPr>
          <p:cNvPr id="408" name="Google Shape;408;p36"/>
          <p:cNvSpPr txBox="1"/>
          <p:nvPr/>
        </p:nvSpPr>
        <p:spPr>
          <a:xfrm flipH="1">
            <a:off x="6554800" y="1946568"/>
            <a:ext cx="14895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Evaluation</a:t>
            </a:r>
            <a:endParaRPr sz="700"/>
          </a:p>
        </p:txBody>
      </p:sp>
      <p:sp>
        <p:nvSpPr>
          <p:cNvPr id="409" name="Google Shape;409;p36"/>
          <p:cNvSpPr txBox="1"/>
          <p:nvPr/>
        </p:nvSpPr>
        <p:spPr>
          <a:xfrm>
            <a:off x="6036725" y="2262675"/>
            <a:ext cx="20169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The best model from cross-validation was evaluated on a held-out test set.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Performance was assessed using classification reports and confusion matrices, and predicted class probabilities were saved to analyze model confidence and fit prediction behavior.</a:t>
            </a:r>
            <a:endParaRPr sz="700"/>
          </a:p>
        </p:txBody>
      </p:sp>
      <p:sp>
        <p:nvSpPr>
          <p:cNvPr id="410" name="Google Shape;410;p36"/>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Training</a:t>
            </a:r>
            <a:endParaRPr sz="700"/>
          </a:p>
        </p:txBody>
      </p:sp>
      <p:sp>
        <p:nvSpPr>
          <p:cNvPr id="411" name="Google Shape;411;p36"/>
          <p:cNvSpPr txBox="1"/>
          <p:nvPr/>
        </p:nvSpPr>
        <p:spPr>
          <a:xfrm>
            <a:off x="3563000" y="2262700"/>
            <a:ext cx="20781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Models were implemented using scikit-learn pipelines that integrate preprocessing and model estimation.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Hyperparameters were tuned using GridSearchCV with five-fold stratified cross-validation, using macro F1-score to account for class imbalance across the three fit categories.</a:t>
            </a:r>
            <a:endParaRPr sz="700"/>
          </a:p>
        </p:txBody>
      </p:sp>
      <p:sp>
        <p:nvSpPr>
          <p:cNvPr id="412" name="Google Shape;412;p36"/>
          <p:cNvSpPr/>
          <p:nvPr/>
        </p:nvSpPr>
        <p:spPr>
          <a:xfrm rot="863317">
            <a:off x="251536" y="-543693"/>
            <a:ext cx="1414007" cy="2117548"/>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16">
              <a:alphaModFix/>
            </a:blip>
            <a:stretch>
              <a:fillRect b="0" l="0" r="0" t="0"/>
            </a:stretch>
          </a:blipFill>
          <a:ln>
            <a:noFill/>
          </a:ln>
        </p:spPr>
      </p:sp>
      <p:sp>
        <p:nvSpPr>
          <p:cNvPr id="413" name="Google Shape;413;p36"/>
          <p:cNvSpPr txBox="1"/>
          <p:nvPr>
            <p:ph idx="12" type="sldNum"/>
          </p:nvPr>
        </p:nvSpPr>
        <p:spPr>
          <a:xfrm>
            <a:off x="8044450" y="4836163"/>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4" name="Google Shape;414;p36"/>
          <p:cNvSpPr txBox="1"/>
          <p:nvPr/>
        </p:nvSpPr>
        <p:spPr>
          <a:xfrm>
            <a:off x="1068200" y="2262700"/>
            <a:ext cx="2016900" cy="1954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 sz="1000">
                <a:solidFill>
                  <a:srgbClr val="272622"/>
                </a:solidFill>
              </a:rPr>
              <a:t>Body measurements were combined with cluster features from DBSCAN, GMM, and K-Means and topic features from LDA. </a:t>
            </a:r>
            <a:endParaRPr sz="1000">
              <a:solidFill>
                <a:srgbClr val="272622"/>
              </a:solidFill>
            </a:endParaRPr>
          </a:p>
          <a:p>
            <a:pPr indent="0" lvl="0" marL="0" marR="0" rtl="0" algn="l">
              <a:lnSpc>
                <a:spcPct val="130000"/>
              </a:lnSpc>
              <a:spcBef>
                <a:spcPts val="0"/>
              </a:spcBef>
              <a:spcAft>
                <a:spcPts val="0"/>
              </a:spcAft>
              <a:buNone/>
            </a:pPr>
            <a:r>
              <a:t/>
            </a:r>
            <a:endParaRPr sz="1000">
              <a:solidFill>
                <a:srgbClr val="272622"/>
              </a:solidFill>
            </a:endParaRPr>
          </a:p>
          <a:p>
            <a:pPr indent="0" lvl="0" marL="0" marR="0" rtl="0" algn="l">
              <a:lnSpc>
                <a:spcPct val="130000"/>
              </a:lnSpc>
              <a:spcBef>
                <a:spcPts val="0"/>
              </a:spcBef>
              <a:spcAft>
                <a:spcPts val="0"/>
              </a:spcAft>
              <a:buNone/>
            </a:pPr>
            <a:r>
              <a:rPr lang="en" sz="1000">
                <a:solidFill>
                  <a:srgbClr val="272622"/>
                </a:solidFill>
              </a:rPr>
              <a:t>Numeric variables were imputed and standardized, cluster features were one-hot encoded, and a DBSCAN outlier indicator was included.</a:t>
            </a:r>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18" name="Shape 418"/>
        <p:cNvGrpSpPr/>
        <p:nvPr/>
      </p:nvGrpSpPr>
      <p:grpSpPr>
        <a:xfrm>
          <a:off x="0" y="0"/>
          <a:ext cx="0" cy="0"/>
          <a:chOff x="0" y="0"/>
          <a:chExt cx="0" cy="0"/>
        </a:xfrm>
      </p:grpSpPr>
      <p:sp>
        <p:nvSpPr>
          <p:cNvPr id="419" name="Google Shape;419;p37"/>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420" name="Google Shape;420;p37"/>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421" name="Google Shape;421;p37"/>
          <p:cNvSpPr/>
          <p:nvPr/>
        </p:nvSpPr>
        <p:spPr>
          <a:xfrm>
            <a:off x="4102875" y="2686575"/>
            <a:ext cx="5432999" cy="2105295"/>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422" name="Google Shape;422;p37"/>
          <p:cNvSpPr/>
          <p:nvPr/>
        </p:nvSpPr>
        <p:spPr>
          <a:xfrm>
            <a:off x="-403025" y="286599"/>
            <a:ext cx="4374009" cy="2017208"/>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423" name="Google Shape;423;p37"/>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424" name="Google Shape;424;p37"/>
          <p:cNvSpPr txBox="1"/>
          <p:nvPr/>
        </p:nvSpPr>
        <p:spPr>
          <a:xfrm>
            <a:off x="4306050" y="12515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Modeling</a:t>
            </a:r>
            <a:r>
              <a:rPr lang="en" sz="3400">
                <a:solidFill>
                  <a:srgbClr val="272622"/>
                </a:solidFill>
              </a:rPr>
              <a:t> Overview</a:t>
            </a:r>
            <a:endParaRPr sz="700"/>
          </a:p>
        </p:txBody>
      </p:sp>
      <p:sp>
        <p:nvSpPr>
          <p:cNvPr id="425" name="Google Shape;425;p37"/>
          <p:cNvSpPr/>
          <p:nvPr/>
        </p:nvSpPr>
        <p:spPr>
          <a:xfrm>
            <a:off x="-2847100" y="819714"/>
            <a:ext cx="1558397" cy="287720"/>
          </a:xfrm>
          <a:custGeom>
            <a:rect b="b" l="l" r="r" t="t"/>
            <a:pathLst>
              <a:path extrusionOk="0" h="575440" w="3116794">
                <a:moveTo>
                  <a:pt x="0" y="0"/>
                </a:moveTo>
                <a:lnTo>
                  <a:pt x="3116794" y="0"/>
                </a:lnTo>
                <a:lnTo>
                  <a:pt x="3116794" y="575440"/>
                </a:lnTo>
                <a:lnTo>
                  <a:pt x="0" y="575440"/>
                </a:lnTo>
                <a:lnTo>
                  <a:pt x="0" y="0"/>
                </a:lnTo>
                <a:close/>
              </a:path>
            </a:pathLst>
          </a:custGeom>
          <a:blipFill rotWithShape="1">
            <a:blip r:embed="rId8">
              <a:alphaModFix/>
            </a:blip>
            <a:stretch>
              <a:fillRect b="-50369" l="-4510" r="-3570" t="-57449"/>
            </a:stretch>
          </a:blipFill>
          <a:ln cap="rnd" cmpd="sng" w="28575">
            <a:solidFill>
              <a:srgbClr val="F8D5D7"/>
            </a:solidFill>
            <a:prstDash val="solid"/>
            <a:round/>
            <a:headEnd len="sm" w="sm" type="none"/>
            <a:tailEnd len="sm" w="sm" type="none"/>
          </a:ln>
        </p:spPr>
      </p:sp>
      <p:sp>
        <p:nvSpPr>
          <p:cNvPr id="426" name="Google Shape;426;p37"/>
          <p:cNvSpPr/>
          <p:nvPr/>
        </p:nvSpPr>
        <p:spPr>
          <a:xfrm rot="-5400000">
            <a:off x="-1626126" y="734475"/>
            <a:ext cx="134136" cy="154848"/>
          </a:xfrm>
          <a:custGeom>
            <a:rect b="b" l="l" r="r" t="t"/>
            <a:pathLst>
              <a:path extrusionOk="0" h="309695" w="268273">
                <a:moveTo>
                  <a:pt x="0" y="0"/>
                </a:moveTo>
                <a:lnTo>
                  <a:pt x="268273" y="0"/>
                </a:lnTo>
                <a:lnTo>
                  <a:pt x="268273" y="309694"/>
                </a:lnTo>
                <a:lnTo>
                  <a:pt x="0" y="309694"/>
                </a:lnTo>
                <a:lnTo>
                  <a:pt x="0" y="0"/>
                </a:lnTo>
                <a:close/>
              </a:path>
            </a:pathLst>
          </a:custGeom>
          <a:blipFill rotWithShape="1">
            <a:blip r:embed="rId9">
              <a:alphaModFix/>
            </a:blip>
            <a:stretch>
              <a:fillRect b="0" l="0" r="0" t="0"/>
            </a:stretch>
          </a:blipFill>
          <a:ln>
            <a:noFill/>
          </a:ln>
        </p:spPr>
      </p:sp>
      <p:sp>
        <p:nvSpPr>
          <p:cNvPr id="427" name="Google Shape;427;p37"/>
          <p:cNvSpPr/>
          <p:nvPr/>
        </p:nvSpPr>
        <p:spPr>
          <a:xfrm rot="980163">
            <a:off x="435041" y="139050"/>
            <a:ext cx="1192933" cy="2256138"/>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10">
              <a:alphaModFix/>
            </a:blip>
            <a:stretch>
              <a:fillRect b="0" l="0" r="0" t="0"/>
            </a:stretch>
          </a:blipFill>
          <a:ln>
            <a:noFill/>
          </a:ln>
        </p:spPr>
      </p:sp>
      <p:sp>
        <p:nvSpPr>
          <p:cNvPr id="428" name="Google Shape;428;p37"/>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1">
              <a:alphaModFix amt="57000"/>
            </a:blip>
            <a:stretch>
              <a:fillRect b="0" l="-107609" r="-111809" t="-27711"/>
            </a:stretch>
          </a:blipFill>
          <a:ln>
            <a:noFill/>
          </a:ln>
        </p:spPr>
      </p:sp>
      <p:sp>
        <p:nvSpPr>
          <p:cNvPr id="429" name="Google Shape;429;p37"/>
          <p:cNvSpPr txBox="1"/>
          <p:nvPr/>
        </p:nvSpPr>
        <p:spPr>
          <a:xfrm>
            <a:off x="374075" y="2571750"/>
            <a:ext cx="3597000" cy="1881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Multiple models were tested to predict fit outcomes (Small, Fit, Large) using body measurements, clustering, and topic features. </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Nonlinear models performed best: </a:t>
            </a:r>
            <a:r>
              <a:rPr b="1" lang="en" sz="1100">
                <a:solidFill>
                  <a:schemeClr val="dk1"/>
                </a:solidFill>
              </a:rPr>
              <a:t>Kernel SVM reached 82% accuracy and KNN achieved the highest performance at 91% accuracy (0.90 F1)</a:t>
            </a:r>
            <a:r>
              <a:rPr lang="en" sz="1100">
                <a:solidFill>
                  <a:schemeClr val="dk1"/>
                </a:solidFill>
              </a:rPr>
              <a:t>, while tree models performed moderately and Linear SVM and Naive Bayes struggled due to class imbalance and model assumptions.</a:t>
            </a:r>
            <a:endParaRPr sz="1000">
              <a:solidFill>
                <a:schemeClr val="dk1"/>
              </a:solidFill>
            </a:endParaRPr>
          </a:p>
        </p:txBody>
      </p:sp>
      <p:sp>
        <p:nvSpPr>
          <p:cNvPr id="430" name="Google Shape;430;p37"/>
          <p:cNvSpPr txBox="1"/>
          <p:nvPr/>
        </p:nvSpPr>
        <p:spPr>
          <a:xfrm>
            <a:off x="-2489895" y="727293"/>
            <a:ext cx="1201200" cy="1692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1" i="0" lang="en" sz="1100" u="none" cap="none" strike="noStrike">
                <a:solidFill>
                  <a:srgbClr val="272622"/>
                </a:solidFill>
                <a:latin typeface="Arial"/>
                <a:ea typeface="Arial"/>
                <a:cs typeface="Arial"/>
                <a:sym typeface="Arial"/>
              </a:rPr>
              <a:t>Borcelle Studio</a:t>
            </a:r>
            <a:endParaRPr sz="700"/>
          </a:p>
        </p:txBody>
      </p:sp>
      <p:pic>
        <p:nvPicPr>
          <p:cNvPr id="431" name="Google Shape;431;p37"/>
          <p:cNvPicPr preferRelativeResize="0"/>
          <p:nvPr/>
        </p:nvPicPr>
        <p:blipFill>
          <a:blip r:embed="rId12">
            <a:alphaModFix/>
          </a:blip>
          <a:stretch>
            <a:fillRect/>
          </a:stretch>
        </p:blipFill>
        <p:spPr>
          <a:xfrm>
            <a:off x="2023125" y="601705"/>
            <a:ext cx="1879898" cy="1634994"/>
          </a:xfrm>
          <a:prstGeom prst="rect">
            <a:avLst/>
          </a:prstGeom>
          <a:noFill/>
          <a:ln>
            <a:noFill/>
          </a:ln>
        </p:spPr>
      </p:pic>
      <p:sp>
        <p:nvSpPr>
          <p:cNvPr id="432" name="Google Shape;432;p37"/>
          <p:cNvSpPr txBox="1"/>
          <p:nvPr>
            <p:ph idx="12" type="sldNum"/>
          </p:nvPr>
        </p:nvSpPr>
        <p:spPr>
          <a:xfrm>
            <a:off x="7926625" y="47751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433" name="Google Shape;433;p37"/>
          <p:cNvPicPr preferRelativeResize="0"/>
          <p:nvPr/>
        </p:nvPicPr>
        <p:blipFill>
          <a:blip r:embed="rId13">
            <a:alphaModFix/>
          </a:blip>
          <a:stretch>
            <a:fillRect/>
          </a:stretch>
        </p:blipFill>
        <p:spPr>
          <a:xfrm>
            <a:off x="2023125" y="366350"/>
            <a:ext cx="1879900" cy="1870350"/>
          </a:xfrm>
          <a:prstGeom prst="rect">
            <a:avLst/>
          </a:prstGeom>
          <a:noFill/>
          <a:ln>
            <a:noFill/>
          </a:ln>
        </p:spPr>
      </p:pic>
      <p:pic>
        <p:nvPicPr>
          <p:cNvPr id="434" name="Google Shape;434;p37"/>
          <p:cNvPicPr preferRelativeResize="0"/>
          <p:nvPr/>
        </p:nvPicPr>
        <p:blipFill>
          <a:blip r:embed="rId14">
            <a:alphaModFix/>
          </a:blip>
          <a:stretch>
            <a:fillRect/>
          </a:stretch>
        </p:blipFill>
        <p:spPr>
          <a:xfrm>
            <a:off x="4164925" y="2749950"/>
            <a:ext cx="2027502" cy="2017200"/>
          </a:xfrm>
          <a:prstGeom prst="rect">
            <a:avLst/>
          </a:prstGeom>
          <a:noFill/>
          <a:ln>
            <a:noFill/>
          </a:ln>
        </p:spPr>
      </p:pic>
      <p:sp>
        <p:nvSpPr>
          <p:cNvPr id="435" name="Google Shape;435;p37"/>
          <p:cNvSpPr/>
          <p:nvPr/>
        </p:nvSpPr>
        <p:spPr>
          <a:xfrm rot="-1317634">
            <a:off x="6458994" y="1840213"/>
            <a:ext cx="2297794" cy="2863295"/>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5">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39" name="Shape 439"/>
        <p:cNvGrpSpPr/>
        <p:nvPr/>
      </p:nvGrpSpPr>
      <p:grpSpPr>
        <a:xfrm>
          <a:off x="0" y="0"/>
          <a:ext cx="0" cy="0"/>
          <a:chOff x="0" y="0"/>
          <a:chExt cx="0" cy="0"/>
        </a:xfrm>
      </p:grpSpPr>
      <p:sp>
        <p:nvSpPr>
          <p:cNvPr id="440" name="Google Shape;440;p38"/>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441" name="Google Shape;441;p38"/>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442" name="Google Shape;442;p38"/>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443" name="Google Shape;443;p38"/>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444" name="Google Shape;444;p38"/>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445" name="Google Shape;445;p38"/>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6" name="Google Shape;446;p38"/>
          <p:cNvSpPr/>
          <p:nvPr/>
        </p:nvSpPr>
        <p:spPr>
          <a:xfrm>
            <a:off x="3419863" y="1766205"/>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7" name="Google Shape;447;p38"/>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8" name="Google Shape;448;p38"/>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449" name="Google Shape;449;p38"/>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450" name="Google Shape;450;p38"/>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451" name="Google Shape;451;p38"/>
          <p:cNvSpPr/>
          <p:nvPr/>
        </p:nvSpPr>
        <p:spPr>
          <a:xfrm rot="1263482">
            <a:off x="-897961" y="-1048190"/>
            <a:ext cx="2295851" cy="2860873"/>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452" name="Google Shape;452;p38"/>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453" name="Google Shape;453;p38"/>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454" name="Google Shape;454;p38"/>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455" name="Google Shape;455;p38"/>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456" name="Google Shape;456;p38"/>
          <p:cNvSpPr/>
          <p:nvPr/>
        </p:nvSpPr>
        <p:spPr>
          <a:xfrm>
            <a:off x="6554779" y="1816839"/>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457" name="Google Shape;457;p38"/>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458" name="Google Shape;458;p38"/>
          <p:cNvSpPr txBox="1"/>
          <p:nvPr/>
        </p:nvSpPr>
        <p:spPr>
          <a:xfrm>
            <a:off x="2041904" y="228604"/>
            <a:ext cx="5060100" cy="104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Model Comparison Methodology</a:t>
            </a:r>
            <a:endParaRPr sz="700"/>
          </a:p>
        </p:txBody>
      </p:sp>
      <p:sp>
        <p:nvSpPr>
          <p:cNvPr id="459" name="Google Shape;459;p38"/>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460" name="Google Shape;460;p38"/>
          <p:cNvSpPr txBox="1"/>
          <p:nvPr/>
        </p:nvSpPr>
        <p:spPr>
          <a:xfrm>
            <a:off x="1578650"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 Engineering</a:t>
            </a:r>
            <a:endParaRPr sz="700"/>
          </a:p>
        </p:txBody>
      </p:sp>
      <p:sp>
        <p:nvSpPr>
          <p:cNvPr id="461" name="Google Shape;461;p38"/>
          <p:cNvSpPr txBox="1"/>
          <p:nvPr/>
        </p:nvSpPr>
        <p:spPr>
          <a:xfrm>
            <a:off x="1119938" y="2253049"/>
            <a:ext cx="1961400" cy="207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Two datasets were used: a </a:t>
            </a:r>
            <a:r>
              <a:rPr b="1" lang="en" sz="1100">
                <a:solidFill>
                  <a:schemeClr val="dk1"/>
                </a:solidFill>
              </a:rPr>
              <a:t>simple dataset</a:t>
            </a:r>
            <a:r>
              <a:rPr lang="en" sz="1100">
                <a:solidFill>
                  <a:schemeClr val="dk1"/>
                </a:solidFill>
              </a:rPr>
              <a:t> with basic features (weight, age, height) and a </a:t>
            </a:r>
            <a:r>
              <a:rPr b="1" lang="en" sz="1100">
                <a:solidFill>
                  <a:schemeClr val="dk1"/>
                </a:solidFill>
              </a:rPr>
              <a:t>rich RTR dataset</a:t>
            </a:r>
            <a:r>
              <a:rPr lang="en" sz="1100">
                <a:solidFill>
                  <a:schemeClr val="dk1"/>
                </a:solidFill>
              </a:rPr>
              <a:t> with engineered features.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The simple dataset was split into </a:t>
            </a:r>
            <a:r>
              <a:rPr b="1" lang="en" sz="1100">
                <a:solidFill>
                  <a:schemeClr val="dk1"/>
                </a:solidFill>
              </a:rPr>
              <a:t>80/20 stratified train/test sets</a:t>
            </a:r>
            <a:r>
              <a:rPr lang="en" sz="1100">
                <a:solidFill>
                  <a:schemeClr val="dk1"/>
                </a:solidFill>
              </a:rPr>
              <a:t>, while RTR predictions were reconstructed from saved model probabilities.</a:t>
            </a:r>
            <a:endParaRPr sz="1100">
              <a:solidFill>
                <a:schemeClr val="dk1"/>
              </a:solidFill>
            </a:endParaRPr>
          </a:p>
        </p:txBody>
      </p:sp>
      <p:sp>
        <p:nvSpPr>
          <p:cNvPr id="462" name="Google Shape;462;p38"/>
          <p:cNvSpPr txBox="1"/>
          <p:nvPr/>
        </p:nvSpPr>
        <p:spPr>
          <a:xfrm flipH="1">
            <a:off x="6554800" y="1946568"/>
            <a:ext cx="14895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Evaluation</a:t>
            </a:r>
            <a:endParaRPr sz="700"/>
          </a:p>
        </p:txBody>
      </p:sp>
      <p:sp>
        <p:nvSpPr>
          <p:cNvPr id="463" name="Google Shape;463;p38"/>
          <p:cNvSpPr txBox="1"/>
          <p:nvPr/>
        </p:nvSpPr>
        <p:spPr>
          <a:xfrm>
            <a:off x="6160625" y="2262680"/>
            <a:ext cx="1770000" cy="14901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Models were compared using </a:t>
            </a:r>
            <a:r>
              <a:rPr b="1" lang="en" sz="1100">
                <a:solidFill>
                  <a:schemeClr val="dk1"/>
                </a:solidFill>
              </a:rPr>
              <a:t>accuracy and macro-F1</a:t>
            </a:r>
            <a:r>
              <a:rPr lang="en" sz="1100">
                <a:solidFill>
                  <a:schemeClr val="dk1"/>
                </a:solidFill>
              </a:rPr>
              <a:t>, and results from both datasets were merged to evaluate how richer features affected performance.</a:t>
            </a:r>
            <a:endParaRPr sz="700"/>
          </a:p>
        </p:txBody>
      </p:sp>
      <p:sp>
        <p:nvSpPr>
          <p:cNvPr id="464" name="Google Shape;464;p38"/>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Training</a:t>
            </a:r>
            <a:endParaRPr sz="700"/>
          </a:p>
        </p:txBody>
      </p:sp>
      <p:sp>
        <p:nvSpPr>
          <p:cNvPr id="465" name="Google Shape;465;p38"/>
          <p:cNvSpPr txBox="1"/>
          <p:nvPr/>
        </p:nvSpPr>
        <p:spPr>
          <a:xfrm>
            <a:off x="3686950" y="2262650"/>
            <a:ext cx="1770000" cy="12699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Seven classifiers were trained using </a:t>
            </a:r>
            <a:r>
              <a:rPr b="1" lang="en" sz="1100">
                <a:solidFill>
                  <a:schemeClr val="dk1"/>
                </a:solidFill>
              </a:rPr>
              <a:t>scikit-learn pipelines</a:t>
            </a:r>
            <a:r>
              <a:rPr lang="en" sz="1100">
                <a:solidFill>
                  <a:schemeClr val="dk1"/>
                </a:solidFill>
              </a:rPr>
              <a:t> and </a:t>
            </a:r>
            <a:r>
              <a:rPr b="1" lang="en" sz="1100">
                <a:solidFill>
                  <a:schemeClr val="dk1"/>
                </a:solidFill>
              </a:rPr>
              <a:t>GridSearchCV with 5-fold stratified cross-validation</a:t>
            </a:r>
            <a:r>
              <a:rPr lang="en" sz="1100">
                <a:solidFill>
                  <a:schemeClr val="dk1"/>
                </a:solidFill>
              </a:rPr>
              <a:t>, optimizing </a:t>
            </a:r>
            <a:r>
              <a:rPr b="1" lang="en" sz="1100">
                <a:solidFill>
                  <a:schemeClr val="dk1"/>
                </a:solidFill>
              </a:rPr>
              <a:t>macro-F1</a:t>
            </a:r>
            <a:r>
              <a:rPr lang="en" sz="1100">
                <a:solidFill>
                  <a:schemeClr val="dk1"/>
                </a:solidFill>
              </a:rPr>
              <a:t>.</a:t>
            </a:r>
            <a:endParaRPr sz="700"/>
          </a:p>
        </p:txBody>
      </p:sp>
      <p:sp>
        <p:nvSpPr>
          <p:cNvPr id="466" name="Google Shape;466;p38"/>
          <p:cNvSpPr txBox="1"/>
          <p:nvPr>
            <p:ph idx="12" type="sldNum"/>
          </p:nvPr>
        </p:nvSpPr>
        <p:spPr>
          <a:xfrm>
            <a:off x="7937088" y="4836163"/>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67" name="Google Shape;467;p38"/>
          <p:cNvSpPr/>
          <p:nvPr/>
        </p:nvSpPr>
        <p:spPr>
          <a:xfrm>
            <a:off x="4311105" y="3752774"/>
            <a:ext cx="521793" cy="529740"/>
          </a:xfrm>
          <a:custGeom>
            <a:rect b="b" l="l" r="r" t="t"/>
            <a:pathLst>
              <a:path extrusionOk="0" h="1059480" w="1043587">
                <a:moveTo>
                  <a:pt x="0" y="0"/>
                </a:moveTo>
                <a:lnTo>
                  <a:pt x="1043587" y="0"/>
                </a:lnTo>
                <a:lnTo>
                  <a:pt x="1043587" y="1059479"/>
                </a:lnTo>
                <a:lnTo>
                  <a:pt x="0" y="1059479"/>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71" name="Shape 471"/>
        <p:cNvGrpSpPr/>
        <p:nvPr/>
      </p:nvGrpSpPr>
      <p:grpSpPr>
        <a:xfrm>
          <a:off x="0" y="0"/>
          <a:ext cx="0" cy="0"/>
          <a:chOff x="0" y="0"/>
          <a:chExt cx="0" cy="0"/>
        </a:xfrm>
      </p:grpSpPr>
      <p:sp>
        <p:nvSpPr>
          <p:cNvPr id="472" name="Google Shape;472;p39"/>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473" name="Google Shape;473;p39"/>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474" name="Google Shape;474;p39"/>
          <p:cNvSpPr/>
          <p:nvPr/>
        </p:nvSpPr>
        <p:spPr>
          <a:xfrm>
            <a:off x="4102865" y="2686567"/>
            <a:ext cx="5432999" cy="1761754"/>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475" name="Google Shape;475;p39"/>
          <p:cNvSpPr/>
          <p:nvPr/>
        </p:nvSpPr>
        <p:spPr>
          <a:xfrm>
            <a:off x="-403019" y="538326"/>
            <a:ext cx="4374009" cy="1761753"/>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476" name="Google Shape;476;p39"/>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477" name="Google Shape;477;p39"/>
          <p:cNvSpPr txBox="1"/>
          <p:nvPr/>
        </p:nvSpPr>
        <p:spPr>
          <a:xfrm>
            <a:off x="4164925" y="1376000"/>
            <a:ext cx="44514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Model Comparison Overview</a:t>
            </a:r>
            <a:endParaRPr sz="700"/>
          </a:p>
        </p:txBody>
      </p:sp>
      <p:sp>
        <p:nvSpPr>
          <p:cNvPr id="478" name="Google Shape;478;p39"/>
          <p:cNvSpPr/>
          <p:nvPr/>
        </p:nvSpPr>
        <p:spPr>
          <a:xfrm rot="465910">
            <a:off x="7473981" y="1785666"/>
            <a:ext cx="1972092" cy="3729725"/>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8">
              <a:alphaModFix/>
            </a:blip>
            <a:stretch>
              <a:fillRect b="0" l="0" r="0" t="0"/>
            </a:stretch>
          </a:blipFill>
          <a:ln>
            <a:noFill/>
          </a:ln>
        </p:spPr>
      </p:sp>
      <p:sp>
        <p:nvSpPr>
          <p:cNvPr id="479" name="Google Shape;479;p39"/>
          <p:cNvSpPr/>
          <p:nvPr/>
        </p:nvSpPr>
        <p:spPr>
          <a:xfrm rot="796396">
            <a:off x="-142826" y="266312"/>
            <a:ext cx="1436718" cy="2097398"/>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9">
              <a:alphaModFix/>
            </a:blip>
            <a:stretch>
              <a:fillRect b="0" l="0" r="0" t="0"/>
            </a:stretch>
          </a:blipFill>
          <a:ln>
            <a:noFill/>
          </a:ln>
        </p:spPr>
      </p:sp>
      <p:sp>
        <p:nvSpPr>
          <p:cNvPr id="480" name="Google Shape;480;p39"/>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0">
              <a:alphaModFix amt="57000"/>
            </a:blip>
            <a:stretch>
              <a:fillRect b="0" l="-107609" r="-111809" t="-27711"/>
            </a:stretch>
          </a:blipFill>
          <a:ln>
            <a:noFill/>
          </a:ln>
        </p:spPr>
      </p:sp>
      <p:sp>
        <p:nvSpPr>
          <p:cNvPr id="481" name="Google Shape;481;p39"/>
          <p:cNvSpPr txBox="1"/>
          <p:nvPr/>
        </p:nvSpPr>
        <p:spPr>
          <a:xfrm>
            <a:off x="584200" y="2582750"/>
            <a:ext cx="3156600" cy="1881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a:t>
            </a:r>
            <a:r>
              <a:rPr b="1" lang="en" sz="1100">
                <a:solidFill>
                  <a:schemeClr val="dk1"/>
                </a:solidFill>
              </a:rPr>
              <a:t>RTR rich feature set</a:t>
            </a:r>
            <a:r>
              <a:rPr lang="en" sz="1100">
                <a:solidFill>
                  <a:schemeClr val="dk1"/>
                </a:solidFill>
              </a:rPr>
              <a:t> improves performance for several models, especially </a:t>
            </a:r>
            <a:r>
              <a:rPr b="1" lang="en" sz="1100">
                <a:solidFill>
                  <a:schemeClr val="dk1"/>
                </a:solidFill>
              </a:rPr>
              <a:t>KNN</a:t>
            </a:r>
            <a:r>
              <a:rPr lang="en" sz="1100">
                <a:solidFill>
                  <a:schemeClr val="dk1"/>
                </a:solidFill>
              </a:rPr>
              <a:t>, whose macro-F1 increases from </a:t>
            </a:r>
            <a:r>
              <a:rPr b="1" lang="en" sz="1100">
                <a:solidFill>
                  <a:schemeClr val="dk1"/>
                </a:solidFill>
              </a:rPr>
              <a:t>0.677 to 0.869</a:t>
            </a:r>
            <a:r>
              <a:rPr lang="en" sz="1100">
                <a:solidFill>
                  <a:schemeClr val="dk1"/>
                </a:solidFill>
              </a:rPr>
              <a:t> and accuracy from </a:t>
            </a:r>
            <a:r>
              <a:rPr b="1" lang="en" sz="1100">
                <a:solidFill>
                  <a:schemeClr val="dk1"/>
                </a:solidFill>
              </a:rPr>
              <a:t>72.1% to 90.7%</a:t>
            </a:r>
            <a:r>
              <a:rPr lang="en" sz="1100">
                <a:solidFill>
                  <a:schemeClr val="dk1"/>
                </a:solidFill>
              </a:rPr>
              <a:t>. </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rPr>
              <a:t>Kernel SVM</a:t>
            </a:r>
            <a:r>
              <a:rPr lang="en" sz="1100">
                <a:solidFill>
                  <a:schemeClr val="dk1"/>
                </a:solidFill>
              </a:rPr>
              <a:t> and ensemble models show smaller gains, while </a:t>
            </a:r>
            <a:r>
              <a:rPr b="1" lang="en" sz="1100">
                <a:solidFill>
                  <a:schemeClr val="dk1"/>
                </a:solidFill>
              </a:rPr>
              <a:t>Linear SVM</a:t>
            </a:r>
            <a:r>
              <a:rPr lang="en" sz="1100">
                <a:solidFill>
                  <a:schemeClr val="dk1"/>
                </a:solidFill>
              </a:rPr>
              <a:t>, </a:t>
            </a:r>
            <a:r>
              <a:rPr b="1" lang="en" sz="1100">
                <a:solidFill>
                  <a:schemeClr val="dk1"/>
                </a:solidFill>
              </a:rPr>
              <a:t>CART</a:t>
            </a:r>
            <a:r>
              <a:rPr lang="en" sz="1100">
                <a:solidFill>
                  <a:schemeClr val="dk1"/>
                </a:solidFill>
              </a:rPr>
              <a:t>, and </a:t>
            </a:r>
            <a:r>
              <a:rPr b="1" lang="en" sz="1100">
                <a:solidFill>
                  <a:schemeClr val="dk1"/>
                </a:solidFill>
              </a:rPr>
              <a:t>Naive Bayes</a:t>
            </a:r>
            <a:r>
              <a:rPr lang="en" sz="1100">
                <a:solidFill>
                  <a:schemeClr val="dk1"/>
                </a:solidFill>
              </a:rPr>
              <a:t> perform worse with the richer features. Overall, models that capture </a:t>
            </a:r>
            <a:r>
              <a:rPr b="1" lang="en" sz="1100">
                <a:solidFill>
                  <a:schemeClr val="dk1"/>
                </a:solidFill>
              </a:rPr>
              <a:t>nonlinear relationships</a:t>
            </a:r>
            <a:r>
              <a:rPr lang="en" sz="1100">
                <a:solidFill>
                  <a:schemeClr val="dk1"/>
                </a:solidFill>
              </a:rPr>
              <a:t> benefit most from the richer dataset.</a:t>
            </a:r>
            <a:endParaRPr sz="1100">
              <a:solidFill>
                <a:schemeClr val="dk1"/>
              </a:solidFill>
            </a:endParaRPr>
          </a:p>
        </p:txBody>
      </p:sp>
      <p:sp>
        <p:nvSpPr>
          <p:cNvPr id="482" name="Google Shape;482;p39"/>
          <p:cNvSpPr txBox="1"/>
          <p:nvPr>
            <p:ph idx="12" type="sldNum"/>
          </p:nvPr>
        </p:nvSpPr>
        <p:spPr>
          <a:xfrm>
            <a:off x="7926625" y="49206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483" name="Google Shape;483;p39"/>
          <p:cNvPicPr preferRelativeResize="0"/>
          <p:nvPr/>
        </p:nvPicPr>
        <p:blipFill>
          <a:blip r:embed="rId11">
            <a:alphaModFix/>
          </a:blip>
          <a:stretch>
            <a:fillRect/>
          </a:stretch>
        </p:blipFill>
        <p:spPr>
          <a:xfrm>
            <a:off x="114113" y="675150"/>
            <a:ext cx="3779038" cy="1333144"/>
          </a:xfrm>
          <a:prstGeom prst="rect">
            <a:avLst/>
          </a:prstGeom>
          <a:noFill/>
          <a:ln>
            <a:noFill/>
          </a:ln>
        </p:spPr>
      </p:pic>
      <p:pic>
        <p:nvPicPr>
          <p:cNvPr id="484" name="Google Shape;484;p39"/>
          <p:cNvPicPr preferRelativeResize="0"/>
          <p:nvPr/>
        </p:nvPicPr>
        <p:blipFill>
          <a:blip r:embed="rId12">
            <a:alphaModFix/>
          </a:blip>
          <a:stretch>
            <a:fillRect/>
          </a:stretch>
        </p:blipFill>
        <p:spPr>
          <a:xfrm>
            <a:off x="4164925" y="2733800"/>
            <a:ext cx="3779026" cy="1657825"/>
          </a:xfrm>
          <a:prstGeom prst="rect">
            <a:avLst/>
          </a:prstGeom>
          <a:noFill/>
          <a:ln>
            <a:noFill/>
          </a:ln>
        </p:spPr>
      </p:pic>
      <p:sp>
        <p:nvSpPr>
          <p:cNvPr id="485" name="Google Shape;485;p39"/>
          <p:cNvSpPr/>
          <p:nvPr/>
        </p:nvSpPr>
        <p:spPr>
          <a:xfrm>
            <a:off x="7679925" y="286588"/>
            <a:ext cx="510347" cy="552473"/>
          </a:xfrm>
          <a:custGeom>
            <a:rect b="b" l="l" r="r" t="t"/>
            <a:pathLst>
              <a:path extrusionOk="0" h="1104946" w="1020694">
                <a:moveTo>
                  <a:pt x="0" y="0"/>
                </a:moveTo>
                <a:lnTo>
                  <a:pt x="1020694" y="0"/>
                </a:lnTo>
                <a:lnTo>
                  <a:pt x="1020694" y="1104946"/>
                </a:lnTo>
                <a:lnTo>
                  <a:pt x="0" y="1104946"/>
                </a:lnTo>
                <a:lnTo>
                  <a:pt x="0" y="0"/>
                </a:lnTo>
                <a:close/>
              </a:path>
            </a:pathLst>
          </a:custGeom>
          <a:blipFill rotWithShape="1">
            <a:blip r:embed="rId1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89" name="Shape 489"/>
        <p:cNvGrpSpPr/>
        <p:nvPr/>
      </p:nvGrpSpPr>
      <p:grpSpPr>
        <a:xfrm>
          <a:off x="0" y="0"/>
          <a:ext cx="0" cy="0"/>
          <a:chOff x="0" y="0"/>
          <a:chExt cx="0" cy="0"/>
        </a:xfrm>
      </p:grpSpPr>
      <p:sp>
        <p:nvSpPr>
          <p:cNvPr id="490" name="Google Shape;490;p40"/>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491" name="Google Shape;491;p40"/>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492" name="Google Shape;492;p40"/>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493" name="Google Shape;493;p40"/>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494" name="Google Shape;494;p40"/>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495" name="Google Shape;495;p40"/>
          <p:cNvSpPr/>
          <p:nvPr/>
        </p:nvSpPr>
        <p:spPr>
          <a:xfrm>
            <a:off x="1115000" y="1503262"/>
            <a:ext cx="7351889" cy="2941580"/>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496" name="Google Shape;496;p40"/>
          <p:cNvSpPr txBox="1"/>
          <p:nvPr/>
        </p:nvSpPr>
        <p:spPr>
          <a:xfrm>
            <a:off x="957125" y="379138"/>
            <a:ext cx="63822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3: Ensemble Model Recommender</a:t>
            </a:r>
            <a:endParaRPr sz="700"/>
          </a:p>
        </p:txBody>
      </p:sp>
      <p:sp>
        <p:nvSpPr>
          <p:cNvPr id="497" name="Google Shape;497;p40"/>
          <p:cNvSpPr txBox="1"/>
          <p:nvPr/>
        </p:nvSpPr>
        <p:spPr>
          <a:xfrm>
            <a:off x="1115000" y="1773675"/>
            <a:ext cx="7257600" cy="2349900"/>
          </a:xfrm>
          <a:prstGeom prst="rect">
            <a:avLst/>
          </a:prstGeom>
          <a:noFill/>
          <a:ln>
            <a:noFill/>
          </a:ln>
        </p:spPr>
        <p:txBody>
          <a:bodyPr anchorCtr="0" anchor="t" bIns="0" lIns="0" spcFirstLastPara="1" rIns="0" wrap="square" tIns="0">
            <a:spAutoFit/>
          </a:bodyPr>
          <a:lstStyle/>
          <a:p>
            <a:pPr indent="-330200" lvl="0" marL="457200" marR="0" rtl="0" algn="l">
              <a:lnSpc>
                <a:spcPct val="150000"/>
              </a:lnSpc>
              <a:spcBef>
                <a:spcPts val="0"/>
              </a:spcBef>
              <a:spcAft>
                <a:spcPts val="0"/>
              </a:spcAft>
              <a:buClr>
                <a:srgbClr val="272622"/>
              </a:buClr>
              <a:buSzPts val="1600"/>
              <a:buChar char="●"/>
            </a:pPr>
            <a:r>
              <a:rPr b="1" lang="en" sz="1600">
                <a:solidFill>
                  <a:srgbClr val="272622"/>
                </a:solidFill>
              </a:rPr>
              <a:t>Goal</a:t>
            </a:r>
            <a:r>
              <a:rPr lang="en" sz="1600">
                <a:solidFill>
                  <a:srgbClr val="272622"/>
                </a:solidFill>
              </a:rPr>
              <a:t>: Recommend the most likely clothing size for a user given a product category (e.g., dress, top) using historical fit data.</a:t>
            </a:r>
            <a:endParaRPr sz="1600">
              <a:solidFill>
                <a:srgbClr val="272622"/>
              </a:solidFill>
            </a:endParaRPr>
          </a:p>
          <a:p>
            <a:pPr indent="-330200" lvl="0" marL="457200" marR="0" rtl="0" algn="l">
              <a:lnSpc>
                <a:spcPct val="150000"/>
              </a:lnSpc>
              <a:spcBef>
                <a:spcPts val="1000"/>
              </a:spcBef>
              <a:spcAft>
                <a:spcPts val="0"/>
              </a:spcAft>
              <a:buClr>
                <a:srgbClr val="272622"/>
              </a:buClr>
              <a:buSzPts val="1600"/>
              <a:buChar char="●"/>
            </a:pPr>
            <a:r>
              <a:rPr b="1" lang="en" sz="1600">
                <a:solidFill>
                  <a:srgbClr val="272622"/>
                </a:solidFill>
              </a:rPr>
              <a:t>Inputs</a:t>
            </a:r>
            <a:r>
              <a:rPr lang="en" sz="1600">
                <a:solidFill>
                  <a:srgbClr val="272622"/>
                </a:solidFill>
              </a:rPr>
              <a:t>: User body measurements (height, weight, age, bust band, cup size), product category, and ensemble model probabilities for fit outcomes.</a:t>
            </a:r>
            <a:endParaRPr sz="1600">
              <a:solidFill>
                <a:srgbClr val="272622"/>
              </a:solidFill>
            </a:endParaRPr>
          </a:p>
          <a:p>
            <a:pPr indent="-330200" lvl="0" marL="457200" marR="0" rtl="0" algn="l">
              <a:lnSpc>
                <a:spcPct val="150000"/>
              </a:lnSpc>
              <a:spcBef>
                <a:spcPts val="1000"/>
              </a:spcBef>
              <a:spcAft>
                <a:spcPts val="1000"/>
              </a:spcAft>
              <a:buClr>
                <a:srgbClr val="272622"/>
              </a:buClr>
              <a:buSzPts val="1600"/>
              <a:buChar char="●"/>
            </a:pPr>
            <a:r>
              <a:rPr b="1" lang="en" sz="1600">
                <a:solidFill>
                  <a:srgbClr val="272622"/>
                </a:solidFill>
              </a:rPr>
              <a:t>Evaluation</a:t>
            </a:r>
            <a:r>
              <a:rPr lang="en" sz="1600">
                <a:solidFill>
                  <a:srgbClr val="272622"/>
                </a:solidFill>
              </a:rPr>
              <a:t>: Measure performance using Hit@1 and Hit@3, indicating whether the true worn size appears in the top recommended sizes.</a:t>
            </a:r>
            <a:endParaRPr sz="1600">
              <a:solidFill>
                <a:srgbClr val="272622"/>
              </a:solidFill>
            </a:endParaRPr>
          </a:p>
        </p:txBody>
      </p:sp>
      <p:sp>
        <p:nvSpPr>
          <p:cNvPr id="498" name="Google Shape;498;p40"/>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499" name="Google Shape;499;p40"/>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500" name="Google Shape;500;p40"/>
          <p:cNvSpPr txBox="1"/>
          <p:nvPr>
            <p:ph idx="12" type="sldNum"/>
          </p:nvPr>
        </p:nvSpPr>
        <p:spPr>
          <a:xfrm>
            <a:off x="8077200" y="49109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01" name="Google Shape;501;p40"/>
          <p:cNvSpPr/>
          <p:nvPr/>
        </p:nvSpPr>
        <p:spPr>
          <a:xfrm>
            <a:off x="233689" y="2571762"/>
            <a:ext cx="561314" cy="529740"/>
          </a:xfrm>
          <a:custGeom>
            <a:rect b="b" l="l" r="r" t="t"/>
            <a:pathLst>
              <a:path extrusionOk="0" h="1059480" w="1122627">
                <a:moveTo>
                  <a:pt x="0" y="0"/>
                </a:moveTo>
                <a:lnTo>
                  <a:pt x="1122627" y="0"/>
                </a:lnTo>
                <a:lnTo>
                  <a:pt x="1122627" y="1059479"/>
                </a:lnTo>
                <a:lnTo>
                  <a:pt x="0" y="1059479"/>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05" name="Shape 505"/>
        <p:cNvGrpSpPr/>
        <p:nvPr/>
      </p:nvGrpSpPr>
      <p:grpSpPr>
        <a:xfrm>
          <a:off x="0" y="0"/>
          <a:ext cx="0" cy="0"/>
          <a:chOff x="0" y="0"/>
          <a:chExt cx="0" cy="0"/>
        </a:xfrm>
      </p:grpSpPr>
      <p:sp>
        <p:nvSpPr>
          <p:cNvPr id="506" name="Google Shape;506;p41"/>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507" name="Google Shape;507;p41"/>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508" name="Google Shape;508;p41"/>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509" name="Google Shape;509;p41"/>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510" name="Google Shape;510;p41"/>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511" name="Google Shape;511;p41"/>
          <p:cNvSpPr/>
          <p:nvPr/>
        </p:nvSpPr>
        <p:spPr>
          <a:xfrm>
            <a:off x="946175" y="1766226"/>
            <a:ext cx="2304272" cy="2873966"/>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2" name="Google Shape;512;p41"/>
          <p:cNvSpPr/>
          <p:nvPr/>
        </p:nvSpPr>
        <p:spPr>
          <a:xfrm>
            <a:off x="3419875" y="1769176"/>
            <a:ext cx="2304271" cy="2873966"/>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3" name="Google Shape;513;p41"/>
          <p:cNvSpPr/>
          <p:nvPr/>
        </p:nvSpPr>
        <p:spPr>
          <a:xfrm>
            <a:off x="5893550" y="1769176"/>
            <a:ext cx="2304271" cy="2873966"/>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4" name="Google Shape;514;p41"/>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515" name="Google Shape;515;p41"/>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516" name="Google Shape;516;p41"/>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517" name="Google Shape;517;p41"/>
          <p:cNvSpPr/>
          <p:nvPr/>
        </p:nvSpPr>
        <p:spPr>
          <a:xfrm rot="1236376">
            <a:off x="76762" y="-737723"/>
            <a:ext cx="1530062" cy="1930155"/>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518" name="Google Shape;518;p41"/>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519" name="Google Shape;519;p41"/>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520" name="Google Shape;520;p41"/>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521" name="Google Shape;521;p41"/>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522" name="Google Shape;522;p41"/>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523" name="Google Shape;523;p41"/>
          <p:cNvSpPr txBox="1"/>
          <p:nvPr/>
        </p:nvSpPr>
        <p:spPr>
          <a:xfrm>
            <a:off x="2041904" y="228604"/>
            <a:ext cx="5060100" cy="104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Recommender</a:t>
            </a:r>
            <a:r>
              <a:rPr lang="en" sz="3400">
                <a:solidFill>
                  <a:srgbClr val="272622"/>
                </a:solidFill>
              </a:rPr>
              <a:t> Methodology</a:t>
            </a:r>
            <a:endParaRPr sz="700"/>
          </a:p>
        </p:txBody>
      </p:sp>
      <p:sp>
        <p:nvSpPr>
          <p:cNvPr id="524" name="Google Shape;524;p41"/>
          <p:cNvSpPr txBox="1"/>
          <p:nvPr/>
        </p:nvSpPr>
        <p:spPr>
          <a:xfrm>
            <a:off x="1504950" y="1944825"/>
            <a:ext cx="16719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Collaborative Filtering</a:t>
            </a:r>
            <a:endParaRPr sz="700"/>
          </a:p>
        </p:txBody>
      </p:sp>
      <p:sp>
        <p:nvSpPr>
          <p:cNvPr id="525" name="Google Shape;525;p41"/>
          <p:cNvSpPr txBox="1"/>
          <p:nvPr/>
        </p:nvSpPr>
        <p:spPr>
          <a:xfrm>
            <a:off x="997625" y="2215450"/>
            <a:ext cx="2179200" cy="2424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T</a:t>
            </a:r>
            <a:r>
              <a:rPr lang="en" sz="1100">
                <a:solidFill>
                  <a:schemeClr val="dk1"/>
                </a:solidFill>
              </a:rPr>
              <a:t>he recommender uses collaborative filtering based on historical fit data. </a:t>
            </a:r>
            <a:endParaRPr sz="1100">
              <a:solidFill>
                <a:schemeClr val="dk1"/>
              </a:solidFill>
            </a:endParaRPr>
          </a:p>
          <a:p>
            <a:pPr indent="0" lvl="0" marL="0" rtl="0" algn="l">
              <a:lnSpc>
                <a:spcPct val="115000"/>
              </a:lnSpc>
              <a:spcBef>
                <a:spcPts val="1200"/>
              </a:spcBef>
              <a:spcAft>
                <a:spcPts val="0"/>
              </a:spcAft>
              <a:buSzPts val="1100"/>
              <a:buNone/>
            </a:pPr>
            <a:r>
              <a:rPr lang="en" sz="1100">
                <a:solidFill>
                  <a:schemeClr val="dk1"/>
                </a:solidFill>
              </a:rPr>
              <a:t>A sparse user–item matrix is created where rows represent users and columns represent category–size pairs, with each entry storing the probability that the size fits the user.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Cosine similarity is used to identify users with similar fit patterns.</a:t>
            </a:r>
            <a:endParaRPr sz="1100">
              <a:solidFill>
                <a:schemeClr val="dk1"/>
              </a:solidFill>
            </a:endParaRPr>
          </a:p>
        </p:txBody>
      </p:sp>
      <p:sp>
        <p:nvSpPr>
          <p:cNvPr id="526" name="Google Shape;526;p41"/>
          <p:cNvSpPr txBox="1"/>
          <p:nvPr/>
        </p:nvSpPr>
        <p:spPr>
          <a:xfrm flipH="1">
            <a:off x="6469600" y="1848425"/>
            <a:ext cx="15747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Popularity and Cold-Start Handling</a:t>
            </a:r>
            <a:endParaRPr sz="700"/>
          </a:p>
        </p:txBody>
      </p:sp>
      <p:sp>
        <p:nvSpPr>
          <p:cNvPr id="527" name="Google Shape;527;p41"/>
          <p:cNvSpPr txBox="1"/>
          <p:nvPr/>
        </p:nvSpPr>
        <p:spPr>
          <a:xfrm>
            <a:off x="6105625" y="2262675"/>
            <a:ext cx="1938600" cy="23703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A category-level size popularity prior is added to stabilize predictions when interaction data is sparse. </a:t>
            </a:r>
            <a:endParaRPr sz="1100">
              <a:solidFill>
                <a:schemeClr val="dk1"/>
              </a:solidFill>
            </a:endParaRPr>
          </a:p>
          <a:p>
            <a:pPr indent="0" lvl="1" marL="0" marR="0" rtl="0" algn="l">
              <a:lnSpc>
                <a:spcPct val="130000"/>
              </a:lnSpc>
              <a:spcBef>
                <a:spcPts val="0"/>
              </a:spcBef>
              <a:spcAft>
                <a:spcPts val="0"/>
              </a:spcAft>
              <a:buNone/>
            </a:pPr>
            <a:r>
              <a:t/>
            </a:r>
            <a:endParaRPr sz="1100">
              <a:solidFill>
                <a:schemeClr val="dk1"/>
              </a:solidFill>
            </a:endParaRPr>
          </a:p>
          <a:p>
            <a:pPr indent="0" lvl="1" marL="0" marR="0" rtl="0" algn="l">
              <a:lnSpc>
                <a:spcPct val="130000"/>
              </a:lnSpc>
              <a:spcBef>
                <a:spcPts val="0"/>
              </a:spcBef>
              <a:spcAft>
                <a:spcPts val="0"/>
              </a:spcAft>
              <a:buNone/>
            </a:pPr>
            <a:r>
              <a:rPr lang="en" sz="1100">
                <a:solidFill>
                  <a:schemeClr val="dk1"/>
                </a:solidFill>
              </a:rPr>
              <a:t>For new users without history, the system finds the closest user based on body measurements and uses that user’s profile to generate recommendations.</a:t>
            </a:r>
            <a:endParaRPr sz="700"/>
          </a:p>
        </p:txBody>
      </p:sp>
      <p:sp>
        <p:nvSpPr>
          <p:cNvPr id="528" name="Google Shape;528;p41"/>
          <p:cNvSpPr txBox="1"/>
          <p:nvPr/>
        </p:nvSpPr>
        <p:spPr>
          <a:xfrm>
            <a:off x="4035863" y="1862100"/>
            <a:ext cx="15747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Similarity-Based Scoring</a:t>
            </a:r>
            <a:endParaRPr sz="700"/>
          </a:p>
        </p:txBody>
      </p:sp>
      <p:sp>
        <p:nvSpPr>
          <p:cNvPr id="529" name="Google Shape;529;p41"/>
          <p:cNvSpPr txBox="1"/>
          <p:nvPr/>
        </p:nvSpPr>
        <p:spPr>
          <a:xfrm>
            <a:off x="3528275" y="2262650"/>
            <a:ext cx="2112900" cy="21504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For a recommendation request, the system finds the most similar users and aggregates their fit probabilities for each candidate size within the category. </a:t>
            </a:r>
            <a:endParaRPr sz="1100">
              <a:solidFill>
                <a:schemeClr val="dk1"/>
              </a:solidFill>
            </a:endParaRPr>
          </a:p>
          <a:p>
            <a:pPr indent="0" lvl="1" marL="0" marR="0" rtl="0" algn="l">
              <a:lnSpc>
                <a:spcPct val="130000"/>
              </a:lnSpc>
              <a:spcBef>
                <a:spcPts val="0"/>
              </a:spcBef>
              <a:spcAft>
                <a:spcPts val="0"/>
              </a:spcAft>
              <a:buNone/>
            </a:pPr>
            <a:r>
              <a:t/>
            </a:r>
            <a:endParaRPr sz="1100">
              <a:solidFill>
                <a:schemeClr val="dk1"/>
              </a:solidFill>
            </a:endParaRPr>
          </a:p>
          <a:p>
            <a:pPr indent="0" lvl="1" marL="0" marR="0" rtl="0" algn="l">
              <a:lnSpc>
                <a:spcPct val="130000"/>
              </a:lnSpc>
              <a:spcBef>
                <a:spcPts val="0"/>
              </a:spcBef>
              <a:spcAft>
                <a:spcPts val="0"/>
              </a:spcAft>
              <a:buNone/>
            </a:pPr>
            <a:r>
              <a:rPr lang="en" sz="1100">
                <a:solidFill>
                  <a:schemeClr val="dk1"/>
                </a:solidFill>
              </a:rPr>
              <a:t>A similarity weighted average ensures that more similar users contribute more strongly to the predicted score.</a:t>
            </a:r>
            <a:endParaRPr sz="700"/>
          </a:p>
        </p:txBody>
      </p:sp>
      <p:sp>
        <p:nvSpPr>
          <p:cNvPr id="530" name="Google Shape;530;p41"/>
          <p:cNvSpPr txBox="1"/>
          <p:nvPr>
            <p:ph idx="12" type="sldNum"/>
          </p:nvPr>
        </p:nvSpPr>
        <p:spPr>
          <a:xfrm>
            <a:off x="8044450" y="48832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31" name="Google Shape;531;p41"/>
          <p:cNvSpPr/>
          <p:nvPr/>
        </p:nvSpPr>
        <p:spPr>
          <a:xfrm>
            <a:off x="181087" y="4352786"/>
            <a:ext cx="595659" cy="552473"/>
          </a:xfrm>
          <a:custGeom>
            <a:rect b="b" l="l" r="r" t="t"/>
            <a:pathLst>
              <a:path extrusionOk="0" h="1104946" w="1191317">
                <a:moveTo>
                  <a:pt x="0" y="0"/>
                </a:moveTo>
                <a:lnTo>
                  <a:pt x="1191317" y="0"/>
                </a:lnTo>
                <a:lnTo>
                  <a:pt x="1191317" y="1104946"/>
                </a:lnTo>
                <a:lnTo>
                  <a:pt x="0" y="1104946"/>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35" name="Shape 535"/>
        <p:cNvGrpSpPr/>
        <p:nvPr/>
      </p:nvGrpSpPr>
      <p:grpSpPr>
        <a:xfrm>
          <a:off x="0" y="0"/>
          <a:ext cx="0" cy="0"/>
          <a:chOff x="0" y="0"/>
          <a:chExt cx="0" cy="0"/>
        </a:xfrm>
      </p:grpSpPr>
      <p:sp>
        <p:nvSpPr>
          <p:cNvPr id="536" name="Google Shape;536;p42"/>
          <p:cNvSpPr/>
          <p:nvPr/>
        </p:nvSpPr>
        <p:spPr>
          <a:xfrm rot="2882042">
            <a:off x="2805347" y="-972139"/>
            <a:ext cx="2225162" cy="2468974"/>
          </a:xfrm>
          <a:custGeom>
            <a:rect b="b" l="l" r="r" t="t"/>
            <a:pathLst>
              <a:path extrusionOk="0" h="4928285" w="4441616">
                <a:moveTo>
                  <a:pt x="0" y="0"/>
                </a:moveTo>
                <a:lnTo>
                  <a:pt x="4441617" y="0"/>
                </a:lnTo>
                <a:lnTo>
                  <a:pt x="4441617" y="4928285"/>
                </a:lnTo>
                <a:lnTo>
                  <a:pt x="0" y="4928285"/>
                </a:lnTo>
                <a:lnTo>
                  <a:pt x="0" y="0"/>
                </a:lnTo>
                <a:close/>
              </a:path>
            </a:pathLst>
          </a:custGeom>
          <a:blipFill rotWithShape="1">
            <a:blip r:embed="rId3">
              <a:alphaModFix/>
            </a:blip>
            <a:stretch>
              <a:fillRect b="0" l="0" r="0" t="0"/>
            </a:stretch>
          </a:blipFill>
          <a:ln>
            <a:noFill/>
          </a:ln>
        </p:spPr>
      </p:sp>
      <p:sp>
        <p:nvSpPr>
          <p:cNvPr id="537" name="Google Shape;537;p42"/>
          <p:cNvSpPr/>
          <p:nvPr/>
        </p:nvSpPr>
        <p:spPr>
          <a:xfrm rot="-6304748">
            <a:off x="7626447" y="3753544"/>
            <a:ext cx="2010775" cy="2231096"/>
          </a:xfrm>
          <a:custGeom>
            <a:rect b="b" l="l" r="r" t="t"/>
            <a:pathLst>
              <a:path extrusionOk="0" h="4464816" w="4023915">
                <a:moveTo>
                  <a:pt x="0" y="0"/>
                </a:moveTo>
                <a:lnTo>
                  <a:pt x="4023916" y="0"/>
                </a:lnTo>
                <a:lnTo>
                  <a:pt x="4023916" y="4464816"/>
                </a:lnTo>
                <a:lnTo>
                  <a:pt x="0" y="4464816"/>
                </a:lnTo>
                <a:lnTo>
                  <a:pt x="0" y="0"/>
                </a:lnTo>
                <a:close/>
              </a:path>
            </a:pathLst>
          </a:custGeom>
          <a:blipFill rotWithShape="1">
            <a:blip r:embed="rId3">
              <a:alphaModFix/>
            </a:blip>
            <a:stretch>
              <a:fillRect b="0" l="0" r="0" t="0"/>
            </a:stretch>
          </a:blipFill>
          <a:ln>
            <a:noFill/>
          </a:ln>
        </p:spPr>
      </p:sp>
      <p:sp>
        <p:nvSpPr>
          <p:cNvPr id="538" name="Google Shape;538;p42"/>
          <p:cNvSpPr/>
          <p:nvPr/>
        </p:nvSpPr>
        <p:spPr>
          <a:xfrm rot="10800000">
            <a:off x="7375768" y="706910"/>
            <a:ext cx="1375762" cy="1459695"/>
          </a:xfrm>
          <a:custGeom>
            <a:rect b="b" l="l" r="r" t="t"/>
            <a:pathLst>
              <a:path extrusionOk="0" h="2919389" w="2751524">
                <a:moveTo>
                  <a:pt x="0" y="0"/>
                </a:moveTo>
                <a:lnTo>
                  <a:pt x="2751524" y="0"/>
                </a:lnTo>
                <a:lnTo>
                  <a:pt x="2751524" y="2919389"/>
                </a:lnTo>
                <a:lnTo>
                  <a:pt x="0" y="2919389"/>
                </a:lnTo>
                <a:lnTo>
                  <a:pt x="0" y="0"/>
                </a:lnTo>
                <a:close/>
              </a:path>
            </a:pathLst>
          </a:custGeom>
          <a:blipFill rotWithShape="1">
            <a:blip r:embed="rId4">
              <a:alphaModFix amt="54000"/>
            </a:blip>
            <a:stretch>
              <a:fillRect b="-1370" l="-1370" r="0" t="0"/>
            </a:stretch>
          </a:blipFill>
          <a:ln>
            <a:noFill/>
          </a:ln>
        </p:spPr>
      </p:sp>
      <p:sp>
        <p:nvSpPr>
          <p:cNvPr id="539" name="Google Shape;539;p42"/>
          <p:cNvSpPr txBox="1"/>
          <p:nvPr/>
        </p:nvSpPr>
        <p:spPr>
          <a:xfrm>
            <a:off x="1028775" y="706900"/>
            <a:ext cx="39357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Recommender Results</a:t>
            </a:r>
            <a:endParaRPr sz="700"/>
          </a:p>
        </p:txBody>
      </p:sp>
      <p:sp>
        <p:nvSpPr>
          <p:cNvPr id="540" name="Google Shape;540;p42"/>
          <p:cNvSpPr/>
          <p:nvPr/>
        </p:nvSpPr>
        <p:spPr>
          <a:xfrm rot="-5400000">
            <a:off x="-2610807" y="2139701"/>
            <a:ext cx="5221614" cy="864097"/>
          </a:xfrm>
          <a:custGeom>
            <a:rect b="b" l="l" r="r" t="t"/>
            <a:pathLst>
              <a:path extrusionOk="0" h="1728194" w="10443227">
                <a:moveTo>
                  <a:pt x="0" y="0"/>
                </a:moveTo>
                <a:lnTo>
                  <a:pt x="10443226" y="0"/>
                </a:lnTo>
                <a:lnTo>
                  <a:pt x="10443226" y="1728194"/>
                </a:lnTo>
                <a:lnTo>
                  <a:pt x="0" y="1728194"/>
                </a:lnTo>
                <a:lnTo>
                  <a:pt x="0" y="0"/>
                </a:lnTo>
                <a:close/>
              </a:path>
            </a:pathLst>
          </a:custGeom>
          <a:blipFill rotWithShape="1">
            <a:blip r:embed="rId5">
              <a:alphaModFix/>
            </a:blip>
            <a:stretch>
              <a:fillRect b="-37861" l="-8110" r="-5310" t="-126013"/>
            </a:stretch>
          </a:blipFill>
          <a:ln cap="sq" cmpd="sng" w="19050">
            <a:solidFill>
              <a:srgbClr val="545454"/>
            </a:solidFill>
            <a:prstDash val="solid"/>
            <a:miter lim="8000"/>
            <a:headEnd len="sm" w="sm" type="none"/>
            <a:tailEnd len="sm" w="sm" type="none"/>
          </a:ln>
        </p:spPr>
      </p:sp>
      <p:sp>
        <p:nvSpPr>
          <p:cNvPr id="541" name="Google Shape;541;p42"/>
          <p:cNvSpPr/>
          <p:nvPr/>
        </p:nvSpPr>
        <p:spPr>
          <a:xfrm>
            <a:off x="2010646" y="304843"/>
            <a:ext cx="356815" cy="402045"/>
          </a:xfrm>
          <a:custGeom>
            <a:rect b="b" l="l" r="r" t="t"/>
            <a:pathLst>
              <a:path extrusionOk="0" h="804090" w="713630">
                <a:moveTo>
                  <a:pt x="0" y="0"/>
                </a:moveTo>
                <a:lnTo>
                  <a:pt x="713630" y="0"/>
                </a:lnTo>
                <a:lnTo>
                  <a:pt x="713630" y="804090"/>
                </a:lnTo>
                <a:lnTo>
                  <a:pt x="0" y="804090"/>
                </a:lnTo>
                <a:lnTo>
                  <a:pt x="0" y="0"/>
                </a:lnTo>
                <a:close/>
              </a:path>
            </a:pathLst>
          </a:custGeom>
          <a:blipFill rotWithShape="1">
            <a:blip r:embed="rId6">
              <a:alphaModFix/>
            </a:blip>
            <a:stretch>
              <a:fillRect b="0" l="0" r="0" t="0"/>
            </a:stretch>
          </a:blipFill>
          <a:ln>
            <a:noFill/>
          </a:ln>
        </p:spPr>
      </p:sp>
      <p:sp>
        <p:nvSpPr>
          <p:cNvPr id="542" name="Google Shape;542;p42"/>
          <p:cNvSpPr txBox="1"/>
          <p:nvPr/>
        </p:nvSpPr>
        <p:spPr>
          <a:xfrm>
            <a:off x="651175" y="2275600"/>
            <a:ext cx="2677500" cy="168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Within RentTheRunway, performance is lower (Hit@1 = 3.0%, Hit@3 = 9.1%) due to data sparsity and unseen users.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The cross-retailer model trained on ModCloth performs better (Hit@1 ≈ 10.5%, Hit@3 ≈ 32.2%) because normalized categories allow size patterns to transfer across retailers.</a:t>
            </a:r>
            <a:endParaRPr sz="1100">
              <a:solidFill>
                <a:schemeClr val="dk1"/>
              </a:solidFill>
            </a:endParaRPr>
          </a:p>
        </p:txBody>
      </p:sp>
      <p:pic>
        <p:nvPicPr>
          <p:cNvPr id="543" name="Google Shape;543;p42"/>
          <p:cNvPicPr preferRelativeResize="0"/>
          <p:nvPr/>
        </p:nvPicPr>
        <p:blipFill>
          <a:blip r:embed="rId7">
            <a:alphaModFix/>
          </a:blip>
          <a:stretch>
            <a:fillRect/>
          </a:stretch>
        </p:blipFill>
        <p:spPr>
          <a:xfrm>
            <a:off x="3664975" y="2166600"/>
            <a:ext cx="5297398" cy="2648699"/>
          </a:xfrm>
          <a:prstGeom prst="rect">
            <a:avLst/>
          </a:prstGeom>
          <a:noFill/>
          <a:ln cap="flat" cmpd="sng" w="38100">
            <a:solidFill>
              <a:srgbClr val="F8D5D7"/>
            </a:solidFill>
            <a:prstDash val="solid"/>
            <a:round/>
            <a:headEnd len="sm" w="sm" type="none"/>
            <a:tailEnd len="sm" w="sm" type="none"/>
          </a:ln>
        </p:spPr>
      </p:pic>
      <p:sp>
        <p:nvSpPr>
          <p:cNvPr id="544" name="Google Shape;544;p42"/>
          <p:cNvSpPr/>
          <p:nvPr/>
        </p:nvSpPr>
        <p:spPr>
          <a:xfrm>
            <a:off x="7550316" y="1060490"/>
            <a:ext cx="568096" cy="552473"/>
          </a:xfrm>
          <a:custGeom>
            <a:rect b="b" l="l" r="r" t="t"/>
            <a:pathLst>
              <a:path extrusionOk="0" h="1104946" w="1136191">
                <a:moveTo>
                  <a:pt x="0" y="0"/>
                </a:moveTo>
                <a:lnTo>
                  <a:pt x="1136192" y="0"/>
                </a:lnTo>
                <a:lnTo>
                  <a:pt x="1136192" y="1104946"/>
                </a:lnTo>
                <a:lnTo>
                  <a:pt x="0" y="1104946"/>
                </a:lnTo>
                <a:lnTo>
                  <a:pt x="0" y="0"/>
                </a:lnTo>
                <a:close/>
              </a:path>
            </a:pathLst>
          </a:custGeom>
          <a:blipFill rotWithShape="1">
            <a:blip r:embed="rId8">
              <a:alphaModFix/>
            </a:blip>
            <a:stretch>
              <a:fillRect b="0" l="0" r="0" t="0"/>
            </a:stretch>
          </a:blipFill>
          <a:ln>
            <a:noFill/>
          </a:ln>
        </p:spPr>
      </p:sp>
      <p:sp>
        <p:nvSpPr>
          <p:cNvPr id="545" name="Google Shape;545;p42"/>
          <p:cNvSpPr txBox="1"/>
          <p:nvPr>
            <p:ph idx="12" type="sldNum"/>
          </p:nvPr>
        </p:nvSpPr>
        <p:spPr>
          <a:xfrm>
            <a:off x="7895575" y="48153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49" name="Shape 549"/>
        <p:cNvGrpSpPr/>
        <p:nvPr/>
      </p:nvGrpSpPr>
      <p:grpSpPr>
        <a:xfrm>
          <a:off x="0" y="0"/>
          <a:ext cx="0" cy="0"/>
          <a:chOff x="0" y="0"/>
          <a:chExt cx="0" cy="0"/>
        </a:xfrm>
      </p:grpSpPr>
      <p:sp>
        <p:nvSpPr>
          <p:cNvPr id="550" name="Google Shape;550;p43"/>
          <p:cNvSpPr/>
          <p:nvPr/>
        </p:nvSpPr>
        <p:spPr>
          <a:xfrm flipH="1" rot="10800000">
            <a:off x="6245130" y="-264708"/>
            <a:ext cx="4650363" cy="4603859"/>
          </a:xfrm>
          <a:custGeom>
            <a:rect b="b" l="l" r="r" t="t"/>
            <a:pathLst>
              <a:path extrusionOk="0" h="9207718" w="9300726">
                <a:moveTo>
                  <a:pt x="9300726" y="0"/>
                </a:moveTo>
                <a:lnTo>
                  <a:pt x="0" y="0"/>
                </a:lnTo>
                <a:lnTo>
                  <a:pt x="0" y="9207719"/>
                </a:lnTo>
                <a:lnTo>
                  <a:pt x="9300726" y="9207719"/>
                </a:lnTo>
                <a:lnTo>
                  <a:pt x="9300726" y="0"/>
                </a:lnTo>
                <a:close/>
              </a:path>
            </a:pathLst>
          </a:custGeom>
          <a:blipFill rotWithShape="1">
            <a:blip r:embed="rId3">
              <a:alphaModFix/>
            </a:blip>
            <a:stretch>
              <a:fillRect b="0" l="0" r="0" t="0"/>
            </a:stretch>
          </a:blipFill>
          <a:ln>
            <a:noFill/>
          </a:ln>
        </p:spPr>
      </p:sp>
      <p:sp>
        <p:nvSpPr>
          <p:cNvPr id="551" name="Google Shape;551;p43"/>
          <p:cNvSpPr/>
          <p:nvPr/>
        </p:nvSpPr>
        <p:spPr>
          <a:xfrm>
            <a:off x="-391771" y="-17844"/>
            <a:ext cx="4579626" cy="5179187"/>
          </a:xfrm>
          <a:custGeom>
            <a:rect b="b" l="l" r="r" t="t"/>
            <a:pathLst>
              <a:path extrusionOk="0" h="10358373" w="9159251">
                <a:moveTo>
                  <a:pt x="0" y="0"/>
                </a:moveTo>
                <a:lnTo>
                  <a:pt x="9159251" y="0"/>
                </a:lnTo>
                <a:lnTo>
                  <a:pt x="9159251" y="10358374"/>
                </a:lnTo>
                <a:lnTo>
                  <a:pt x="0" y="10358374"/>
                </a:lnTo>
                <a:lnTo>
                  <a:pt x="0" y="0"/>
                </a:lnTo>
                <a:close/>
              </a:path>
            </a:pathLst>
          </a:custGeom>
          <a:blipFill rotWithShape="1">
            <a:blip r:embed="rId4">
              <a:alphaModFix/>
            </a:blip>
            <a:stretch>
              <a:fillRect b="-14469" l="-3960" r="-5140" t="-14159"/>
            </a:stretch>
          </a:blipFill>
          <a:ln cap="sq" cmpd="sng" w="38100">
            <a:solidFill>
              <a:srgbClr val="F8D5D7"/>
            </a:solidFill>
            <a:prstDash val="solid"/>
            <a:miter lim="8000"/>
            <a:headEnd len="sm" w="sm" type="none"/>
            <a:tailEnd len="sm" w="sm" type="none"/>
          </a:ln>
        </p:spPr>
      </p:sp>
      <p:sp>
        <p:nvSpPr>
          <p:cNvPr id="552" name="Google Shape;552;p43"/>
          <p:cNvSpPr/>
          <p:nvPr/>
        </p:nvSpPr>
        <p:spPr>
          <a:xfrm rot="-1100666">
            <a:off x="-933205" y="3077535"/>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5">
              <a:alphaModFix/>
            </a:blip>
            <a:stretch>
              <a:fillRect b="0" l="0" r="0" t="0"/>
            </a:stretch>
          </a:blipFill>
          <a:ln>
            <a:noFill/>
          </a:ln>
        </p:spPr>
      </p:sp>
      <p:sp>
        <p:nvSpPr>
          <p:cNvPr id="553" name="Google Shape;553;p43"/>
          <p:cNvSpPr/>
          <p:nvPr/>
        </p:nvSpPr>
        <p:spPr>
          <a:xfrm rot="809744">
            <a:off x="-85994" y="117445"/>
            <a:ext cx="871814" cy="1026768"/>
          </a:xfrm>
          <a:custGeom>
            <a:rect b="b" l="l" r="r" t="t"/>
            <a:pathLst>
              <a:path extrusionOk="0" h="4797117" w="4521283">
                <a:moveTo>
                  <a:pt x="0" y="0"/>
                </a:moveTo>
                <a:lnTo>
                  <a:pt x="4521283" y="0"/>
                </a:lnTo>
                <a:lnTo>
                  <a:pt x="4521283" y="4797118"/>
                </a:lnTo>
                <a:lnTo>
                  <a:pt x="0" y="4797118"/>
                </a:lnTo>
                <a:lnTo>
                  <a:pt x="0" y="0"/>
                </a:lnTo>
                <a:close/>
              </a:path>
            </a:pathLst>
          </a:custGeom>
          <a:blipFill rotWithShape="1">
            <a:blip r:embed="rId6">
              <a:alphaModFix/>
            </a:blip>
            <a:stretch>
              <a:fillRect b="0" l="0" r="0" t="0"/>
            </a:stretch>
          </a:blipFill>
          <a:ln>
            <a:noFill/>
          </a:ln>
        </p:spPr>
      </p:sp>
      <p:sp>
        <p:nvSpPr>
          <p:cNvPr id="554" name="Google Shape;554;p43"/>
          <p:cNvSpPr/>
          <p:nvPr/>
        </p:nvSpPr>
        <p:spPr>
          <a:xfrm rot="-850023">
            <a:off x="7987459" y="382364"/>
            <a:ext cx="813778" cy="1632004"/>
          </a:xfrm>
          <a:custGeom>
            <a:rect b="b" l="l" r="r" t="t"/>
            <a:pathLst>
              <a:path extrusionOk="0" h="5459573" w="3064186">
                <a:moveTo>
                  <a:pt x="0" y="0"/>
                </a:moveTo>
                <a:lnTo>
                  <a:pt x="3064185" y="0"/>
                </a:lnTo>
                <a:lnTo>
                  <a:pt x="3064185" y="5459573"/>
                </a:lnTo>
                <a:lnTo>
                  <a:pt x="0" y="5459573"/>
                </a:lnTo>
                <a:lnTo>
                  <a:pt x="0" y="0"/>
                </a:lnTo>
                <a:close/>
              </a:path>
            </a:pathLst>
          </a:custGeom>
          <a:blipFill rotWithShape="1">
            <a:blip r:embed="rId7">
              <a:alphaModFix/>
            </a:blip>
            <a:stretch>
              <a:fillRect b="0" l="0" r="0" t="0"/>
            </a:stretch>
          </a:blipFill>
          <a:ln>
            <a:noFill/>
          </a:ln>
        </p:spPr>
      </p:sp>
      <p:cxnSp>
        <p:nvCxnSpPr>
          <p:cNvPr id="555" name="Google Shape;555;p43"/>
          <p:cNvCxnSpPr/>
          <p:nvPr/>
        </p:nvCxnSpPr>
        <p:spPr>
          <a:xfrm>
            <a:off x="-3209545" y="2171497"/>
            <a:ext cx="2303100" cy="0"/>
          </a:xfrm>
          <a:prstGeom prst="straightConnector1">
            <a:avLst/>
          </a:prstGeom>
          <a:noFill/>
          <a:ln cap="rnd" cmpd="sng" w="28575">
            <a:solidFill>
              <a:srgbClr val="D9D9D9"/>
            </a:solidFill>
            <a:prstDash val="lgDash"/>
            <a:round/>
            <a:headEnd len="sm" w="sm" type="none"/>
            <a:tailEnd len="sm" w="sm" type="none"/>
          </a:ln>
        </p:spPr>
      </p:cxnSp>
      <p:cxnSp>
        <p:nvCxnSpPr>
          <p:cNvPr id="556" name="Google Shape;556;p43"/>
          <p:cNvCxnSpPr/>
          <p:nvPr/>
        </p:nvCxnSpPr>
        <p:spPr>
          <a:xfrm>
            <a:off x="-3755070" y="2795158"/>
            <a:ext cx="2303100" cy="0"/>
          </a:xfrm>
          <a:prstGeom prst="straightConnector1">
            <a:avLst/>
          </a:prstGeom>
          <a:noFill/>
          <a:ln cap="rnd" cmpd="sng" w="28575">
            <a:solidFill>
              <a:srgbClr val="D9D9D9"/>
            </a:solidFill>
            <a:prstDash val="lgDash"/>
            <a:round/>
            <a:headEnd len="sm" w="sm" type="none"/>
            <a:tailEnd len="sm" w="sm" type="none"/>
          </a:ln>
        </p:spPr>
      </p:cxnSp>
      <p:sp>
        <p:nvSpPr>
          <p:cNvPr id="557" name="Google Shape;557;p43"/>
          <p:cNvSpPr/>
          <p:nvPr/>
        </p:nvSpPr>
        <p:spPr>
          <a:xfrm>
            <a:off x="-1705378" y="1843599"/>
            <a:ext cx="441960" cy="387267"/>
          </a:xfrm>
          <a:custGeom>
            <a:rect b="b" l="l" r="r" t="t"/>
            <a:pathLst>
              <a:path extrusionOk="0" h="774534" w="883919">
                <a:moveTo>
                  <a:pt x="0" y="0"/>
                </a:moveTo>
                <a:lnTo>
                  <a:pt x="883919" y="0"/>
                </a:lnTo>
                <a:lnTo>
                  <a:pt x="883919" y="774535"/>
                </a:lnTo>
                <a:lnTo>
                  <a:pt x="0" y="774535"/>
                </a:lnTo>
                <a:lnTo>
                  <a:pt x="0" y="0"/>
                </a:lnTo>
                <a:close/>
              </a:path>
            </a:pathLst>
          </a:custGeom>
          <a:blipFill rotWithShape="1">
            <a:blip r:embed="rId8">
              <a:alphaModFix/>
            </a:blip>
            <a:stretch>
              <a:fillRect b="0" l="0" r="0" t="0"/>
            </a:stretch>
          </a:blipFill>
          <a:ln>
            <a:noFill/>
          </a:ln>
        </p:spPr>
      </p:sp>
      <p:sp>
        <p:nvSpPr>
          <p:cNvPr id="558" name="Google Shape;558;p43"/>
          <p:cNvSpPr/>
          <p:nvPr/>
        </p:nvSpPr>
        <p:spPr>
          <a:xfrm>
            <a:off x="-1773824" y="2407885"/>
            <a:ext cx="510401" cy="387267"/>
          </a:xfrm>
          <a:custGeom>
            <a:rect b="b" l="l" r="r" t="t"/>
            <a:pathLst>
              <a:path extrusionOk="0" h="774534" w="1020803">
                <a:moveTo>
                  <a:pt x="0" y="0"/>
                </a:moveTo>
                <a:lnTo>
                  <a:pt x="1020803" y="0"/>
                </a:lnTo>
                <a:lnTo>
                  <a:pt x="1020803" y="774534"/>
                </a:lnTo>
                <a:lnTo>
                  <a:pt x="0" y="774534"/>
                </a:lnTo>
                <a:lnTo>
                  <a:pt x="0" y="0"/>
                </a:lnTo>
                <a:close/>
              </a:path>
            </a:pathLst>
          </a:custGeom>
          <a:blipFill rotWithShape="1">
            <a:blip r:embed="rId9">
              <a:alphaModFix/>
            </a:blip>
            <a:stretch>
              <a:fillRect b="0" l="0" r="0" t="0"/>
            </a:stretch>
          </a:blipFill>
          <a:ln>
            <a:noFill/>
          </a:ln>
        </p:spPr>
      </p:sp>
      <p:grpSp>
        <p:nvGrpSpPr>
          <p:cNvPr id="559" name="Google Shape;559;p43"/>
          <p:cNvGrpSpPr/>
          <p:nvPr/>
        </p:nvGrpSpPr>
        <p:grpSpPr>
          <a:xfrm>
            <a:off x="-4334608" y="2171510"/>
            <a:ext cx="7839200" cy="735400"/>
            <a:chOff x="-14921333" y="-1146733"/>
            <a:chExt cx="20904533" cy="1961067"/>
          </a:xfrm>
        </p:grpSpPr>
        <p:sp>
          <p:nvSpPr>
            <p:cNvPr id="560" name="Google Shape;560;p43"/>
            <p:cNvSpPr txBox="1"/>
            <p:nvPr/>
          </p:nvSpPr>
          <p:spPr>
            <a:xfrm>
              <a:off x="-14921333" y="-1146733"/>
              <a:ext cx="40524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1200" u="none" cap="none" strike="noStrike">
                  <a:solidFill>
                    <a:srgbClr val="272622"/>
                  </a:solidFill>
                  <a:latin typeface="Arial"/>
                  <a:ea typeface="Arial"/>
                  <a:cs typeface="Arial"/>
                  <a:sym typeface="Arial"/>
                </a:rPr>
                <a:t>Structured Smart</a:t>
              </a:r>
              <a:endParaRPr sz="700"/>
            </a:p>
          </p:txBody>
        </p:sp>
        <p:sp>
          <p:nvSpPr>
            <p:cNvPr id="561" name="Google Shape;561;p43"/>
            <p:cNvSpPr txBox="1"/>
            <p:nvPr/>
          </p:nvSpPr>
          <p:spPr>
            <a:xfrm>
              <a:off x="0" y="526934"/>
              <a:ext cx="5983200" cy="28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t/>
              </a:r>
              <a:endParaRPr sz="700"/>
            </a:p>
          </p:txBody>
        </p:sp>
      </p:grpSp>
      <p:grpSp>
        <p:nvGrpSpPr>
          <p:cNvPr id="562" name="Google Shape;562;p43"/>
          <p:cNvGrpSpPr/>
          <p:nvPr/>
        </p:nvGrpSpPr>
        <p:grpSpPr>
          <a:xfrm>
            <a:off x="-3179858" y="2795159"/>
            <a:ext cx="2243700" cy="536225"/>
            <a:chOff x="0" y="0"/>
            <a:chExt cx="5983200" cy="1429934"/>
          </a:xfrm>
        </p:grpSpPr>
        <p:sp>
          <p:nvSpPr>
            <p:cNvPr id="563" name="Google Shape;563;p43"/>
            <p:cNvSpPr txBox="1"/>
            <p:nvPr/>
          </p:nvSpPr>
          <p:spPr>
            <a:xfrm>
              <a:off x="0" y="0"/>
              <a:ext cx="40524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1200" u="none" cap="none" strike="noStrike">
                  <a:solidFill>
                    <a:srgbClr val="272622"/>
                  </a:solidFill>
                  <a:latin typeface="Arial"/>
                  <a:ea typeface="Arial"/>
                  <a:cs typeface="Arial"/>
                  <a:sym typeface="Arial"/>
                </a:rPr>
                <a:t>Weekend Relaxed</a:t>
              </a:r>
              <a:endParaRPr sz="700"/>
            </a:p>
          </p:txBody>
        </p:sp>
        <p:sp>
          <p:nvSpPr>
            <p:cNvPr id="564" name="Google Shape;564;p43"/>
            <p:cNvSpPr txBox="1"/>
            <p:nvPr/>
          </p:nvSpPr>
          <p:spPr>
            <a:xfrm>
              <a:off x="0" y="526934"/>
              <a:ext cx="5983200" cy="90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u="none" cap="none" strike="noStrike">
                  <a:solidFill>
                    <a:srgbClr val="272622"/>
                  </a:solidFill>
                  <a:latin typeface="Arial"/>
                  <a:ea typeface="Arial"/>
                  <a:cs typeface="Arial"/>
                  <a:sym typeface="Arial"/>
                </a:rPr>
                <a:t>Soft pieces supporting movement and calm outdoor moments.</a:t>
              </a:r>
              <a:endParaRPr sz="700"/>
            </a:p>
          </p:txBody>
        </p:sp>
      </p:grpSp>
      <p:sp>
        <p:nvSpPr>
          <p:cNvPr id="565" name="Google Shape;565;p43"/>
          <p:cNvSpPr txBox="1"/>
          <p:nvPr/>
        </p:nvSpPr>
        <p:spPr>
          <a:xfrm>
            <a:off x="-7" y="395525"/>
            <a:ext cx="86817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Recommender Output</a:t>
            </a:r>
            <a:endParaRPr sz="700"/>
          </a:p>
        </p:txBody>
      </p:sp>
      <p:sp>
        <p:nvSpPr>
          <p:cNvPr id="566" name="Google Shape;566;p43"/>
          <p:cNvSpPr/>
          <p:nvPr/>
        </p:nvSpPr>
        <p:spPr>
          <a:xfrm>
            <a:off x="7115163" y="4502907"/>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10">
              <a:alphaModFix amt="54000"/>
            </a:blip>
            <a:stretch>
              <a:fillRect b="-126619" l="0" r="0" t="0"/>
            </a:stretch>
          </a:blipFill>
          <a:ln>
            <a:noFill/>
          </a:ln>
        </p:spPr>
      </p:sp>
      <p:sp>
        <p:nvSpPr>
          <p:cNvPr id="567" name="Google Shape;567;p43"/>
          <p:cNvSpPr/>
          <p:nvPr/>
        </p:nvSpPr>
        <p:spPr>
          <a:xfrm>
            <a:off x="3033456" y="92667"/>
            <a:ext cx="942281" cy="302847"/>
          </a:xfrm>
          <a:custGeom>
            <a:rect b="b" l="l" r="r" t="t"/>
            <a:pathLst>
              <a:path extrusionOk="0" h="605693" w="1884562">
                <a:moveTo>
                  <a:pt x="0" y="0"/>
                </a:moveTo>
                <a:lnTo>
                  <a:pt x="1884561" y="0"/>
                </a:lnTo>
                <a:lnTo>
                  <a:pt x="1884561" y="605693"/>
                </a:lnTo>
                <a:lnTo>
                  <a:pt x="0" y="605693"/>
                </a:lnTo>
                <a:lnTo>
                  <a:pt x="0" y="0"/>
                </a:lnTo>
                <a:close/>
              </a:path>
            </a:pathLst>
          </a:custGeom>
          <a:blipFill rotWithShape="1">
            <a:blip r:embed="rId11">
              <a:alphaModFix amt="57000"/>
            </a:blip>
            <a:stretch>
              <a:fillRect b="-211139" l="0" r="0" t="0"/>
            </a:stretch>
          </a:blipFill>
          <a:ln>
            <a:noFill/>
          </a:ln>
        </p:spPr>
      </p:sp>
      <p:sp>
        <p:nvSpPr>
          <p:cNvPr id="568" name="Google Shape;568;p43"/>
          <p:cNvSpPr txBox="1"/>
          <p:nvPr>
            <p:ph idx="12" type="sldNum"/>
          </p:nvPr>
        </p:nvSpPr>
        <p:spPr>
          <a:xfrm>
            <a:off x="8036913" y="48982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None/>
            </a:pPr>
            <a:fld id="{00000000-1234-1234-1234-123412341234}" type="slidenum">
              <a:rPr lang="en"/>
              <a:t>‹#›</a:t>
            </a:fld>
            <a:endParaRPr/>
          </a:p>
        </p:txBody>
      </p:sp>
      <p:pic>
        <p:nvPicPr>
          <p:cNvPr id="569" name="Google Shape;569;p43" title="Screenshot 2026-03-07 at 17.17.06.png"/>
          <p:cNvPicPr preferRelativeResize="0"/>
          <p:nvPr/>
        </p:nvPicPr>
        <p:blipFill>
          <a:blip r:embed="rId12">
            <a:alphaModFix/>
          </a:blip>
          <a:stretch>
            <a:fillRect/>
          </a:stretch>
        </p:blipFill>
        <p:spPr>
          <a:xfrm>
            <a:off x="-233750" y="2069975"/>
            <a:ext cx="4263565" cy="2657149"/>
          </a:xfrm>
          <a:prstGeom prst="rect">
            <a:avLst/>
          </a:prstGeom>
          <a:noFill/>
          <a:ln>
            <a:noFill/>
          </a:ln>
        </p:spPr>
      </p:pic>
      <p:pic>
        <p:nvPicPr>
          <p:cNvPr id="570" name="Google Shape;570;p43" title="Screenshot 2026-03-07 at 17.17.38.png"/>
          <p:cNvPicPr preferRelativeResize="0"/>
          <p:nvPr/>
        </p:nvPicPr>
        <p:blipFill rotWithShape="1">
          <a:blip r:embed="rId13">
            <a:alphaModFix/>
          </a:blip>
          <a:srcRect b="0" l="0" r="0" t="990"/>
          <a:stretch/>
        </p:blipFill>
        <p:spPr>
          <a:xfrm>
            <a:off x="4572000" y="2157850"/>
            <a:ext cx="4182374" cy="2548953"/>
          </a:xfrm>
          <a:prstGeom prst="rect">
            <a:avLst/>
          </a:prstGeom>
          <a:noFill/>
          <a:ln>
            <a:noFill/>
          </a:ln>
        </p:spPr>
      </p:pic>
      <p:sp>
        <p:nvSpPr>
          <p:cNvPr id="571" name="Google Shape;571;p43"/>
          <p:cNvSpPr txBox="1"/>
          <p:nvPr/>
        </p:nvSpPr>
        <p:spPr>
          <a:xfrm>
            <a:off x="595138" y="1194200"/>
            <a:ext cx="2605800" cy="600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2400">
                <a:solidFill>
                  <a:srgbClr val="272622"/>
                </a:solidFill>
              </a:rPr>
              <a:t>Warm-Start Demo</a:t>
            </a:r>
            <a:endParaRPr sz="2400">
              <a:solidFill>
                <a:srgbClr val="272622"/>
              </a:solidFill>
            </a:endParaRPr>
          </a:p>
          <a:p>
            <a:pPr indent="0" lvl="0" marL="0" marR="0" rtl="0" algn="ctr">
              <a:lnSpc>
                <a:spcPct val="100000"/>
              </a:lnSpc>
              <a:spcBef>
                <a:spcPts val="0"/>
              </a:spcBef>
              <a:spcAft>
                <a:spcPts val="0"/>
              </a:spcAft>
              <a:buNone/>
            </a:pPr>
            <a:r>
              <a:rPr lang="en" sz="1500">
                <a:solidFill>
                  <a:srgbClr val="272622"/>
                </a:solidFill>
              </a:rPr>
              <a:t>Actual Size =14</a:t>
            </a:r>
            <a:endParaRPr sz="1500">
              <a:solidFill>
                <a:srgbClr val="272622"/>
              </a:solidFill>
            </a:endParaRPr>
          </a:p>
        </p:txBody>
      </p:sp>
      <p:sp>
        <p:nvSpPr>
          <p:cNvPr id="572" name="Google Shape;572;p43"/>
          <p:cNvSpPr txBox="1"/>
          <p:nvPr/>
        </p:nvSpPr>
        <p:spPr>
          <a:xfrm>
            <a:off x="5425538" y="1194200"/>
            <a:ext cx="26058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2400">
                <a:solidFill>
                  <a:srgbClr val="272622"/>
                </a:solidFill>
              </a:rPr>
              <a:t>Cold</a:t>
            </a:r>
            <a:r>
              <a:rPr lang="en" sz="2400">
                <a:solidFill>
                  <a:srgbClr val="272622"/>
                </a:solidFill>
              </a:rPr>
              <a:t>-Start Demo</a:t>
            </a:r>
            <a:endParaRPr sz="2400"/>
          </a:p>
        </p:txBody>
      </p:sp>
      <p:sp>
        <p:nvSpPr>
          <p:cNvPr id="573" name="Google Shape;573;p43"/>
          <p:cNvSpPr/>
          <p:nvPr/>
        </p:nvSpPr>
        <p:spPr>
          <a:xfrm>
            <a:off x="4662727" y="1392739"/>
            <a:ext cx="554553" cy="552473"/>
          </a:xfrm>
          <a:custGeom>
            <a:rect b="b" l="l" r="r" t="t"/>
            <a:pathLst>
              <a:path extrusionOk="0" h="1104946" w="1109105">
                <a:moveTo>
                  <a:pt x="0" y="0"/>
                </a:moveTo>
                <a:lnTo>
                  <a:pt x="1109105" y="0"/>
                </a:lnTo>
                <a:lnTo>
                  <a:pt x="1109105" y="1104946"/>
                </a:lnTo>
                <a:lnTo>
                  <a:pt x="0" y="1104946"/>
                </a:lnTo>
                <a:lnTo>
                  <a:pt x="0" y="0"/>
                </a:lnTo>
                <a:close/>
              </a:path>
            </a:pathLst>
          </a:custGeom>
          <a:blipFill rotWithShape="1">
            <a:blip r:embed="rId1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77" name="Shape 577"/>
        <p:cNvGrpSpPr/>
        <p:nvPr/>
      </p:nvGrpSpPr>
      <p:grpSpPr>
        <a:xfrm>
          <a:off x="0" y="0"/>
          <a:ext cx="0" cy="0"/>
          <a:chOff x="0" y="0"/>
          <a:chExt cx="0" cy="0"/>
        </a:xfrm>
      </p:grpSpPr>
      <p:sp>
        <p:nvSpPr>
          <p:cNvPr id="578" name="Google Shape;578;p44"/>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579" name="Google Shape;579;p44"/>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580" name="Google Shape;580;p44"/>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581" name="Google Shape;581;p44"/>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582" name="Google Shape;582;p44"/>
          <p:cNvSpPr/>
          <p:nvPr/>
        </p:nvSpPr>
        <p:spPr>
          <a:xfrm rot="-504881">
            <a:off x="7015628" y="163558"/>
            <a:ext cx="2346553" cy="1507118"/>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583" name="Google Shape;583;p44"/>
          <p:cNvSpPr/>
          <p:nvPr/>
        </p:nvSpPr>
        <p:spPr>
          <a:xfrm>
            <a:off x="1115000" y="1062125"/>
            <a:ext cx="7351889" cy="3836357"/>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584" name="Google Shape;584;p44"/>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Limitations</a:t>
            </a:r>
            <a:endParaRPr sz="700"/>
          </a:p>
        </p:txBody>
      </p:sp>
      <p:sp>
        <p:nvSpPr>
          <p:cNvPr id="585" name="Google Shape;585;p44"/>
          <p:cNvSpPr txBox="1"/>
          <p:nvPr/>
        </p:nvSpPr>
        <p:spPr>
          <a:xfrm>
            <a:off x="1346350" y="1250175"/>
            <a:ext cx="6889200" cy="3330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1200" u="sng">
                <a:solidFill>
                  <a:srgbClr val="272622"/>
                </a:solidFill>
              </a:rPr>
              <a:t>Data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Reviews are self-reported, fit labels reflect subjective perception, not objective measurement</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Size inconsistency from one </a:t>
            </a:r>
            <a:r>
              <a:rPr lang="en" sz="1200">
                <a:solidFill>
                  <a:srgbClr val="272622"/>
                </a:solidFill>
              </a:rPr>
              <a:t>manufacturer</a:t>
            </a:r>
            <a:r>
              <a:rPr lang="en" sz="1200">
                <a:solidFill>
                  <a:srgbClr val="272622"/>
                </a:solidFill>
              </a:rPr>
              <a:t> to the next</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Missing clothing dimensions</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Modeling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No temporal dimension: does not account for how fit perception may change over time/seasons</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KNN, Kernel SVM, Linear SVM, and Naive Bayes tuned on subsample </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Recommender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Subpar </a:t>
            </a:r>
            <a:r>
              <a:rPr lang="en" sz="1200">
                <a:solidFill>
                  <a:srgbClr val="272622"/>
                </a:solidFill>
              </a:rPr>
              <a:t>performance</a:t>
            </a:r>
            <a:r>
              <a:rPr lang="en" sz="1200">
                <a:solidFill>
                  <a:srgbClr val="272622"/>
                </a:solidFill>
              </a:rPr>
              <a:t> on the RTR dataset due to it being trained on normalized categories instead of item_ids</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Wide variety of sizes </a:t>
            </a:r>
            <a:r>
              <a:rPr lang="en" sz="1200">
                <a:solidFill>
                  <a:srgbClr val="272622"/>
                </a:solidFill>
              </a:rPr>
              <a:t>recommended</a:t>
            </a:r>
            <a:r>
              <a:rPr lang="en" sz="1200">
                <a:solidFill>
                  <a:srgbClr val="272622"/>
                </a:solidFill>
              </a:rPr>
              <a:t> due to lack of size consistency</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Scope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Analysis is limited to women’s clothing and does not take </a:t>
            </a:r>
            <a:r>
              <a:rPr lang="en" sz="1200">
                <a:solidFill>
                  <a:srgbClr val="272622"/>
                </a:solidFill>
              </a:rPr>
              <a:t>different</a:t>
            </a:r>
            <a:r>
              <a:rPr lang="en" sz="1200">
                <a:solidFill>
                  <a:srgbClr val="272622"/>
                </a:solidFill>
              </a:rPr>
              <a:t> builds into account</a:t>
            </a:r>
            <a:endParaRPr sz="1200">
              <a:solidFill>
                <a:srgbClr val="272622"/>
              </a:solidFill>
            </a:endParaRPr>
          </a:p>
          <a:p>
            <a:pPr indent="-304800" lvl="1" marL="914400" marR="0" rtl="0" algn="l">
              <a:lnSpc>
                <a:spcPct val="115000"/>
              </a:lnSpc>
              <a:spcBef>
                <a:spcPts val="0"/>
              </a:spcBef>
              <a:spcAft>
                <a:spcPts val="0"/>
              </a:spcAft>
              <a:buClr>
                <a:srgbClr val="272622"/>
              </a:buClr>
              <a:buSzPts val="1200"/>
              <a:buChar char="○"/>
            </a:pPr>
            <a:r>
              <a:rPr lang="en" sz="1200">
                <a:solidFill>
                  <a:srgbClr val="272622"/>
                </a:solidFill>
              </a:rPr>
              <a:t>Specifically Rent the Runway</a:t>
            </a:r>
            <a:endParaRPr sz="1200">
              <a:solidFill>
                <a:srgbClr val="272622"/>
              </a:solidFill>
            </a:endParaRPr>
          </a:p>
        </p:txBody>
      </p:sp>
      <p:sp>
        <p:nvSpPr>
          <p:cNvPr id="586" name="Google Shape;586;p44"/>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587" name="Google Shape;587;p44"/>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588" name="Google Shape;588;p44"/>
          <p:cNvSpPr txBox="1"/>
          <p:nvPr/>
        </p:nvSpPr>
        <p:spPr>
          <a:xfrm>
            <a:off x="-4522650" y="1062125"/>
            <a:ext cx="2447100" cy="973500"/>
          </a:xfrm>
          <a:prstGeom prst="rect">
            <a:avLst/>
          </a:prstGeom>
          <a:noFill/>
          <a:ln>
            <a:noFill/>
          </a:ln>
        </p:spPr>
        <p:txBody>
          <a:bodyPr anchorCtr="0" anchor="t" bIns="91425" lIns="91425" spcFirstLastPara="1" rIns="91425" wrap="square" tIns="91425">
            <a:noAutofit/>
          </a:bodyPr>
          <a:lstStyle/>
          <a:p>
            <a:pPr indent="-304800" lvl="0" marL="457200" rtl="0" algn="l">
              <a:lnSpc>
                <a:spcPct val="140000"/>
              </a:lnSpc>
              <a:spcBef>
                <a:spcPts val="0"/>
              </a:spcBef>
              <a:spcAft>
                <a:spcPts val="0"/>
              </a:spcAft>
              <a:buClr>
                <a:schemeClr val="dk1"/>
              </a:buClr>
              <a:buSzPts val="1200"/>
              <a:buChar char="●"/>
            </a:pPr>
            <a:r>
              <a:rPr b="1" lang="en" sz="1200">
                <a:solidFill>
                  <a:schemeClr val="dk1"/>
                </a:solidFill>
              </a:rPr>
              <a:t>Linear SVM</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Naive Bayes</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Random Forest</a:t>
            </a:r>
            <a:endParaRPr b="1" sz="1200">
              <a:solidFill>
                <a:schemeClr val="dk1"/>
              </a:solidFill>
            </a:endParaRPr>
          </a:p>
        </p:txBody>
      </p:sp>
      <p:sp>
        <p:nvSpPr>
          <p:cNvPr id="589" name="Google Shape;589;p44"/>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90" name="Google Shape;590;p44"/>
          <p:cNvSpPr/>
          <p:nvPr/>
        </p:nvSpPr>
        <p:spPr>
          <a:xfrm>
            <a:off x="331955" y="4541834"/>
            <a:ext cx="574794" cy="387267"/>
          </a:xfrm>
          <a:custGeom>
            <a:rect b="b" l="l" r="r" t="t"/>
            <a:pathLst>
              <a:path extrusionOk="0" h="774534" w="1149587">
                <a:moveTo>
                  <a:pt x="0" y="0"/>
                </a:moveTo>
                <a:lnTo>
                  <a:pt x="1149587" y="0"/>
                </a:lnTo>
                <a:lnTo>
                  <a:pt x="1149587" y="774534"/>
                </a:lnTo>
                <a:lnTo>
                  <a:pt x="0" y="774534"/>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94" name="Shape 594"/>
        <p:cNvGrpSpPr/>
        <p:nvPr/>
      </p:nvGrpSpPr>
      <p:grpSpPr>
        <a:xfrm>
          <a:off x="0" y="0"/>
          <a:ext cx="0" cy="0"/>
          <a:chOff x="0" y="0"/>
          <a:chExt cx="0" cy="0"/>
        </a:xfrm>
      </p:grpSpPr>
      <p:sp>
        <p:nvSpPr>
          <p:cNvPr id="595" name="Google Shape;595;p45"/>
          <p:cNvSpPr/>
          <p:nvPr/>
        </p:nvSpPr>
        <p:spPr>
          <a:xfrm rot="240250">
            <a:off x="-152339" y="3671305"/>
            <a:ext cx="9473282" cy="2085215"/>
          </a:xfrm>
          <a:custGeom>
            <a:rect b="b" l="l" r="r" t="t"/>
            <a:pathLst>
              <a:path extrusionOk="0" h="4160249" w="18900314">
                <a:moveTo>
                  <a:pt x="0" y="1321953"/>
                </a:moveTo>
                <a:lnTo>
                  <a:pt x="18699664" y="0"/>
                </a:lnTo>
                <a:lnTo>
                  <a:pt x="18900314" y="2838296"/>
                </a:lnTo>
                <a:lnTo>
                  <a:pt x="200650" y="4160249"/>
                </a:lnTo>
                <a:lnTo>
                  <a:pt x="0" y="1321953"/>
                </a:lnTo>
                <a:close/>
              </a:path>
            </a:pathLst>
          </a:custGeom>
          <a:blipFill rotWithShape="1">
            <a:blip r:embed="rId3">
              <a:alphaModFix/>
            </a:blip>
            <a:stretch>
              <a:fillRect b="-108641" l="-1200" r="-1940" t="-90062"/>
            </a:stretch>
          </a:blipFill>
          <a:ln cap="sq" cmpd="sng" w="28575">
            <a:solidFill>
              <a:srgbClr val="545454"/>
            </a:solidFill>
            <a:prstDash val="solid"/>
            <a:miter lim="8000"/>
            <a:headEnd len="sm" w="sm" type="none"/>
            <a:tailEnd len="sm" w="sm" type="none"/>
          </a:ln>
        </p:spPr>
      </p:sp>
      <p:sp>
        <p:nvSpPr>
          <p:cNvPr id="596" name="Google Shape;596;p45"/>
          <p:cNvSpPr/>
          <p:nvPr/>
        </p:nvSpPr>
        <p:spPr>
          <a:xfrm rot="-6740003">
            <a:off x="7157361" y="3262095"/>
            <a:ext cx="2577551" cy="2859973"/>
          </a:xfrm>
          <a:custGeom>
            <a:rect b="b" l="l" r="r" t="t"/>
            <a:pathLst>
              <a:path extrusionOk="0" h="5719875" w="5155038">
                <a:moveTo>
                  <a:pt x="0" y="0"/>
                </a:moveTo>
                <a:lnTo>
                  <a:pt x="5155037" y="0"/>
                </a:lnTo>
                <a:lnTo>
                  <a:pt x="5155037" y="5719876"/>
                </a:lnTo>
                <a:lnTo>
                  <a:pt x="0" y="5719876"/>
                </a:lnTo>
                <a:lnTo>
                  <a:pt x="0" y="0"/>
                </a:lnTo>
                <a:close/>
              </a:path>
            </a:pathLst>
          </a:custGeom>
          <a:blipFill rotWithShape="1">
            <a:blip r:embed="rId4">
              <a:alphaModFix/>
            </a:blip>
            <a:stretch>
              <a:fillRect b="0" l="0" r="0" t="0"/>
            </a:stretch>
          </a:blipFill>
          <a:ln>
            <a:noFill/>
          </a:ln>
        </p:spPr>
      </p:sp>
      <p:sp>
        <p:nvSpPr>
          <p:cNvPr id="597" name="Google Shape;597;p45"/>
          <p:cNvSpPr/>
          <p:nvPr/>
        </p:nvSpPr>
        <p:spPr>
          <a:xfrm>
            <a:off x="514350" y="4875663"/>
            <a:ext cx="2076383" cy="267838"/>
          </a:xfrm>
          <a:custGeom>
            <a:rect b="b" l="l" r="r" t="t"/>
            <a:pathLst>
              <a:path extrusionOk="0" h="535675" w="4152765">
                <a:moveTo>
                  <a:pt x="0" y="0"/>
                </a:moveTo>
                <a:lnTo>
                  <a:pt x="4152765" y="0"/>
                </a:lnTo>
                <a:lnTo>
                  <a:pt x="4152765" y="535675"/>
                </a:lnTo>
                <a:lnTo>
                  <a:pt x="0" y="535675"/>
                </a:lnTo>
                <a:lnTo>
                  <a:pt x="0" y="0"/>
                </a:lnTo>
                <a:close/>
              </a:path>
            </a:pathLst>
          </a:custGeom>
          <a:blipFill rotWithShape="1">
            <a:blip r:embed="rId5">
              <a:alphaModFix/>
            </a:blip>
            <a:stretch>
              <a:fillRect b="0" l="0" r="0" t="-210097"/>
            </a:stretch>
          </a:blipFill>
          <a:ln>
            <a:noFill/>
          </a:ln>
        </p:spPr>
      </p:sp>
      <p:sp>
        <p:nvSpPr>
          <p:cNvPr id="598" name="Google Shape;598;p45"/>
          <p:cNvSpPr/>
          <p:nvPr/>
        </p:nvSpPr>
        <p:spPr>
          <a:xfrm rot="1209253">
            <a:off x="-320836" y="3333473"/>
            <a:ext cx="2359545" cy="2306455"/>
          </a:xfrm>
          <a:custGeom>
            <a:rect b="b" l="l" r="r" t="t"/>
            <a:pathLst>
              <a:path extrusionOk="0" h="4606868" w="4712909">
                <a:moveTo>
                  <a:pt x="0" y="0"/>
                </a:moveTo>
                <a:lnTo>
                  <a:pt x="4712909" y="0"/>
                </a:lnTo>
                <a:lnTo>
                  <a:pt x="4712909" y="4606868"/>
                </a:lnTo>
                <a:lnTo>
                  <a:pt x="0" y="4606868"/>
                </a:lnTo>
                <a:lnTo>
                  <a:pt x="0" y="0"/>
                </a:lnTo>
                <a:close/>
              </a:path>
            </a:pathLst>
          </a:custGeom>
          <a:blipFill rotWithShape="1">
            <a:blip r:embed="rId6">
              <a:alphaModFix/>
            </a:blip>
            <a:stretch>
              <a:fillRect b="0" l="0" r="0" t="0"/>
            </a:stretch>
          </a:blipFill>
          <a:ln>
            <a:noFill/>
          </a:ln>
        </p:spPr>
      </p:sp>
      <p:sp>
        <p:nvSpPr>
          <p:cNvPr id="599" name="Google Shape;599;p45"/>
          <p:cNvSpPr txBox="1"/>
          <p:nvPr/>
        </p:nvSpPr>
        <p:spPr>
          <a:xfrm>
            <a:off x="1815309" y="2048560"/>
            <a:ext cx="55134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a:t>
            </a:r>
            <a:r>
              <a:rPr lang="en" sz="3400">
                <a:solidFill>
                  <a:srgbClr val="272622"/>
                </a:solidFill>
              </a:rPr>
              <a:t>ode Repository</a:t>
            </a:r>
            <a:endParaRPr sz="700"/>
          </a:p>
        </p:txBody>
      </p:sp>
      <p:sp>
        <p:nvSpPr>
          <p:cNvPr id="600" name="Google Shape;600;p45"/>
          <p:cNvSpPr/>
          <p:nvPr/>
        </p:nvSpPr>
        <p:spPr>
          <a:xfrm>
            <a:off x="-95268" y="-1106220"/>
            <a:ext cx="9334537" cy="1544723"/>
          </a:xfrm>
          <a:custGeom>
            <a:rect b="b" l="l" r="r" t="t"/>
            <a:pathLst>
              <a:path extrusionOk="0" h="3089445" w="18669074">
                <a:moveTo>
                  <a:pt x="0" y="0"/>
                </a:moveTo>
                <a:lnTo>
                  <a:pt x="18669074" y="0"/>
                </a:lnTo>
                <a:lnTo>
                  <a:pt x="18669074" y="3089445"/>
                </a:lnTo>
                <a:lnTo>
                  <a:pt x="0" y="3089445"/>
                </a:lnTo>
                <a:lnTo>
                  <a:pt x="0" y="0"/>
                </a:lnTo>
                <a:close/>
              </a:path>
            </a:pathLst>
          </a:custGeom>
          <a:blipFill rotWithShape="1">
            <a:blip r:embed="rId7">
              <a:alphaModFix/>
            </a:blip>
            <a:stretch>
              <a:fillRect b="-37861" l="-8110" r="-5310" t="-126013"/>
            </a:stretch>
          </a:blipFill>
          <a:ln cap="sq" cmpd="sng" w="28575">
            <a:solidFill>
              <a:srgbClr val="545454"/>
            </a:solidFill>
            <a:prstDash val="solid"/>
            <a:miter lim="8000"/>
            <a:headEnd len="sm" w="sm" type="none"/>
            <a:tailEnd len="sm" w="sm" type="none"/>
          </a:ln>
        </p:spPr>
      </p:sp>
      <p:sp>
        <p:nvSpPr>
          <p:cNvPr id="601" name="Google Shape;601;p45"/>
          <p:cNvSpPr/>
          <p:nvPr/>
        </p:nvSpPr>
        <p:spPr>
          <a:xfrm rot="-833831">
            <a:off x="-523494" y="-943134"/>
            <a:ext cx="2896133" cy="3213463"/>
          </a:xfrm>
          <a:custGeom>
            <a:rect b="b" l="l" r="r" t="t"/>
            <a:pathLst>
              <a:path extrusionOk="0" h="6431752" w="5796616">
                <a:moveTo>
                  <a:pt x="0" y="0"/>
                </a:moveTo>
                <a:lnTo>
                  <a:pt x="5796617" y="0"/>
                </a:lnTo>
                <a:lnTo>
                  <a:pt x="5796617" y="6431752"/>
                </a:lnTo>
                <a:lnTo>
                  <a:pt x="0" y="6431752"/>
                </a:lnTo>
                <a:lnTo>
                  <a:pt x="0" y="0"/>
                </a:lnTo>
                <a:close/>
              </a:path>
            </a:pathLst>
          </a:custGeom>
          <a:blipFill rotWithShape="1">
            <a:blip r:embed="rId4">
              <a:alphaModFix/>
            </a:blip>
            <a:stretch>
              <a:fillRect b="0" l="0" r="0" t="0"/>
            </a:stretch>
          </a:blipFill>
          <a:ln>
            <a:noFill/>
          </a:ln>
        </p:spPr>
      </p:sp>
      <p:sp>
        <p:nvSpPr>
          <p:cNvPr id="602" name="Google Shape;602;p45"/>
          <p:cNvSpPr/>
          <p:nvPr/>
        </p:nvSpPr>
        <p:spPr>
          <a:xfrm>
            <a:off x="6997501" y="1155630"/>
            <a:ext cx="2312143" cy="298249"/>
          </a:xfrm>
          <a:custGeom>
            <a:rect b="b" l="l" r="r" t="t"/>
            <a:pathLst>
              <a:path extrusionOk="0" h="596498" w="4624287">
                <a:moveTo>
                  <a:pt x="0" y="0"/>
                </a:moveTo>
                <a:lnTo>
                  <a:pt x="4624288" y="0"/>
                </a:lnTo>
                <a:lnTo>
                  <a:pt x="4624288" y="596498"/>
                </a:lnTo>
                <a:lnTo>
                  <a:pt x="0" y="596498"/>
                </a:lnTo>
                <a:lnTo>
                  <a:pt x="0" y="0"/>
                </a:lnTo>
                <a:close/>
              </a:path>
            </a:pathLst>
          </a:custGeom>
          <a:blipFill rotWithShape="1">
            <a:blip r:embed="rId8">
              <a:alphaModFix/>
            </a:blip>
            <a:stretch>
              <a:fillRect b="0" l="0" r="0" t="-210097"/>
            </a:stretch>
          </a:blipFill>
          <a:ln>
            <a:noFill/>
          </a:ln>
        </p:spPr>
      </p:sp>
      <p:sp>
        <p:nvSpPr>
          <p:cNvPr id="603" name="Google Shape;603;p45"/>
          <p:cNvSpPr/>
          <p:nvPr/>
        </p:nvSpPr>
        <p:spPr>
          <a:xfrm rot="-921333">
            <a:off x="8218529" y="599623"/>
            <a:ext cx="1705443" cy="3677506"/>
          </a:xfrm>
          <a:custGeom>
            <a:rect b="b" l="l" r="r" t="t"/>
            <a:pathLst>
              <a:path extrusionOk="0" h="7349685" w="3408416">
                <a:moveTo>
                  <a:pt x="0" y="0"/>
                </a:moveTo>
                <a:lnTo>
                  <a:pt x="3408416" y="0"/>
                </a:lnTo>
                <a:lnTo>
                  <a:pt x="3408416" y="7349685"/>
                </a:lnTo>
                <a:lnTo>
                  <a:pt x="0" y="7349685"/>
                </a:lnTo>
                <a:lnTo>
                  <a:pt x="0" y="0"/>
                </a:lnTo>
                <a:close/>
              </a:path>
            </a:pathLst>
          </a:custGeom>
          <a:blipFill rotWithShape="1">
            <a:blip r:embed="rId9">
              <a:alphaModFix/>
            </a:blip>
            <a:stretch>
              <a:fillRect b="0" l="0" r="0" t="0"/>
            </a:stretch>
          </a:blipFill>
          <a:ln>
            <a:noFill/>
          </a:ln>
        </p:spPr>
      </p:sp>
      <p:sp>
        <p:nvSpPr>
          <p:cNvPr id="604" name="Google Shape;604;p45"/>
          <p:cNvSpPr/>
          <p:nvPr/>
        </p:nvSpPr>
        <p:spPr>
          <a:xfrm>
            <a:off x="2539722" y="578117"/>
            <a:ext cx="918856" cy="305533"/>
          </a:xfrm>
          <a:custGeom>
            <a:rect b="b" l="l" r="r" t="t"/>
            <a:pathLst>
              <a:path extrusionOk="0" h="611066" w="1837712">
                <a:moveTo>
                  <a:pt x="0" y="0"/>
                </a:moveTo>
                <a:lnTo>
                  <a:pt x="1837712" y="0"/>
                </a:lnTo>
                <a:lnTo>
                  <a:pt x="1837712" y="611066"/>
                </a:lnTo>
                <a:lnTo>
                  <a:pt x="0" y="611066"/>
                </a:lnTo>
                <a:lnTo>
                  <a:pt x="0" y="0"/>
                </a:lnTo>
                <a:close/>
              </a:path>
            </a:pathLst>
          </a:custGeom>
          <a:blipFill rotWithShape="1">
            <a:blip r:embed="rId10">
              <a:alphaModFix amt="57000"/>
            </a:blip>
            <a:stretch>
              <a:fillRect b="0" l="0" r="0" t="-58260"/>
            </a:stretch>
          </a:blipFill>
          <a:ln>
            <a:noFill/>
          </a:ln>
        </p:spPr>
      </p:sp>
      <p:sp>
        <p:nvSpPr>
          <p:cNvPr id="605" name="Google Shape;605;p45"/>
          <p:cNvSpPr/>
          <p:nvPr/>
        </p:nvSpPr>
        <p:spPr>
          <a:xfrm>
            <a:off x="6114810" y="4629150"/>
            <a:ext cx="629447" cy="483548"/>
          </a:xfrm>
          <a:custGeom>
            <a:rect b="b" l="l" r="r" t="t"/>
            <a:pathLst>
              <a:path extrusionOk="0" h="967096" w="1258893">
                <a:moveTo>
                  <a:pt x="0" y="0"/>
                </a:moveTo>
                <a:lnTo>
                  <a:pt x="1258893" y="0"/>
                </a:lnTo>
                <a:lnTo>
                  <a:pt x="1258893" y="967096"/>
                </a:lnTo>
                <a:lnTo>
                  <a:pt x="0" y="967096"/>
                </a:lnTo>
                <a:lnTo>
                  <a:pt x="0" y="0"/>
                </a:lnTo>
                <a:close/>
              </a:path>
            </a:pathLst>
          </a:custGeom>
          <a:blipFill rotWithShape="1">
            <a:blip r:embed="rId10">
              <a:alphaModFix amt="57000"/>
            </a:blip>
            <a:stretch>
              <a:fillRect b="0" l="0" r="-45979" t="0"/>
            </a:stretch>
          </a:blipFill>
          <a:ln>
            <a:noFill/>
          </a:ln>
        </p:spPr>
      </p:sp>
      <p:sp>
        <p:nvSpPr>
          <p:cNvPr id="606" name="Google Shape;606;p45"/>
          <p:cNvSpPr txBox="1"/>
          <p:nvPr>
            <p:ph idx="12" type="sldNum"/>
          </p:nvPr>
        </p:nvSpPr>
        <p:spPr>
          <a:xfrm>
            <a:off x="2649150" y="2750325"/>
            <a:ext cx="3845700" cy="816600"/>
          </a:xfrm>
          <a:prstGeom prst="rect">
            <a:avLst/>
          </a:prstGeom>
        </p:spPr>
        <p:txBody>
          <a:bodyPr anchorCtr="0" anchor="ctr" bIns="22850" lIns="45725" spcFirstLastPara="1" rIns="45725" wrap="square" tIns="22850">
            <a:noAutofit/>
          </a:bodyPr>
          <a:lstStyle/>
          <a:p>
            <a:pPr indent="0" lvl="0" marL="0" rtl="0" algn="ctr">
              <a:spcBef>
                <a:spcPts val="0"/>
              </a:spcBef>
              <a:spcAft>
                <a:spcPts val="0"/>
              </a:spcAft>
              <a:buClr>
                <a:srgbClr val="000000"/>
              </a:buClr>
              <a:buFont typeface="Arial"/>
              <a:buNone/>
            </a:pPr>
            <a:r>
              <a:rPr lang="en" sz="2900" u="sng">
                <a:solidFill>
                  <a:schemeClr val="hlink"/>
                </a:solidFill>
                <a:hlinkClick r:id="rId11"/>
              </a:rPr>
              <a:t>Fit Recommender</a:t>
            </a:r>
            <a:endParaRPr sz="2900"/>
          </a:p>
        </p:txBody>
      </p:sp>
      <p:sp>
        <p:nvSpPr>
          <p:cNvPr id="607" name="Google Shape;607;p45"/>
          <p:cNvSpPr txBox="1"/>
          <p:nvPr>
            <p:ph idx="12" type="sldNum"/>
          </p:nvPr>
        </p:nvSpPr>
        <p:spPr>
          <a:xfrm>
            <a:off x="8472458" y="4663217"/>
            <a:ext cx="548700" cy="3936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611" name="Shape 611"/>
        <p:cNvGrpSpPr/>
        <p:nvPr/>
      </p:nvGrpSpPr>
      <p:grpSpPr>
        <a:xfrm>
          <a:off x="0" y="0"/>
          <a:ext cx="0" cy="0"/>
          <a:chOff x="0" y="0"/>
          <a:chExt cx="0" cy="0"/>
        </a:xfrm>
      </p:grpSpPr>
      <p:sp>
        <p:nvSpPr>
          <p:cNvPr id="612" name="Google Shape;612;p46"/>
          <p:cNvSpPr/>
          <p:nvPr/>
        </p:nvSpPr>
        <p:spPr>
          <a:xfrm rot="240250">
            <a:off x="-152339" y="3671305"/>
            <a:ext cx="9473282" cy="2085215"/>
          </a:xfrm>
          <a:custGeom>
            <a:rect b="b" l="l" r="r" t="t"/>
            <a:pathLst>
              <a:path extrusionOk="0" h="4160249" w="18900314">
                <a:moveTo>
                  <a:pt x="0" y="1321953"/>
                </a:moveTo>
                <a:lnTo>
                  <a:pt x="18699664" y="0"/>
                </a:lnTo>
                <a:lnTo>
                  <a:pt x="18900314" y="2838296"/>
                </a:lnTo>
                <a:lnTo>
                  <a:pt x="200650" y="4160249"/>
                </a:lnTo>
                <a:lnTo>
                  <a:pt x="0" y="1321953"/>
                </a:lnTo>
                <a:close/>
              </a:path>
            </a:pathLst>
          </a:custGeom>
          <a:blipFill rotWithShape="1">
            <a:blip r:embed="rId3">
              <a:alphaModFix/>
            </a:blip>
            <a:stretch>
              <a:fillRect b="-108641" l="-1200" r="-1940" t="-90062"/>
            </a:stretch>
          </a:blipFill>
          <a:ln cap="sq" cmpd="sng" w="28575">
            <a:solidFill>
              <a:srgbClr val="545454"/>
            </a:solidFill>
            <a:prstDash val="solid"/>
            <a:miter lim="8000"/>
            <a:headEnd len="sm" w="sm" type="none"/>
            <a:tailEnd len="sm" w="sm" type="none"/>
          </a:ln>
        </p:spPr>
      </p:sp>
      <p:sp>
        <p:nvSpPr>
          <p:cNvPr id="613" name="Google Shape;613;p46"/>
          <p:cNvSpPr/>
          <p:nvPr/>
        </p:nvSpPr>
        <p:spPr>
          <a:xfrm rot="-6740003">
            <a:off x="7157361" y="3262095"/>
            <a:ext cx="2577551" cy="2859973"/>
          </a:xfrm>
          <a:custGeom>
            <a:rect b="b" l="l" r="r" t="t"/>
            <a:pathLst>
              <a:path extrusionOk="0" h="5719875" w="5155038">
                <a:moveTo>
                  <a:pt x="0" y="0"/>
                </a:moveTo>
                <a:lnTo>
                  <a:pt x="5155037" y="0"/>
                </a:lnTo>
                <a:lnTo>
                  <a:pt x="5155037" y="5719876"/>
                </a:lnTo>
                <a:lnTo>
                  <a:pt x="0" y="5719876"/>
                </a:lnTo>
                <a:lnTo>
                  <a:pt x="0" y="0"/>
                </a:lnTo>
                <a:close/>
              </a:path>
            </a:pathLst>
          </a:custGeom>
          <a:blipFill rotWithShape="1">
            <a:blip r:embed="rId4">
              <a:alphaModFix/>
            </a:blip>
            <a:stretch>
              <a:fillRect b="0" l="0" r="0" t="0"/>
            </a:stretch>
          </a:blipFill>
          <a:ln>
            <a:noFill/>
          </a:ln>
        </p:spPr>
      </p:sp>
      <p:sp>
        <p:nvSpPr>
          <p:cNvPr id="614" name="Google Shape;614;p46"/>
          <p:cNvSpPr/>
          <p:nvPr/>
        </p:nvSpPr>
        <p:spPr>
          <a:xfrm>
            <a:off x="514350" y="4875663"/>
            <a:ext cx="2076383" cy="267838"/>
          </a:xfrm>
          <a:custGeom>
            <a:rect b="b" l="l" r="r" t="t"/>
            <a:pathLst>
              <a:path extrusionOk="0" h="535675" w="4152765">
                <a:moveTo>
                  <a:pt x="0" y="0"/>
                </a:moveTo>
                <a:lnTo>
                  <a:pt x="4152765" y="0"/>
                </a:lnTo>
                <a:lnTo>
                  <a:pt x="4152765" y="535675"/>
                </a:lnTo>
                <a:lnTo>
                  <a:pt x="0" y="535675"/>
                </a:lnTo>
                <a:lnTo>
                  <a:pt x="0" y="0"/>
                </a:lnTo>
                <a:close/>
              </a:path>
            </a:pathLst>
          </a:custGeom>
          <a:blipFill rotWithShape="1">
            <a:blip r:embed="rId5">
              <a:alphaModFix/>
            </a:blip>
            <a:stretch>
              <a:fillRect b="0" l="0" r="0" t="-210097"/>
            </a:stretch>
          </a:blipFill>
          <a:ln>
            <a:noFill/>
          </a:ln>
        </p:spPr>
      </p:sp>
      <p:sp>
        <p:nvSpPr>
          <p:cNvPr id="615" name="Google Shape;615;p46"/>
          <p:cNvSpPr/>
          <p:nvPr/>
        </p:nvSpPr>
        <p:spPr>
          <a:xfrm rot="1209253">
            <a:off x="-320836" y="3333473"/>
            <a:ext cx="2359545" cy="2306455"/>
          </a:xfrm>
          <a:custGeom>
            <a:rect b="b" l="l" r="r" t="t"/>
            <a:pathLst>
              <a:path extrusionOk="0" h="4606868" w="4712909">
                <a:moveTo>
                  <a:pt x="0" y="0"/>
                </a:moveTo>
                <a:lnTo>
                  <a:pt x="4712909" y="0"/>
                </a:lnTo>
                <a:lnTo>
                  <a:pt x="4712909" y="4606868"/>
                </a:lnTo>
                <a:lnTo>
                  <a:pt x="0" y="4606868"/>
                </a:lnTo>
                <a:lnTo>
                  <a:pt x="0" y="0"/>
                </a:lnTo>
                <a:close/>
              </a:path>
            </a:pathLst>
          </a:custGeom>
          <a:blipFill rotWithShape="1">
            <a:blip r:embed="rId6">
              <a:alphaModFix/>
            </a:blip>
            <a:stretch>
              <a:fillRect b="0" l="0" r="0" t="0"/>
            </a:stretch>
          </a:blipFill>
          <a:ln>
            <a:noFill/>
          </a:ln>
        </p:spPr>
      </p:sp>
      <p:sp>
        <p:nvSpPr>
          <p:cNvPr id="616" name="Google Shape;616;p46"/>
          <p:cNvSpPr txBox="1"/>
          <p:nvPr/>
        </p:nvSpPr>
        <p:spPr>
          <a:xfrm>
            <a:off x="1815334" y="2097510"/>
            <a:ext cx="55134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Thank You!</a:t>
            </a:r>
            <a:endParaRPr sz="700"/>
          </a:p>
        </p:txBody>
      </p:sp>
      <p:sp>
        <p:nvSpPr>
          <p:cNvPr id="617" name="Google Shape;617;p46"/>
          <p:cNvSpPr/>
          <p:nvPr/>
        </p:nvSpPr>
        <p:spPr>
          <a:xfrm>
            <a:off x="-95268" y="-1106220"/>
            <a:ext cx="9334537" cy="1544723"/>
          </a:xfrm>
          <a:custGeom>
            <a:rect b="b" l="l" r="r" t="t"/>
            <a:pathLst>
              <a:path extrusionOk="0" h="3089445" w="18669074">
                <a:moveTo>
                  <a:pt x="0" y="0"/>
                </a:moveTo>
                <a:lnTo>
                  <a:pt x="18669074" y="0"/>
                </a:lnTo>
                <a:lnTo>
                  <a:pt x="18669074" y="3089445"/>
                </a:lnTo>
                <a:lnTo>
                  <a:pt x="0" y="3089445"/>
                </a:lnTo>
                <a:lnTo>
                  <a:pt x="0" y="0"/>
                </a:lnTo>
                <a:close/>
              </a:path>
            </a:pathLst>
          </a:custGeom>
          <a:blipFill rotWithShape="1">
            <a:blip r:embed="rId7">
              <a:alphaModFix/>
            </a:blip>
            <a:stretch>
              <a:fillRect b="-37861" l="-8110" r="-5310" t="-126013"/>
            </a:stretch>
          </a:blipFill>
          <a:ln cap="sq" cmpd="sng" w="28575">
            <a:solidFill>
              <a:srgbClr val="545454"/>
            </a:solidFill>
            <a:prstDash val="solid"/>
            <a:miter lim="8000"/>
            <a:headEnd len="sm" w="sm" type="none"/>
            <a:tailEnd len="sm" w="sm" type="none"/>
          </a:ln>
        </p:spPr>
      </p:sp>
      <p:sp>
        <p:nvSpPr>
          <p:cNvPr id="618" name="Google Shape;618;p46"/>
          <p:cNvSpPr/>
          <p:nvPr/>
        </p:nvSpPr>
        <p:spPr>
          <a:xfrm rot="-833831">
            <a:off x="-523494" y="-943134"/>
            <a:ext cx="2896133" cy="3213463"/>
          </a:xfrm>
          <a:custGeom>
            <a:rect b="b" l="l" r="r" t="t"/>
            <a:pathLst>
              <a:path extrusionOk="0" h="6431752" w="5796616">
                <a:moveTo>
                  <a:pt x="0" y="0"/>
                </a:moveTo>
                <a:lnTo>
                  <a:pt x="5796617" y="0"/>
                </a:lnTo>
                <a:lnTo>
                  <a:pt x="5796617" y="6431752"/>
                </a:lnTo>
                <a:lnTo>
                  <a:pt x="0" y="6431752"/>
                </a:lnTo>
                <a:lnTo>
                  <a:pt x="0" y="0"/>
                </a:lnTo>
                <a:close/>
              </a:path>
            </a:pathLst>
          </a:custGeom>
          <a:blipFill rotWithShape="1">
            <a:blip r:embed="rId4">
              <a:alphaModFix/>
            </a:blip>
            <a:stretch>
              <a:fillRect b="0" l="0" r="0" t="0"/>
            </a:stretch>
          </a:blipFill>
          <a:ln>
            <a:noFill/>
          </a:ln>
        </p:spPr>
      </p:sp>
      <p:sp>
        <p:nvSpPr>
          <p:cNvPr id="619" name="Google Shape;619;p46"/>
          <p:cNvSpPr/>
          <p:nvPr/>
        </p:nvSpPr>
        <p:spPr>
          <a:xfrm>
            <a:off x="6997501" y="1155630"/>
            <a:ext cx="2312143" cy="298249"/>
          </a:xfrm>
          <a:custGeom>
            <a:rect b="b" l="l" r="r" t="t"/>
            <a:pathLst>
              <a:path extrusionOk="0" h="596498" w="4624287">
                <a:moveTo>
                  <a:pt x="0" y="0"/>
                </a:moveTo>
                <a:lnTo>
                  <a:pt x="4624288" y="0"/>
                </a:lnTo>
                <a:lnTo>
                  <a:pt x="4624288" y="596498"/>
                </a:lnTo>
                <a:lnTo>
                  <a:pt x="0" y="596498"/>
                </a:lnTo>
                <a:lnTo>
                  <a:pt x="0" y="0"/>
                </a:lnTo>
                <a:close/>
              </a:path>
            </a:pathLst>
          </a:custGeom>
          <a:blipFill rotWithShape="1">
            <a:blip r:embed="rId8">
              <a:alphaModFix/>
            </a:blip>
            <a:stretch>
              <a:fillRect b="0" l="0" r="0" t="-210097"/>
            </a:stretch>
          </a:blipFill>
          <a:ln>
            <a:noFill/>
          </a:ln>
        </p:spPr>
      </p:sp>
      <p:sp>
        <p:nvSpPr>
          <p:cNvPr id="620" name="Google Shape;620;p46"/>
          <p:cNvSpPr/>
          <p:nvPr/>
        </p:nvSpPr>
        <p:spPr>
          <a:xfrm rot="-921333">
            <a:off x="8218529" y="599623"/>
            <a:ext cx="1705443" cy="3677506"/>
          </a:xfrm>
          <a:custGeom>
            <a:rect b="b" l="l" r="r" t="t"/>
            <a:pathLst>
              <a:path extrusionOk="0" h="7349685" w="3408416">
                <a:moveTo>
                  <a:pt x="0" y="0"/>
                </a:moveTo>
                <a:lnTo>
                  <a:pt x="3408416" y="0"/>
                </a:lnTo>
                <a:lnTo>
                  <a:pt x="3408416" y="7349685"/>
                </a:lnTo>
                <a:lnTo>
                  <a:pt x="0" y="7349685"/>
                </a:lnTo>
                <a:lnTo>
                  <a:pt x="0" y="0"/>
                </a:lnTo>
                <a:close/>
              </a:path>
            </a:pathLst>
          </a:custGeom>
          <a:blipFill rotWithShape="1">
            <a:blip r:embed="rId9">
              <a:alphaModFix/>
            </a:blip>
            <a:stretch>
              <a:fillRect b="0" l="0" r="0" t="0"/>
            </a:stretch>
          </a:blipFill>
          <a:ln>
            <a:noFill/>
          </a:ln>
        </p:spPr>
      </p:sp>
      <p:sp>
        <p:nvSpPr>
          <p:cNvPr id="621" name="Google Shape;621;p46"/>
          <p:cNvSpPr/>
          <p:nvPr/>
        </p:nvSpPr>
        <p:spPr>
          <a:xfrm>
            <a:off x="2539722" y="578117"/>
            <a:ext cx="918856" cy="305533"/>
          </a:xfrm>
          <a:custGeom>
            <a:rect b="b" l="l" r="r" t="t"/>
            <a:pathLst>
              <a:path extrusionOk="0" h="611066" w="1837712">
                <a:moveTo>
                  <a:pt x="0" y="0"/>
                </a:moveTo>
                <a:lnTo>
                  <a:pt x="1837712" y="0"/>
                </a:lnTo>
                <a:lnTo>
                  <a:pt x="1837712" y="611066"/>
                </a:lnTo>
                <a:lnTo>
                  <a:pt x="0" y="611066"/>
                </a:lnTo>
                <a:lnTo>
                  <a:pt x="0" y="0"/>
                </a:lnTo>
                <a:close/>
              </a:path>
            </a:pathLst>
          </a:custGeom>
          <a:blipFill rotWithShape="1">
            <a:blip r:embed="rId10">
              <a:alphaModFix amt="57000"/>
            </a:blip>
            <a:stretch>
              <a:fillRect b="0" l="0" r="0" t="-58260"/>
            </a:stretch>
          </a:blipFill>
          <a:ln>
            <a:noFill/>
          </a:ln>
        </p:spPr>
      </p:sp>
      <p:sp>
        <p:nvSpPr>
          <p:cNvPr id="622" name="Google Shape;622;p46"/>
          <p:cNvSpPr/>
          <p:nvPr/>
        </p:nvSpPr>
        <p:spPr>
          <a:xfrm>
            <a:off x="6114810" y="4629150"/>
            <a:ext cx="629447" cy="483548"/>
          </a:xfrm>
          <a:custGeom>
            <a:rect b="b" l="l" r="r" t="t"/>
            <a:pathLst>
              <a:path extrusionOk="0" h="967096" w="1258893">
                <a:moveTo>
                  <a:pt x="0" y="0"/>
                </a:moveTo>
                <a:lnTo>
                  <a:pt x="1258893" y="0"/>
                </a:lnTo>
                <a:lnTo>
                  <a:pt x="1258893" y="967096"/>
                </a:lnTo>
                <a:lnTo>
                  <a:pt x="0" y="967096"/>
                </a:lnTo>
                <a:lnTo>
                  <a:pt x="0" y="0"/>
                </a:lnTo>
                <a:close/>
              </a:path>
            </a:pathLst>
          </a:custGeom>
          <a:blipFill rotWithShape="1">
            <a:blip r:embed="rId10">
              <a:alphaModFix amt="57000"/>
            </a:blip>
            <a:stretch>
              <a:fillRect b="0" l="0" r="-45979" t="0"/>
            </a:stretch>
          </a:blipFill>
          <a:ln>
            <a:noFill/>
          </a:ln>
        </p:spPr>
      </p:sp>
      <p:sp>
        <p:nvSpPr>
          <p:cNvPr id="623" name="Google Shape;623;p46"/>
          <p:cNvSpPr txBox="1"/>
          <p:nvPr>
            <p:ph idx="12" type="sldNum"/>
          </p:nvPr>
        </p:nvSpPr>
        <p:spPr>
          <a:xfrm>
            <a:off x="8077200" y="47795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DEE"/>
        </a:solidFill>
      </p:bgPr>
    </p:bg>
    <p:spTree>
      <p:nvGrpSpPr>
        <p:cNvPr id="627" name="Shape 627"/>
        <p:cNvGrpSpPr/>
        <p:nvPr/>
      </p:nvGrpSpPr>
      <p:grpSpPr>
        <a:xfrm>
          <a:off x="0" y="0"/>
          <a:ext cx="0" cy="0"/>
          <a:chOff x="0" y="0"/>
          <a:chExt cx="0" cy="0"/>
        </a:xfrm>
      </p:grpSpPr>
      <p:sp>
        <p:nvSpPr>
          <p:cNvPr id="628" name="Google Shape;628;p47"/>
          <p:cNvSpPr/>
          <p:nvPr/>
        </p:nvSpPr>
        <p:spPr>
          <a:xfrm>
            <a:off x="7537336" y="2707188"/>
            <a:ext cx="594057" cy="552473"/>
          </a:xfrm>
          <a:custGeom>
            <a:rect b="b" l="l" r="r" t="t"/>
            <a:pathLst>
              <a:path extrusionOk="0" h="1104946" w="1188114">
                <a:moveTo>
                  <a:pt x="0" y="0"/>
                </a:moveTo>
                <a:lnTo>
                  <a:pt x="1188114" y="0"/>
                </a:lnTo>
                <a:lnTo>
                  <a:pt x="1188114" y="1104946"/>
                </a:lnTo>
                <a:lnTo>
                  <a:pt x="0" y="1104946"/>
                </a:lnTo>
                <a:lnTo>
                  <a:pt x="0" y="0"/>
                </a:lnTo>
                <a:close/>
              </a:path>
            </a:pathLst>
          </a:custGeom>
          <a:blipFill rotWithShape="1">
            <a:blip r:embed="rId3">
              <a:alphaModFix/>
            </a:blip>
            <a:stretch>
              <a:fillRect b="0" l="0" r="0" t="0"/>
            </a:stretch>
          </a:blipFill>
          <a:ln>
            <a:noFill/>
          </a:ln>
        </p:spPr>
      </p:sp>
      <p:sp>
        <p:nvSpPr>
          <p:cNvPr id="629" name="Google Shape;629;p47"/>
          <p:cNvSpPr/>
          <p:nvPr/>
        </p:nvSpPr>
        <p:spPr>
          <a:xfrm>
            <a:off x="6511762" y="2707188"/>
            <a:ext cx="709436" cy="552473"/>
          </a:xfrm>
          <a:custGeom>
            <a:rect b="b" l="l" r="r" t="t"/>
            <a:pathLst>
              <a:path extrusionOk="0" h="1104946" w="1418871">
                <a:moveTo>
                  <a:pt x="0" y="0"/>
                </a:moveTo>
                <a:lnTo>
                  <a:pt x="1418871" y="0"/>
                </a:lnTo>
                <a:lnTo>
                  <a:pt x="1418871" y="1104946"/>
                </a:lnTo>
                <a:lnTo>
                  <a:pt x="0" y="1104946"/>
                </a:lnTo>
                <a:lnTo>
                  <a:pt x="0" y="0"/>
                </a:lnTo>
                <a:close/>
              </a:path>
            </a:pathLst>
          </a:custGeom>
          <a:blipFill rotWithShape="1">
            <a:blip r:embed="rId4">
              <a:alphaModFix/>
            </a:blip>
            <a:stretch>
              <a:fillRect b="0" l="0" r="0" t="0"/>
            </a:stretch>
          </a:blipFill>
          <a:ln>
            <a:noFill/>
          </a:ln>
        </p:spPr>
      </p:sp>
      <p:sp>
        <p:nvSpPr>
          <p:cNvPr id="630" name="Google Shape;630;p47"/>
          <p:cNvSpPr/>
          <p:nvPr/>
        </p:nvSpPr>
        <p:spPr>
          <a:xfrm>
            <a:off x="5653510" y="2707188"/>
            <a:ext cx="542114" cy="552473"/>
          </a:xfrm>
          <a:custGeom>
            <a:rect b="b" l="l" r="r" t="t"/>
            <a:pathLst>
              <a:path extrusionOk="0" h="1104946" w="1084228">
                <a:moveTo>
                  <a:pt x="0" y="0"/>
                </a:moveTo>
                <a:lnTo>
                  <a:pt x="1084229" y="0"/>
                </a:lnTo>
                <a:lnTo>
                  <a:pt x="1084229" y="1104946"/>
                </a:lnTo>
                <a:lnTo>
                  <a:pt x="0" y="1104946"/>
                </a:lnTo>
                <a:lnTo>
                  <a:pt x="0" y="0"/>
                </a:lnTo>
                <a:close/>
              </a:path>
            </a:pathLst>
          </a:custGeom>
          <a:blipFill rotWithShape="1">
            <a:blip r:embed="rId5">
              <a:alphaModFix/>
            </a:blip>
            <a:stretch>
              <a:fillRect b="0" l="0" r="0" t="0"/>
            </a:stretch>
          </a:blipFill>
          <a:ln>
            <a:noFill/>
          </a:ln>
        </p:spPr>
      </p:sp>
      <p:sp>
        <p:nvSpPr>
          <p:cNvPr id="631" name="Google Shape;631;p47"/>
          <p:cNvSpPr/>
          <p:nvPr/>
        </p:nvSpPr>
        <p:spPr>
          <a:xfrm>
            <a:off x="4827025" y="2707188"/>
            <a:ext cx="510347" cy="552473"/>
          </a:xfrm>
          <a:custGeom>
            <a:rect b="b" l="l" r="r" t="t"/>
            <a:pathLst>
              <a:path extrusionOk="0" h="1104946" w="1020694">
                <a:moveTo>
                  <a:pt x="0" y="0"/>
                </a:moveTo>
                <a:lnTo>
                  <a:pt x="1020694" y="0"/>
                </a:lnTo>
                <a:lnTo>
                  <a:pt x="1020694" y="1104946"/>
                </a:lnTo>
                <a:lnTo>
                  <a:pt x="0" y="1104946"/>
                </a:lnTo>
                <a:lnTo>
                  <a:pt x="0" y="0"/>
                </a:lnTo>
                <a:close/>
              </a:path>
            </a:pathLst>
          </a:custGeom>
          <a:blipFill rotWithShape="1">
            <a:blip r:embed="rId6">
              <a:alphaModFix/>
            </a:blip>
            <a:stretch>
              <a:fillRect b="0" l="0" r="0" t="0"/>
            </a:stretch>
          </a:blipFill>
          <a:ln>
            <a:noFill/>
          </a:ln>
        </p:spPr>
      </p:sp>
      <p:sp>
        <p:nvSpPr>
          <p:cNvPr id="632" name="Google Shape;632;p47"/>
          <p:cNvSpPr/>
          <p:nvPr/>
        </p:nvSpPr>
        <p:spPr>
          <a:xfrm>
            <a:off x="7499532" y="1883839"/>
            <a:ext cx="669665" cy="552473"/>
          </a:xfrm>
          <a:custGeom>
            <a:rect b="b" l="l" r="r" t="t"/>
            <a:pathLst>
              <a:path extrusionOk="0" h="1104946" w="1339329">
                <a:moveTo>
                  <a:pt x="0" y="0"/>
                </a:moveTo>
                <a:lnTo>
                  <a:pt x="1339328" y="0"/>
                </a:lnTo>
                <a:lnTo>
                  <a:pt x="1339328" y="1104946"/>
                </a:lnTo>
                <a:lnTo>
                  <a:pt x="0" y="1104946"/>
                </a:lnTo>
                <a:lnTo>
                  <a:pt x="0" y="0"/>
                </a:lnTo>
                <a:close/>
              </a:path>
            </a:pathLst>
          </a:custGeom>
          <a:blipFill rotWithShape="1">
            <a:blip r:embed="rId7">
              <a:alphaModFix/>
            </a:blip>
            <a:stretch>
              <a:fillRect b="0" l="0" r="0" t="0"/>
            </a:stretch>
          </a:blipFill>
          <a:ln>
            <a:noFill/>
          </a:ln>
        </p:spPr>
      </p:sp>
      <p:sp>
        <p:nvSpPr>
          <p:cNvPr id="633" name="Google Shape;633;p47"/>
          <p:cNvSpPr/>
          <p:nvPr/>
        </p:nvSpPr>
        <p:spPr>
          <a:xfrm>
            <a:off x="6590052" y="1883839"/>
            <a:ext cx="554552" cy="552473"/>
          </a:xfrm>
          <a:custGeom>
            <a:rect b="b" l="l" r="r" t="t"/>
            <a:pathLst>
              <a:path extrusionOk="0" h="1104946" w="1109105">
                <a:moveTo>
                  <a:pt x="0" y="0"/>
                </a:moveTo>
                <a:lnTo>
                  <a:pt x="1109105" y="0"/>
                </a:lnTo>
                <a:lnTo>
                  <a:pt x="1109105" y="1104946"/>
                </a:lnTo>
                <a:lnTo>
                  <a:pt x="0" y="1104946"/>
                </a:lnTo>
                <a:lnTo>
                  <a:pt x="0" y="0"/>
                </a:lnTo>
                <a:close/>
              </a:path>
            </a:pathLst>
          </a:custGeom>
          <a:blipFill rotWithShape="1">
            <a:blip r:embed="rId8">
              <a:alphaModFix/>
            </a:blip>
            <a:stretch>
              <a:fillRect b="0" l="0" r="0" t="0"/>
            </a:stretch>
          </a:blipFill>
          <a:ln>
            <a:noFill/>
          </a:ln>
        </p:spPr>
      </p:sp>
      <p:sp>
        <p:nvSpPr>
          <p:cNvPr id="634" name="Google Shape;634;p47"/>
          <p:cNvSpPr/>
          <p:nvPr/>
        </p:nvSpPr>
        <p:spPr>
          <a:xfrm>
            <a:off x="5733755" y="1883839"/>
            <a:ext cx="501370" cy="552473"/>
          </a:xfrm>
          <a:custGeom>
            <a:rect b="b" l="l" r="r" t="t"/>
            <a:pathLst>
              <a:path extrusionOk="0" h="1104946" w="1002739">
                <a:moveTo>
                  <a:pt x="0" y="0"/>
                </a:moveTo>
                <a:lnTo>
                  <a:pt x="1002738" y="0"/>
                </a:lnTo>
                <a:lnTo>
                  <a:pt x="1002738" y="1104946"/>
                </a:lnTo>
                <a:lnTo>
                  <a:pt x="0" y="1104946"/>
                </a:lnTo>
                <a:lnTo>
                  <a:pt x="0" y="0"/>
                </a:lnTo>
                <a:close/>
              </a:path>
            </a:pathLst>
          </a:custGeom>
          <a:blipFill rotWithShape="1">
            <a:blip r:embed="rId9">
              <a:alphaModFix/>
            </a:blip>
            <a:stretch>
              <a:fillRect b="0" l="0" r="0" t="0"/>
            </a:stretch>
          </a:blipFill>
          <a:ln>
            <a:noFill/>
          </a:ln>
        </p:spPr>
      </p:sp>
      <p:sp>
        <p:nvSpPr>
          <p:cNvPr id="635" name="Google Shape;635;p47"/>
          <p:cNvSpPr/>
          <p:nvPr/>
        </p:nvSpPr>
        <p:spPr>
          <a:xfrm>
            <a:off x="4785569" y="1883839"/>
            <a:ext cx="593260" cy="552473"/>
          </a:xfrm>
          <a:custGeom>
            <a:rect b="b" l="l" r="r" t="t"/>
            <a:pathLst>
              <a:path extrusionOk="0" h="1104946" w="1186519">
                <a:moveTo>
                  <a:pt x="0" y="0"/>
                </a:moveTo>
                <a:lnTo>
                  <a:pt x="1186519" y="0"/>
                </a:lnTo>
                <a:lnTo>
                  <a:pt x="1186519" y="1104946"/>
                </a:lnTo>
                <a:lnTo>
                  <a:pt x="0" y="1104946"/>
                </a:lnTo>
                <a:lnTo>
                  <a:pt x="0" y="0"/>
                </a:lnTo>
                <a:close/>
              </a:path>
            </a:pathLst>
          </a:custGeom>
          <a:blipFill rotWithShape="1">
            <a:blip r:embed="rId10">
              <a:alphaModFix/>
            </a:blip>
            <a:stretch>
              <a:fillRect b="0" l="0" r="0" t="0"/>
            </a:stretch>
          </a:blipFill>
          <a:ln>
            <a:noFill/>
          </a:ln>
        </p:spPr>
      </p:sp>
      <p:sp>
        <p:nvSpPr>
          <p:cNvPr id="636" name="Google Shape;636;p47"/>
          <p:cNvSpPr/>
          <p:nvPr/>
        </p:nvSpPr>
        <p:spPr>
          <a:xfrm>
            <a:off x="7550316" y="1060491"/>
            <a:ext cx="568096" cy="552473"/>
          </a:xfrm>
          <a:custGeom>
            <a:rect b="b" l="l" r="r" t="t"/>
            <a:pathLst>
              <a:path extrusionOk="0" h="1104946" w="1136191">
                <a:moveTo>
                  <a:pt x="0" y="0"/>
                </a:moveTo>
                <a:lnTo>
                  <a:pt x="1136192" y="0"/>
                </a:lnTo>
                <a:lnTo>
                  <a:pt x="1136192" y="1104946"/>
                </a:lnTo>
                <a:lnTo>
                  <a:pt x="0" y="1104946"/>
                </a:lnTo>
                <a:lnTo>
                  <a:pt x="0" y="0"/>
                </a:lnTo>
                <a:close/>
              </a:path>
            </a:pathLst>
          </a:custGeom>
          <a:blipFill rotWithShape="1">
            <a:blip r:embed="rId11">
              <a:alphaModFix/>
            </a:blip>
            <a:stretch>
              <a:fillRect b="0" l="0" r="0" t="0"/>
            </a:stretch>
          </a:blipFill>
          <a:ln>
            <a:noFill/>
          </a:ln>
        </p:spPr>
      </p:sp>
      <p:sp>
        <p:nvSpPr>
          <p:cNvPr id="637" name="Google Shape;637;p47"/>
          <p:cNvSpPr/>
          <p:nvPr/>
        </p:nvSpPr>
        <p:spPr>
          <a:xfrm>
            <a:off x="6562275" y="1060491"/>
            <a:ext cx="689514" cy="552473"/>
          </a:xfrm>
          <a:custGeom>
            <a:rect b="b" l="l" r="r" t="t"/>
            <a:pathLst>
              <a:path extrusionOk="0" h="1104946" w="1379028">
                <a:moveTo>
                  <a:pt x="0" y="0"/>
                </a:moveTo>
                <a:lnTo>
                  <a:pt x="1379028" y="0"/>
                </a:lnTo>
                <a:lnTo>
                  <a:pt x="1379028" y="1104946"/>
                </a:lnTo>
                <a:lnTo>
                  <a:pt x="0" y="1104946"/>
                </a:lnTo>
                <a:lnTo>
                  <a:pt x="0" y="0"/>
                </a:lnTo>
                <a:close/>
              </a:path>
            </a:pathLst>
          </a:custGeom>
          <a:blipFill rotWithShape="1">
            <a:blip r:embed="rId12">
              <a:alphaModFix/>
            </a:blip>
            <a:stretch>
              <a:fillRect b="0" l="0" r="0" t="0"/>
            </a:stretch>
          </a:blipFill>
          <a:ln>
            <a:noFill/>
          </a:ln>
        </p:spPr>
      </p:sp>
      <p:sp>
        <p:nvSpPr>
          <p:cNvPr id="638" name="Google Shape;638;p47"/>
          <p:cNvSpPr/>
          <p:nvPr/>
        </p:nvSpPr>
        <p:spPr>
          <a:xfrm>
            <a:off x="5691978" y="1060491"/>
            <a:ext cx="571771" cy="552473"/>
          </a:xfrm>
          <a:custGeom>
            <a:rect b="b" l="l" r="r" t="t"/>
            <a:pathLst>
              <a:path extrusionOk="0" h="1104946" w="1143541">
                <a:moveTo>
                  <a:pt x="0" y="0"/>
                </a:moveTo>
                <a:lnTo>
                  <a:pt x="1143541" y="0"/>
                </a:lnTo>
                <a:lnTo>
                  <a:pt x="1143541" y="1104946"/>
                </a:lnTo>
                <a:lnTo>
                  <a:pt x="0" y="1104946"/>
                </a:lnTo>
                <a:lnTo>
                  <a:pt x="0" y="0"/>
                </a:lnTo>
                <a:close/>
              </a:path>
            </a:pathLst>
          </a:custGeom>
          <a:blipFill rotWithShape="1">
            <a:blip r:embed="rId13">
              <a:alphaModFix/>
            </a:blip>
            <a:stretch>
              <a:fillRect b="0" l="0" r="0" t="0"/>
            </a:stretch>
          </a:blipFill>
          <a:ln>
            <a:noFill/>
          </a:ln>
        </p:spPr>
      </p:sp>
      <p:sp>
        <p:nvSpPr>
          <p:cNvPr id="639" name="Google Shape;639;p47"/>
          <p:cNvSpPr/>
          <p:nvPr/>
        </p:nvSpPr>
        <p:spPr>
          <a:xfrm>
            <a:off x="4770946" y="1060491"/>
            <a:ext cx="622505" cy="552473"/>
          </a:xfrm>
          <a:custGeom>
            <a:rect b="b" l="l" r="r" t="t"/>
            <a:pathLst>
              <a:path extrusionOk="0" h="1104946" w="1245010">
                <a:moveTo>
                  <a:pt x="0" y="0"/>
                </a:moveTo>
                <a:lnTo>
                  <a:pt x="1245010" y="0"/>
                </a:lnTo>
                <a:lnTo>
                  <a:pt x="1245010" y="1104946"/>
                </a:lnTo>
                <a:lnTo>
                  <a:pt x="0" y="1104946"/>
                </a:lnTo>
                <a:lnTo>
                  <a:pt x="0" y="0"/>
                </a:lnTo>
                <a:close/>
              </a:path>
            </a:pathLst>
          </a:custGeom>
          <a:blipFill rotWithShape="1">
            <a:blip r:embed="rId14">
              <a:alphaModFix/>
            </a:blip>
            <a:stretch>
              <a:fillRect b="0" l="0" r="0" t="0"/>
            </a:stretch>
          </a:blipFill>
          <a:ln>
            <a:noFill/>
          </a:ln>
        </p:spPr>
      </p:sp>
      <p:sp>
        <p:nvSpPr>
          <p:cNvPr id="640" name="Google Shape;640;p47"/>
          <p:cNvSpPr/>
          <p:nvPr/>
        </p:nvSpPr>
        <p:spPr>
          <a:xfrm>
            <a:off x="7523986" y="3530536"/>
            <a:ext cx="620756" cy="552473"/>
          </a:xfrm>
          <a:custGeom>
            <a:rect b="b" l="l" r="r" t="t"/>
            <a:pathLst>
              <a:path extrusionOk="0" h="1104946" w="1241512">
                <a:moveTo>
                  <a:pt x="0" y="0"/>
                </a:moveTo>
                <a:lnTo>
                  <a:pt x="1241512" y="0"/>
                </a:lnTo>
                <a:lnTo>
                  <a:pt x="1241512" y="1104946"/>
                </a:lnTo>
                <a:lnTo>
                  <a:pt x="0" y="1104946"/>
                </a:lnTo>
                <a:lnTo>
                  <a:pt x="0" y="0"/>
                </a:lnTo>
                <a:close/>
              </a:path>
            </a:pathLst>
          </a:custGeom>
          <a:blipFill rotWithShape="1">
            <a:blip r:embed="rId15">
              <a:alphaModFix/>
            </a:blip>
            <a:stretch>
              <a:fillRect b="0" l="0" r="0" t="0"/>
            </a:stretch>
          </a:blipFill>
          <a:ln>
            <a:noFill/>
          </a:ln>
        </p:spPr>
      </p:sp>
      <p:sp>
        <p:nvSpPr>
          <p:cNvPr id="641" name="Google Shape;641;p47"/>
          <p:cNvSpPr/>
          <p:nvPr/>
        </p:nvSpPr>
        <p:spPr>
          <a:xfrm>
            <a:off x="5743946" y="3530536"/>
            <a:ext cx="550401" cy="552473"/>
          </a:xfrm>
          <a:custGeom>
            <a:rect b="b" l="l" r="r" t="t"/>
            <a:pathLst>
              <a:path extrusionOk="0" h="1104946" w="1100803">
                <a:moveTo>
                  <a:pt x="0" y="0"/>
                </a:moveTo>
                <a:lnTo>
                  <a:pt x="1100803" y="0"/>
                </a:lnTo>
                <a:lnTo>
                  <a:pt x="1100803" y="1104946"/>
                </a:lnTo>
                <a:lnTo>
                  <a:pt x="0" y="1104946"/>
                </a:lnTo>
                <a:lnTo>
                  <a:pt x="0" y="0"/>
                </a:lnTo>
                <a:close/>
              </a:path>
            </a:pathLst>
          </a:custGeom>
          <a:blipFill rotWithShape="1">
            <a:blip r:embed="rId16">
              <a:alphaModFix/>
            </a:blip>
            <a:stretch>
              <a:fillRect b="0" l="0" r="0" t="0"/>
            </a:stretch>
          </a:blipFill>
          <a:ln>
            <a:noFill/>
          </a:ln>
        </p:spPr>
      </p:sp>
      <p:sp>
        <p:nvSpPr>
          <p:cNvPr id="642" name="Google Shape;642;p47"/>
          <p:cNvSpPr/>
          <p:nvPr/>
        </p:nvSpPr>
        <p:spPr>
          <a:xfrm>
            <a:off x="4737441" y="3530536"/>
            <a:ext cx="689514" cy="552473"/>
          </a:xfrm>
          <a:custGeom>
            <a:rect b="b" l="l" r="r" t="t"/>
            <a:pathLst>
              <a:path extrusionOk="0" h="1104946" w="1379028">
                <a:moveTo>
                  <a:pt x="0" y="0"/>
                </a:moveTo>
                <a:lnTo>
                  <a:pt x="1379028" y="0"/>
                </a:lnTo>
                <a:lnTo>
                  <a:pt x="1379028" y="1104946"/>
                </a:lnTo>
                <a:lnTo>
                  <a:pt x="0" y="1104946"/>
                </a:lnTo>
                <a:lnTo>
                  <a:pt x="0" y="0"/>
                </a:lnTo>
                <a:close/>
              </a:path>
            </a:pathLst>
          </a:custGeom>
          <a:blipFill rotWithShape="1">
            <a:blip r:embed="rId12">
              <a:alphaModFix/>
            </a:blip>
            <a:stretch>
              <a:fillRect b="0" l="0" r="0" t="0"/>
            </a:stretch>
          </a:blipFill>
          <a:ln>
            <a:noFill/>
          </a:ln>
        </p:spPr>
      </p:sp>
      <p:sp>
        <p:nvSpPr>
          <p:cNvPr id="643" name="Google Shape;643;p47"/>
          <p:cNvSpPr/>
          <p:nvPr/>
        </p:nvSpPr>
        <p:spPr>
          <a:xfrm>
            <a:off x="6611337" y="3530536"/>
            <a:ext cx="595659" cy="552473"/>
          </a:xfrm>
          <a:custGeom>
            <a:rect b="b" l="l" r="r" t="t"/>
            <a:pathLst>
              <a:path extrusionOk="0" h="1104946" w="1191317">
                <a:moveTo>
                  <a:pt x="0" y="0"/>
                </a:moveTo>
                <a:lnTo>
                  <a:pt x="1191317" y="0"/>
                </a:lnTo>
                <a:lnTo>
                  <a:pt x="1191317" y="1104946"/>
                </a:lnTo>
                <a:lnTo>
                  <a:pt x="0" y="1104946"/>
                </a:lnTo>
                <a:lnTo>
                  <a:pt x="0" y="0"/>
                </a:lnTo>
                <a:close/>
              </a:path>
            </a:pathLst>
          </a:custGeom>
          <a:blipFill rotWithShape="1">
            <a:blip r:embed="rId17">
              <a:alphaModFix/>
            </a:blip>
            <a:stretch>
              <a:fillRect b="0" l="0" r="0" t="0"/>
            </a:stretch>
          </a:blipFill>
          <a:ln>
            <a:noFill/>
          </a:ln>
        </p:spPr>
      </p:sp>
      <p:sp>
        <p:nvSpPr>
          <p:cNvPr id="644" name="Google Shape;644;p47"/>
          <p:cNvSpPr txBox="1"/>
          <p:nvPr/>
        </p:nvSpPr>
        <p:spPr>
          <a:xfrm>
            <a:off x="1078250" y="1102594"/>
            <a:ext cx="2326124" cy="9626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Resource </a:t>
            </a:r>
            <a:endParaRPr sz="700"/>
          </a:p>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Page</a:t>
            </a:r>
            <a:endParaRPr sz="700"/>
          </a:p>
        </p:txBody>
      </p:sp>
      <p:sp>
        <p:nvSpPr>
          <p:cNvPr id="645" name="Google Shape;645;p47"/>
          <p:cNvSpPr txBox="1"/>
          <p:nvPr/>
        </p:nvSpPr>
        <p:spPr>
          <a:xfrm>
            <a:off x="1078251" y="3281742"/>
            <a:ext cx="2165617" cy="7032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000" u="none" cap="none" strike="noStrike">
                <a:solidFill>
                  <a:srgbClr val="272622"/>
                </a:solidFill>
                <a:latin typeface="Arial"/>
                <a:ea typeface="Arial"/>
                <a:cs typeface="Arial"/>
                <a:sym typeface="Arial"/>
              </a:rPr>
              <a:t>The resources included in this presentation. Feel free to explore or customize these assets to fit your theme and style better.</a:t>
            </a:r>
            <a:endParaRPr sz="700"/>
          </a:p>
        </p:txBody>
      </p:sp>
      <p:sp>
        <p:nvSpPr>
          <p:cNvPr id="646" name="Google Shape;646;p47"/>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DEE"/>
        </a:solidFill>
      </p:bgPr>
    </p:bg>
    <p:spTree>
      <p:nvGrpSpPr>
        <p:cNvPr id="650" name="Shape 650"/>
        <p:cNvGrpSpPr/>
        <p:nvPr/>
      </p:nvGrpSpPr>
      <p:grpSpPr>
        <a:xfrm>
          <a:off x="0" y="0"/>
          <a:ext cx="0" cy="0"/>
          <a:chOff x="0" y="0"/>
          <a:chExt cx="0" cy="0"/>
        </a:xfrm>
      </p:grpSpPr>
      <p:sp>
        <p:nvSpPr>
          <p:cNvPr id="651" name="Google Shape;651;p48"/>
          <p:cNvSpPr/>
          <p:nvPr/>
        </p:nvSpPr>
        <p:spPr>
          <a:xfrm>
            <a:off x="6663889" y="2709591"/>
            <a:ext cx="472793" cy="529740"/>
          </a:xfrm>
          <a:custGeom>
            <a:rect b="b" l="l" r="r" t="t"/>
            <a:pathLst>
              <a:path extrusionOk="0" h="1059480" w="945586">
                <a:moveTo>
                  <a:pt x="0" y="0"/>
                </a:moveTo>
                <a:lnTo>
                  <a:pt x="945586" y="0"/>
                </a:lnTo>
                <a:lnTo>
                  <a:pt x="945586" y="1059480"/>
                </a:lnTo>
                <a:lnTo>
                  <a:pt x="0" y="1059480"/>
                </a:lnTo>
                <a:lnTo>
                  <a:pt x="0" y="0"/>
                </a:lnTo>
                <a:close/>
              </a:path>
            </a:pathLst>
          </a:custGeom>
          <a:blipFill rotWithShape="1">
            <a:blip r:embed="rId3">
              <a:alphaModFix/>
            </a:blip>
            <a:stretch>
              <a:fillRect b="0" l="0" r="0" t="0"/>
            </a:stretch>
          </a:blipFill>
          <a:ln>
            <a:noFill/>
          </a:ln>
        </p:spPr>
      </p:sp>
      <p:sp>
        <p:nvSpPr>
          <p:cNvPr id="652" name="Google Shape;652;p48"/>
          <p:cNvSpPr/>
          <p:nvPr/>
        </p:nvSpPr>
        <p:spPr>
          <a:xfrm>
            <a:off x="5748248" y="2709591"/>
            <a:ext cx="614191" cy="529740"/>
          </a:xfrm>
          <a:custGeom>
            <a:rect b="b" l="l" r="r" t="t"/>
            <a:pathLst>
              <a:path extrusionOk="0" h="1059480" w="1228382">
                <a:moveTo>
                  <a:pt x="0" y="0"/>
                </a:moveTo>
                <a:lnTo>
                  <a:pt x="1228382" y="0"/>
                </a:lnTo>
                <a:lnTo>
                  <a:pt x="1228382" y="1059480"/>
                </a:lnTo>
                <a:lnTo>
                  <a:pt x="0" y="1059480"/>
                </a:lnTo>
                <a:lnTo>
                  <a:pt x="0" y="0"/>
                </a:lnTo>
                <a:close/>
              </a:path>
            </a:pathLst>
          </a:custGeom>
          <a:blipFill rotWithShape="1">
            <a:blip r:embed="rId4">
              <a:alphaModFix/>
            </a:blip>
            <a:stretch>
              <a:fillRect b="0" l="0" r="0" t="0"/>
            </a:stretch>
          </a:blipFill>
          <a:ln>
            <a:noFill/>
          </a:ln>
        </p:spPr>
      </p:sp>
      <p:sp>
        <p:nvSpPr>
          <p:cNvPr id="653" name="Google Shape;653;p48"/>
          <p:cNvSpPr/>
          <p:nvPr/>
        </p:nvSpPr>
        <p:spPr>
          <a:xfrm>
            <a:off x="4775177" y="2709591"/>
            <a:ext cx="671620" cy="529740"/>
          </a:xfrm>
          <a:custGeom>
            <a:rect b="b" l="l" r="r" t="t"/>
            <a:pathLst>
              <a:path extrusionOk="0" h="1059480" w="1343239">
                <a:moveTo>
                  <a:pt x="0" y="0"/>
                </a:moveTo>
                <a:lnTo>
                  <a:pt x="1343239" y="0"/>
                </a:lnTo>
                <a:lnTo>
                  <a:pt x="1343239" y="1059480"/>
                </a:lnTo>
                <a:lnTo>
                  <a:pt x="0" y="1059480"/>
                </a:lnTo>
                <a:lnTo>
                  <a:pt x="0" y="0"/>
                </a:lnTo>
                <a:close/>
              </a:path>
            </a:pathLst>
          </a:custGeom>
          <a:blipFill rotWithShape="1">
            <a:blip r:embed="rId5">
              <a:alphaModFix/>
            </a:blip>
            <a:stretch>
              <a:fillRect b="0" l="0" r="0" t="0"/>
            </a:stretch>
          </a:blipFill>
          <a:ln>
            <a:noFill/>
          </a:ln>
        </p:spPr>
      </p:sp>
      <p:sp>
        <p:nvSpPr>
          <p:cNvPr id="654" name="Google Shape;654;p48"/>
          <p:cNvSpPr/>
          <p:nvPr/>
        </p:nvSpPr>
        <p:spPr>
          <a:xfrm>
            <a:off x="7438133" y="2709591"/>
            <a:ext cx="456901" cy="529740"/>
          </a:xfrm>
          <a:custGeom>
            <a:rect b="b" l="l" r="r" t="t"/>
            <a:pathLst>
              <a:path extrusionOk="0" h="1059480" w="913801">
                <a:moveTo>
                  <a:pt x="0" y="0"/>
                </a:moveTo>
                <a:lnTo>
                  <a:pt x="913801" y="0"/>
                </a:lnTo>
                <a:lnTo>
                  <a:pt x="913801" y="1059480"/>
                </a:lnTo>
                <a:lnTo>
                  <a:pt x="0" y="1059480"/>
                </a:lnTo>
                <a:lnTo>
                  <a:pt x="0" y="0"/>
                </a:lnTo>
                <a:close/>
              </a:path>
            </a:pathLst>
          </a:custGeom>
          <a:blipFill rotWithShape="1">
            <a:blip r:embed="rId6">
              <a:alphaModFix/>
            </a:blip>
            <a:stretch>
              <a:fillRect b="0" l="0" r="0" t="0"/>
            </a:stretch>
          </a:blipFill>
          <a:ln>
            <a:noFill/>
          </a:ln>
        </p:spPr>
      </p:sp>
      <p:sp>
        <p:nvSpPr>
          <p:cNvPr id="655" name="Google Shape;655;p48"/>
          <p:cNvSpPr/>
          <p:nvPr/>
        </p:nvSpPr>
        <p:spPr>
          <a:xfrm>
            <a:off x="7380237" y="1904170"/>
            <a:ext cx="572691" cy="529740"/>
          </a:xfrm>
          <a:custGeom>
            <a:rect b="b" l="l" r="r" t="t"/>
            <a:pathLst>
              <a:path extrusionOk="0" h="1059480" w="1145383">
                <a:moveTo>
                  <a:pt x="0" y="0"/>
                </a:moveTo>
                <a:lnTo>
                  <a:pt x="1145383" y="0"/>
                </a:lnTo>
                <a:lnTo>
                  <a:pt x="1145383" y="1059480"/>
                </a:lnTo>
                <a:lnTo>
                  <a:pt x="0" y="1059480"/>
                </a:lnTo>
                <a:lnTo>
                  <a:pt x="0" y="0"/>
                </a:lnTo>
                <a:close/>
              </a:path>
            </a:pathLst>
          </a:custGeom>
          <a:blipFill rotWithShape="1">
            <a:blip r:embed="rId7">
              <a:alphaModFix/>
            </a:blip>
            <a:stretch>
              <a:fillRect b="0" l="0" r="0" t="0"/>
            </a:stretch>
          </a:blipFill>
          <a:ln>
            <a:noFill/>
          </a:ln>
        </p:spPr>
      </p:sp>
      <p:sp>
        <p:nvSpPr>
          <p:cNvPr id="656" name="Google Shape;656;p48"/>
          <p:cNvSpPr/>
          <p:nvPr/>
        </p:nvSpPr>
        <p:spPr>
          <a:xfrm>
            <a:off x="6422045" y="1904170"/>
            <a:ext cx="712255" cy="529740"/>
          </a:xfrm>
          <a:custGeom>
            <a:rect b="b" l="l" r="r" t="t"/>
            <a:pathLst>
              <a:path extrusionOk="0" h="1059480" w="1424510">
                <a:moveTo>
                  <a:pt x="0" y="0"/>
                </a:moveTo>
                <a:lnTo>
                  <a:pt x="1424511" y="0"/>
                </a:lnTo>
                <a:lnTo>
                  <a:pt x="1424511" y="1059480"/>
                </a:lnTo>
                <a:lnTo>
                  <a:pt x="0" y="1059480"/>
                </a:lnTo>
                <a:lnTo>
                  <a:pt x="0" y="0"/>
                </a:lnTo>
                <a:close/>
              </a:path>
            </a:pathLst>
          </a:custGeom>
          <a:blipFill rotWithShape="1">
            <a:blip r:embed="rId8">
              <a:alphaModFix/>
            </a:blip>
            <a:stretch>
              <a:fillRect b="0" l="0" r="0" t="0"/>
            </a:stretch>
          </a:blipFill>
          <a:ln>
            <a:noFill/>
          </a:ln>
        </p:spPr>
      </p:sp>
      <p:sp>
        <p:nvSpPr>
          <p:cNvPr id="657" name="Google Shape;657;p48"/>
          <p:cNvSpPr/>
          <p:nvPr/>
        </p:nvSpPr>
        <p:spPr>
          <a:xfrm>
            <a:off x="5677492" y="1904170"/>
            <a:ext cx="498618" cy="529740"/>
          </a:xfrm>
          <a:custGeom>
            <a:rect b="b" l="l" r="r" t="t"/>
            <a:pathLst>
              <a:path extrusionOk="0" h="1059480" w="997235">
                <a:moveTo>
                  <a:pt x="0" y="0"/>
                </a:moveTo>
                <a:lnTo>
                  <a:pt x="997235" y="0"/>
                </a:lnTo>
                <a:lnTo>
                  <a:pt x="997235" y="1059480"/>
                </a:lnTo>
                <a:lnTo>
                  <a:pt x="0" y="1059480"/>
                </a:lnTo>
                <a:lnTo>
                  <a:pt x="0" y="0"/>
                </a:lnTo>
                <a:close/>
              </a:path>
            </a:pathLst>
          </a:custGeom>
          <a:blipFill rotWithShape="1">
            <a:blip r:embed="rId9">
              <a:alphaModFix/>
            </a:blip>
            <a:stretch>
              <a:fillRect b="0" l="0" r="0" t="0"/>
            </a:stretch>
          </a:blipFill>
          <a:ln>
            <a:noFill/>
          </a:ln>
        </p:spPr>
      </p:sp>
      <p:sp>
        <p:nvSpPr>
          <p:cNvPr id="658" name="Google Shape;658;p48"/>
          <p:cNvSpPr/>
          <p:nvPr/>
        </p:nvSpPr>
        <p:spPr>
          <a:xfrm>
            <a:off x="4790419" y="1904170"/>
            <a:ext cx="641138" cy="529740"/>
          </a:xfrm>
          <a:custGeom>
            <a:rect b="b" l="l" r="r" t="t"/>
            <a:pathLst>
              <a:path extrusionOk="0" h="1059480" w="1282275">
                <a:moveTo>
                  <a:pt x="0" y="0"/>
                </a:moveTo>
                <a:lnTo>
                  <a:pt x="1282275" y="0"/>
                </a:lnTo>
                <a:lnTo>
                  <a:pt x="1282275" y="1059480"/>
                </a:lnTo>
                <a:lnTo>
                  <a:pt x="0" y="1059480"/>
                </a:lnTo>
                <a:lnTo>
                  <a:pt x="0" y="0"/>
                </a:lnTo>
                <a:close/>
              </a:path>
            </a:pathLst>
          </a:custGeom>
          <a:blipFill rotWithShape="1">
            <a:blip r:embed="rId10">
              <a:alphaModFix/>
            </a:blip>
            <a:stretch>
              <a:fillRect b="0" l="0" r="0" t="0"/>
            </a:stretch>
          </a:blipFill>
          <a:ln>
            <a:noFill/>
          </a:ln>
        </p:spPr>
      </p:sp>
      <p:sp>
        <p:nvSpPr>
          <p:cNvPr id="659" name="Google Shape;659;p48"/>
          <p:cNvSpPr/>
          <p:nvPr/>
        </p:nvSpPr>
        <p:spPr>
          <a:xfrm>
            <a:off x="7388869" y="1098749"/>
            <a:ext cx="555429" cy="529740"/>
          </a:xfrm>
          <a:custGeom>
            <a:rect b="b" l="l" r="r" t="t"/>
            <a:pathLst>
              <a:path extrusionOk="0" h="1059480" w="1110857">
                <a:moveTo>
                  <a:pt x="0" y="0"/>
                </a:moveTo>
                <a:lnTo>
                  <a:pt x="1110857" y="0"/>
                </a:lnTo>
                <a:lnTo>
                  <a:pt x="1110857" y="1059479"/>
                </a:lnTo>
                <a:lnTo>
                  <a:pt x="0" y="1059479"/>
                </a:lnTo>
                <a:lnTo>
                  <a:pt x="0" y="0"/>
                </a:lnTo>
                <a:close/>
              </a:path>
            </a:pathLst>
          </a:custGeom>
          <a:blipFill rotWithShape="1">
            <a:blip r:embed="rId11">
              <a:alphaModFix/>
            </a:blip>
            <a:stretch>
              <a:fillRect b="0" l="0" r="0" t="0"/>
            </a:stretch>
          </a:blipFill>
          <a:ln>
            <a:noFill/>
          </a:ln>
        </p:spPr>
      </p:sp>
      <p:sp>
        <p:nvSpPr>
          <p:cNvPr id="660" name="Google Shape;660;p48"/>
          <p:cNvSpPr/>
          <p:nvPr/>
        </p:nvSpPr>
        <p:spPr>
          <a:xfrm>
            <a:off x="6527211" y="1098749"/>
            <a:ext cx="586157" cy="529740"/>
          </a:xfrm>
          <a:custGeom>
            <a:rect b="b" l="l" r="r" t="t"/>
            <a:pathLst>
              <a:path extrusionOk="0" h="1059480" w="1172315">
                <a:moveTo>
                  <a:pt x="0" y="0"/>
                </a:moveTo>
                <a:lnTo>
                  <a:pt x="1172314" y="0"/>
                </a:lnTo>
                <a:lnTo>
                  <a:pt x="1172314" y="1059479"/>
                </a:lnTo>
                <a:lnTo>
                  <a:pt x="0" y="1059479"/>
                </a:lnTo>
                <a:lnTo>
                  <a:pt x="0" y="0"/>
                </a:lnTo>
                <a:close/>
              </a:path>
            </a:pathLst>
          </a:custGeom>
          <a:blipFill rotWithShape="1">
            <a:blip r:embed="rId12">
              <a:alphaModFix/>
            </a:blip>
            <a:stretch>
              <a:fillRect b="0" l="0" r="0" t="0"/>
            </a:stretch>
          </a:blipFill>
          <a:ln>
            <a:noFill/>
          </a:ln>
        </p:spPr>
      </p:sp>
      <p:sp>
        <p:nvSpPr>
          <p:cNvPr id="661" name="Google Shape;661;p48"/>
          <p:cNvSpPr/>
          <p:nvPr/>
        </p:nvSpPr>
        <p:spPr>
          <a:xfrm>
            <a:off x="5729917" y="1098749"/>
            <a:ext cx="521793" cy="529740"/>
          </a:xfrm>
          <a:custGeom>
            <a:rect b="b" l="l" r="r" t="t"/>
            <a:pathLst>
              <a:path extrusionOk="0" h="1059480" w="1043587">
                <a:moveTo>
                  <a:pt x="0" y="0"/>
                </a:moveTo>
                <a:lnTo>
                  <a:pt x="1043587" y="0"/>
                </a:lnTo>
                <a:lnTo>
                  <a:pt x="1043587" y="1059479"/>
                </a:lnTo>
                <a:lnTo>
                  <a:pt x="0" y="1059479"/>
                </a:lnTo>
                <a:lnTo>
                  <a:pt x="0" y="0"/>
                </a:lnTo>
                <a:close/>
              </a:path>
            </a:pathLst>
          </a:custGeom>
          <a:blipFill rotWithShape="1">
            <a:blip r:embed="rId13">
              <a:alphaModFix/>
            </a:blip>
            <a:stretch>
              <a:fillRect b="0" l="0" r="0" t="0"/>
            </a:stretch>
          </a:blipFill>
          <a:ln>
            <a:noFill/>
          </a:ln>
        </p:spPr>
      </p:sp>
      <p:sp>
        <p:nvSpPr>
          <p:cNvPr id="662" name="Google Shape;662;p48"/>
          <p:cNvSpPr/>
          <p:nvPr/>
        </p:nvSpPr>
        <p:spPr>
          <a:xfrm>
            <a:off x="4767558" y="1098749"/>
            <a:ext cx="686858" cy="529740"/>
          </a:xfrm>
          <a:custGeom>
            <a:rect b="b" l="l" r="r" t="t"/>
            <a:pathLst>
              <a:path extrusionOk="0" h="1059480" w="1373717">
                <a:moveTo>
                  <a:pt x="0" y="0"/>
                </a:moveTo>
                <a:lnTo>
                  <a:pt x="1373717" y="0"/>
                </a:lnTo>
                <a:lnTo>
                  <a:pt x="1373717" y="1059479"/>
                </a:lnTo>
                <a:lnTo>
                  <a:pt x="0" y="1059479"/>
                </a:lnTo>
                <a:lnTo>
                  <a:pt x="0" y="0"/>
                </a:lnTo>
                <a:close/>
              </a:path>
            </a:pathLst>
          </a:custGeom>
          <a:blipFill rotWithShape="1">
            <a:blip r:embed="rId14">
              <a:alphaModFix/>
            </a:blip>
            <a:stretch>
              <a:fillRect b="0" l="0" r="0" t="0"/>
            </a:stretch>
          </a:blipFill>
          <a:ln>
            <a:noFill/>
          </a:ln>
        </p:spPr>
      </p:sp>
      <p:sp>
        <p:nvSpPr>
          <p:cNvPr id="663" name="Google Shape;663;p48"/>
          <p:cNvSpPr/>
          <p:nvPr/>
        </p:nvSpPr>
        <p:spPr>
          <a:xfrm>
            <a:off x="7385926" y="3515012"/>
            <a:ext cx="561313" cy="529740"/>
          </a:xfrm>
          <a:custGeom>
            <a:rect b="b" l="l" r="r" t="t"/>
            <a:pathLst>
              <a:path extrusionOk="0" h="1059480" w="1122627">
                <a:moveTo>
                  <a:pt x="0" y="0"/>
                </a:moveTo>
                <a:lnTo>
                  <a:pt x="1122627" y="0"/>
                </a:lnTo>
                <a:lnTo>
                  <a:pt x="1122627" y="1059479"/>
                </a:lnTo>
                <a:lnTo>
                  <a:pt x="0" y="1059479"/>
                </a:lnTo>
                <a:lnTo>
                  <a:pt x="0" y="0"/>
                </a:lnTo>
                <a:close/>
              </a:path>
            </a:pathLst>
          </a:custGeom>
          <a:blipFill rotWithShape="1">
            <a:blip r:embed="rId15">
              <a:alphaModFix/>
            </a:blip>
            <a:stretch>
              <a:fillRect b="0" l="0" r="0" t="0"/>
            </a:stretch>
          </a:blipFill>
          <a:ln>
            <a:noFill/>
          </a:ln>
        </p:spPr>
      </p:sp>
      <p:sp>
        <p:nvSpPr>
          <p:cNvPr id="664" name="Google Shape;664;p48"/>
          <p:cNvSpPr/>
          <p:nvPr/>
        </p:nvSpPr>
        <p:spPr>
          <a:xfrm>
            <a:off x="6515951" y="3515012"/>
            <a:ext cx="581333" cy="529740"/>
          </a:xfrm>
          <a:custGeom>
            <a:rect b="b" l="l" r="r" t="t"/>
            <a:pathLst>
              <a:path extrusionOk="0" h="1059480" w="1162666">
                <a:moveTo>
                  <a:pt x="0" y="0"/>
                </a:moveTo>
                <a:lnTo>
                  <a:pt x="1162666" y="0"/>
                </a:lnTo>
                <a:lnTo>
                  <a:pt x="1162666" y="1059479"/>
                </a:lnTo>
                <a:lnTo>
                  <a:pt x="0" y="1059479"/>
                </a:lnTo>
                <a:lnTo>
                  <a:pt x="0" y="0"/>
                </a:lnTo>
                <a:close/>
              </a:path>
            </a:pathLst>
          </a:custGeom>
          <a:blipFill rotWithShape="1">
            <a:blip r:embed="rId16">
              <a:alphaModFix/>
            </a:blip>
            <a:stretch>
              <a:fillRect b="0" l="0" r="0" t="0"/>
            </a:stretch>
          </a:blipFill>
          <a:ln>
            <a:noFill/>
          </a:ln>
        </p:spPr>
      </p:sp>
      <p:sp>
        <p:nvSpPr>
          <p:cNvPr id="665" name="Google Shape;665;p48"/>
          <p:cNvSpPr/>
          <p:nvPr/>
        </p:nvSpPr>
        <p:spPr>
          <a:xfrm>
            <a:off x="5762464" y="3515012"/>
            <a:ext cx="464846" cy="529740"/>
          </a:xfrm>
          <a:custGeom>
            <a:rect b="b" l="l" r="r" t="t"/>
            <a:pathLst>
              <a:path extrusionOk="0" h="1059480" w="929693">
                <a:moveTo>
                  <a:pt x="0" y="0"/>
                </a:moveTo>
                <a:lnTo>
                  <a:pt x="929693" y="0"/>
                </a:lnTo>
                <a:lnTo>
                  <a:pt x="929693" y="1059479"/>
                </a:lnTo>
                <a:lnTo>
                  <a:pt x="0" y="1059479"/>
                </a:lnTo>
                <a:lnTo>
                  <a:pt x="0" y="0"/>
                </a:lnTo>
                <a:close/>
              </a:path>
            </a:pathLst>
          </a:custGeom>
          <a:blipFill rotWithShape="1">
            <a:blip r:embed="rId17">
              <a:alphaModFix/>
            </a:blip>
            <a:stretch>
              <a:fillRect b="0" l="0" r="0" t="0"/>
            </a:stretch>
          </a:blipFill>
          <a:ln>
            <a:noFill/>
          </a:ln>
        </p:spPr>
      </p:sp>
      <p:sp>
        <p:nvSpPr>
          <p:cNvPr id="666" name="Google Shape;666;p48"/>
          <p:cNvSpPr/>
          <p:nvPr/>
        </p:nvSpPr>
        <p:spPr>
          <a:xfrm>
            <a:off x="4748152" y="3515012"/>
            <a:ext cx="725671" cy="529740"/>
          </a:xfrm>
          <a:custGeom>
            <a:rect b="b" l="l" r="r" t="t"/>
            <a:pathLst>
              <a:path extrusionOk="0" h="1059480" w="1451342">
                <a:moveTo>
                  <a:pt x="0" y="0"/>
                </a:moveTo>
                <a:lnTo>
                  <a:pt x="1451341" y="0"/>
                </a:lnTo>
                <a:lnTo>
                  <a:pt x="1451341" y="1059479"/>
                </a:lnTo>
                <a:lnTo>
                  <a:pt x="0" y="1059479"/>
                </a:lnTo>
                <a:lnTo>
                  <a:pt x="0" y="0"/>
                </a:lnTo>
                <a:close/>
              </a:path>
            </a:pathLst>
          </a:custGeom>
          <a:blipFill rotWithShape="1">
            <a:blip r:embed="rId18">
              <a:alphaModFix/>
            </a:blip>
            <a:stretch>
              <a:fillRect b="0" l="0" r="0" t="0"/>
            </a:stretch>
          </a:blipFill>
          <a:ln>
            <a:noFill/>
          </a:ln>
        </p:spPr>
      </p:sp>
      <p:sp>
        <p:nvSpPr>
          <p:cNvPr id="667" name="Google Shape;667;p48"/>
          <p:cNvSpPr txBox="1"/>
          <p:nvPr/>
        </p:nvSpPr>
        <p:spPr>
          <a:xfrm>
            <a:off x="1078250" y="1102594"/>
            <a:ext cx="2326124" cy="9626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Resource </a:t>
            </a:r>
            <a:endParaRPr sz="700"/>
          </a:p>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Page</a:t>
            </a:r>
            <a:endParaRPr sz="700"/>
          </a:p>
        </p:txBody>
      </p:sp>
      <p:sp>
        <p:nvSpPr>
          <p:cNvPr id="668" name="Google Shape;668;p48"/>
          <p:cNvSpPr txBox="1"/>
          <p:nvPr/>
        </p:nvSpPr>
        <p:spPr>
          <a:xfrm>
            <a:off x="1078251" y="3281742"/>
            <a:ext cx="2165617" cy="7032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000" u="none" cap="none" strike="noStrike">
                <a:solidFill>
                  <a:srgbClr val="272622"/>
                </a:solidFill>
                <a:latin typeface="Arial"/>
                <a:ea typeface="Arial"/>
                <a:cs typeface="Arial"/>
                <a:sym typeface="Arial"/>
              </a:rPr>
              <a:t>The resources included in this presentation. Feel free to explore or customize these assets to fit your theme and style better.</a:t>
            </a:r>
            <a:endParaRPr sz="700"/>
          </a:p>
        </p:txBody>
      </p:sp>
      <p:sp>
        <p:nvSpPr>
          <p:cNvPr id="669" name="Google Shape;669;p48"/>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