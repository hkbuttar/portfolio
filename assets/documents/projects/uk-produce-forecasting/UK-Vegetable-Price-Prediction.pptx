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Montserrat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720CB8-0B9C-42C0-8DCA-9E8E71B26220}">
  <a:tblStyle styleId="{08720CB8-0B9C-42C0-8DCA-9E8E71B262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ontserratLight-bold.fntdata"/><Relationship Id="rId25" Type="http://schemas.openxmlformats.org/officeDocument/2006/relationships/font" Target="fonts/MontserratLight-regular.fntdata"/><Relationship Id="rId28" Type="http://schemas.openxmlformats.org/officeDocument/2006/relationships/font" Target="fonts/MontserratLight-boldItalic.fntdata"/><Relationship Id="rId27" Type="http://schemas.openxmlformats.org/officeDocument/2006/relationships/font" Target="fonts/MontserratLight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5d2cacfa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55d2cacfa_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55d2cacfa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55d2cacfa_2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55d2cacfa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55d2cacfa_2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55d2cacfa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55d2cacfa_2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54e8f5877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54e8f5877_0_8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d687a8d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d687a8d1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5709c2f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5709c2f7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54e8f5877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c54e8f5877_0_8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54e8f5877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54e8f5877_0_8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54e8f5877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54e8f5877_0_8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54e8f5877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forecasting framework has </a:t>
            </a:r>
            <a:r>
              <a:rPr lang="en"/>
              <a:t>practical</a:t>
            </a:r>
            <a:r>
              <a:rPr lang="en"/>
              <a:t> applications for supply chains and market planning.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predicting wholesale vegetable prices, the model helps businesses anticipate costs fluctuations driven by seasonality, supply disruptions and energy related production costs.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lang="en"/>
              <a:t>wholesalers</a:t>
            </a:r>
            <a:r>
              <a:rPr lang="en"/>
              <a:t> and retailers, these forecasts can improve procurement timing and budgeting decisions, reducing exposure to sudden price spikes.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also provide an early signal of market volatility, allowing supply chain managers to adjust inventory strategies or contract purchasing ahead of price increases.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broadly, this type of forecasting system can support food market monitoring and policy analysis, helping stakeholders better understand inflation </a:t>
            </a:r>
            <a:r>
              <a:rPr lang="en"/>
              <a:t>dynamics</a:t>
            </a:r>
            <a:r>
              <a:rPr lang="en"/>
              <a:t> in agricultural commodities.</a:t>
            </a:r>
            <a:endParaRPr/>
          </a:p>
        </p:txBody>
      </p:sp>
      <p:sp>
        <p:nvSpPr>
          <p:cNvPr id="250" name="Google Shape;250;g3c54e8f5877_0_8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d687a8d1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b="1"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Missing data: Approximately 9–13% of observations are missing due to holidays and changes in the reporting cycle, which may affect model stability.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Limited commodity coverage: Although 59 commodities are available, only four were modeled, limiting generalizability.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Frequency mismatch: Commodity prices are weekly, while exogenous variables are monthly or quarterly, requiring aggregation that may reduce temporal precision.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External factors not included: Weather shocks, supply disruptions, and import dynamics are not explicitly modeled.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Extend forecasting to all available commodities to improve coverage.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Incorporate additional exogenous drivers such as weather, import volumes, and retail demand indicators.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higher-frequency external data to better align with weekly price observations.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 hybrid and ensemble models combining statistical and deep learning approaches.</a:t>
            </a:r>
            <a:endParaRPr/>
          </a:p>
        </p:txBody>
      </p:sp>
      <p:sp>
        <p:nvSpPr>
          <p:cNvPr id="265" name="Google Shape;265;g3cd687a8d12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55d2cacfa_4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55d2cacfa_4_2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www.gov.uk/government/statistical-data-sets/wholesale-fruit-and-vegetable-prices-weekly-average" TargetMode="External"/><Relationship Id="rId5" Type="http://schemas.openxmlformats.org/officeDocument/2006/relationships/hyperlink" Target="https://www.gov.uk/government/statistics/agricultural-price-indice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943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5128" y="0"/>
            <a:ext cx="3642471" cy="5143500"/>
          </a:xfrm>
          <a:custGeom>
            <a:rect b="b" l="l" r="r" t="t"/>
            <a:pathLst>
              <a:path extrusionOk="0" h="1593725" w="1128628">
                <a:moveTo>
                  <a:pt x="0" y="0"/>
                </a:moveTo>
                <a:lnTo>
                  <a:pt x="1128628" y="0"/>
                </a:lnTo>
                <a:lnTo>
                  <a:pt x="112862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5905" r="-55905" t="0"/>
            </a:stretch>
          </a:blipFill>
          <a:ln>
            <a:noFill/>
          </a:ln>
        </p:spPr>
      </p:sp>
      <p:grpSp>
        <p:nvGrpSpPr>
          <p:cNvPr id="130" name="Google Shape;130;p25"/>
          <p:cNvGrpSpPr/>
          <p:nvPr/>
        </p:nvGrpSpPr>
        <p:grpSpPr>
          <a:xfrm>
            <a:off x="3657600" y="4136609"/>
            <a:ext cx="5486400" cy="843855"/>
            <a:chOff x="0" y="-38100"/>
            <a:chExt cx="2889956" cy="444500"/>
          </a:xfrm>
        </p:grpSpPr>
        <p:sp>
          <p:nvSpPr>
            <p:cNvPr id="131" name="Google Shape;131;p25"/>
            <p:cNvSpPr/>
            <p:nvPr/>
          </p:nvSpPr>
          <p:spPr>
            <a:xfrm>
              <a:off x="0" y="0"/>
              <a:ext cx="2889956" cy="406400"/>
            </a:xfrm>
            <a:custGeom>
              <a:rect b="b" l="l" r="r" t="t"/>
              <a:pathLst>
                <a:path extrusionOk="0" h="406400" w="2889956">
                  <a:moveTo>
                    <a:pt x="0" y="0"/>
                  </a:moveTo>
                  <a:lnTo>
                    <a:pt x="2889956" y="0"/>
                  </a:lnTo>
                  <a:lnTo>
                    <a:pt x="288995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72B724"/>
            </a:solidFill>
            <a:ln>
              <a:noFill/>
            </a:ln>
          </p:spPr>
        </p:sp>
        <p:sp>
          <p:nvSpPr>
            <p:cNvPr id="132" name="Google Shape;132;p25"/>
            <p:cNvSpPr txBox="1"/>
            <p:nvPr/>
          </p:nvSpPr>
          <p:spPr>
            <a:xfrm>
              <a:off x="0" y="-38100"/>
              <a:ext cx="2889956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5"/>
          <p:cNvSpPr txBox="1"/>
          <p:nvPr/>
        </p:nvSpPr>
        <p:spPr>
          <a:xfrm>
            <a:off x="4114800" y="259025"/>
            <a:ext cx="4652100" cy="29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UK Weekly Wholesale Vegetable Price Forecasting</a:t>
            </a:r>
            <a:endParaRPr sz="4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114800" y="3393907"/>
            <a:ext cx="44310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Harleen Buttar, Danilo Ruberti, Minhao Zhang</a:t>
            </a:r>
            <a:endParaRPr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700"/>
          </a:p>
        </p:txBody>
      </p:sp>
      <p:sp>
        <p:nvSpPr>
          <p:cNvPr id="135" name="Google Shape;135;p25"/>
          <p:cNvSpPr txBox="1"/>
          <p:nvPr/>
        </p:nvSpPr>
        <p:spPr>
          <a:xfrm>
            <a:off x="7722571" y="-250311"/>
            <a:ext cx="142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Logo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6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141" name="Google Shape;141;p26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142" name="Google Shape;142;p26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26"/>
          <p:cNvSpPr txBox="1"/>
          <p:nvPr/>
        </p:nvSpPr>
        <p:spPr>
          <a:xfrm>
            <a:off x="457200" y="34767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UK Vegetable Price Forecasting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57200" y="870875"/>
            <a:ext cx="74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Volatile pricing due to seasonality, supply, and energy-related costs.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5" name="Google Shape;145;p26"/>
          <p:cNvCxnSpPr/>
          <p:nvPr/>
        </p:nvCxnSpPr>
        <p:spPr>
          <a:xfrm>
            <a:off x="457200" y="1180925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874" y="1863387"/>
            <a:ext cx="3615851" cy="139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/>
        </p:nvSpPr>
        <p:spPr>
          <a:xfrm>
            <a:off x="457200" y="1454750"/>
            <a:ext cx="43953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predict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weekly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UK wholesale vegetable prices for planning and budgeting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DEFRA weekly prices + upstream material cost index as a cost driver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Challenges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strong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seasonality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trend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missing weeks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shock spikes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Success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best 52‑week hold out 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period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accuracy (sMAPE)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350" y="3448500"/>
            <a:ext cx="3615849" cy="847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7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154" name="Google Shape;154;p27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155" name="Google Shape;155;p27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27"/>
          <p:cNvSpPr txBox="1"/>
          <p:nvPr/>
        </p:nvSpPr>
        <p:spPr>
          <a:xfrm>
            <a:off x="457200" y="34767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Data Overview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457200" y="870875"/>
            <a:ext cx="74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27354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Substantial missing target data and additional index.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457200" y="1335125"/>
            <a:ext cx="4488600" cy="3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UK grocery wholesale prices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Weekly 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data: 2015‑01‑09 to 2026‑02‑16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9–13% missing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for selected data due to holidays and change in reporting cycle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59 commodities (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selected 4 to model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Exogenous inputs (index)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Energy 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&amp; lubricants,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Fertilisers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Seeds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Plant protection, Diesel/Petrol, Road freight (Mixed Monthly/Quarterly)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9" name="Google Shape;159;p27"/>
          <p:cNvCxnSpPr/>
          <p:nvPr/>
        </p:nvCxnSpPr>
        <p:spPr>
          <a:xfrm>
            <a:off x="457200" y="1180925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796" y="1696862"/>
            <a:ext cx="3709378" cy="277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/>
        </p:nvSpPr>
        <p:spPr>
          <a:xfrm>
            <a:off x="457050" y="4670900"/>
            <a:ext cx="8229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https://www.gov.uk/government/statistical-data-sets/wholesale-fruit-and-vegetable-prices-weekly-average</a:t>
            </a:r>
            <a:endParaRPr sz="7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https://www.gov.uk/government/statistics/agricultural-price-indices</a:t>
            </a: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7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8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167" name="Google Shape;167;p28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168" name="Google Shape;168;p28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28"/>
          <p:cNvSpPr txBox="1"/>
          <p:nvPr/>
        </p:nvSpPr>
        <p:spPr>
          <a:xfrm>
            <a:off x="457200" y="34767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EDA Summary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457200" y="870875"/>
            <a:ext cx="74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Market Shock &amp; Structural Seasonality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1" name="Google Shape;171;p28"/>
          <p:cNvCxnSpPr/>
          <p:nvPr/>
        </p:nvCxnSpPr>
        <p:spPr>
          <a:xfrm>
            <a:off x="457200" y="1180925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51" y="2098475"/>
            <a:ext cx="4711576" cy="27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026" y="2101899"/>
            <a:ext cx="3565384" cy="278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457200" y="1335125"/>
            <a:ext cx="3329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Severe Market Anomaly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Non-Stationary Baseline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786300" y="1344200"/>
            <a:ext cx="3329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Effective 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Differencing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Impact of Shock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9" title="Screenshot 2026-03-08 at 5.03.5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775" y="1403787"/>
            <a:ext cx="3989726" cy="3555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9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182" name="Google Shape;182;p29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183" name="Google Shape;183;p29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29"/>
          <p:cNvSpPr txBox="1"/>
          <p:nvPr/>
        </p:nvSpPr>
        <p:spPr>
          <a:xfrm>
            <a:off x="457200" y="34767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Data Engineering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457200" y="870875"/>
            <a:ext cx="74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 raw price histories into predictive temporal features 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6" name="Google Shape;186;p29"/>
          <p:cNvCxnSpPr/>
          <p:nvPr/>
        </p:nvCxnSpPr>
        <p:spPr>
          <a:xfrm>
            <a:off x="457200" y="1180925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29"/>
          <p:cNvSpPr txBox="1"/>
          <p:nvPr/>
        </p:nvSpPr>
        <p:spPr>
          <a:xfrm>
            <a:off x="457200" y="1500149"/>
            <a:ext cx="4190700" cy="3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Standardized multi-year commodity price data into a causal weekly forecasting panel.</a:t>
            </a:r>
            <a:endParaRPr sz="16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Temporal features</a:t>
            </a:r>
            <a:r>
              <a:rPr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Lag features</a:t>
            </a:r>
            <a:r>
              <a:rPr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Rolling statistics</a:t>
            </a:r>
            <a:endParaRPr sz="16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Year-over-year features</a:t>
            </a:r>
            <a:endParaRPr sz="16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External drivers</a:t>
            </a:r>
            <a:endParaRPr sz="16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Missing Data: Forward Fill to avoid data leakage</a:t>
            </a:r>
            <a:endParaRPr sz="16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30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193" name="Google Shape;193;p30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194" name="Google Shape;194;p30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30"/>
          <p:cNvSpPr txBox="1"/>
          <p:nvPr/>
        </p:nvSpPr>
        <p:spPr>
          <a:xfrm>
            <a:off x="457200" y="34767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Evaluation Metrics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457200" y="870875"/>
            <a:ext cx="7477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sMAPE provides a symmetric, scale-independent measure of forecast accuracy.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457200" y="1864213"/>
            <a:ext cx="40650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Symmetric error measurement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– treats over- and under-prediction more evenly than MAPE.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Scale independent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– allows comparison across commodities with different price levels.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Robust to volatility 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– handles large seasonal fluctuations common in fruit and vegetable prices.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stable with small values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– avoids extreme errors when prices are low.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Evaluated on the </a:t>
            </a: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last 52 weeks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data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8" name="Google Shape;198;p30"/>
          <p:cNvCxnSpPr/>
          <p:nvPr/>
        </p:nvCxnSpPr>
        <p:spPr>
          <a:xfrm>
            <a:off x="457200" y="1180925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9" name="Google Shape;199;p30" title="weekly_prices_recolor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2200" y="1388075"/>
            <a:ext cx="4329452" cy="346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31"/>
          <p:cNvGrpSpPr/>
          <p:nvPr/>
        </p:nvGrpSpPr>
        <p:grpSpPr>
          <a:xfrm>
            <a:off x="7934700" y="-72327"/>
            <a:ext cx="713023" cy="1490317"/>
            <a:chOff x="0" y="-38100"/>
            <a:chExt cx="396300" cy="828322"/>
          </a:xfrm>
        </p:grpSpPr>
        <p:sp>
          <p:nvSpPr>
            <p:cNvPr id="205" name="Google Shape;205;p31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206" name="Google Shape;206;p31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075" lIns="24075" spcFirstLastPara="1" rIns="24075" wrap="square" tIns="240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5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31"/>
          <p:cNvSpPr txBox="1"/>
          <p:nvPr/>
        </p:nvSpPr>
        <p:spPr>
          <a:xfrm>
            <a:off x="457200" y="34767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Modeling Selection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457200" y="870875"/>
            <a:ext cx="77256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SARIMA/ARIMAX are interpretable; TimeGPT and sMamba capture complex patterns.</a:t>
            </a:r>
            <a:endParaRPr b="1"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" name="Google Shape;209;p31"/>
          <p:cNvCxnSpPr/>
          <p:nvPr/>
        </p:nvCxnSpPr>
        <p:spPr>
          <a:xfrm>
            <a:off x="457200" y="1180925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874" y="1863387"/>
            <a:ext cx="3615851" cy="139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1"/>
          <p:cNvSpPr txBox="1"/>
          <p:nvPr/>
        </p:nvSpPr>
        <p:spPr>
          <a:xfrm>
            <a:off x="457200" y="1454750"/>
            <a:ext cx="43953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predict </a:t>
            </a: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weekly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UK wholesale vegetable prices for planning and budgeting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DEFRA weekly prices + upstream material cost index as a cost driver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Challenges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strong </a:t>
            </a: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seasonality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trend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missing weeks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shock spikes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Success</a:t>
            </a:r>
            <a:r>
              <a:rPr lang="en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best 52‑week rolling backtest accuracy (sMAPE)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350" y="3259750"/>
            <a:ext cx="3615849" cy="8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 title="Screenshot 2026-03-07 at 9.13.3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650" y="1454744"/>
            <a:ext cx="8142707" cy="3326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2" title="Screenshot 2026-03-08 at 10.48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722" y="1327900"/>
            <a:ext cx="8612553" cy="3731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32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220" name="Google Shape;220;p32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221" name="Google Shape;221;p32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32"/>
          <p:cNvSpPr txBox="1"/>
          <p:nvPr/>
        </p:nvSpPr>
        <p:spPr>
          <a:xfrm>
            <a:off x="278450" y="492800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Comparison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457200" y="1327894"/>
            <a:ext cx="7477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434343"/>
              </a:solidFill>
            </a:endParaRPr>
          </a:p>
        </p:txBody>
      </p:sp>
      <p:cxnSp>
        <p:nvCxnSpPr>
          <p:cNvPr id="224" name="Google Shape;224;p32"/>
          <p:cNvCxnSpPr/>
          <p:nvPr/>
        </p:nvCxnSpPr>
        <p:spPr>
          <a:xfrm>
            <a:off x="457200" y="1171950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 title="Screenshot 2026-03-08 at 10.50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62" y="1427750"/>
            <a:ext cx="8474876" cy="37285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33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231" name="Google Shape;231;p33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232" name="Google Shape;232;p33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3"/>
          <p:cNvSpPr txBox="1"/>
          <p:nvPr/>
        </p:nvSpPr>
        <p:spPr>
          <a:xfrm>
            <a:off x="278450" y="308000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Comparison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278450" y="870875"/>
            <a:ext cx="7967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sMAPE Comparisons Between All Models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457200" y="1327894"/>
            <a:ext cx="7477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434343"/>
              </a:solidFill>
            </a:endParaRPr>
          </a:p>
        </p:txBody>
      </p:sp>
      <p:cxnSp>
        <p:nvCxnSpPr>
          <p:cNvPr id="236" name="Google Shape;236;p33"/>
          <p:cNvCxnSpPr/>
          <p:nvPr/>
        </p:nvCxnSpPr>
        <p:spPr>
          <a:xfrm>
            <a:off x="457200" y="1171950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/>
        </p:nvSpPr>
        <p:spPr>
          <a:xfrm>
            <a:off x="278450" y="308000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Final Model Selection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278450" y="870875"/>
            <a:ext cx="7967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S-Mamba + SARIMA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457200" y="1327894"/>
            <a:ext cx="7477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434343"/>
              </a:solidFill>
            </a:endParaRPr>
          </a:p>
        </p:txBody>
      </p:sp>
      <p:cxnSp>
        <p:nvCxnSpPr>
          <p:cNvPr id="244" name="Google Shape;244;p34"/>
          <p:cNvCxnSpPr/>
          <p:nvPr/>
        </p:nvCxnSpPr>
        <p:spPr>
          <a:xfrm>
            <a:off x="457200" y="1171950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34"/>
          <p:cNvSpPr txBox="1"/>
          <p:nvPr/>
        </p:nvSpPr>
        <p:spPr>
          <a:xfrm>
            <a:off x="278450" y="1591550"/>
            <a:ext cx="4258800" cy="30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Selected Final Model: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S-Mamba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Based on the evaluation of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sMAPE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Captures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temporal dependencies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commodity series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handles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seasonality and structural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shocks effectively.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</a:t>
            </a: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maintains low error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across multiple commodities, showing strong generalization.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46" name="Google Shape;246;p34"/>
          <p:cNvGraphicFramePr/>
          <p:nvPr/>
        </p:nvGraphicFramePr>
        <p:xfrm>
          <a:off x="4578000" y="138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{08720CB8-0B9C-42C0-8DCA-9E8E71B26220}</a:tableStyleId>
              </a:tblPr>
              <a:tblGrid>
                <a:gridCol w="2212350"/>
                <a:gridCol w="1213675"/>
                <a:gridCol w="832800"/>
              </a:tblGrid>
              <a:tr h="34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Commodity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Best </a:t>
                      </a: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sMAPE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Bulb Onions (Yellow)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S-Mamba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6.72%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Cabbage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SARIMA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4.60%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Carrots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S-Mamba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4.77%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Lettuce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S-Mamba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3.32%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7" name="Google Shape;247;p34" title="Screenshot 2026-03-09 at 1.5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7986" y="3428100"/>
            <a:ext cx="4288527" cy="17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/>
        </p:nvSpPr>
        <p:spPr>
          <a:xfrm>
            <a:off x="402125" y="40352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Impact &amp; Applications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5"/>
          <p:cNvSpPr txBox="1"/>
          <p:nvPr/>
        </p:nvSpPr>
        <p:spPr>
          <a:xfrm>
            <a:off x="457200" y="1327894"/>
            <a:ext cx="7477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434343"/>
              </a:solidFill>
            </a:endParaRPr>
          </a:p>
        </p:txBody>
      </p:sp>
      <p:cxnSp>
        <p:nvCxnSpPr>
          <p:cNvPr id="254" name="Google Shape;254;p35"/>
          <p:cNvCxnSpPr/>
          <p:nvPr/>
        </p:nvCxnSpPr>
        <p:spPr>
          <a:xfrm>
            <a:off x="457200" y="1171950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35"/>
          <p:cNvSpPr txBox="1"/>
          <p:nvPr/>
        </p:nvSpPr>
        <p:spPr>
          <a:xfrm>
            <a:off x="322450" y="1327900"/>
            <a:ext cx="4590900" cy="3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Acquired a Model to accurately predict market price of UK grocery items.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Supply Chain Planning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Forecasts help wholesalers/retailers anticipate costs.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Budgeting &amp; Cost Control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Forward looking price expectations.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Market Risk Monitoring</a:t>
            </a: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Identify price spikes early, allowing for easier response.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5022275" y="1310400"/>
            <a:ext cx="389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Historical Pricing + Cost Drivers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5022275" y="2361550"/>
            <a:ext cx="389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Forecast Model (S-Mamba/ SARIMA)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5022275" y="3317425"/>
            <a:ext cx="389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Weekly Price Forecast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4796075" y="4323650"/>
            <a:ext cx="43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Planning | Procurement | Risk Management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6807725" y="1836774"/>
            <a:ext cx="325800" cy="431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6806625" y="2886324"/>
            <a:ext cx="325800" cy="431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6806625" y="3784299"/>
            <a:ext cx="325800" cy="431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6"/>
          <p:cNvGrpSpPr/>
          <p:nvPr/>
        </p:nvGrpSpPr>
        <p:grpSpPr>
          <a:xfrm>
            <a:off x="7934704" y="-72329"/>
            <a:ext cx="752336" cy="1572486"/>
            <a:chOff x="0" y="-38100"/>
            <a:chExt cx="396300" cy="828322"/>
          </a:xfrm>
        </p:grpSpPr>
        <p:sp>
          <p:nvSpPr>
            <p:cNvPr id="268" name="Google Shape;268;p36"/>
            <p:cNvSpPr/>
            <p:nvPr/>
          </p:nvSpPr>
          <p:spPr>
            <a:xfrm>
              <a:off x="0" y="0"/>
              <a:ext cx="396166" cy="790222"/>
            </a:xfrm>
            <a:custGeom>
              <a:rect b="b" l="l" r="r" t="t"/>
              <a:pathLst>
                <a:path extrusionOk="0" h="790222" w="396166">
                  <a:moveTo>
                    <a:pt x="0" y="0"/>
                  </a:moveTo>
                  <a:lnTo>
                    <a:pt x="396166" y="0"/>
                  </a:lnTo>
                  <a:lnTo>
                    <a:pt x="396166" y="790222"/>
                  </a:lnTo>
                  <a:lnTo>
                    <a:pt x="0" y="790222"/>
                  </a:lnTo>
                  <a:close/>
                </a:path>
              </a:pathLst>
            </a:custGeom>
            <a:solidFill>
              <a:srgbClr val="FA8803"/>
            </a:solidFill>
            <a:ln>
              <a:noFill/>
            </a:ln>
          </p:spPr>
        </p:sp>
        <p:sp>
          <p:nvSpPr>
            <p:cNvPr id="269" name="Google Shape;269;p36"/>
            <p:cNvSpPr txBox="1"/>
            <p:nvPr/>
          </p:nvSpPr>
          <p:spPr>
            <a:xfrm>
              <a:off x="0" y="-38100"/>
              <a:ext cx="3963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36"/>
          <p:cNvSpPr txBox="1"/>
          <p:nvPr/>
        </p:nvSpPr>
        <p:spPr>
          <a:xfrm>
            <a:off x="457200" y="347675"/>
            <a:ext cx="7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Limitations and Future Work</a:t>
            </a:r>
            <a:endParaRPr sz="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457200" y="870875"/>
            <a:ext cx="7477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Despite some limitations, the data supports modeling seasonal price dynamics.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457200" y="1557200"/>
            <a:ext cx="8229900" cy="3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(Inherent limitation)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Frequency mismatch 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(Inherent limitation)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Limited commodity coverage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Residual is non-white noise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Extend forecasting to </a:t>
            </a: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available commodities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improve coverage.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Incorporate </a:t>
            </a: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additional exogenous drivers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such as </a:t>
            </a: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weather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 volumes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retail demand indicators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</a:t>
            </a: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higher-frequency external data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better align with weekly price observations.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 hybrid and ensemble models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combining statistical and deep learning approaches.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3" name="Google Shape;273;p36"/>
          <p:cNvCxnSpPr/>
          <p:nvPr/>
        </p:nvCxnSpPr>
        <p:spPr>
          <a:xfrm>
            <a:off x="457200" y="1180925"/>
            <a:ext cx="5943600" cy="0"/>
          </a:xfrm>
          <a:prstGeom prst="straightConnector1">
            <a:avLst/>
          </a:prstGeom>
          <a:noFill/>
          <a:ln cap="flat" cmpd="sng" w="95250">
            <a:solidFill>
              <a:srgbClr val="72B72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37"/>
          <p:cNvGrpSpPr/>
          <p:nvPr/>
        </p:nvGrpSpPr>
        <p:grpSpPr>
          <a:xfrm>
            <a:off x="0" y="4642545"/>
            <a:ext cx="9144000" cy="500955"/>
            <a:chOff x="0" y="-38100"/>
            <a:chExt cx="4816593" cy="263878"/>
          </a:xfrm>
        </p:grpSpPr>
        <p:sp>
          <p:nvSpPr>
            <p:cNvPr id="279" name="Google Shape;279;p37"/>
            <p:cNvSpPr/>
            <p:nvPr/>
          </p:nvSpPr>
          <p:spPr>
            <a:xfrm>
              <a:off x="0" y="0"/>
              <a:ext cx="4816592" cy="225778"/>
            </a:xfrm>
            <a:custGeom>
              <a:rect b="b" l="l" r="r" t="t"/>
              <a:pathLst>
                <a:path extrusionOk="0" h="22577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5778"/>
                  </a:lnTo>
                  <a:lnTo>
                    <a:pt x="0" y="225778"/>
                  </a:lnTo>
                  <a:close/>
                </a:path>
              </a:pathLst>
            </a:custGeom>
            <a:solidFill>
              <a:srgbClr val="72B724"/>
            </a:solidFill>
            <a:ln>
              <a:noFill/>
            </a:ln>
          </p:spPr>
        </p:sp>
        <p:sp>
          <p:nvSpPr>
            <p:cNvPr id="280" name="Google Shape;280;p37"/>
            <p:cNvSpPr txBox="1"/>
            <p:nvPr/>
          </p:nvSpPr>
          <p:spPr>
            <a:xfrm>
              <a:off x="0" y="-38100"/>
              <a:ext cx="4816593" cy="263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37"/>
          <p:cNvSpPr txBox="1"/>
          <p:nvPr/>
        </p:nvSpPr>
        <p:spPr>
          <a:xfrm>
            <a:off x="2652659" y="640372"/>
            <a:ext cx="5119741" cy="897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300" u="none" cap="none" strike="noStrike">
                <a:solidFill>
                  <a:srgbClr val="379436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700"/>
          </a:p>
        </p:txBody>
      </p:sp>
      <p:sp>
        <p:nvSpPr>
          <p:cNvPr id="282" name="Google Shape;282;p37"/>
          <p:cNvSpPr txBox="1"/>
          <p:nvPr/>
        </p:nvSpPr>
        <p:spPr>
          <a:xfrm>
            <a:off x="2743275" y="1856150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https://github.com/Minhao-Zhang/ADSP_31006_Final_Project</a:t>
            </a:r>
            <a:endParaRPr sz="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3" name="Google Shape;283;p37"/>
          <p:cNvCxnSpPr/>
          <p:nvPr/>
        </p:nvCxnSpPr>
        <p:spPr>
          <a:xfrm>
            <a:off x="2743200" y="1690688"/>
            <a:ext cx="5029200" cy="0"/>
          </a:xfrm>
          <a:prstGeom prst="straightConnector1">
            <a:avLst/>
          </a:prstGeom>
          <a:noFill/>
          <a:ln cap="flat" cmpd="sng" w="95250">
            <a:solidFill>
              <a:srgbClr val="FA88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37"/>
          <p:cNvSpPr/>
          <p:nvPr/>
        </p:nvSpPr>
        <p:spPr>
          <a:xfrm>
            <a:off x="457200" y="514350"/>
            <a:ext cx="1628775" cy="1628775"/>
          </a:xfrm>
          <a:custGeom>
            <a:rect b="b" l="l" r="r" t="t"/>
            <a:pathLst>
              <a:path extrusionOk="0" h="3257550" w="3257550">
                <a:moveTo>
                  <a:pt x="0" y="0"/>
                </a:moveTo>
                <a:lnTo>
                  <a:pt x="3257550" y="0"/>
                </a:lnTo>
                <a:lnTo>
                  <a:pt x="32575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37"/>
          <p:cNvSpPr txBox="1"/>
          <p:nvPr/>
        </p:nvSpPr>
        <p:spPr>
          <a:xfrm>
            <a:off x="3553950" y="2705675"/>
            <a:ext cx="2036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 &amp; A</a:t>
            </a:r>
            <a:endParaRPr b="1" sz="5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