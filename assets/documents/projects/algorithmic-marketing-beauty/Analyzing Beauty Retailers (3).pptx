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Ovo"/>
      <p:regular r:id="rId30"/>
    </p:embeddedFont>
    <p:embeddedFont>
      <p:font typeface="Playwrite US Trad"/>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writeUSTrad-regular.fntdata"/><Relationship Id="rId30" Type="http://schemas.openxmlformats.org/officeDocument/2006/relationships/font" Target="fonts/Ovo-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bcd8dc2cf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cbcd8dc2cf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c7e42c083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cc7e42c083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c7e42c083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cc7e42c083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bcd8dc2cf_2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cbcd8dc2cf_2_2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c7e42c083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Cluster 0 — High-Traffic Mainstream (614 products, 37.6%)</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engine of Sephora's review ecosystem — 213 reviews/month, highest velocity of any cluster. Good ratings (4.37) but a 6.4% negative rate that's double the loyalists. Blush, serums, shampoo, fragrance from recognizable prestige names (Pat McGrath, Merit, Sol de Janeiro). 100% skin tone/type coverage. People buy these, review them a lot, and mostly like them — but there's enough dissatisfaction to generate debate.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Cluster 1 — Quiet Loyalists (500 products, 30.6%)</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Half the review velocity of Cluster 0 (86/month) but meaningfully better on every quality signal: higher ratings (4.59), stronger sentiment (80%), lower variance (0.83 std). Niche and indie brands — Pattern, Beauty of Joseon, Harlem Perfume Co. — alongside prestige fragrance. Skincare-heavy. The weighting pulled this out of the old bulk cluster because the stability signal is real: people who find these products consistently agree they're good.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GMM overlay — Quiet Mid-Tier Unknowns (~90 products):</a:t>
            </a:r>
            <a:r>
              <a:rPr lang="en">
                <a:solidFill>
                  <a:schemeClr val="dk1"/>
                </a:solidFill>
              </a:rPr>
              <a:t> Sitting inside this cluster is a sub-population GMM's soft boundaries isolated that K-Means couldn't separate out. Decent ratings (4.45) and solid sentiment (93.3%) — these aren't failing products. They're just invisible, at 30 reviews/month, and skew heavily toward BIPOC-founded and diversity-focused brands (LORE, Range Beauty, ROSE Ingleton MD, Fashion Fair) with the highest deep/rich skin tone representation of any cluster. Different intervention than the broader loyalist group: not optimization, amplification.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Cluster 2 — Low-Visibility Darlings (192 products, 11.8%)</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most structurally distinct cluster in the entire analysis — emerges identically across every model. Highest ratings (4.63), best sentiment (82.8%), lowest variance (0.67), only 17.5 reviews/month. Fragrance-heavy: perfume, gift sets, rollerballs. Zero skin tone data because these are non-skin categories. Heavy PR/gifted review signal (Topic 3 at 24%). The people who find them love them — almost nobody finds them.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GMM confirmation:</a:t>
            </a:r>
            <a:r>
              <a:rPr lang="en">
                <a:solidFill>
                  <a:schemeClr val="dk1"/>
                </a:solidFill>
              </a:rPr>
              <a:t> Assigned 1.000 soft probability across both GMM runs — the highest confidence assignment of any cluster in any model. This group is immovable regardless of algorithm, weighting, or distance metric. The structural signal here is unambiguous.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Cluster 3 — Polarizing Problem Children (326 products, 20.0%)</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sharpest cluster: 3.78 avg rating, 1.50 rating std, 17.1% negative sentiment, highest helpfulness scores (purchase-anxiety behavior). Foundation dominates (shade-matching frustration), plus mini sizes and gift sets generating "not worth the price" reviews. Established names — Kosas, Benefit, NARS — where high expectations meet vocal disappointment. Topic 6 at 32.5% is people narrating their bad experience. This is the intervention queue.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GMM overlay — Critical Failures (61 products):</a:t>
            </a:r>
            <a:r>
              <a:rPr lang="en">
                <a:solidFill>
                  <a:schemeClr val="dk1"/>
                </a:solidFill>
              </a:rPr>
              <a:t> The worst tail of this cluster, concentrated by GMM's weighted run into the most extreme group in the entire analysis. 3.77 avg rating, 1.425 std, 16.4% one-star rate, and a helpfulness score of 10.22 — more than double any other cluster in any model, meaning people are aggressively voting on reviews out of anger or anxiety, not just curiosity. ISAMAYA (5 products), BaBylissPRO, DERMAFLASH — high-expectation brands with structural delivery failures. These 61 products are the delist-or-reformulate watchlist, distinct from the broader polarizing cluster which still has a path to recovery.</a:t>
            </a:r>
            <a:endParaRPr b="1">
              <a:solidFill>
                <a:schemeClr val="dk1"/>
              </a:solidFill>
            </a:endParaRPr>
          </a:p>
          <a:p>
            <a:pPr indent="0" lvl="0" marL="0" rtl="0" algn="l">
              <a:spcBef>
                <a:spcPts val="1200"/>
              </a:spcBef>
              <a:spcAft>
                <a:spcPts val="0"/>
              </a:spcAft>
              <a:buNone/>
            </a:pPr>
            <a:r>
              <a:t/>
            </a:r>
            <a:endParaRPr/>
          </a:p>
        </p:txBody>
      </p:sp>
      <p:sp>
        <p:nvSpPr>
          <p:cNvPr id="194" name="Google Shape;194;g3cc7e42c083_0_2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cc7e42c083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Cluster 0 — Quiet Loyalists (42.8%)</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Best quality signal in the catalog: 4.56 rating, 0.706 std, 93.3% positive sentiment. Organically reviewed with no seeding footprint — these are real buyers who consistently agree the products are good. The authentic backbone of Ulta's assortment, currently underexposed and underleveraged.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Cluster 1 — Seeded High-Traffic (25.6%)</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38.6 reviews/month, but the verification signature is what defines this cluster: 57.3% verified reviewer, only 9.0% verified buyer, 47.4% disclosure rate. High visibility built substantially on incentivized reviews. This isn't necessarily a quality indictment — it's a provenance question. The intervention isn't "fix the product," it's "audit whether the rating survives when you filter to organic-only," and renegotiate sampling partnerships for brands where it doesn't.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No Sephora parallel:</a:t>
            </a:r>
            <a:r>
              <a:rPr lang="en">
                <a:solidFill>
                  <a:schemeClr val="dk1"/>
                </a:solidFill>
              </a:rPr>
              <a:t> Sephora doesn't expose verification metadata, so this cluster only exists because of Ulta's data structure. At 25.6% of the assortment, it's large enough to be structurally significant — not a statistical edge case. This is the methodological contribution the Ulta dataset makes that Sephora can't: it lets us quantify incentivized review scale at the catalog level.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Cluster 2 — Polarizing Underperformers (31.6%)</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3.83 avg rating, 1.51 std, and only 1.6 reviews/month. These aren't generating debate — they're just quietly failing. Low traffic and low satisfaction is the worst combination: not enough engagement to course-correct through review feedback, not enough loyalty to justify shelf space. The delist and formulation review queue.</a:t>
            </a:r>
            <a:endParaRPr>
              <a:solidFill>
                <a:schemeClr val="dk1"/>
              </a:solidFill>
            </a:endParaRPr>
          </a:p>
          <a:p>
            <a:pPr indent="0" lvl="0" marL="0" rtl="0" algn="l">
              <a:spcBef>
                <a:spcPts val="1200"/>
              </a:spcBef>
              <a:spcAft>
                <a:spcPts val="0"/>
              </a:spcAft>
              <a:buNone/>
            </a:pPr>
            <a:r>
              <a:t/>
            </a:r>
            <a:endParaRPr/>
          </a:p>
        </p:txBody>
      </p:sp>
      <p:sp>
        <p:nvSpPr>
          <p:cNvPr id="238" name="Google Shape;238;g3cc7e42c083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c7e42c083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Slide setup — what to tell the audience before they read it: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Three variables at once: sentiment on X, star rating on Y, review volume as size, mismatch rate as color. Tell them to look for where those four signals disagree — that's where the interesting brands live.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Opening line: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sentiment and star ratings were perfectly aligned, every bubble would fall on a clean diagonal and be green. Most do. The ones that don't are the ones we care about."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Walk the chart left to right: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Bottom-left (orange/red, below 4.0 stars, below 0.65 sentiment): brands in active trouble. Low ratings, negative written sentiment, high mismatch — reviewers can't agree on how bad it is, which is often worse than consistent low ratings. The large orange bubble near (0.40, 3.5) is your anchor example: high volume, low satisfaction, high mismatch. A brand with a real audience that it's losing.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Middle transition zone (yellow, 0.55–0.70 sentiment): the "at risk" tier. Ratings are recovering but mismatch is still elevated — these are brands where the written experience and the star aren't telling the same story yet. Could go either way with the right intervention.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Upper-right (green, 0.75+ sentiment, 4.3+ rating): the healthy core. Most of Sephora's large-volume brands live here. Green and stable, but crowded — this chart doesn't help you differentiate within the healthy tier, it helps you identify what's falling out of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mismatch rate point — worth emphasizing: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Mismatch rate is doing something star rating alone can't. A brand at 3.8 stars with low mismatch means everyone agrees it's mediocre — manageable, predictable. A brand at 3.8 stars with high mismatch means the audience is polarized — some people love it, some hate it, and neither group is being served well. The color dimension separates those two very different problems.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Connecting back to clustering: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chart is a visual rendering of what K-Means Cluster 3 quantified. The bottom-left orange cluster is approximately your Polarizing Problem Children — high mismatch, low sentiment, low rating. The upper-right green mass is approximately Clusters 0 and 1. The chart gives you spatial intuition for why those segments separated the way they did.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this chart can't show — say this explicitly: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Review volume (bubble size) can be misleading without context. A small green bubble in the upper-right could be a Low-Visibility Darling — beloved by few — or just a new product. Size alone doesn't distinguish low-discovery from low-demand. That's what the clustering adds on top of this visualization.</a:t>
            </a:r>
            <a:endParaRPr/>
          </a:p>
        </p:txBody>
      </p:sp>
      <p:sp>
        <p:nvSpPr>
          <p:cNvPr id="273" name="Google Shape;273;g3cc7e42c083_0_2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cc7e42c083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Slide setup — what to tell the audience before they read it: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Same four-variable structure as Sephora: sentiment on X, star rating on Y, review volume as size, mismatch rate as color. One key difference: the X-axis here is a combined sentiment score (0.7× body + 0.3× headline), not raw VADER — headline sentiment is being weighted in because Ulta review titles carry meaningful signal.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Opening line: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"Compared to Sephora, this chart is overwhelmingly green. That's not because Ulta's products are better — it's because a significant portion of the review corpus is incentivized, and incentivized reviews skew positive and low-mismatch by design."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Walk the chart left to right: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Bottom-left (red/orange, below 3.8 stars, below 0.35 sentiment): tiny cluster of genuinely failing brands. Very low volume — small dots — meaning these are niche products with bad reception, not high-traffic disasters. The two red dots near (0.32, 3.0) and (0.32, 2.9) are the most extreme failures in the catalog, but their small size means limited exposure.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Middle zone (yellow, 0.35–0.55 sentiment): the at-risk tier, mostly small bubbles. Mismatch is moderate — these brands aren't catastrophically polarizing but sentiment and ratings aren't aligned. Worth monitoring.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Upper-right mass (green, 0.55+ sentiment, 4.3+ rating): where almost everything lives. Dominated by large, dark green bubbles — high volume, high sentiment, very low mismatch. This density is the seeded cluster's fingerprint. Incentivized reviews produce exactly this pattern: high ratings, positive written sentiment, consistent agreement (low mismatch) because the reviewer population is curated.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critical comparison to Sephora: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Sephora's chart had a wide spread — brands distributed across the full sentiment and rating range, with visible orange and red throughout. Ulta's chart is compressed into the upper-right. That compression is partly real product quality, but partly a structural artifact of the verification program. When nearly half of reviews in a cluster carry a disclosure, the brand health overview inherits that bias. The chart looks healthy because the review ecosystem is managed, not necessarily because the products are better.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mismatch rate point: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large dark green bubbles in the 0.6–0.7 sentiment range are doing something interesting — high volume, low mismatch, strong ratings. In isolation that looks like the Quiet Loyalists. But cross-referencing with the clustering: some of these are Seeded High-Traffic brands where the low mismatch comes from a homogeneous incentivized reviewer pool, not genuine organic consensus. Low mismatch on Ulta means something different than low mismatch on Sephora.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Connecting back to clustering: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upper-right green mass contains both Quiet Loyalists and Seeded High-Traffic brands visually indistinguishable from each other here. That's exactly why the verification metadata was essential to the clustering — this chart alone can't separate them. K-Means weighted did what the visualization couldn't: split that green mass by provenance, not just by quality signal.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this chart can't show — say this explicitly: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Without the verification layer, Ulta looks like a healthier catalog than Sephora. That reading is probably wrong. The chart is showing you review ecosystem output, not ground-truth product quality. The clustering is what lets you ask whether the green is earned or manufactured.</a:t>
            </a:r>
            <a:endParaRPr/>
          </a:p>
        </p:txBody>
      </p:sp>
      <p:sp>
        <p:nvSpPr>
          <p:cNvPr id="284" name="Google Shape;284;g3cc7e42c083_0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c7e42c083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cc7e42c083_0_3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cc7e42c083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3cc7e42c083_0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cc40e46a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Low alignment across platforms:</a:t>
            </a:r>
            <a:r>
              <a:rPr lang="en">
                <a:solidFill>
                  <a:schemeClr val="dk1"/>
                </a:solidFill>
              </a:rPr>
              <a:t> Only </a:t>
            </a:r>
            <a:r>
              <a:rPr b="1" lang="en">
                <a:solidFill>
                  <a:schemeClr val="dk1"/>
                </a:solidFill>
              </a:rPr>
              <a:t>33.5%</a:t>
            </a:r>
            <a:r>
              <a:rPr lang="en">
                <a:solidFill>
                  <a:schemeClr val="dk1"/>
                </a:solidFill>
              </a:rPr>
              <a:t> of matched products land in the same quality tier on Sephora and Ulta; </a:t>
            </a:r>
            <a:r>
              <a:rPr b="1" lang="en">
                <a:solidFill>
                  <a:schemeClr val="dk1"/>
                </a:solidFill>
              </a:rPr>
              <a:t>66.5% shift tiers</a:t>
            </a:r>
            <a:r>
              <a:rPr lang="en">
                <a:solidFill>
                  <a:schemeClr val="dk1"/>
                </a:solidFill>
              </a:rPr>
              <a:t>, confirming quality perception is </a:t>
            </a:r>
            <a:r>
              <a:rPr b="1" lang="en">
                <a:solidFill>
                  <a:schemeClr val="dk1"/>
                </a:solidFill>
              </a:rPr>
              <a:t>platform-relative</a:t>
            </a:r>
            <a:r>
              <a:rPr lang="en">
                <a:solidFill>
                  <a:schemeClr val="dk1"/>
                </a:solidFill>
              </a:rPr>
              <a:t>, not intrinsic.</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Sephora signals don’t reliably transfer:</a:t>
            </a:r>
            <a:r>
              <a:rPr lang="en">
                <a:solidFill>
                  <a:schemeClr val="dk1"/>
                </a:solidFill>
              </a:rPr>
              <a:t> High-volume or positively received products on Sephora show </a:t>
            </a:r>
            <a:r>
              <a:rPr b="1" lang="en">
                <a:solidFill>
                  <a:schemeClr val="dk1"/>
                </a:solidFill>
              </a:rPr>
              <a:t>little predictive power</a:t>
            </a:r>
            <a:r>
              <a:rPr lang="en">
                <a:solidFill>
                  <a:schemeClr val="dk1"/>
                </a:solidFill>
              </a:rPr>
              <a:t> for Ulta tier placement; Sephora’s volume-based distinctions largely </a:t>
            </a:r>
            <a:r>
              <a:rPr b="1" lang="en">
                <a:solidFill>
                  <a:schemeClr val="dk1"/>
                </a:solidFill>
              </a:rPr>
              <a:t>collapse in Ulta’s context</a:t>
            </a:r>
            <a:r>
              <a:rPr lang="en">
                <a:solidFill>
                  <a:schemeClr val="dk1"/>
                </a:solidFill>
              </a:rPr>
              <a: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Most stable segment:</a:t>
            </a:r>
            <a:r>
              <a:rPr lang="en">
                <a:solidFill>
                  <a:schemeClr val="dk1"/>
                </a:solidFill>
              </a:rPr>
              <a:t> </a:t>
            </a:r>
            <a:r>
              <a:rPr b="1" lang="en">
                <a:solidFill>
                  <a:schemeClr val="dk1"/>
                </a:solidFill>
              </a:rPr>
              <a:t>Low Visibility Darlings</a:t>
            </a:r>
            <a:r>
              <a:rPr lang="en">
                <a:solidFill>
                  <a:schemeClr val="dk1"/>
                </a:solidFill>
              </a:rPr>
              <a:t> products exhibit the strongest cross-platform consistency, with </a:t>
            </a:r>
            <a:r>
              <a:rPr b="1" lang="en">
                <a:solidFill>
                  <a:schemeClr val="dk1"/>
                </a:solidFill>
              </a:rPr>
              <a:t>88% landing in Ulta’s positive tiers</a:t>
            </a:r>
            <a:r>
              <a:rPr lang="en">
                <a:solidFill>
                  <a:schemeClr val="dk1"/>
                </a:solidFill>
              </a:rPr>
              <a:t> and near-identical ratings across platforms.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Most revealing asymmetry:</a:t>
            </a:r>
            <a:r>
              <a:rPr lang="en">
                <a:solidFill>
                  <a:schemeClr val="dk1"/>
                </a:solidFill>
              </a:rPr>
              <a:t> Nearly </a:t>
            </a:r>
            <a:r>
              <a:rPr b="1" lang="en">
                <a:solidFill>
                  <a:schemeClr val="dk1"/>
                </a:solidFill>
              </a:rPr>
              <a:t>60% of Sephora’s “Polarizing Problem Children” products</a:t>
            </a:r>
            <a:r>
              <a:rPr lang="en">
                <a:solidFill>
                  <a:schemeClr val="dk1"/>
                </a:solidFill>
              </a:rPr>
              <a:t> appear as </a:t>
            </a:r>
            <a:r>
              <a:rPr b="1" lang="en">
                <a:solidFill>
                  <a:schemeClr val="dk1"/>
                </a:solidFill>
              </a:rPr>
              <a:t>neutral or positive performers on Ulta</a:t>
            </a:r>
            <a:r>
              <a:rPr lang="en">
                <a:solidFill>
                  <a:schemeClr val="dk1"/>
                </a:solidFill>
              </a:rPr>
              <a:t>, indicating Sephora amplifies dissatisfaction due to higher expectations and a more vocal review culture.</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Price parity holds:</a:t>
            </a:r>
            <a:r>
              <a:rPr lang="en">
                <a:solidFill>
                  <a:schemeClr val="dk1"/>
                </a:solidFill>
              </a:rPr>
              <a:t> Cross-listed products are priced similarly on both platforms; </a:t>
            </a:r>
            <a:r>
              <a:rPr b="1" lang="en">
                <a:solidFill>
                  <a:schemeClr val="dk1"/>
                </a:solidFill>
              </a:rPr>
              <a:t>tier shifts are driven by perception, not pricing</a:t>
            </a:r>
            <a:r>
              <a:rPr lang="en">
                <a:solidFill>
                  <a:schemeClr val="dk1"/>
                </a:solidFill>
              </a:rPr>
              <a: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Brand consistency varies widely:</a:t>
            </a:r>
            <a:r>
              <a:rPr lang="en">
                <a:solidFill>
                  <a:schemeClr val="dk1"/>
                </a:solidFill>
              </a:rPr>
              <a:t> Some brands show near-perfect alignment, while many prestige and category-specific brands experience </a:t>
            </a:r>
            <a:r>
              <a:rPr b="1" lang="en">
                <a:solidFill>
                  <a:schemeClr val="dk1"/>
                </a:solidFill>
              </a:rPr>
              <a:t>substantial tier migration</a:t>
            </a:r>
            <a:r>
              <a:rPr lang="en">
                <a:solidFill>
                  <a:schemeClr val="dk1"/>
                </a:solidFill>
              </a:rPr>
              <a:t>, driven by </a:t>
            </a:r>
            <a:r>
              <a:rPr b="1" lang="en">
                <a:solidFill>
                  <a:schemeClr val="dk1"/>
                </a:solidFill>
              </a:rPr>
              <a:t>category framing and consumer expectations</a:t>
            </a:r>
            <a:r>
              <a:rPr lang="en">
                <a:solidFill>
                  <a:schemeClr val="dk1"/>
                </a:solidFill>
              </a:rPr>
              <a:t> rather than product quality.</a:t>
            </a:r>
            <a:endParaRPr>
              <a:solidFill>
                <a:schemeClr val="dk1"/>
              </a:solidFill>
            </a:endParaRPr>
          </a:p>
          <a:p>
            <a:pPr indent="0" lvl="0" marL="0" rtl="0" algn="l">
              <a:spcBef>
                <a:spcPts val="0"/>
              </a:spcBef>
              <a:spcAft>
                <a:spcPts val="0"/>
              </a:spcAft>
              <a:buNone/>
            </a:pPr>
            <a:r>
              <a:t/>
            </a:r>
            <a:endParaRPr/>
          </a:p>
        </p:txBody>
      </p:sp>
      <p:sp>
        <p:nvSpPr>
          <p:cNvPr id="342" name="Google Shape;342;g3cc40e46a0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c40e46a0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Bottom line:</a:t>
            </a:r>
            <a:r>
              <a:rPr lang="en">
                <a:solidFill>
                  <a:schemeClr val="dk1"/>
                </a:solidFill>
              </a:rPr>
              <a:t> Sentiment and ratings are </a:t>
            </a:r>
            <a:r>
              <a:rPr b="1" lang="en">
                <a:solidFill>
                  <a:schemeClr val="dk1"/>
                </a:solidFill>
              </a:rPr>
              <a:t>platform-calibrated signals</a:t>
            </a:r>
            <a:r>
              <a:rPr lang="en">
                <a:solidFill>
                  <a:schemeClr val="dk1"/>
                </a:solidFill>
              </a:rPr>
              <a:t>, not universal quality measures. Cross-channel performance differences reflect </a:t>
            </a:r>
            <a:r>
              <a:rPr b="1" lang="en">
                <a:solidFill>
                  <a:schemeClr val="dk1"/>
                </a:solidFill>
              </a:rPr>
              <a:t>consumer expectations, category framing, and evaluation norms</a:t>
            </a:r>
            <a:r>
              <a:rPr lang="en">
                <a:solidFill>
                  <a:schemeClr val="dk1"/>
                </a:solidFill>
              </a:rPr>
              <a:t>, requiring </a:t>
            </a:r>
            <a:r>
              <a:rPr b="1" lang="en">
                <a:solidFill>
                  <a:schemeClr val="dk1"/>
                </a:solidFill>
              </a:rPr>
              <a:t>platform-specific interpretation and strategy</a:t>
            </a:r>
            <a:r>
              <a:rPr lang="en">
                <a:solidFill>
                  <a:schemeClr val="dk1"/>
                </a:solidFill>
              </a:rPr>
              <a:t>.</a:t>
            </a:r>
            <a:br>
              <a:rPr lang="en">
                <a:solidFill>
                  <a:schemeClr val="dk1"/>
                </a:solidFill>
              </a:rPr>
            </a:br>
            <a:br>
              <a:rPr lang="en">
                <a:solidFill>
                  <a:schemeClr val="dk1"/>
                </a:solidFill>
              </a:rPr>
            </a:br>
            <a:r>
              <a:rPr b="1" lang="en">
                <a:solidFill>
                  <a:schemeClr val="dk1"/>
                </a:solidFill>
              </a:rPr>
              <a:t>Platform calibration differs:</a:t>
            </a:r>
            <a:r>
              <a:rPr lang="en">
                <a:solidFill>
                  <a:schemeClr val="dk1"/>
                </a:solidFill>
              </a:rPr>
              <a:t> Sephora reviews use </a:t>
            </a:r>
            <a:r>
              <a:rPr b="1" lang="en">
                <a:solidFill>
                  <a:schemeClr val="dk1"/>
                </a:solidFill>
              </a:rPr>
              <a:t>more positive language but stricter star ratings</a:t>
            </a:r>
            <a:r>
              <a:rPr lang="en">
                <a:solidFill>
                  <a:schemeClr val="dk1"/>
                </a:solidFill>
              </a:rPr>
              <a:t>, while Ulta reviewers give </a:t>
            </a:r>
            <a:r>
              <a:rPr b="1" lang="en">
                <a:solidFill>
                  <a:schemeClr val="dk1"/>
                </a:solidFill>
              </a:rPr>
              <a:t>higher stars with less effusive text</a:t>
            </a:r>
            <a:r>
              <a:rPr lang="en">
                <a:solidFill>
                  <a:schemeClr val="dk1"/>
                </a:solidFill>
              </a:rPr>
              <a:t> — sentiment and ratings capture different evaluation norms, not contradictions.</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Same products score differently:</a:t>
            </a:r>
            <a:r>
              <a:rPr lang="en">
                <a:solidFill>
                  <a:schemeClr val="dk1"/>
                </a:solidFill>
              </a:rPr>
              <a:t> For matched SKUs, Sephora sentiment is </a:t>
            </a:r>
            <a:r>
              <a:rPr b="1" lang="en">
                <a:solidFill>
                  <a:schemeClr val="dk1"/>
                </a:solidFill>
              </a:rPr>
              <a:t>slightly higher</a:t>
            </a:r>
            <a:r>
              <a:rPr lang="en">
                <a:solidFill>
                  <a:schemeClr val="dk1"/>
                </a:solidFill>
              </a:rPr>
              <a:t>, but </a:t>
            </a:r>
            <a:r>
              <a:rPr b="1" lang="en">
                <a:solidFill>
                  <a:schemeClr val="dk1"/>
                </a:solidFill>
              </a:rPr>
              <a:t>Ulta rates higher on 68% of products</a:t>
            </a:r>
            <a:r>
              <a:rPr lang="en">
                <a:solidFill>
                  <a:schemeClr val="dk1"/>
                </a:solidFill>
              </a:rPr>
              <a:t> (−0.15 star gap on Sephora), indicating a </a:t>
            </a:r>
            <a:r>
              <a:rPr b="1" lang="en">
                <a:solidFill>
                  <a:schemeClr val="dk1"/>
                </a:solidFill>
              </a:rPr>
              <a:t>structural rating calibration effect</a:t>
            </a:r>
            <a:r>
              <a:rPr lang="en">
                <a:solidFill>
                  <a:schemeClr val="dk1"/>
                </a:solidFill>
              </a:rPr>
              <a:t>, not product quality differences.</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Clear brand &amp; category splits:</a:t>
            </a:r>
            <a:r>
              <a:rPr lang="en">
                <a:solidFill>
                  <a:schemeClr val="dk1"/>
                </a:solidFill>
              </a:rPr>
              <a:t> </a:t>
            </a:r>
            <a:r>
              <a:rPr b="1" lang="en">
                <a:solidFill>
                  <a:schemeClr val="dk1"/>
                </a:solidFill>
              </a:rPr>
              <a:t>Sephora-favored</a:t>
            </a:r>
            <a:r>
              <a:rPr lang="en">
                <a:solidFill>
                  <a:schemeClr val="dk1"/>
                </a:solidFill>
              </a:rPr>
              <a:t> performance haircare, clean beauty, color cosmetics, and fragrance; </a:t>
            </a:r>
            <a:r>
              <a:rPr b="1" lang="en">
                <a:solidFill>
                  <a:schemeClr val="dk1"/>
                </a:solidFill>
              </a:rPr>
              <a:t>Ulta-favored</a:t>
            </a:r>
            <a:r>
              <a:rPr lang="en">
                <a:solidFill>
                  <a:schemeClr val="dk1"/>
                </a:solidFill>
              </a:rPr>
              <a:t> functional skincare and treatment categories, driven by </a:t>
            </a:r>
            <a:r>
              <a:rPr b="1" lang="en">
                <a:solidFill>
                  <a:schemeClr val="dk1"/>
                </a:solidFill>
              </a:rPr>
              <a:t>different expectation benchmarks</a:t>
            </a:r>
            <a:r>
              <a:rPr lang="en">
                <a:solidFill>
                  <a:schemeClr val="dk1"/>
                </a:solidFill>
              </a:rPr>
              <a:t>.</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Context drives delighters:</a:t>
            </a:r>
            <a:r>
              <a:rPr lang="en">
                <a:solidFill>
                  <a:schemeClr val="dk1"/>
                </a:solidFill>
              </a:rPr>
              <a:t> The largest sentiment gaps align with each platform’s strengths — Sephora amplifies specialist appreciation, while Ulta elevates professional tools and functional efficacy products — reinforcing that </a:t>
            </a:r>
            <a:r>
              <a:rPr b="1" lang="en">
                <a:solidFill>
                  <a:schemeClr val="dk1"/>
                </a:solidFill>
              </a:rPr>
              <a:t>reputation is platform-dependent</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358" name="Google Shape;358;g3cc40e46a06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cc40e46a0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Price parity dominates:</a:t>
            </a:r>
            <a:r>
              <a:rPr lang="en">
                <a:solidFill>
                  <a:schemeClr val="dk1"/>
                </a:solidFill>
              </a:rPr>
              <a:t> Nearly </a:t>
            </a:r>
            <a:r>
              <a:rPr b="1" lang="en">
                <a:solidFill>
                  <a:schemeClr val="dk1"/>
                </a:solidFill>
              </a:rPr>
              <a:t>68% of matched products are priced within $1</a:t>
            </a:r>
            <a:r>
              <a:rPr lang="en">
                <a:solidFill>
                  <a:schemeClr val="dk1"/>
                </a:solidFill>
              </a:rPr>
              <a:t> across platforms, with a </a:t>
            </a:r>
            <a:r>
              <a:rPr b="1" lang="en">
                <a:solidFill>
                  <a:schemeClr val="dk1"/>
                </a:solidFill>
              </a:rPr>
              <a:t>median price gap of $0</a:t>
            </a:r>
            <a:r>
              <a:rPr lang="en">
                <a:solidFill>
                  <a:schemeClr val="dk1"/>
                </a:solidFill>
              </a:rPr>
              <a:t> and no systematic Sephora or Ulta premium — price is largely </a:t>
            </a:r>
            <a:r>
              <a:rPr b="1" lang="en">
                <a:solidFill>
                  <a:schemeClr val="dk1"/>
                </a:solidFill>
              </a:rPr>
              <a:t>constant across channels</a:t>
            </a:r>
            <a:r>
              <a:rPr lang="en">
                <a:solidFill>
                  <a:schemeClr val="dk1"/>
                </a:solidFill>
              </a:rPr>
              <a: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Structured deviations by tier &amp; category:</a:t>
            </a:r>
            <a:r>
              <a:rPr lang="en">
                <a:solidFill>
                  <a:schemeClr val="dk1"/>
                </a:solidFill>
              </a:rPr>
              <a:t> Small </a:t>
            </a:r>
            <a:r>
              <a:rPr b="1" lang="en">
                <a:solidFill>
                  <a:schemeClr val="dk1"/>
                </a:solidFill>
              </a:rPr>
              <a:t>Sephora premiums</a:t>
            </a:r>
            <a:r>
              <a:rPr lang="en">
                <a:solidFill>
                  <a:schemeClr val="dk1"/>
                </a:solidFill>
              </a:rPr>
              <a:t> appear at budget/mid tiers, while </a:t>
            </a:r>
            <a:r>
              <a:rPr b="1" lang="en">
                <a:solidFill>
                  <a:schemeClr val="dk1"/>
                </a:solidFill>
              </a:rPr>
              <a:t>Ulta prices higher in luxury ($75–150)</a:t>
            </a:r>
            <a:r>
              <a:rPr lang="en">
                <a:solidFill>
                  <a:schemeClr val="dk1"/>
                </a:solidFill>
              </a:rPr>
              <a:t>, especially for </a:t>
            </a:r>
            <a:r>
              <a:rPr b="1" lang="en">
                <a:solidFill>
                  <a:schemeClr val="dk1"/>
                </a:solidFill>
              </a:rPr>
              <a:t>designer fragrance and gifting formats</a:t>
            </a:r>
            <a:r>
              <a:rPr lang="en">
                <a:solidFill>
                  <a:schemeClr val="dk1"/>
                </a:solidFill>
              </a:rPr>
              <a:t>; devices and prestige tools drive most large Sephora premiums.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Brand outliers are category-driven:</a:t>
            </a:r>
            <a:r>
              <a:rPr lang="en">
                <a:solidFill>
                  <a:schemeClr val="dk1"/>
                </a:solidFill>
              </a:rPr>
              <a:t> Extreme gaps (e.g., NuFACE devices higher at Sephora; luxury fragrance houses higher at Ulta) reflect </a:t>
            </a:r>
            <a:r>
              <a:rPr b="1" lang="en">
                <a:solidFill>
                  <a:schemeClr val="dk1"/>
                </a:solidFill>
              </a:rPr>
              <a:t>category-specific pricing norms</a:t>
            </a:r>
            <a:r>
              <a:rPr lang="en">
                <a:solidFill>
                  <a:schemeClr val="dk1"/>
                </a:solidFill>
              </a:rPr>
              <a:t>, not broad brand mispricing.</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Higher price ≠ better experience:</a:t>
            </a:r>
            <a:r>
              <a:rPr lang="en">
                <a:solidFill>
                  <a:schemeClr val="dk1"/>
                </a:solidFill>
              </a:rPr>
              <a:t> </a:t>
            </a:r>
            <a:r>
              <a:rPr b="1" lang="en">
                <a:solidFill>
                  <a:schemeClr val="dk1"/>
                </a:solidFill>
              </a:rPr>
              <a:t>No relationship</a:t>
            </a:r>
            <a:r>
              <a:rPr lang="en">
                <a:solidFill>
                  <a:schemeClr val="dk1"/>
                </a:solidFill>
              </a:rPr>
              <a:t> between paying more and receiving better ratings or sentiment; </a:t>
            </a:r>
            <a:r>
              <a:rPr b="1" lang="en">
                <a:solidFill>
                  <a:schemeClr val="dk1"/>
                </a:solidFill>
              </a:rPr>
              <a:t>Ulta shows slightly higher rating-per-dollar</a:t>
            </a:r>
            <a:r>
              <a:rPr lang="en">
                <a:solidFill>
                  <a:schemeClr val="dk1"/>
                </a:solidFill>
              </a:rPr>
              <a:t>, while sentiment-per-dollar is equivalent — value differences stem from </a:t>
            </a:r>
            <a:r>
              <a:rPr b="1" lang="en">
                <a:solidFill>
                  <a:schemeClr val="dk1"/>
                </a:solidFill>
              </a:rPr>
              <a:t>platform rating culture, not pricing</a:t>
            </a:r>
            <a:r>
              <a:rPr lang="en">
                <a:solidFill>
                  <a:schemeClr val="dk1"/>
                </a:solidFill>
              </a:rPr>
              <a:t>.</a:t>
            </a:r>
            <a:endParaRPr>
              <a:solidFill>
                <a:schemeClr val="dk1"/>
              </a:solidFill>
            </a:endParaRPr>
          </a:p>
          <a:p>
            <a:pPr indent="0" lvl="0" marL="0" rtl="0" algn="l">
              <a:spcBef>
                <a:spcPts val="0"/>
              </a:spcBef>
              <a:spcAft>
                <a:spcPts val="0"/>
              </a:spcAft>
              <a:buNone/>
            </a:pPr>
            <a:r>
              <a:t/>
            </a:r>
            <a:endParaRPr/>
          </a:p>
        </p:txBody>
      </p:sp>
      <p:sp>
        <p:nvSpPr>
          <p:cNvPr id="389" name="Google Shape;389;g3cc40e46a06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cbcd8dc2cf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cbcd8dc2cf_2_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cc7e42c0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Two axes define competitive position:</a:t>
            </a:r>
            <a:r>
              <a:rPr lang="en">
                <a:solidFill>
                  <a:schemeClr val="dk1"/>
                </a:solidFill>
              </a:rPr>
              <a:t> PCA explains </a:t>
            </a:r>
            <a:r>
              <a:rPr b="1" lang="en">
                <a:solidFill>
                  <a:schemeClr val="dk1"/>
                </a:solidFill>
              </a:rPr>
              <a:t>74% of variance</a:t>
            </a:r>
            <a:r>
              <a:rPr lang="en">
                <a:solidFill>
                  <a:schemeClr val="dk1"/>
                </a:solidFill>
              </a:rPr>
              <a:t> with </a:t>
            </a:r>
            <a:r>
              <a:rPr b="1" lang="en">
                <a:solidFill>
                  <a:schemeClr val="dk1"/>
                </a:solidFill>
              </a:rPr>
              <a:t>PC1 = Quality vs. Divisiveness</a:t>
            </a:r>
            <a:r>
              <a:rPr lang="en">
                <a:solidFill>
                  <a:schemeClr val="dk1"/>
                </a:solidFill>
              </a:rPr>
              <a:t> and </a:t>
            </a:r>
            <a:r>
              <a:rPr b="1" lang="en">
                <a:solidFill>
                  <a:schemeClr val="dk1"/>
                </a:solidFill>
              </a:rPr>
              <a:t>PC2 = Visibility vs. Value Efficiency</a:t>
            </a:r>
            <a:r>
              <a:rPr lang="en">
                <a:solidFill>
                  <a:schemeClr val="dk1"/>
                </a:solidFill>
              </a:rPr>
              <a:t>, cleanly summarizing how brands compete.</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Platform landscapes differ structurally:</a:t>
            </a:r>
            <a:r>
              <a:rPr lang="en">
                <a:solidFill>
                  <a:schemeClr val="dk1"/>
                </a:solidFill>
              </a:rPr>
              <a:t> Sephora brands cluster around </a:t>
            </a:r>
            <a:r>
              <a:rPr b="1" lang="en">
                <a:solidFill>
                  <a:schemeClr val="dk1"/>
                </a:solidFill>
              </a:rPr>
              <a:t>high efficacy and experience quality</a:t>
            </a:r>
            <a:r>
              <a:rPr lang="en">
                <a:solidFill>
                  <a:schemeClr val="dk1"/>
                </a:solidFill>
              </a:rPr>
              <a:t>, while Ulta spans a </a:t>
            </a:r>
            <a:r>
              <a:rPr b="1" lang="en">
                <a:solidFill>
                  <a:schemeClr val="dk1"/>
                </a:solidFill>
              </a:rPr>
              <a:t>much wider quality and polarization range</a:t>
            </a:r>
            <a:r>
              <a:rPr lang="en">
                <a:solidFill>
                  <a:schemeClr val="dk1"/>
                </a:solidFill>
              </a:rPr>
              <a:t>, driven by mass-market brands.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Channel shifts brand perception:</a:t>
            </a:r>
            <a:r>
              <a:rPr lang="en">
                <a:solidFill>
                  <a:schemeClr val="dk1"/>
                </a:solidFill>
              </a:rPr>
              <a:t> The </a:t>
            </a:r>
            <a:r>
              <a:rPr b="1" lang="en">
                <a:solidFill>
                  <a:schemeClr val="dk1"/>
                </a:solidFill>
              </a:rPr>
              <a:t>same brands are consistently more polarizing on Ulta</a:t>
            </a:r>
            <a:r>
              <a:rPr lang="en">
                <a:solidFill>
                  <a:schemeClr val="dk1"/>
                </a:solidFill>
              </a:rPr>
              <a:t> than on Sephora, indicating a </a:t>
            </a:r>
            <a:r>
              <a:rPr b="1" lang="en">
                <a:solidFill>
                  <a:schemeClr val="dk1"/>
                </a:solidFill>
              </a:rPr>
              <a:t>platform-driven perception effect</a:t>
            </a:r>
            <a:r>
              <a:rPr lang="en">
                <a:solidFill>
                  <a:schemeClr val="dk1"/>
                </a:solidFill>
              </a:rPr>
              <a:t> beyond product mix differences.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Tier structures are not interchangeable:</a:t>
            </a:r>
            <a:r>
              <a:rPr lang="en">
                <a:solidFill>
                  <a:schemeClr val="dk1"/>
                </a:solidFill>
              </a:rPr>
              <a:t> Sephora’s </a:t>
            </a:r>
            <a:r>
              <a:rPr b="1" lang="en">
                <a:solidFill>
                  <a:schemeClr val="dk1"/>
                </a:solidFill>
              </a:rPr>
              <a:t>Premium Leaders</a:t>
            </a:r>
            <a:r>
              <a:rPr lang="en">
                <a:solidFill>
                  <a:schemeClr val="dk1"/>
                </a:solidFill>
              </a:rPr>
              <a:t> are aspirational and identity-led; Ulta’s </a:t>
            </a:r>
            <a:r>
              <a:rPr b="1" lang="en">
                <a:solidFill>
                  <a:schemeClr val="dk1"/>
                </a:solidFill>
              </a:rPr>
              <a:t>Premium Leaders</a:t>
            </a:r>
            <a:r>
              <a:rPr lang="en">
                <a:solidFill>
                  <a:schemeClr val="dk1"/>
                </a:solidFill>
              </a:rPr>
              <a:t> show </a:t>
            </a:r>
            <a:r>
              <a:rPr b="1" lang="en">
                <a:solidFill>
                  <a:schemeClr val="dk1"/>
                </a:solidFill>
              </a:rPr>
              <a:t>high polarization but low traction and value efficiency</a:t>
            </a:r>
            <a:r>
              <a:rPr lang="en">
                <a:solidFill>
                  <a:schemeClr val="dk1"/>
                </a:solidFill>
              </a:rPr>
              <a:t>, a segment with </a:t>
            </a:r>
            <a:r>
              <a:rPr b="1" lang="en">
                <a:solidFill>
                  <a:schemeClr val="dk1"/>
                </a:solidFill>
              </a:rPr>
              <a:t>no Sephora equivalent</a:t>
            </a:r>
            <a:r>
              <a:rPr lang="en">
                <a:solidFill>
                  <a:schemeClr val="dk1"/>
                </a:solidFill>
              </a:rPr>
              <a: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Value efficiency diverges by platform:</a:t>
            </a:r>
            <a:r>
              <a:rPr lang="en">
                <a:solidFill>
                  <a:schemeClr val="dk1"/>
                </a:solidFill>
              </a:rPr>
              <a:t> Premium pricing suppresses value efficiency at Sephora, while it becomes a </a:t>
            </a:r>
            <a:r>
              <a:rPr b="1" lang="en">
                <a:solidFill>
                  <a:schemeClr val="dk1"/>
                </a:solidFill>
              </a:rPr>
              <a:t>key differentiator at Ulta</a:t>
            </a:r>
            <a:r>
              <a:rPr lang="en">
                <a:solidFill>
                  <a:schemeClr val="dk1"/>
                </a:solidFill>
              </a:rPr>
              <a:t> for mass-accessible brands — reflecting </a:t>
            </a:r>
            <a:r>
              <a:rPr b="1" lang="en">
                <a:solidFill>
                  <a:schemeClr val="dk1"/>
                </a:solidFill>
              </a:rPr>
              <a:t>different consumer value contracts</a:t>
            </a:r>
            <a:r>
              <a:rPr lang="en">
                <a:solidFill>
                  <a:schemeClr val="dk1"/>
                </a:solidFill>
              </a:rPr>
              <a:t> across platforms.</a:t>
            </a:r>
            <a:endParaRPr>
              <a:solidFill>
                <a:schemeClr val="dk1"/>
              </a:solidFill>
            </a:endParaRPr>
          </a:p>
          <a:p>
            <a:pPr indent="0" lvl="0" marL="0" rtl="0" algn="l">
              <a:spcBef>
                <a:spcPts val="0"/>
              </a:spcBef>
              <a:spcAft>
                <a:spcPts val="0"/>
              </a:spcAft>
              <a:buNone/>
            </a:pPr>
            <a:r>
              <a:t/>
            </a:r>
            <a:endParaRPr/>
          </a:p>
        </p:txBody>
      </p:sp>
      <p:sp>
        <p:nvSpPr>
          <p:cNvPr id="437" name="Google Shape;437;g3cc7e42c08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cc7e42c08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Distinct platform topologies:</a:t>
            </a:r>
            <a:r>
              <a:rPr lang="en">
                <a:solidFill>
                  <a:schemeClr val="dk1"/>
                </a:solidFill>
              </a:rPr>
              <a:t> Sephora concentrates in the </a:t>
            </a:r>
            <a:r>
              <a:rPr b="1" lang="en">
                <a:solidFill>
                  <a:schemeClr val="dk1"/>
                </a:solidFill>
              </a:rPr>
              <a:t>beloved, high-quality, high-traction</a:t>
            </a:r>
            <a:r>
              <a:rPr lang="en">
                <a:solidFill>
                  <a:schemeClr val="dk1"/>
                </a:solidFill>
              </a:rPr>
              <a:t> quadrant, while Ulta spans a </a:t>
            </a:r>
            <a:r>
              <a:rPr b="1" lang="en">
                <a:solidFill>
                  <a:schemeClr val="dk1"/>
                </a:solidFill>
              </a:rPr>
              <a:t>much broader quality range</a:t>
            </a:r>
            <a:r>
              <a:rPr lang="en">
                <a:solidFill>
                  <a:schemeClr val="dk1"/>
                </a:solidFill>
              </a:rPr>
              <a:t>, extending far into </a:t>
            </a:r>
            <a:r>
              <a:rPr b="1" lang="en">
                <a:solidFill>
                  <a:schemeClr val="dk1"/>
                </a:solidFill>
              </a:rPr>
              <a:t>polarizing, mass-accessible territory</a:t>
            </a:r>
            <a:r>
              <a:rPr lang="en">
                <a:solidFill>
                  <a:schemeClr val="dk1"/>
                </a:solidFill>
              </a:rPr>
              <a:t> that Sephora largely avoids.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Asymmetric white space:</a:t>
            </a:r>
            <a:r>
              <a:rPr lang="en">
                <a:solidFill>
                  <a:schemeClr val="dk1"/>
                </a:solidFill>
              </a:rPr>
              <a:t> Sephora dominates the </a:t>
            </a:r>
            <a:r>
              <a:rPr b="1" lang="en">
                <a:solidFill>
                  <a:schemeClr val="dk1"/>
                </a:solidFill>
              </a:rPr>
              <a:t>upper-left (beloved + visible)</a:t>
            </a:r>
            <a:r>
              <a:rPr lang="en">
                <a:solidFill>
                  <a:schemeClr val="dk1"/>
                </a:solidFill>
              </a:rPr>
              <a:t> space with almost no Ulta presence; Ulta dominates the </a:t>
            </a:r>
            <a:r>
              <a:rPr b="1" lang="en">
                <a:solidFill>
                  <a:schemeClr val="dk1"/>
                </a:solidFill>
              </a:rPr>
              <a:t>mid-quality, high-volume accessible</a:t>
            </a:r>
            <a:r>
              <a:rPr lang="en">
                <a:solidFill>
                  <a:schemeClr val="dk1"/>
                </a:solidFill>
              </a:rPr>
              <a:t> zone. Ulta’s growth opportunity is upward (prestige), while Sephora’s absence reflects </a:t>
            </a:r>
            <a:r>
              <a:rPr b="1" lang="en">
                <a:solidFill>
                  <a:schemeClr val="dk1"/>
                </a:solidFill>
              </a:rPr>
              <a:t>strategic choice, not weakness</a:t>
            </a:r>
            <a:r>
              <a:rPr lang="en">
                <a:solidFill>
                  <a:schemeClr val="dk1"/>
                </a:solidFill>
              </a:rPr>
              <a: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Different value contracts:</a:t>
            </a:r>
            <a:r>
              <a:rPr lang="en">
                <a:solidFill>
                  <a:schemeClr val="dk1"/>
                </a:solidFill>
              </a:rPr>
              <a:t> Sephora’s “overpriced” zone is concentrated among </a:t>
            </a:r>
            <a:r>
              <a:rPr b="1" lang="en">
                <a:solidFill>
                  <a:schemeClr val="dk1"/>
                </a:solidFill>
              </a:rPr>
              <a:t>beloved prestige tools/devices</a:t>
            </a:r>
            <a:r>
              <a:rPr lang="en">
                <a:solidFill>
                  <a:schemeClr val="dk1"/>
                </a:solidFill>
              </a:rPr>
              <a:t> where consumers tolerate premiums; Ulta’s overpriced zone is dominated by </a:t>
            </a:r>
            <a:r>
              <a:rPr b="1" lang="en">
                <a:solidFill>
                  <a:schemeClr val="dk1"/>
                </a:solidFill>
              </a:rPr>
              <a:t>luxury fashion and fragrance brands</a:t>
            </a:r>
            <a:r>
              <a:rPr lang="en">
                <a:solidFill>
                  <a:schemeClr val="dk1"/>
                </a:solidFill>
              </a:rPr>
              <a:t>, while its underpriced zone highlights </a:t>
            </a:r>
            <a:r>
              <a:rPr b="1" lang="en">
                <a:solidFill>
                  <a:schemeClr val="dk1"/>
                </a:solidFill>
              </a:rPr>
              <a:t>strong value efficiency in mass skincare and haircare</a:t>
            </a:r>
            <a:r>
              <a:rPr lang="en">
                <a:solidFill>
                  <a:schemeClr val="dk1"/>
                </a:solidFill>
              </a:rPr>
              <a: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Price perception shifts are one-sided and independent:</a:t>
            </a:r>
            <a:r>
              <a:rPr lang="en">
                <a:solidFill>
                  <a:schemeClr val="dk1"/>
                </a:solidFill>
              </a:rPr>
              <a:t> Most shared brands appear </a:t>
            </a:r>
            <a:r>
              <a:rPr b="1" lang="en">
                <a:solidFill>
                  <a:schemeClr val="dk1"/>
                </a:solidFill>
              </a:rPr>
              <a:t>more overpriced on Ulta than Sephora</a:t>
            </a:r>
            <a:r>
              <a:rPr lang="en">
                <a:solidFill>
                  <a:schemeClr val="dk1"/>
                </a:solidFill>
              </a:rPr>
              <a:t>, especially luxury and premium hardware, and </a:t>
            </a:r>
            <a:r>
              <a:rPr b="1" lang="en">
                <a:solidFill>
                  <a:schemeClr val="dk1"/>
                </a:solidFill>
              </a:rPr>
              <a:t>price perception shifts are uncorrelated with quality/divisiveness shifts</a:t>
            </a:r>
            <a:r>
              <a:rPr lang="en">
                <a:solidFill>
                  <a:schemeClr val="dk1"/>
                </a:solidFill>
              </a:rPr>
              <a:t>, requiring separate strategic levers.</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Clear repositioning archetypes emerge:</a:t>
            </a:r>
            <a:r>
              <a:rPr lang="en">
                <a:solidFill>
                  <a:schemeClr val="dk1"/>
                </a:solidFill>
              </a:rPr>
              <a:t> Shared brands split evenly into </a:t>
            </a:r>
            <a:r>
              <a:rPr b="1" lang="en">
                <a:solidFill>
                  <a:schemeClr val="dk1"/>
                </a:solidFill>
              </a:rPr>
              <a:t>Cross-Platform Anchors</a:t>
            </a:r>
            <a:r>
              <a:rPr lang="en">
                <a:solidFill>
                  <a:schemeClr val="dk1"/>
                </a:solidFill>
              </a:rPr>
              <a:t>, </a:t>
            </a:r>
            <a:r>
              <a:rPr b="1" lang="en">
                <a:solidFill>
                  <a:schemeClr val="dk1"/>
                </a:solidFill>
              </a:rPr>
              <a:t>Needs Intervention</a:t>
            </a:r>
            <a:r>
              <a:rPr lang="en">
                <a:solidFill>
                  <a:schemeClr val="dk1"/>
                </a:solidFill>
              </a:rPr>
              <a:t>, </a:t>
            </a:r>
            <a:r>
              <a:rPr b="1" lang="en">
                <a:solidFill>
                  <a:schemeClr val="dk1"/>
                </a:solidFill>
              </a:rPr>
              <a:t>Ulta Expansion Candidates</a:t>
            </a:r>
            <a:r>
              <a:rPr lang="en">
                <a:solidFill>
                  <a:schemeClr val="dk1"/>
                </a:solidFill>
              </a:rPr>
              <a:t>, and </a:t>
            </a:r>
            <a:r>
              <a:rPr b="1" lang="en">
                <a:solidFill>
                  <a:schemeClr val="dk1"/>
                </a:solidFill>
              </a:rPr>
              <a:t>Sephora Repositioning Targets</a:t>
            </a:r>
            <a:r>
              <a:rPr lang="en">
                <a:solidFill>
                  <a:schemeClr val="dk1"/>
                </a:solidFill>
              </a:rPr>
              <a:t>, while </a:t>
            </a:r>
            <a:r>
              <a:rPr b="1" lang="en">
                <a:solidFill>
                  <a:schemeClr val="dk1"/>
                </a:solidFill>
              </a:rPr>
              <a:t>Sephora-exclusive brands in the high-traction prestige zone</a:t>
            </a:r>
            <a:r>
              <a:rPr lang="en">
                <a:solidFill>
                  <a:schemeClr val="dk1"/>
                </a:solidFill>
              </a:rPr>
              <a:t> represent the most credible, data-backed </a:t>
            </a:r>
            <a:r>
              <a:rPr b="1" lang="en">
                <a:solidFill>
                  <a:schemeClr val="dk1"/>
                </a:solidFill>
              </a:rPr>
              <a:t>Ulta white-space opportunities</a:t>
            </a:r>
            <a:r>
              <a:rPr lang="en">
                <a:solidFill>
                  <a:schemeClr val="dk1"/>
                </a:solidFill>
              </a:rPr>
              <a:t>.</a:t>
            </a:r>
            <a:endParaRPr>
              <a:solidFill>
                <a:schemeClr val="dk1"/>
              </a:solidFill>
            </a:endParaRPr>
          </a:p>
          <a:p>
            <a:pPr indent="0" lvl="0" marL="0" rtl="0" algn="l">
              <a:spcBef>
                <a:spcPts val="0"/>
              </a:spcBef>
              <a:spcAft>
                <a:spcPts val="0"/>
              </a:spcAft>
              <a:buNone/>
            </a:pPr>
            <a:r>
              <a:t/>
            </a:r>
            <a:endParaRPr b="1">
              <a:solidFill>
                <a:schemeClr val="dk1"/>
              </a:solidFill>
            </a:endParaRPr>
          </a:p>
        </p:txBody>
      </p:sp>
      <p:sp>
        <p:nvSpPr>
          <p:cNvPr id="459" name="Google Shape;459;g3cc7e42c083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cc7e42c08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Demand sensitivity is platform-conditional:</a:t>
            </a:r>
            <a:r>
              <a:rPr lang="en">
                <a:solidFill>
                  <a:schemeClr val="dk1"/>
                </a:solidFill>
              </a:rPr>
              <a:t> Sephora has a meaningful </a:t>
            </a:r>
            <a:r>
              <a:rPr b="1" lang="en">
                <a:solidFill>
                  <a:schemeClr val="dk1"/>
                </a:solidFill>
              </a:rPr>
              <a:t>Value-Fragile minority (≈33%)</a:t>
            </a:r>
            <a:r>
              <a:rPr lang="en">
                <a:solidFill>
                  <a:schemeClr val="dk1"/>
                </a:solidFill>
              </a:rPr>
              <a:t>, while Ulta’s catalog is overwhelmingly </a:t>
            </a:r>
            <a:r>
              <a:rPr b="1" lang="en">
                <a:solidFill>
                  <a:schemeClr val="dk1"/>
                </a:solidFill>
              </a:rPr>
              <a:t>Price-Resilient (≈89%)</a:t>
            </a:r>
            <a:r>
              <a:rPr lang="en">
                <a:solidFill>
                  <a:schemeClr val="dk1"/>
                </a:solidFill>
              </a:rPr>
              <a:t>, reflecting Sephora’s prestige, sentiment-driven demand versus Ulta’s mass, baseline-driven demand.</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Sentiment drives demand on Sephora, not Ulta:</a:t>
            </a:r>
            <a:r>
              <a:rPr lang="en">
                <a:solidFill>
                  <a:schemeClr val="dk1"/>
                </a:solidFill>
              </a:rPr>
              <a:t> On Sephora, review sentiment and demand are </a:t>
            </a:r>
            <a:r>
              <a:rPr b="1" lang="en">
                <a:solidFill>
                  <a:schemeClr val="dk1"/>
                </a:solidFill>
              </a:rPr>
              <a:t>strongly coupled</a:t>
            </a:r>
            <a:r>
              <a:rPr lang="en">
                <a:solidFill>
                  <a:schemeClr val="dk1"/>
                </a:solidFill>
              </a:rPr>
              <a:t> (median coupling ≈0.41), making negative sentiment a leading indicator of velocity loss; on Ulta, sentiment and demand are </a:t>
            </a:r>
            <a:r>
              <a:rPr b="1" lang="en">
                <a:solidFill>
                  <a:schemeClr val="dk1"/>
                </a:solidFill>
              </a:rPr>
              <a:t>almost fully decoupled</a:t>
            </a:r>
            <a:r>
              <a:rPr lang="en">
                <a:solidFill>
                  <a:schemeClr val="dk1"/>
                </a:solidFill>
              </a:rPr>
              <a:t> (median ≈0).</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Price deviation behaves oppositely by channel:</a:t>
            </a:r>
            <a:r>
              <a:rPr lang="en">
                <a:solidFill>
                  <a:schemeClr val="dk1"/>
                </a:solidFill>
              </a:rPr>
              <a:t> On Sephora, pricing </a:t>
            </a:r>
            <a:r>
              <a:rPr b="1" lang="en">
                <a:solidFill>
                  <a:schemeClr val="dk1"/>
                </a:solidFill>
              </a:rPr>
              <a:t>above category norms slightly increases demand</a:t>
            </a:r>
            <a:r>
              <a:rPr lang="en">
                <a:solidFill>
                  <a:schemeClr val="dk1"/>
                </a:solidFill>
              </a:rPr>
              <a:t>, consistent with prestige signaling; on Ulta, </a:t>
            </a:r>
            <a:r>
              <a:rPr b="1" lang="en">
                <a:solidFill>
                  <a:schemeClr val="dk1"/>
                </a:solidFill>
              </a:rPr>
              <a:t>price deviation has no measurable effect</a:t>
            </a:r>
            <a:r>
              <a:rPr lang="en">
                <a:solidFill>
                  <a:schemeClr val="dk1"/>
                </a:solidFill>
              </a:rPr>
              <a:t> on review velocity.</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Shock response differs sharply:</a:t>
            </a:r>
            <a:r>
              <a:rPr lang="en">
                <a:solidFill>
                  <a:schemeClr val="dk1"/>
                </a:solidFill>
              </a:rPr>
              <a:t> Sephora’s </a:t>
            </a:r>
            <a:r>
              <a:rPr b="1" lang="en">
                <a:solidFill>
                  <a:schemeClr val="dk1"/>
                </a:solidFill>
              </a:rPr>
              <a:t>Value-Fragile products collapse after negative-review thresholds</a:t>
            </a:r>
            <a:r>
              <a:rPr lang="en">
                <a:solidFill>
                  <a:schemeClr val="dk1"/>
                </a:solidFill>
              </a:rPr>
              <a:t>, while </a:t>
            </a:r>
            <a:r>
              <a:rPr b="1" lang="en">
                <a:solidFill>
                  <a:schemeClr val="dk1"/>
                </a:solidFill>
              </a:rPr>
              <a:t>Price-Resilient products absorb controversy</a:t>
            </a:r>
            <a:r>
              <a:rPr lang="en">
                <a:solidFill>
                  <a:schemeClr val="dk1"/>
                </a:solidFill>
              </a:rPr>
              <a:t>; on Ulta, both archetypes converge to low, flat velocity, limiting differentiation.</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Fragility is not a product trait:</a:t>
            </a:r>
            <a:r>
              <a:rPr lang="en">
                <a:solidFill>
                  <a:schemeClr val="dk1"/>
                </a:solidFill>
              </a:rPr>
              <a:t> </a:t>
            </a:r>
            <a:r>
              <a:rPr b="1" lang="en">
                <a:solidFill>
                  <a:schemeClr val="dk1"/>
                </a:solidFill>
              </a:rPr>
              <a:t>94% of Sephora Price-Resilient products remain resilient on Ulta</a:t>
            </a:r>
            <a:r>
              <a:rPr lang="en">
                <a:solidFill>
                  <a:schemeClr val="dk1"/>
                </a:solidFill>
              </a:rPr>
              <a:t>, but </a:t>
            </a:r>
            <a:r>
              <a:rPr b="1" lang="en">
                <a:solidFill>
                  <a:schemeClr val="dk1"/>
                </a:solidFill>
              </a:rPr>
              <a:t>&gt;95% of Sephora Value-Fragile products become resilient on Ulta</a:t>
            </a:r>
            <a:r>
              <a:rPr lang="en">
                <a:solidFill>
                  <a:schemeClr val="dk1"/>
                </a:solidFill>
              </a:rPr>
              <a:t>, proving demand fragility is </a:t>
            </a:r>
            <a:r>
              <a:rPr b="1" lang="en">
                <a:solidFill>
                  <a:schemeClr val="dk1"/>
                </a:solidFill>
              </a:rPr>
              <a:t>channel-driven, not intrinsic</a:t>
            </a:r>
            <a:r>
              <a:rPr lang="en">
                <a:solidFill>
                  <a:schemeClr val="dk1"/>
                </a:solidFill>
              </a:rPr>
              <a:t>.</a:t>
            </a:r>
            <a:endParaRPr>
              <a:solidFill>
                <a:schemeClr val="dk1"/>
              </a:solidFill>
            </a:endParaRPr>
          </a:p>
          <a:p>
            <a:pPr indent="0" lvl="0" marL="0" rtl="0" algn="l">
              <a:spcBef>
                <a:spcPts val="0"/>
              </a:spcBef>
              <a:spcAft>
                <a:spcPts val="0"/>
              </a:spcAft>
              <a:buNone/>
            </a:pPr>
            <a:r>
              <a:t/>
            </a:r>
            <a:endParaRPr b="1">
              <a:solidFill>
                <a:schemeClr val="dk1"/>
              </a:solidFill>
            </a:endParaRPr>
          </a:p>
        </p:txBody>
      </p:sp>
      <p:sp>
        <p:nvSpPr>
          <p:cNvPr id="471" name="Google Shape;471;g3cc7e42c083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cc7e42c08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Negative review shocks increase demand, not suppress it:</a:t>
            </a:r>
            <a:r>
              <a:rPr lang="en">
                <a:solidFill>
                  <a:schemeClr val="dk1"/>
                </a:solidFill>
              </a:rPr>
              <a:t> On both platforms, negative sentiment spikes trigger </a:t>
            </a:r>
            <a:r>
              <a:rPr b="1" lang="en">
                <a:solidFill>
                  <a:schemeClr val="dk1"/>
                </a:solidFill>
              </a:rPr>
              <a:t>large, sustained velocity increases</a:t>
            </a:r>
            <a:r>
              <a:rPr lang="en">
                <a:solidFill>
                  <a:schemeClr val="dk1"/>
                </a:solidFill>
              </a:rPr>
              <a:t> (≈2×–2.5×), with </a:t>
            </a:r>
            <a:r>
              <a:rPr b="1" lang="en">
                <a:solidFill>
                  <a:schemeClr val="dk1"/>
                </a:solidFill>
              </a:rPr>
              <a:t>spillovers often stronger cross-platform than on the origin platform</a:t>
            </a:r>
            <a:r>
              <a:rPr lang="en">
                <a:solidFill>
                  <a:schemeClr val="dk1"/>
                </a:solidFill>
              </a:rPr>
              <a:t>, confirming a </a:t>
            </a:r>
            <a:r>
              <a:rPr b="1" lang="en">
                <a:solidFill>
                  <a:schemeClr val="dk1"/>
                </a:solidFill>
              </a:rPr>
              <a:t>controversy-driven engagement effect</a:t>
            </a:r>
            <a:r>
              <a:rPr lang="en">
                <a:solidFill>
                  <a:schemeClr val="dk1"/>
                </a:solidFill>
              </a:rPr>
              <a:t> rather than reputational collapse.</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Platforms are mostly informationally independent:</a:t>
            </a:r>
            <a:r>
              <a:rPr lang="en">
                <a:solidFill>
                  <a:schemeClr val="dk1"/>
                </a:solidFill>
              </a:rPr>
              <a:t> Granger causality shows </a:t>
            </a:r>
            <a:r>
              <a:rPr b="1" lang="en">
                <a:solidFill>
                  <a:schemeClr val="dk1"/>
                </a:solidFill>
              </a:rPr>
              <a:t>90%+ of brands exhibit no lead–lag relationship</a:t>
            </a:r>
            <a:r>
              <a:rPr lang="en">
                <a:solidFill>
                  <a:schemeClr val="dk1"/>
                </a:solidFill>
              </a:rPr>
              <a:t> between Sephora and Ulta; cross-platform sentiment propagation exists but is </a:t>
            </a:r>
            <a:r>
              <a:rPr b="1" lang="en">
                <a:solidFill>
                  <a:schemeClr val="dk1"/>
                </a:solidFill>
              </a:rPr>
              <a:t>limited to a small set of high-visibility brands</a:t>
            </a:r>
            <a:r>
              <a:rPr lang="en">
                <a:solidFill>
                  <a:schemeClr val="dk1"/>
                </a:solidFill>
              </a:rPr>
              <a:t>.</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Price sensitivity is brand- and channel-specific:</a:t>
            </a:r>
            <a:r>
              <a:rPr lang="en">
                <a:solidFill>
                  <a:schemeClr val="dk1"/>
                </a:solidFill>
              </a:rPr>
              <a:t> Most brands show near-zero price sensitivity, but </a:t>
            </a:r>
            <a:r>
              <a:rPr b="1" lang="en">
                <a:solidFill>
                  <a:schemeClr val="dk1"/>
                </a:solidFill>
              </a:rPr>
              <a:t>outliers diverge sharply by platform</a:t>
            </a:r>
            <a:r>
              <a:rPr lang="en">
                <a:solidFill>
                  <a:schemeClr val="dk1"/>
                </a:solidFill>
              </a:rPr>
              <a:t>, with prestige makeup/fragrance more price-sensitive on Sephora and haircare/tools more sensitive on Ulta — requiring </a:t>
            </a:r>
            <a:r>
              <a:rPr b="1" lang="en">
                <a:solidFill>
                  <a:schemeClr val="dk1"/>
                </a:solidFill>
              </a:rPr>
              <a:t>channel-specific pricing strategies</a:t>
            </a:r>
            <a:r>
              <a:rPr lang="en">
                <a:solidFill>
                  <a:schemeClr val="dk1"/>
                </a:solidFill>
              </a:rPr>
              <a:t>.</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Ulta dominates value conversion:</a:t>
            </a:r>
            <a:r>
              <a:rPr lang="en">
                <a:solidFill>
                  <a:schemeClr val="dk1"/>
                </a:solidFill>
              </a:rPr>
              <a:t> Over </a:t>
            </a:r>
            <a:r>
              <a:rPr b="1" lang="en">
                <a:solidFill>
                  <a:schemeClr val="dk1"/>
                </a:solidFill>
              </a:rPr>
              <a:t>50% of shared brands are Ulta-optimised</a:t>
            </a:r>
            <a:r>
              <a:rPr lang="en">
                <a:solidFill>
                  <a:schemeClr val="dk1"/>
                </a:solidFill>
              </a:rPr>
              <a:t>, converting sentiment into demand on Ulta but not Sephora; </a:t>
            </a:r>
            <a:r>
              <a:rPr b="1" lang="en">
                <a:solidFill>
                  <a:schemeClr val="dk1"/>
                </a:solidFill>
              </a:rPr>
              <a:t>no brand is Sephora-optimised</a:t>
            </a:r>
            <a:r>
              <a:rPr lang="en">
                <a:solidFill>
                  <a:schemeClr val="dk1"/>
                </a:solidFill>
              </a:rPr>
              <a:t>, underscoring Ulta’s advantage in translating reviews into incremental demand.</a:t>
            </a:r>
            <a:br>
              <a:rPr lang="en">
                <a:solidFill>
                  <a:schemeClr val="dk1"/>
                </a:solidFill>
              </a:rPr>
            </a:br>
            <a:r>
              <a:rPr lang="en">
                <a:solidFill>
                  <a:schemeClr val="dk1"/>
                </a:solidFill>
              </a:rPr>
              <a:t> Pasted markdown</a:t>
            </a:r>
            <a:endParaRPr>
              <a:solidFill>
                <a:schemeClr val="dk1"/>
              </a:solidFill>
            </a:endParaRPr>
          </a:p>
          <a:p>
            <a:pPr indent="0" lvl="0" marL="0" rtl="0" algn="l">
              <a:spcBef>
                <a:spcPts val="0"/>
              </a:spcBef>
              <a:spcAft>
                <a:spcPts val="0"/>
              </a:spcAft>
              <a:buNone/>
            </a:pPr>
            <a:r>
              <a:t/>
            </a:r>
            <a:endParaRPr b="1">
              <a:solidFill>
                <a:schemeClr val="dk1"/>
              </a:solidFill>
            </a:endParaRPr>
          </a:p>
        </p:txBody>
      </p:sp>
      <p:sp>
        <p:nvSpPr>
          <p:cNvPr id="500" name="Google Shape;500;g3cc7e42c083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cbcd8dc2cf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Negative review shocks are engagement catalysts:</a:t>
            </a:r>
            <a:r>
              <a:rPr lang="en">
                <a:solidFill>
                  <a:schemeClr val="dk1"/>
                </a:solidFill>
              </a:rPr>
              <a:t> Difference-in-Differences estimates show shocks </a:t>
            </a:r>
            <a:r>
              <a:rPr b="1" lang="en">
                <a:solidFill>
                  <a:schemeClr val="dk1"/>
                </a:solidFill>
              </a:rPr>
              <a:t>causally increase review velocity</a:t>
            </a:r>
            <a:r>
              <a:rPr lang="en">
                <a:solidFill>
                  <a:schemeClr val="dk1"/>
                </a:solidFill>
              </a:rPr>
              <a:t> on both platforms (+1.36/month on Sephora, +0.99 on Ulta), confirming </a:t>
            </a:r>
            <a:r>
              <a:rPr b="1" lang="en">
                <a:solidFill>
                  <a:schemeClr val="dk1"/>
                </a:solidFill>
              </a:rPr>
              <a:t>controversy attracts attention</a:t>
            </a:r>
            <a:r>
              <a:rPr lang="en">
                <a:solidFill>
                  <a:schemeClr val="dk1"/>
                </a:solidFill>
              </a:rPr>
              <a:t> rather than suppressing demand.</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But shocks causally damage perceived quality:</a:t>
            </a:r>
            <a:r>
              <a:rPr lang="en">
                <a:solidFill>
                  <a:schemeClr val="dk1"/>
                </a:solidFill>
              </a:rPr>
              <a:t> The same shocks </a:t>
            </a:r>
            <a:r>
              <a:rPr b="1" lang="en">
                <a:solidFill>
                  <a:schemeClr val="dk1"/>
                </a:solidFill>
              </a:rPr>
              <a:t>reduce average ratings and sentiment</a:t>
            </a:r>
            <a:r>
              <a:rPr lang="en">
                <a:solidFill>
                  <a:schemeClr val="dk1"/>
                </a:solidFill>
              </a:rPr>
              <a:t> (≈−0.33 stars on Sephora, −0.26 on Ulta; sentiment drops 36% more on Sephora), creating a </a:t>
            </a:r>
            <a:r>
              <a:rPr b="1" lang="en">
                <a:solidFill>
                  <a:schemeClr val="dk1"/>
                </a:solidFill>
              </a:rPr>
              <a:t>velocity–quality tradeoff</a:t>
            </a:r>
            <a:r>
              <a:rPr lang="en">
                <a:solidFill>
                  <a:schemeClr val="dk1"/>
                </a:solidFill>
              </a:rPr>
              <a:t>.</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Recovery is partial, not complete:</a:t>
            </a:r>
            <a:r>
              <a:rPr lang="en">
                <a:solidFill>
                  <a:schemeClr val="dk1"/>
                </a:solidFill>
              </a:rPr>
              <a:t> Roughly </a:t>
            </a:r>
            <a:r>
              <a:rPr b="1" lang="en">
                <a:solidFill>
                  <a:schemeClr val="dk1"/>
                </a:solidFill>
              </a:rPr>
              <a:t>45% of products fully recover</a:t>
            </a:r>
            <a:r>
              <a:rPr lang="en">
                <a:solidFill>
                  <a:schemeClr val="dk1"/>
                </a:solidFill>
              </a:rPr>
              <a:t>, ~30% show no recovery, and median velocity remains </a:t>
            </a:r>
            <a:r>
              <a:rPr b="1" lang="en">
                <a:solidFill>
                  <a:schemeClr val="dk1"/>
                </a:solidFill>
              </a:rPr>
              <a:t>25–30% below shock-month peaks</a:t>
            </a:r>
            <a:r>
              <a:rPr lang="en">
                <a:solidFill>
                  <a:schemeClr val="dk1"/>
                </a:solidFill>
              </a:rPr>
              <a:t> after four months; ratings rebound meaningfully but </a:t>
            </a:r>
            <a:r>
              <a:rPr b="1" lang="en">
                <a:solidFill>
                  <a:schemeClr val="dk1"/>
                </a:solidFill>
              </a:rPr>
              <a:t>do not return to baseline</a:t>
            </a:r>
            <a:r>
              <a:rPr lang="en">
                <a:solidFill>
                  <a:schemeClr val="dk1"/>
                </a:solidFill>
              </a:rPr>
              <a:t>.</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Price tier moderates shock impact on Sephora:</a:t>
            </a:r>
            <a:r>
              <a:rPr lang="en">
                <a:solidFill>
                  <a:schemeClr val="dk1"/>
                </a:solidFill>
              </a:rPr>
              <a:t> The </a:t>
            </a:r>
            <a:r>
              <a:rPr b="1" lang="en">
                <a:solidFill>
                  <a:schemeClr val="dk1"/>
                </a:solidFill>
              </a:rPr>
              <a:t>$20–40 tier benefits most</a:t>
            </a:r>
            <a:r>
              <a:rPr lang="en">
                <a:solidFill>
                  <a:schemeClr val="dk1"/>
                </a:solidFill>
              </a:rPr>
              <a:t> from shocks, while the </a:t>
            </a:r>
            <a:r>
              <a:rPr b="1" lang="en">
                <a:solidFill>
                  <a:schemeClr val="dk1"/>
                </a:solidFill>
              </a:rPr>
              <a:t>$40–75 mid-prestige tier is uniquely harmed</a:t>
            </a:r>
            <a:r>
              <a:rPr lang="en">
                <a:solidFill>
                  <a:schemeClr val="dk1"/>
                </a:solidFill>
              </a:rPr>
              <a:t> (negative causal velocity effect), making it the </a:t>
            </a:r>
            <a:r>
              <a:rPr b="1" lang="en">
                <a:solidFill>
                  <a:schemeClr val="dk1"/>
                </a:solidFill>
              </a:rPr>
              <a:t>highest-risk segment for reputation shocks</a:t>
            </a:r>
            <a:r>
              <a:rPr lang="en">
                <a:solidFill>
                  <a:schemeClr val="dk1"/>
                </a:solidFill>
              </a:rPr>
              <a:t>.</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Ulta reacts differently to price context:</a:t>
            </a:r>
            <a:r>
              <a:rPr lang="en">
                <a:solidFill>
                  <a:schemeClr val="dk1"/>
                </a:solidFill>
              </a:rPr>
              <a:t> On Ulta, </a:t>
            </a:r>
            <a:r>
              <a:rPr b="1" lang="en">
                <a:solidFill>
                  <a:schemeClr val="dk1"/>
                </a:solidFill>
              </a:rPr>
              <a:t>all tiers are neutral-to-positive</a:t>
            </a:r>
            <a:r>
              <a:rPr lang="en">
                <a:solidFill>
                  <a:schemeClr val="dk1"/>
                </a:solidFill>
              </a:rPr>
              <a:t>, with the </a:t>
            </a:r>
            <a:r>
              <a:rPr b="1" lang="en">
                <a:solidFill>
                  <a:schemeClr val="dk1"/>
                </a:solidFill>
              </a:rPr>
              <a:t>$150+ tier benefiting most</a:t>
            </a:r>
            <a:r>
              <a:rPr lang="en">
                <a:solidFill>
                  <a:schemeClr val="dk1"/>
                </a:solidFill>
              </a:rPr>
              <a:t> from shocks, reflecting investigative behavior around premium products rather than demand suppression.</a:t>
            </a:r>
            <a:br>
              <a:rPr lang="en">
                <a:solidFill>
                  <a:schemeClr val="dk1"/>
                </a:solidFill>
              </a:rPr>
            </a:br>
            <a:r>
              <a:rPr lang="en">
                <a:solidFill>
                  <a:schemeClr val="dk1"/>
                </a:solidFill>
              </a:rPr>
              <a:t> Pasted text</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Spillovers affect attention, not belief:</a:t>
            </a:r>
            <a:r>
              <a:rPr lang="en">
                <a:solidFill>
                  <a:schemeClr val="dk1"/>
                </a:solidFill>
              </a:rPr>
              <a:t> Sephora shocks </a:t>
            </a:r>
            <a:r>
              <a:rPr b="1" lang="en">
                <a:solidFill>
                  <a:schemeClr val="dk1"/>
                </a:solidFill>
              </a:rPr>
              <a:t>erode Ulta’s velocity advantage</a:t>
            </a:r>
            <a:r>
              <a:rPr lang="en">
                <a:solidFill>
                  <a:schemeClr val="dk1"/>
                </a:solidFill>
              </a:rPr>
              <a:t> for cross-listed products but </a:t>
            </a:r>
            <a:r>
              <a:rPr b="1" lang="en">
                <a:solidFill>
                  <a:schemeClr val="dk1"/>
                </a:solidFill>
              </a:rPr>
              <a:t>do not causally affect Ulta ratings</a:t>
            </a:r>
            <a:r>
              <a:rPr lang="en">
                <a:solidFill>
                  <a:schemeClr val="dk1"/>
                </a:solidFill>
              </a:rPr>
              <a:t>, indicating </a:t>
            </a:r>
            <a:r>
              <a:rPr b="1" lang="en">
                <a:solidFill>
                  <a:schemeClr val="dk1"/>
                </a:solidFill>
              </a:rPr>
              <a:t>attention spills over, quality perception does not</a:t>
            </a:r>
            <a:r>
              <a:rPr lang="en">
                <a:solidFill>
                  <a:schemeClr val="dk1"/>
                </a:solidFill>
              </a:rPr>
              <a:t>.</a:t>
            </a:r>
            <a:endParaRPr>
              <a:solidFill>
                <a:schemeClr val="dk1"/>
              </a:solidFill>
            </a:endParaRPr>
          </a:p>
          <a:p>
            <a:pPr indent="0" lvl="0" marL="0" rtl="0" algn="l">
              <a:spcBef>
                <a:spcPts val="0"/>
              </a:spcBef>
              <a:spcAft>
                <a:spcPts val="0"/>
              </a:spcAft>
              <a:buNone/>
            </a:pPr>
            <a:r>
              <a:t/>
            </a:r>
            <a:endParaRPr/>
          </a:p>
        </p:txBody>
      </p:sp>
      <p:sp>
        <p:nvSpPr>
          <p:cNvPr id="528" name="Google Shape;528;g3cbcd8dc2cf_2_1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cbcd8dc2cf_2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Adopt a platform-differentiated growth system, not a unified brand strategy.</a:t>
            </a:r>
            <a:br>
              <a:rPr b="1" lang="en" sz="1000">
                <a:solidFill>
                  <a:schemeClr val="dk1"/>
                </a:solidFill>
              </a:rPr>
            </a:br>
            <a:r>
              <a:rPr lang="en" sz="1000">
                <a:solidFill>
                  <a:schemeClr val="dk1"/>
                </a:solidFill>
              </a:rPr>
              <a:t> All analyses converge on one finding: </a:t>
            </a:r>
            <a:r>
              <a:rPr b="1" lang="en" sz="1000">
                <a:solidFill>
                  <a:schemeClr val="dk1"/>
                </a:solidFill>
              </a:rPr>
              <a:t>Sephora and Ulta are different information markets</a:t>
            </a:r>
            <a:r>
              <a:rPr lang="en" sz="1000">
                <a:solidFill>
                  <a:schemeClr val="dk1"/>
                </a:solidFill>
              </a:rPr>
              <a:t>. Sephora is driven by </a:t>
            </a:r>
            <a:r>
              <a:rPr i="1" lang="en" sz="1000">
                <a:solidFill>
                  <a:schemeClr val="dk1"/>
                </a:solidFill>
              </a:rPr>
              <a:t>relative quality signaling and expectation management</a:t>
            </a:r>
            <a:r>
              <a:rPr lang="en" sz="1000">
                <a:solidFill>
                  <a:schemeClr val="dk1"/>
                </a:solidFill>
              </a:rPr>
              <a:t>; Ulta is driven by </a:t>
            </a:r>
            <a:r>
              <a:rPr i="1" lang="en" sz="1000">
                <a:solidFill>
                  <a:schemeClr val="dk1"/>
                </a:solidFill>
              </a:rPr>
              <a:t>availability, baseline presence, and category context</a:t>
            </a:r>
            <a:r>
              <a:rPr lang="en" sz="1000">
                <a:solidFill>
                  <a:schemeClr val="dk1"/>
                </a:solidFill>
              </a:rPr>
              <a:t>. Treating them as interchangeable channels systematically destroys value.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Use segmentation as the operating backbone for every decision.</a:t>
            </a:r>
            <a:br>
              <a:rPr b="1" lang="en" sz="1000">
                <a:solidFill>
                  <a:schemeClr val="dk1"/>
                </a:solidFill>
              </a:rPr>
            </a:br>
            <a:r>
              <a:rPr lang="en" sz="1000">
                <a:solidFill>
                  <a:schemeClr val="dk1"/>
                </a:solidFill>
              </a:rPr>
              <a:t> The three-segment structure — </a:t>
            </a:r>
            <a:r>
              <a:rPr b="1" lang="en" sz="1000">
                <a:solidFill>
                  <a:schemeClr val="dk1"/>
                </a:solidFill>
              </a:rPr>
              <a:t>Quiet Loyalists, High-Traffic Mainstream, Polarizing Underperformers</a:t>
            </a:r>
            <a:r>
              <a:rPr lang="en" sz="1000">
                <a:solidFill>
                  <a:schemeClr val="dk1"/>
                </a:solidFill>
              </a:rPr>
              <a:t> — consistently explains brand health, demand sensitivity, shock response, and ROI. </a:t>
            </a:r>
            <a:r>
              <a:rPr b="1" lang="en" sz="1000">
                <a:solidFill>
                  <a:schemeClr val="dk1"/>
                </a:solidFill>
              </a:rPr>
              <a:t>Investment, pricing, content, and assortment decisions should be segment-led</a:t>
            </a:r>
            <a:r>
              <a:rPr lang="en" sz="1000">
                <a:solidFill>
                  <a:schemeClr val="dk1"/>
                </a:solidFill>
              </a:rPr>
              <a:t>, not brand- or category-led.</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Optimize for visibility where quality is proven, and for quality where visibility is unavoidable.</a:t>
            </a:r>
            <a:br>
              <a:rPr b="1" lang="en" sz="1000">
                <a:solidFill>
                  <a:schemeClr val="dk1"/>
                </a:solidFill>
              </a:rPr>
            </a:br>
            <a:r>
              <a:rPr lang="en" sz="1000">
                <a:solidFill>
                  <a:schemeClr val="dk1"/>
                </a:solidFill>
              </a:rPr>
              <a:t> Quiet Loyalists should be amplified (discovery, trial, placement).</a:t>
            </a:r>
            <a:br>
              <a:rPr lang="en" sz="1000">
                <a:solidFill>
                  <a:schemeClr val="dk1"/>
                </a:solidFill>
              </a:rPr>
            </a:br>
            <a:r>
              <a:rPr lang="en" sz="1000">
                <a:solidFill>
                  <a:schemeClr val="dk1"/>
                </a:solidFill>
              </a:rPr>
              <a:t> High-Traffic Mainstream brands should be stabilized through expectation calibration.</a:t>
            </a:r>
            <a:br>
              <a:rPr lang="en" sz="1000">
                <a:solidFill>
                  <a:schemeClr val="dk1"/>
                </a:solidFill>
              </a:rPr>
            </a:br>
            <a:r>
              <a:rPr lang="en" sz="1000">
                <a:solidFill>
                  <a:schemeClr val="dk1"/>
                </a:solidFill>
              </a:rPr>
              <a:t> Polarizing Underperformers require structural fixes before scale.</a:t>
            </a:r>
            <a:br>
              <a:rPr lang="en" sz="1000">
                <a:solidFill>
                  <a:schemeClr val="dk1"/>
                </a:solidFill>
              </a:rPr>
            </a:br>
            <a:r>
              <a:rPr lang="en" sz="1000">
                <a:solidFill>
                  <a:schemeClr val="dk1"/>
                </a:solidFill>
              </a:rPr>
              <a:t> This rule holds across sentiment analysis, causal shock results, and perceptual mapping.</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Treat reputation shocks as attention events, not crises — except where causally harmful.</a:t>
            </a:r>
            <a:br>
              <a:rPr b="1" lang="en" sz="1000">
                <a:solidFill>
                  <a:schemeClr val="dk1"/>
                </a:solidFill>
              </a:rPr>
            </a:br>
            <a:r>
              <a:rPr lang="en" sz="1000">
                <a:solidFill>
                  <a:schemeClr val="dk1"/>
                </a:solidFill>
              </a:rPr>
              <a:t> Negative shocks generally </a:t>
            </a:r>
            <a:r>
              <a:rPr b="1" lang="en" sz="1000">
                <a:solidFill>
                  <a:schemeClr val="dk1"/>
                </a:solidFill>
              </a:rPr>
              <a:t>increase engagement</a:t>
            </a:r>
            <a:r>
              <a:rPr lang="en" sz="1000">
                <a:solidFill>
                  <a:schemeClr val="dk1"/>
                </a:solidFill>
              </a:rPr>
              <a:t>, but </a:t>
            </a:r>
            <a:r>
              <a:rPr b="1" lang="en" sz="1000">
                <a:solidFill>
                  <a:schemeClr val="dk1"/>
                </a:solidFill>
              </a:rPr>
              <a:t>mid-prestige ($40–75) products on Sephora are the single exception</a:t>
            </a:r>
            <a:r>
              <a:rPr lang="en" sz="1000">
                <a:solidFill>
                  <a:schemeClr val="dk1"/>
                </a:solidFill>
              </a:rPr>
              <a:t>, where shocks causally suppress demand. Reputation investment should therefore be </a:t>
            </a:r>
            <a:r>
              <a:rPr b="1" lang="en" sz="1000">
                <a:solidFill>
                  <a:schemeClr val="dk1"/>
                </a:solidFill>
              </a:rPr>
              <a:t>price-tier- and platform-specific</a:t>
            </a:r>
            <a:r>
              <a:rPr lang="en" sz="1000">
                <a:solidFill>
                  <a:schemeClr val="dk1"/>
                </a:solidFill>
              </a:rPr>
              <a:t>, not uniformly reactive.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Decouple pricing logic by channel while harmonizing within-category perception.</a:t>
            </a:r>
            <a:br>
              <a:rPr b="1" lang="en" sz="1000">
                <a:solidFill>
                  <a:schemeClr val="dk1"/>
                </a:solidFill>
              </a:rPr>
            </a:br>
            <a:r>
              <a:rPr lang="en" sz="1000">
                <a:solidFill>
                  <a:schemeClr val="dk1"/>
                </a:solidFill>
              </a:rPr>
              <a:t> Price parity is neither necessary nor optimal. On Sephora, price acts as a </a:t>
            </a:r>
            <a:r>
              <a:rPr b="1" lang="en" sz="1000">
                <a:solidFill>
                  <a:schemeClr val="dk1"/>
                </a:solidFill>
              </a:rPr>
              <a:t>quality signal</a:t>
            </a:r>
            <a:r>
              <a:rPr lang="en" sz="1000">
                <a:solidFill>
                  <a:schemeClr val="dk1"/>
                </a:solidFill>
              </a:rPr>
              <a:t>; on Ulta, price acts as a </a:t>
            </a:r>
            <a:r>
              <a:rPr b="1" lang="en" sz="1000">
                <a:solidFill>
                  <a:schemeClr val="dk1"/>
                </a:solidFill>
              </a:rPr>
              <a:t>choice filter</a:t>
            </a:r>
            <a:r>
              <a:rPr lang="en" sz="1000">
                <a:solidFill>
                  <a:schemeClr val="dk1"/>
                </a:solidFill>
              </a:rPr>
              <a:t>. The strategy is </a:t>
            </a:r>
            <a:r>
              <a:rPr b="1" lang="en" sz="1000">
                <a:solidFill>
                  <a:schemeClr val="dk1"/>
                </a:solidFill>
              </a:rPr>
              <a:t>category-relative pricing by platform</a:t>
            </a:r>
            <a:r>
              <a:rPr lang="en" sz="1000">
                <a:solidFill>
                  <a:schemeClr val="dk1"/>
                </a:solidFill>
              </a:rPr>
              <a:t>, preserving prestige signaling on Sephora while avoiding price friction on Ulta.</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Design Ulta presence as discovery-first; Sephora presence as validation-first.</a:t>
            </a:r>
            <a:br>
              <a:rPr b="1" lang="en" sz="1000">
                <a:solidFill>
                  <a:schemeClr val="dk1"/>
                </a:solidFill>
              </a:rPr>
            </a:br>
            <a:r>
              <a:rPr lang="en" sz="1000">
                <a:solidFill>
                  <a:schemeClr val="dk1"/>
                </a:solidFill>
              </a:rPr>
              <a:t> Products that are Value-Fragile on Sephora become resilient on Ulta, proving fragility is </a:t>
            </a:r>
            <a:r>
              <a:rPr b="1" lang="en" sz="1000">
                <a:solidFill>
                  <a:schemeClr val="dk1"/>
                </a:solidFill>
              </a:rPr>
              <a:t>contextual, not intrinsic</a:t>
            </a:r>
            <a:r>
              <a:rPr lang="en" sz="1000">
                <a:solidFill>
                  <a:schemeClr val="dk1"/>
                </a:solidFill>
              </a:rPr>
              <a:t>. Ulta listings should emphasize accessibility and breadth; Sephora listings should emphasize comparative performance and credibility.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Institutionalize segmentation as a continuous control system.</a:t>
            </a:r>
            <a:br>
              <a:rPr b="1" lang="en" sz="1000">
                <a:solidFill>
                  <a:schemeClr val="dk1"/>
                </a:solidFill>
              </a:rPr>
            </a:br>
            <a:r>
              <a:rPr lang="en" sz="1000">
                <a:solidFill>
                  <a:schemeClr val="dk1"/>
                </a:solidFill>
              </a:rPr>
              <a:t> The convergence across brand health, causal inference, perceptual maps, and clustering shows this is not a one-off insight. Segmentation should be used to </a:t>
            </a:r>
            <a:r>
              <a:rPr b="1" lang="en" sz="1000">
                <a:solidFill>
                  <a:schemeClr val="dk1"/>
                </a:solidFill>
              </a:rPr>
              <a:t>continuously route brands into “scale / defend / fix / exit” paths</a:t>
            </a:r>
            <a:r>
              <a:rPr lang="en" sz="1000">
                <a:solidFill>
                  <a:schemeClr val="dk1"/>
                </a:solidFill>
              </a:rPr>
              <a:t>, turning review data into durable strategy.</a:t>
            </a:r>
            <a:endParaRPr sz="1000">
              <a:solidFill>
                <a:schemeClr val="dk1"/>
              </a:solidFill>
            </a:endParaRPr>
          </a:p>
          <a:p>
            <a:pPr indent="0" lvl="0" marL="0" rtl="0" algn="l">
              <a:lnSpc>
                <a:spcPct val="115000"/>
              </a:lnSpc>
              <a:spcBef>
                <a:spcPts val="1200"/>
              </a:spcBef>
              <a:spcAft>
                <a:spcPts val="0"/>
              </a:spcAft>
              <a:buNone/>
            </a:pPr>
            <a:r>
              <a:rPr b="1" lang="en" sz="1000">
                <a:solidFill>
                  <a:schemeClr val="dk1"/>
                </a:solidFill>
              </a:rPr>
              <a:t>Unified Strategy Statement:</a:t>
            </a:r>
            <a:endParaRPr b="1" sz="1000">
              <a:solidFill>
                <a:schemeClr val="dk1"/>
              </a:solidFill>
            </a:endParaRPr>
          </a:p>
          <a:p>
            <a:pPr indent="0" lvl="0" marL="381000" marR="381000" rtl="0" algn="l">
              <a:lnSpc>
                <a:spcPct val="115000"/>
              </a:lnSpc>
              <a:spcBef>
                <a:spcPts val="1200"/>
              </a:spcBef>
              <a:spcAft>
                <a:spcPts val="0"/>
              </a:spcAft>
              <a:buNone/>
            </a:pPr>
            <a:r>
              <a:rPr i="1" lang="en" sz="1000">
                <a:solidFill>
                  <a:schemeClr val="dk1"/>
                </a:solidFill>
              </a:rPr>
              <a:t>Maximize growth by aligning visibility, expectations, and pricing to platform-specific consumer logic, using segment membership—not brand prestige—as the primary decision lens.</a:t>
            </a:r>
            <a:endParaRPr i="1"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
        <p:nvSpPr>
          <p:cNvPr id="555" name="Google Shape;555;g3cbcd8dc2cf_2_2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cc7e42c083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g3cc7e42c083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cc7e42c083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cc7e42c083_0_4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cbcd8dc2cf_2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g3cbcd8dc2cf_2_3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3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11.png"/><Relationship Id="rId7" Type="http://schemas.openxmlformats.org/officeDocument/2006/relationships/image" Target="../media/image22.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21.jpg"/><Relationship Id="rId5" Type="http://schemas.openxmlformats.org/officeDocument/2006/relationships/image" Target="../media/image26.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21.jpg"/><Relationship Id="rId5" Type="http://schemas.openxmlformats.org/officeDocument/2006/relationships/image" Target="../media/image34.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6.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28.png"/><Relationship Id="rId5" Type="http://schemas.openxmlformats.org/officeDocument/2006/relationships/image" Target="../media/image11.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21.jpg"/><Relationship Id="rId5" Type="http://schemas.openxmlformats.org/officeDocument/2006/relationships/image" Target="../media/image26.pn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2.png"/><Relationship Id="rId9"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11.png"/><Relationship Id="rId7" Type="http://schemas.openxmlformats.org/officeDocument/2006/relationships/image" Target="../media/image22.png"/><Relationship Id="rId8"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image" Target="../media/image33.jpg"/><Relationship Id="rId5" Type="http://schemas.openxmlformats.org/officeDocument/2006/relationships/image" Target="../media/image2.png"/><Relationship Id="rId6"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9.jpg"/><Relationship Id="rId4" Type="http://schemas.openxmlformats.org/officeDocument/2006/relationships/image" Target="../media/image34.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0.png"/><Relationship Id="rId6"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9.jpg"/><Relationship Id="rId4" Type="http://schemas.openxmlformats.org/officeDocument/2006/relationships/image" Target="../media/image21.jpg"/><Relationship Id="rId9" Type="http://schemas.openxmlformats.org/officeDocument/2006/relationships/image" Target="../media/image2.png"/><Relationship Id="rId5" Type="http://schemas.openxmlformats.org/officeDocument/2006/relationships/image" Target="../media/image34.png"/><Relationship Id="rId6" Type="http://schemas.openxmlformats.org/officeDocument/2006/relationships/image" Target="../media/image13.png"/><Relationship Id="rId7" Type="http://schemas.openxmlformats.org/officeDocument/2006/relationships/hyperlink" Target="https://github.com/hkbuttar/Algorithmic_Marketing_Final_Project" TargetMode="External"/><Relationship Id="rId8"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9.jpg"/><Relationship Id="rId4" Type="http://schemas.openxmlformats.org/officeDocument/2006/relationships/image" Target="../media/image21.jpg"/><Relationship Id="rId5" Type="http://schemas.openxmlformats.org/officeDocument/2006/relationships/image" Target="../media/image34.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130" name="Google Shape;130;p25"/>
          <p:cNvGrpSpPr/>
          <p:nvPr/>
        </p:nvGrpSpPr>
        <p:grpSpPr>
          <a:xfrm>
            <a:off x="514350" y="442020"/>
            <a:ext cx="8115300" cy="4187130"/>
            <a:chOff x="0" y="-38100"/>
            <a:chExt cx="4274726" cy="2205567"/>
          </a:xfrm>
        </p:grpSpPr>
        <p:sp>
          <p:nvSpPr>
            <p:cNvPr id="131" name="Google Shape;131;p25"/>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132" name="Google Shape;132;p25"/>
            <p:cNvSpPr txBox="1"/>
            <p:nvPr/>
          </p:nvSpPr>
          <p:spPr>
            <a:xfrm>
              <a:off x="0" y="-38100"/>
              <a:ext cx="4274726"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3" name="Google Shape;133;p25"/>
          <p:cNvSpPr/>
          <p:nvPr/>
        </p:nvSpPr>
        <p:spPr>
          <a:xfrm>
            <a:off x="697972" y="706250"/>
            <a:ext cx="3657600" cy="36576"/>
          </a:xfrm>
          <a:custGeom>
            <a:rect b="b" l="l" r="r" t="t"/>
            <a:pathLst>
              <a:path extrusionOk="0" h="73152" w="7315200">
                <a:moveTo>
                  <a:pt x="0" y="0"/>
                </a:moveTo>
                <a:lnTo>
                  <a:pt x="7315200" y="0"/>
                </a:lnTo>
                <a:lnTo>
                  <a:pt x="7315200" y="73152"/>
                </a:lnTo>
                <a:lnTo>
                  <a:pt x="0" y="73152"/>
                </a:lnTo>
                <a:lnTo>
                  <a:pt x="0" y="0"/>
                </a:lnTo>
                <a:close/>
              </a:path>
            </a:pathLst>
          </a:custGeom>
          <a:blipFill rotWithShape="1">
            <a:blip r:embed="rId4">
              <a:alphaModFix/>
            </a:blip>
            <a:stretch>
              <a:fillRect b="0" l="0" r="0" t="0"/>
            </a:stretch>
          </a:blipFill>
          <a:ln>
            <a:noFill/>
          </a:ln>
        </p:spPr>
      </p:sp>
      <p:sp>
        <p:nvSpPr>
          <p:cNvPr id="134" name="Google Shape;134;p25"/>
          <p:cNvSpPr/>
          <p:nvPr/>
        </p:nvSpPr>
        <p:spPr>
          <a:xfrm>
            <a:off x="697972" y="4321053"/>
            <a:ext cx="3657600" cy="36576"/>
          </a:xfrm>
          <a:custGeom>
            <a:rect b="b" l="l" r="r" t="t"/>
            <a:pathLst>
              <a:path extrusionOk="0" h="73152" w="7315200">
                <a:moveTo>
                  <a:pt x="0" y="0"/>
                </a:moveTo>
                <a:lnTo>
                  <a:pt x="7315200" y="0"/>
                </a:lnTo>
                <a:lnTo>
                  <a:pt x="7315200" y="73152"/>
                </a:lnTo>
                <a:lnTo>
                  <a:pt x="0" y="73152"/>
                </a:lnTo>
                <a:lnTo>
                  <a:pt x="0" y="0"/>
                </a:lnTo>
                <a:close/>
              </a:path>
            </a:pathLst>
          </a:custGeom>
          <a:blipFill rotWithShape="1">
            <a:blip r:embed="rId4">
              <a:alphaModFix/>
            </a:blip>
            <a:stretch>
              <a:fillRect b="0" l="0" r="0" t="0"/>
            </a:stretch>
          </a:blipFill>
          <a:ln>
            <a:noFill/>
          </a:ln>
        </p:spPr>
      </p:sp>
      <p:sp>
        <p:nvSpPr>
          <p:cNvPr id="135" name="Google Shape;135;p25"/>
          <p:cNvSpPr/>
          <p:nvPr/>
        </p:nvSpPr>
        <p:spPr>
          <a:xfrm rot="5400000">
            <a:off x="-1164478" y="2312813"/>
            <a:ext cx="3691378" cy="4374966"/>
          </a:xfrm>
          <a:custGeom>
            <a:rect b="b" l="l" r="r" t="t"/>
            <a:pathLst>
              <a:path extrusionOk="0" h="8749931" w="7382755">
                <a:moveTo>
                  <a:pt x="0" y="0"/>
                </a:moveTo>
                <a:lnTo>
                  <a:pt x="7382754" y="0"/>
                </a:lnTo>
                <a:lnTo>
                  <a:pt x="7382754" y="8749932"/>
                </a:lnTo>
                <a:lnTo>
                  <a:pt x="0" y="8749932"/>
                </a:lnTo>
                <a:lnTo>
                  <a:pt x="0" y="0"/>
                </a:lnTo>
                <a:close/>
              </a:path>
            </a:pathLst>
          </a:custGeom>
          <a:blipFill rotWithShape="1">
            <a:blip r:embed="rId5">
              <a:alphaModFix/>
            </a:blip>
            <a:stretch>
              <a:fillRect b="0" l="0" r="0" t="0"/>
            </a:stretch>
          </a:blipFill>
          <a:ln>
            <a:noFill/>
          </a:ln>
        </p:spPr>
      </p:sp>
      <p:sp>
        <p:nvSpPr>
          <p:cNvPr id="136" name="Google Shape;136;p25"/>
          <p:cNvSpPr/>
          <p:nvPr/>
        </p:nvSpPr>
        <p:spPr>
          <a:xfrm>
            <a:off x="4788429" y="706250"/>
            <a:ext cx="3657600" cy="36576"/>
          </a:xfrm>
          <a:custGeom>
            <a:rect b="b" l="l" r="r" t="t"/>
            <a:pathLst>
              <a:path extrusionOk="0" h="73152" w="7315200">
                <a:moveTo>
                  <a:pt x="0" y="0"/>
                </a:moveTo>
                <a:lnTo>
                  <a:pt x="7315200" y="0"/>
                </a:lnTo>
                <a:lnTo>
                  <a:pt x="7315200" y="73152"/>
                </a:lnTo>
                <a:lnTo>
                  <a:pt x="0" y="73152"/>
                </a:lnTo>
                <a:lnTo>
                  <a:pt x="0" y="0"/>
                </a:lnTo>
                <a:close/>
              </a:path>
            </a:pathLst>
          </a:custGeom>
          <a:blipFill rotWithShape="1">
            <a:blip r:embed="rId4">
              <a:alphaModFix/>
            </a:blip>
            <a:stretch>
              <a:fillRect b="0" l="0" r="0" t="0"/>
            </a:stretch>
          </a:blipFill>
          <a:ln>
            <a:noFill/>
          </a:ln>
        </p:spPr>
      </p:sp>
      <p:sp>
        <p:nvSpPr>
          <p:cNvPr id="137" name="Google Shape;137;p25"/>
          <p:cNvSpPr/>
          <p:nvPr/>
        </p:nvSpPr>
        <p:spPr>
          <a:xfrm>
            <a:off x="6487919" y="-93593"/>
            <a:ext cx="3543898" cy="2412804"/>
          </a:xfrm>
          <a:custGeom>
            <a:rect b="b" l="l" r="r" t="t"/>
            <a:pathLst>
              <a:path extrusionOk="0" h="4825607" w="7087795">
                <a:moveTo>
                  <a:pt x="0" y="0"/>
                </a:moveTo>
                <a:lnTo>
                  <a:pt x="7087795" y="0"/>
                </a:lnTo>
                <a:lnTo>
                  <a:pt x="7087795" y="4825607"/>
                </a:lnTo>
                <a:lnTo>
                  <a:pt x="0" y="4825607"/>
                </a:lnTo>
                <a:lnTo>
                  <a:pt x="0" y="0"/>
                </a:lnTo>
                <a:close/>
              </a:path>
            </a:pathLst>
          </a:custGeom>
          <a:blipFill rotWithShape="1">
            <a:blip r:embed="rId6">
              <a:alphaModFix/>
            </a:blip>
            <a:stretch>
              <a:fillRect b="0" l="0" r="0" t="0"/>
            </a:stretch>
          </a:blipFill>
          <a:ln>
            <a:noFill/>
          </a:ln>
        </p:spPr>
      </p:sp>
      <p:sp>
        <p:nvSpPr>
          <p:cNvPr id="138" name="Google Shape;138;p25"/>
          <p:cNvSpPr/>
          <p:nvPr/>
        </p:nvSpPr>
        <p:spPr>
          <a:xfrm>
            <a:off x="4788429" y="4321053"/>
            <a:ext cx="3657600" cy="36576"/>
          </a:xfrm>
          <a:custGeom>
            <a:rect b="b" l="l" r="r" t="t"/>
            <a:pathLst>
              <a:path extrusionOk="0" h="73152" w="7315200">
                <a:moveTo>
                  <a:pt x="0" y="0"/>
                </a:moveTo>
                <a:lnTo>
                  <a:pt x="7315200" y="0"/>
                </a:lnTo>
                <a:lnTo>
                  <a:pt x="7315200" y="73152"/>
                </a:lnTo>
                <a:lnTo>
                  <a:pt x="0" y="73152"/>
                </a:lnTo>
                <a:lnTo>
                  <a:pt x="0" y="0"/>
                </a:lnTo>
                <a:close/>
              </a:path>
            </a:pathLst>
          </a:custGeom>
          <a:blipFill rotWithShape="1">
            <a:blip r:embed="rId4">
              <a:alphaModFix/>
            </a:blip>
            <a:stretch>
              <a:fillRect b="0" l="0" r="0" t="0"/>
            </a:stretch>
          </a:blipFill>
          <a:ln>
            <a:noFill/>
          </a:ln>
        </p:spPr>
      </p:sp>
      <p:sp>
        <p:nvSpPr>
          <p:cNvPr id="139" name="Google Shape;139;p25"/>
          <p:cNvSpPr/>
          <p:nvPr/>
        </p:nvSpPr>
        <p:spPr>
          <a:xfrm rot="10800000">
            <a:off x="4372332" y="706250"/>
            <a:ext cx="399336" cy="378869"/>
          </a:xfrm>
          <a:custGeom>
            <a:rect b="b" l="l" r="r" t="t"/>
            <a:pathLst>
              <a:path extrusionOk="0" h="757739" w="798671">
                <a:moveTo>
                  <a:pt x="0" y="0"/>
                </a:moveTo>
                <a:lnTo>
                  <a:pt x="798672" y="0"/>
                </a:lnTo>
                <a:lnTo>
                  <a:pt x="798672" y="757739"/>
                </a:lnTo>
                <a:lnTo>
                  <a:pt x="0" y="757739"/>
                </a:lnTo>
                <a:lnTo>
                  <a:pt x="0" y="0"/>
                </a:lnTo>
                <a:close/>
              </a:path>
            </a:pathLst>
          </a:custGeom>
          <a:blipFill rotWithShape="1">
            <a:blip r:embed="rId7">
              <a:alphaModFix/>
            </a:blip>
            <a:stretch>
              <a:fillRect b="0" l="0" r="0" t="0"/>
            </a:stretch>
          </a:blipFill>
          <a:ln>
            <a:noFill/>
          </a:ln>
        </p:spPr>
      </p:sp>
      <p:sp>
        <p:nvSpPr>
          <p:cNvPr id="140" name="Google Shape;140;p25"/>
          <p:cNvSpPr/>
          <p:nvPr/>
        </p:nvSpPr>
        <p:spPr>
          <a:xfrm flipH="1">
            <a:off x="4372332" y="3942184"/>
            <a:ext cx="399336" cy="378869"/>
          </a:xfrm>
          <a:custGeom>
            <a:rect b="b" l="l" r="r" t="t"/>
            <a:pathLst>
              <a:path extrusionOk="0" h="757739" w="798671">
                <a:moveTo>
                  <a:pt x="0" y="757739"/>
                </a:moveTo>
                <a:lnTo>
                  <a:pt x="798672" y="757739"/>
                </a:lnTo>
                <a:lnTo>
                  <a:pt x="798672" y="0"/>
                </a:lnTo>
                <a:lnTo>
                  <a:pt x="0" y="0"/>
                </a:lnTo>
                <a:lnTo>
                  <a:pt x="0" y="757739"/>
                </a:lnTo>
                <a:close/>
              </a:path>
            </a:pathLst>
          </a:custGeom>
          <a:blipFill rotWithShape="1">
            <a:blip r:embed="rId7">
              <a:alphaModFix/>
            </a:blip>
            <a:stretch>
              <a:fillRect b="0" l="0" r="0" t="0"/>
            </a:stretch>
          </a:blipFill>
          <a:ln>
            <a:noFill/>
          </a:ln>
        </p:spPr>
      </p:sp>
      <p:sp>
        <p:nvSpPr>
          <p:cNvPr id="141" name="Google Shape;141;p25"/>
          <p:cNvSpPr txBox="1"/>
          <p:nvPr/>
        </p:nvSpPr>
        <p:spPr>
          <a:xfrm>
            <a:off x="1709419" y="1459153"/>
            <a:ext cx="5725200" cy="138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4500">
                <a:solidFill>
                  <a:srgbClr val="453D37"/>
                </a:solidFill>
              </a:rPr>
              <a:t>Analyzing Beauty Retailers</a:t>
            </a:r>
            <a:endParaRPr sz="700"/>
          </a:p>
        </p:txBody>
      </p:sp>
      <p:sp>
        <p:nvSpPr>
          <p:cNvPr id="142" name="Google Shape;142;p25"/>
          <p:cNvSpPr txBox="1"/>
          <p:nvPr/>
        </p:nvSpPr>
        <p:spPr>
          <a:xfrm>
            <a:off x="3026198" y="3104600"/>
            <a:ext cx="3091500" cy="3078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lang="en" sz="2000">
                <a:solidFill>
                  <a:srgbClr val="09080B"/>
                </a:solidFill>
                <a:latin typeface="Playwrite US Trad"/>
                <a:ea typeface="Playwrite US Trad"/>
                <a:cs typeface="Playwrite US Trad"/>
                <a:sym typeface="Playwrite US Trad"/>
              </a:rPr>
              <a:t>By Harleen Buttar</a:t>
            </a:r>
            <a:endParaRPr sz="700"/>
          </a:p>
        </p:txBody>
      </p:sp>
      <p:sp>
        <p:nvSpPr>
          <p:cNvPr id="143" name="Google Shape;143;p25"/>
          <p:cNvSpPr txBox="1"/>
          <p:nvPr/>
        </p:nvSpPr>
        <p:spPr>
          <a:xfrm>
            <a:off x="761241" y="869219"/>
            <a:ext cx="3091500" cy="184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Data Science for Algorithmic Marketing</a:t>
            </a:r>
            <a:r>
              <a:rPr b="0" i="0" lang="en" sz="1200" u="none" cap="none" strike="noStrike">
                <a:solidFill>
                  <a:srgbClr val="09080B"/>
                </a:solidFill>
                <a:latin typeface="Ovo"/>
                <a:ea typeface="Ovo"/>
                <a:cs typeface="Ovo"/>
                <a:sym typeface="Ovo"/>
              </a:rPr>
              <a:t>.</a:t>
            </a:r>
            <a:endParaRPr sz="700"/>
          </a:p>
        </p:txBody>
      </p:sp>
      <p:sp>
        <p:nvSpPr>
          <p:cNvPr id="144" name="Google Shape;144;p25"/>
          <p:cNvSpPr txBox="1"/>
          <p:nvPr/>
        </p:nvSpPr>
        <p:spPr>
          <a:xfrm>
            <a:off x="5260689" y="3913609"/>
            <a:ext cx="30915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lang="en" sz="1200">
                <a:solidFill>
                  <a:srgbClr val="09080B"/>
                </a:solidFill>
                <a:latin typeface="Ovo"/>
                <a:ea typeface="Ovo"/>
                <a:cs typeface="Ovo"/>
                <a:sym typeface="Ovo"/>
              </a:rPr>
              <a:t>March 10th, 2026</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150" name="Google Shape;150;p26"/>
          <p:cNvGrpSpPr/>
          <p:nvPr/>
        </p:nvGrpSpPr>
        <p:grpSpPr>
          <a:xfrm>
            <a:off x="514350" y="442021"/>
            <a:ext cx="8115140" cy="4187111"/>
            <a:chOff x="0" y="-38100"/>
            <a:chExt cx="4274726" cy="2205600"/>
          </a:xfrm>
        </p:grpSpPr>
        <p:sp>
          <p:nvSpPr>
            <p:cNvPr id="151" name="Google Shape;151;p26"/>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152" name="Google Shape;152;p26"/>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53" name="Google Shape;153;p26"/>
          <p:cNvGrpSpPr/>
          <p:nvPr/>
        </p:nvGrpSpPr>
        <p:grpSpPr>
          <a:xfrm>
            <a:off x="723461" y="1936459"/>
            <a:ext cx="7676739" cy="2449128"/>
            <a:chOff x="0" y="-38100"/>
            <a:chExt cx="4043794" cy="1290101"/>
          </a:xfrm>
        </p:grpSpPr>
        <p:sp>
          <p:nvSpPr>
            <p:cNvPr id="154" name="Google Shape;154;p26"/>
            <p:cNvSpPr/>
            <p:nvPr/>
          </p:nvSpPr>
          <p:spPr>
            <a:xfrm>
              <a:off x="0" y="0"/>
              <a:ext cx="4043794" cy="1252001"/>
            </a:xfrm>
            <a:custGeom>
              <a:rect b="b" l="l" r="r" t="t"/>
              <a:pathLst>
                <a:path extrusionOk="0" h="1252001" w="4043794">
                  <a:moveTo>
                    <a:pt x="0" y="0"/>
                  </a:moveTo>
                  <a:lnTo>
                    <a:pt x="4043794" y="0"/>
                  </a:lnTo>
                  <a:lnTo>
                    <a:pt x="4043794" y="1252001"/>
                  </a:lnTo>
                  <a:lnTo>
                    <a:pt x="0" y="1252001"/>
                  </a:lnTo>
                  <a:close/>
                </a:path>
              </a:pathLst>
            </a:custGeom>
            <a:solidFill>
              <a:srgbClr val="FFFAF5"/>
            </a:solidFill>
            <a:ln>
              <a:noFill/>
            </a:ln>
          </p:spPr>
        </p:sp>
        <p:sp>
          <p:nvSpPr>
            <p:cNvPr id="155" name="Google Shape;155;p26"/>
            <p:cNvSpPr txBox="1"/>
            <p:nvPr/>
          </p:nvSpPr>
          <p:spPr>
            <a:xfrm>
              <a:off x="0" y="-38100"/>
              <a:ext cx="4043700" cy="1290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6" name="Google Shape;156;p26"/>
          <p:cNvSpPr/>
          <p:nvPr/>
        </p:nvSpPr>
        <p:spPr>
          <a:xfrm>
            <a:off x="5277308" y="270990"/>
            <a:ext cx="7031230" cy="4114800"/>
          </a:xfrm>
          <a:custGeom>
            <a:rect b="b" l="l" r="r" t="t"/>
            <a:pathLst>
              <a:path extrusionOk="0" h="8229600" w="14062460">
                <a:moveTo>
                  <a:pt x="0" y="0"/>
                </a:moveTo>
                <a:lnTo>
                  <a:pt x="14062459" y="0"/>
                </a:lnTo>
                <a:lnTo>
                  <a:pt x="14062459" y="8229600"/>
                </a:lnTo>
                <a:lnTo>
                  <a:pt x="0" y="8229600"/>
                </a:lnTo>
                <a:lnTo>
                  <a:pt x="0" y="0"/>
                </a:lnTo>
                <a:close/>
              </a:path>
            </a:pathLst>
          </a:custGeom>
          <a:blipFill rotWithShape="1">
            <a:blip r:embed="rId4">
              <a:alphaModFix/>
            </a:blip>
            <a:stretch>
              <a:fillRect b="0" l="-12140" r="0" t="0"/>
            </a:stretch>
          </a:blipFill>
          <a:ln>
            <a:noFill/>
          </a:ln>
        </p:spPr>
      </p:sp>
      <p:sp>
        <p:nvSpPr>
          <p:cNvPr id="157" name="Google Shape;157;p26"/>
          <p:cNvSpPr/>
          <p:nvPr/>
        </p:nvSpPr>
        <p:spPr>
          <a:xfrm flipH="1" rot="8100000">
            <a:off x="8201256" y="4197584"/>
            <a:ext cx="398146" cy="377741"/>
          </a:xfrm>
          <a:custGeom>
            <a:rect b="b" l="l" r="r" t="t"/>
            <a:pathLst>
              <a:path extrusionOk="0" h="757739" w="798671">
                <a:moveTo>
                  <a:pt x="0" y="757740"/>
                </a:moveTo>
                <a:lnTo>
                  <a:pt x="798671" y="757740"/>
                </a:lnTo>
                <a:lnTo>
                  <a:pt x="798671" y="0"/>
                </a:lnTo>
                <a:lnTo>
                  <a:pt x="0" y="0"/>
                </a:lnTo>
                <a:lnTo>
                  <a:pt x="0" y="757740"/>
                </a:lnTo>
                <a:close/>
              </a:path>
            </a:pathLst>
          </a:custGeom>
          <a:blipFill rotWithShape="1">
            <a:blip r:embed="rId5">
              <a:alphaModFix/>
            </a:blip>
            <a:stretch>
              <a:fillRect b="0" l="0" r="0" t="0"/>
            </a:stretch>
          </a:blipFill>
          <a:ln>
            <a:noFill/>
          </a:ln>
        </p:spPr>
      </p:sp>
      <p:sp>
        <p:nvSpPr>
          <p:cNvPr id="158" name="Google Shape;158;p26"/>
          <p:cNvSpPr txBox="1"/>
          <p:nvPr/>
        </p:nvSpPr>
        <p:spPr>
          <a:xfrm>
            <a:off x="1790857" y="691953"/>
            <a:ext cx="55623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Business Problem</a:t>
            </a:r>
            <a:endParaRPr sz="700"/>
          </a:p>
        </p:txBody>
      </p:sp>
      <p:sp>
        <p:nvSpPr>
          <p:cNvPr id="159" name="Google Shape;159;p26"/>
          <p:cNvSpPr txBox="1"/>
          <p:nvPr/>
        </p:nvSpPr>
        <p:spPr>
          <a:xfrm>
            <a:off x="950254" y="2156121"/>
            <a:ext cx="4327200" cy="18474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500">
                <a:solidFill>
                  <a:srgbClr val="09080B"/>
                </a:solidFill>
                <a:latin typeface="Ovo"/>
                <a:ea typeface="Ovo"/>
                <a:cs typeface="Ovo"/>
                <a:sym typeface="Ovo"/>
              </a:rPr>
              <a:t>How should beauty brands optimize their product, pricing, and marketing strategies across Sephora and Ulta to maximize perceived value, consumer engagement, and competitive positioning -- given that consumer expectations, sentiment drivers, and price sensitivity may differ by retail channel?</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165" name="Google Shape;165;p27"/>
          <p:cNvGrpSpPr/>
          <p:nvPr/>
        </p:nvGrpSpPr>
        <p:grpSpPr>
          <a:xfrm>
            <a:off x="514350" y="442021"/>
            <a:ext cx="8115140" cy="4187111"/>
            <a:chOff x="0" y="-38100"/>
            <a:chExt cx="4274726" cy="2205600"/>
          </a:xfrm>
        </p:grpSpPr>
        <p:sp>
          <p:nvSpPr>
            <p:cNvPr id="166" name="Google Shape;166;p27"/>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167" name="Google Shape;167;p27"/>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68" name="Google Shape;168;p27"/>
          <p:cNvGrpSpPr/>
          <p:nvPr/>
        </p:nvGrpSpPr>
        <p:grpSpPr>
          <a:xfrm>
            <a:off x="711866" y="1154973"/>
            <a:ext cx="7688323" cy="3230542"/>
            <a:chOff x="-6102" y="-38100"/>
            <a:chExt cx="4049896" cy="1290101"/>
          </a:xfrm>
        </p:grpSpPr>
        <p:sp>
          <p:nvSpPr>
            <p:cNvPr id="169" name="Google Shape;169;p27"/>
            <p:cNvSpPr/>
            <p:nvPr/>
          </p:nvSpPr>
          <p:spPr>
            <a:xfrm>
              <a:off x="0" y="0"/>
              <a:ext cx="4043794" cy="1252001"/>
            </a:xfrm>
            <a:custGeom>
              <a:rect b="b" l="l" r="r" t="t"/>
              <a:pathLst>
                <a:path extrusionOk="0" h="1252001" w="4043794">
                  <a:moveTo>
                    <a:pt x="0" y="0"/>
                  </a:moveTo>
                  <a:lnTo>
                    <a:pt x="4043794" y="0"/>
                  </a:lnTo>
                  <a:lnTo>
                    <a:pt x="4043794" y="1252001"/>
                  </a:lnTo>
                  <a:lnTo>
                    <a:pt x="0" y="1252001"/>
                  </a:lnTo>
                  <a:close/>
                </a:path>
              </a:pathLst>
            </a:custGeom>
            <a:solidFill>
              <a:srgbClr val="FFFAF5"/>
            </a:solidFill>
            <a:ln>
              <a:noFill/>
            </a:ln>
          </p:spPr>
        </p:sp>
        <p:sp>
          <p:nvSpPr>
            <p:cNvPr id="170" name="Google Shape;170;p27"/>
            <p:cNvSpPr txBox="1"/>
            <p:nvPr/>
          </p:nvSpPr>
          <p:spPr>
            <a:xfrm>
              <a:off x="-6102" y="-38100"/>
              <a:ext cx="4043700" cy="12900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None/>
              </a:pPr>
              <a:r>
                <a:rPr lang="en" sz="1100">
                  <a:solidFill>
                    <a:schemeClr val="dk1"/>
                  </a:solidFill>
                  <a:latin typeface="Calibri"/>
                  <a:ea typeface="Calibri"/>
                  <a:cs typeface="Calibri"/>
                  <a:sym typeface="Calibri"/>
                </a:rPr>
                <a:t>Web Scraping Sephora &amp; Ulta</a:t>
              </a:r>
              <a:endParaRPr sz="11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Automated Data Pipeline</a:t>
              </a:r>
              <a:endParaRPr sz="9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Custom Python scraping framework built using Selenium + BeautifulSoup</a:t>
              </a:r>
              <a:endParaRPr sz="9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Simulated real user browsing to load dynamic product listings</a:t>
              </a:r>
              <a:endParaRPr sz="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 sz="1100">
                  <a:solidFill>
                    <a:schemeClr val="dk1"/>
                  </a:solidFill>
                  <a:latin typeface="Calibri"/>
                  <a:ea typeface="Calibri"/>
                  <a:cs typeface="Calibri"/>
                  <a:sym typeface="Calibri"/>
                </a:rPr>
                <a:t>Data Collection Process</a:t>
              </a:r>
              <a:endParaRPr sz="11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Collected brand landing pages from Sephora and Ulta</a:t>
              </a:r>
              <a:endParaRPr sz="9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Extracted product URLs by scrolling product grids</a:t>
              </a:r>
              <a:endParaRPr sz="9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Visited each product page to capture:</a:t>
              </a:r>
              <a:endParaRPr sz="900">
                <a:solidFill>
                  <a:schemeClr val="dk1"/>
                </a:solidFill>
                <a:latin typeface="Calibri"/>
                <a:ea typeface="Calibri"/>
                <a:cs typeface="Calibri"/>
                <a:sym typeface="Calibri"/>
              </a:endParaRPr>
            </a:p>
            <a:p>
              <a:pPr indent="-285750" lvl="1" marL="9144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Brand</a:t>
              </a:r>
              <a:endParaRPr sz="900">
                <a:solidFill>
                  <a:schemeClr val="dk1"/>
                </a:solidFill>
                <a:latin typeface="Calibri"/>
                <a:ea typeface="Calibri"/>
                <a:cs typeface="Calibri"/>
                <a:sym typeface="Calibri"/>
              </a:endParaRPr>
            </a:p>
            <a:p>
              <a:pPr indent="-285750" lvl="1" marL="9144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Product name</a:t>
              </a:r>
              <a:endParaRPr sz="900">
                <a:solidFill>
                  <a:schemeClr val="dk1"/>
                </a:solidFill>
                <a:latin typeface="Calibri"/>
                <a:ea typeface="Calibri"/>
                <a:cs typeface="Calibri"/>
                <a:sym typeface="Calibri"/>
              </a:endParaRPr>
            </a:p>
            <a:p>
              <a:pPr indent="-285750" lvl="1" marL="9144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Category</a:t>
              </a:r>
              <a:endParaRPr sz="900">
                <a:solidFill>
                  <a:schemeClr val="dk1"/>
                </a:solidFill>
                <a:latin typeface="Calibri"/>
                <a:ea typeface="Calibri"/>
                <a:cs typeface="Calibri"/>
                <a:sym typeface="Calibri"/>
              </a:endParaRPr>
            </a:p>
            <a:p>
              <a:pPr indent="-285750" lvl="1" marL="9144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Price</a:t>
              </a:r>
              <a:endParaRPr sz="900">
                <a:solidFill>
                  <a:schemeClr val="dk1"/>
                </a:solidFill>
                <a:latin typeface="Calibri"/>
                <a:ea typeface="Calibri"/>
                <a:cs typeface="Calibri"/>
                <a:sym typeface="Calibri"/>
              </a:endParaRPr>
            </a:p>
            <a:p>
              <a:pPr indent="-285750" lvl="1" marL="9144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Rating and review counts</a:t>
              </a:r>
              <a:endParaRPr sz="900">
                <a:solidFill>
                  <a:schemeClr val="dk1"/>
                </a:solidFill>
                <a:latin typeface="Calibri"/>
                <a:ea typeface="Calibri"/>
                <a:cs typeface="Calibri"/>
                <a:sym typeface="Calibri"/>
              </a:endParaRPr>
            </a:p>
            <a:p>
              <a:pPr indent="-285750" lvl="1" marL="9144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Review Data</a:t>
              </a:r>
              <a:endParaRPr sz="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 sz="1100">
                  <a:solidFill>
                    <a:schemeClr val="dk1"/>
                  </a:solidFill>
                  <a:latin typeface="Calibri"/>
                  <a:ea typeface="Calibri"/>
                  <a:cs typeface="Calibri"/>
                  <a:sym typeface="Calibri"/>
                </a:rPr>
                <a:t>Retrieved structured review data through platform APIs:</a:t>
              </a:r>
              <a:endParaRPr sz="11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Bazaarvoice (Sephora)</a:t>
              </a:r>
              <a:endParaRPr sz="9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PowerReviews (Ulta)</a:t>
              </a:r>
              <a:endParaRPr sz="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 sz="1100">
                  <a:solidFill>
                    <a:schemeClr val="dk1"/>
                  </a:solidFill>
                  <a:latin typeface="Calibri"/>
                  <a:ea typeface="Calibri"/>
                  <a:cs typeface="Calibri"/>
                  <a:sym typeface="Calibri"/>
                </a:rPr>
                <a:t>Final Dataset</a:t>
              </a:r>
              <a:endParaRPr sz="11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Structured datasets of products + consumer reviews</a:t>
              </a:r>
              <a:endParaRPr sz="900">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Enables analysis of brand positioning, sentiment, and cross-platform differences</a:t>
              </a:r>
              <a:endParaRPr sz="900">
                <a:solidFill>
                  <a:schemeClr val="dk1"/>
                </a:solidFill>
                <a:latin typeface="Calibri"/>
                <a:ea typeface="Calibri"/>
                <a:cs typeface="Calibri"/>
                <a:sym typeface="Calibri"/>
              </a:endParaRPr>
            </a:p>
          </p:txBody>
        </p:sp>
      </p:grpSp>
      <p:sp>
        <p:nvSpPr>
          <p:cNvPr id="171" name="Google Shape;171;p27"/>
          <p:cNvSpPr/>
          <p:nvPr/>
        </p:nvSpPr>
        <p:spPr>
          <a:xfrm flipH="1" rot="8100000">
            <a:off x="8201256" y="4197584"/>
            <a:ext cx="398146" cy="377741"/>
          </a:xfrm>
          <a:custGeom>
            <a:rect b="b" l="l" r="r" t="t"/>
            <a:pathLst>
              <a:path extrusionOk="0" h="757739" w="798671">
                <a:moveTo>
                  <a:pt x="0" y="757740"/>
                </a:moveTo>
                <a:lnTo>
                  <a:pt x="798671" y="757740"/>
                </a:lnTo>
                <a:lnTo>
                  <a:pt x="798671" y="0"/>
                </a:lnTo>
                <a:lnTo>
                  <a:pt x="0" y="0"/>
                </a:lnTo>
                <a:lnTo>
                  <a:pt x="0" y="757740"/>
                </a:lnTo>
                <a:close/>
              </a:path>
            </a:pathLst>
          </a:custGeom>
          <a:blipFill rotWithShape="1">
            <a:blip r:embed="rId4">
              <a:alphaModFix/>
            </a:blip>
            <a:stretch>
              <a:fillRect b="0" l="0" r="0" t="0"/>
            </a:stretch>
          </a:blipFill>
          <a:ln>
            <a:noFill/>
          </a:ln>
        </p:spPr>
      </p:sp>
      <p:sp>
        <p:nvSpPr>
          <p:cNvPr id="172" name="Google Shape;172;p27"/>
          <p:cNvSpPr txBox="1"/>
          <p:nvPr/>
        </p:nvSpPr>
        <p:spPr>
          <a:xfrm>
            <a:off x="711870" y="662378"/>
            <a:ext cx="55623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solidFill>
                  <a:srgbClr val="453D37"/>
                </a:solidFill>
              </a:rPr>
              <a:t>Data Collection</a:t>
            </a:r>
            <a:endParaRPr sz="700"/>
          </a:p>
        </p:txBody>
      </p:sp>
      <p:sp>
        <p:nvSpPr>
          <p:cNvPr id="173" name="Google Shape;173;p27"/>
          <p:cNvSpPr txBox="1"/>
          <p:nvPr/>
        </p:nvSpPr>
        <p:spPr>
          <a:xfrm>
            <a:off x="950254" y="2156121"/>
            <a:ext cx="4327200" cy="107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t/>
            </a:r>
            <a:endParaRPr sz="700"/>
          </a:p>
        </p:txBody>
      </p:sp>
      <p:pic>
        <p:nvPicPr>
          <p:cNvPr id="174" name="Google Shape;174;p27" title="Screenshot 2026-03-04 at 4.32.24 PM.png"/>
          <p:cNvPicPr preferRelativeResize="0"/>
          <p:nvPr/>
        </p:nvPicPr>
        <p:blipFill>
          <a:blip r:embed="rId5">
            <a:alphaModFix/>
          </a:blip>
          <a:stretch>
            <a:fillRect/>
          </a:stretch>
        </p:blipFill>
        <p:spPr>
          <a:xfrm>
            <a:off x="5277455" y="577488"/>
            <a:ext cx="2262900" cy="3988500"/>
          </a:xfrm>
          <a:prstGeom prst="roundRect">
            <a:avLst>
              <a:gd fmla="val 16667"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180" name="Google Shape;180;p28"/>
          <p:cNvGrpSpPr/>
          <p:nvPr/>
        </p:nvGrpSpPr>
        <p:grpSpPr>
          <a:xfrm>
            <a:off x="514350" y="420358"/>
            <a:ext cx="8115140" cy="4187048"/>
            <a:chOff x="0" y="-38100"/>
            <a:chExt cx="4274726" cy="2205567"/>
          </a:xfrm>
        </p:grpSpPr>
        <p:sp>
          <p:nvSpPr>
            <p:cNvPr id="181" name="Google Shape;181;p28"/>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182" name="Google Shape;182;p28"/>
            <p:cNvSpPr txBox="1"/>
            <p:nvPr/>
          </p:nvSpPr>
          <p:spPr>
            <a:xfrm>
              <a:off x="0" y="-38100"/>
              <a:ext cx="4274726"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83" name="Google Shape;183;p28"/>
          <p:cNvGrpSpPr/>
          <p:nvPr/>
        </p:nvGrpSpPr>
        <p:grpSpPr>
          <a:xfrm>
            <a:off x="776150" y="1062775"/>
            <a:ext cx="7624125" cy="3322746"/>
            <a:chOff x="0" y="-38100"/>
            <a:chExt cx="2225827" cy="1971839"/>
          </a:xfrm>
        </p:grpSpPr>
        <p:sp>
          <p:nvSpPr>
            <p:cNvPr id="184" name="Google Shape;184;p28"/>
            <p:cNvSpPr/>
            <p:nvPr/>
          </p:nvSpPr>
          <p:spPr>
            <a:xfrm>
              <a:off x="0" y="0"/>
              <a:ext cx="2225827" cy="1933739"/>
            </a:xfrm>
            <a:custGeom>
              <a:rect b="b" l="l" r="r" t="t"/>
              <a:pathLst>
                <a:path extrusionOk="0" h="1933739" w="2225827">
                  <a:moveTo>
                    <a:pt x="0" y="0"/>
                  </a:moveTo>
                  <a:lnTo>
                    <a:pt x="2225827" y="0"/>
                  </a:lnTo>
                  <a:lnTo>
                    <a:pt x="2225827" y="1933739"/>
                  </a:lnTo>
                  <a:lnTo>
                    <a:pt x="0" y="1933739"/>
                  </a:lnTo>
                  <a:close/>
                </a:path>
              </a:pathLst>
            </a:custGeom>
            <a:solidFill>
              <a:srgbClr val="FFFAF5"/>
            </a:solidFill>
            <a:ln>
              <a:noFill/>
            </a:ln>
          </p:spPr>
        </p:sp>
        <p:sp>
          <p:nvSpPr>
            <p:cNvPr id="185" name="Google Shape;185;p28"/>
            <p:cNvSpPr txBox="1"/>
            <p:nvPr/>
          </p:nvSpPr>
          <p:spPr>
            <a:xfrm>
              <a:off x="0" y="-38100"/>
              <a:ext cx="2225827" cy="1971839"/>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6" name="Google Shape;186;p28"/>
          <p:cNvSpPr/>
          <p:nvPr/>
        </p:nvSpPr>
        <p:spPr>
          <a:xfrm>
            <a:off x="6365661" y="2074071"/>
            <a:ext cx="4527978" cy="4114800"/>
          </a:xfrm>
          <a:custGeom>
            <a:rect b="b" l="l" r="r" t="t"/>
            <a:pathLst>
              <a:path extrusionOk="0" h="8229600" w="9055956">
                <a:moveTo>
                  <a:pt x="0" y="0"/>
                </a:moveTo>
                <a:lnTo>
                  <a:pt x="9055956" y="0"/>
                </a:lnTo>
                <a:lnTo>
                  <a:pt x="9055956" y="8229600"/>
                </a:lnTo>
                <a:lnTo>
                  <a:pt x="0" y="8229600"/>
                </a:lnTo>
                <a:lnTo>
                  <a:pt x="0" y="0"/>
                </a:lnTo>
                <a:close/>
              </a:path>
            </a:pathLst>
          </a:custGeom>
          <a:blipFill rotWithShape="1">
            <a:blip r:embed="rId4">
              <a:alphaModFix/>
            </a:blip>
            <a:stretch>
              <a:fillRect b="0" l="0" r="0" t="0"/>
            </a:stretch>
          </a:blipFill>
          <a:ln>
            <a:noFill/>
          </a:ln>
        </p:spPr>
      </p:sp>
      <p:sp>
        <p:nvSpPr>
          <p:cNvPr id="187" name="Google Shape;187;p28"/>
          <p:cNvSpPr/>
          <p:nvPr/>
        </p:nvSpPr>
        <p:spPr>
          <a:xfrm>
            <a:off x="514350" y="4035898"/>
            <a:ext cx="2896819" cy="3332988"/>
          </a:xfrm>
          <a:custGeom>
            <a:rect b="b" l="l" r="r" t="t"/>
            <a:pathLst>
              <a:path extrusionOk="0" h="8229600" w="6583680">
                <a:moveTo>
                  <a:pt x="0" y="0"/>
                </a:moveTo>
                <a:lnTo>
                  <a:pt x="6583680" y="0"/>
                </a:lnTo>
                <a:lnTo>
                  <a:pt x="6583680" y="8229600"/>
                </a:lnTo>
                <a:lnTo>
                  <a:pt x="0" y="8229600"/>
                </a:lnTo>
                <a:lnTo>
                  <a:pt x="0" y="0"/>
                </a:lnTo>
                <a:close/>
              </a:path>
            </a:pathLst>
          </a:custGeom>
          <a:blipFill rotWithShape="1">
            <a:blip r:embed="rId5">
              <a:alphaModFix/>
            </a:blip>
            <a:stretch>
              <a:fillRect b="0" l="0" r="0" t="0"/>
            </a:stretch>
          </a:blipFill>
          <a:ln>
            <a:noFill/>
          </a:ln>
        </p:spPr>
      </p:sp>
      <p:sp>
        <p:nvSpPr>
          <p:cNvPr id="188" name="Google Shape;188;p28"/>
          <p:cNvSpPr txBox="1"/>
          <p:nvPr/>
        </p:nvSpPr>
        <p:spPr>
          <a:xfrm>
            <a:off x="1851932" y="673978"/>
            <a:ext cx="55623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Market Segmentation</a:t>
            </a:r>
            <a:endParaRPr sz="700"/>
          </a:p>
        </p:txBody>
      </p:sp>
      <p:sp>
        <p:nvSpPr>
          <p:cNvPr id="189" name="Google Shape;189;p28"/>
          <p:cNvSpPr/>
          <p:nvPr/>
        </p:nvSpPr>
        <p:spPr>
          <a:xfrm flipH="1" rot="2700000">
            <a:off x="8155353" y="598194"/>
            <a:ext cx="399336" cy="378869"/>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6">
              <a:alphaModFix/>
            </a:blip>
            <a:stretch>
              <a:fillRect b="0" l="0" r="0" t="0"/>
            </a:stretch>
          </a:blipFill>
          <a:ln>
            <a:noFill/>
          </a:ln>
        </p:spPr>
      </p:sp>
      <p:sp>
        <p:nvSpPr>
          <p:cNvPr id="190" name="Google Shape;190;p28"/>
          <p:cNvSpPr txBox="1"/>
          <p:nvPr/>
        </p:nvSpPr>
        <p:spPr>
          <a:xfrm>
            <a:off x="836925" y="1227950"/>
            <a:ext cx="7349700" cy="3029400"/>
          </a:xfrm>
          <a:prstGeom prst="rect">
            <a:avLst/>
          </a:prstGeom>
          <a:noFill/>
          <a:ln>
            <a:noFill/>
          </a:ln>
        </p:spPr>
        <p:txBody>
          <a:bodyPr anchorCtr="0" anchor="t" bIns="0" lIns="0" spcFirstLastPara="1" rIns="0" wrap="square" tIns="0">
            <a:spAutoFit/>
          </a:bodyPr>
          <a:lstStyle/>
          <a:p>
            <a:pPr indent="-304800" lvl="0" marL="4572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Preformed K-means, </a:t>
            </a:r>
            <a:r>
              <a:rPr lang="en" sz="1200">
                <a:solidFill>
                  <a:srgbClr val="09080B"/>
                </a:solidFill>
                <a:latin typeface="Ovo"/>
                <a:ea typeface="Ovo"/>
                <a:cs typeface="Ovo"/>
                <a:sym typeface="Ovo"/>
              </a:rPr>
              <a:t>Hierarchical Clustering</a:t>
            </a:r>
            <a:r>
              <a:rPr lang="en" sz="1200">
                <a:solidFill>
                  <a:srgbClr val="09080B"/>
                </a:solidFill>
                <a:latin typeface="Ovo"/>
                <a:ea typeface="Ovo"/>
                <a:cs typeface="Ovo"/>
                <a:sym typeface="Ovo"/>
              </a:rPr>
              <a:t>, and GMM on both Ulta and Sephora</a:t>
            </a:r>
            <a:endParaRPr sz="1200">
              <a:solidFill>
                <a:srgbClr val="09080B"/>
              </a:solidFill>
              <a:latin typeface="Ovo"/>
              <a:ea typeface="Ovo"/>
              <a:cs typeface="Ovo"/>
              <a:sym typeface="Ovo"/>
            </a:endParaRPr>
          </a:p>
          <a:p>
            <a:pPr indent="-304800" lvl="1" marL="9144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Weighted and Unweighted</a:t>
            </a:r>
            <a:endParaRPr sz="1200">
              <a:solidFill>
                <a:srgbClr val="09080B"/>
              </a:solidFill>
              <a:latin typeface="Ovo"/>
              <a:ea typeface="Ovo"/>
              <a:cs typeface="Ovo"/>
              <a:sym typeface="Ovo"/>
            </a:endParaRPr>
          </a:p>
          <a:p>
            <a:pPr indent="-304800" lvl="0" marL="4572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Created segmentation CSVs that included variables like:</a:t>
            </a:r>
            <a:endParaRPr sz="1200">
              <a:solidFill>
                <a:srgbClr val="09080B"/>
              </a:solidFill>
              <a:latin typeface="Ovo"/>
              <a:ea typeface="Ovo"/>
              <a:cs typeface="Ovo"/>
              <a:sym typeface="Ovo"/>
            </a:endParaRPr>
          </a:p>
          <a:p>
            <a:pPr indent="-304800" lvl="1" marL="9144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Review velocity, Average rating, Positive sentiment ratio, </a:t>
            </a:r>
            <a:r>
              <a:rPr lang="en" sz="1200">
                <a:solidFill>
                  <a:srgbClr val="09080B"/>
                </a:solidFill>
                <a:latin typeface="Ovo"/>
                <a:ea typeface="Ovo"/>
                <a:cs typeface="Ovo"/>
                <a:sym typeface="Ovo"/>
              </a:rPr>
              <a:t>Helpfulness</a:t>
            </a:r>
            <a:r>
              <a:rPr lang="en" sz="1200">
                <a:solidFill>
                  <a:srgbClr val="09080B"/>
                </a:solidFill>
                <a:latin typeface="Ovo"/>
                <a:ea typeface="Ovo"/>
                <a:cs typeface="Ovo"/>
                <a:sym typeface="Ovo"/>
              </a:rPr>
              <a:t> Engagement rate, Rating dispersion over time, Normalized review count, Percent x star ratings, Rating variance/stability, Sentiment scores, Topic Prevalence, and Retailer specific feature</a:t>
            </a:r>
            <a:endParaRPr sz="1200">
              <a:solidFill>
                <a:srgbClr val="09080B"/>
              </a:solidFill>
              <a:latin typeface="Ovo"/>
              <a:ea typeface="Ovo"/>
              <a:cs typeface="Ovo"/>
              <a:sym typeface="Ovo"/>
            </a:endParaRPr>
          </a:p>
          <a:p>
            <a:pPr indent="-304800" lvl="0" marL="4572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Weights:</a:t>
            </a:r>
            <a:endParaRPr sz="1200">
              <a:solidFill>
                <a:srgbClr val="09080B"/>
              </a:solidFill>
              <a:latin typeface="Ovo"/>
              <a:ea typeface="Ovo"/>
              <a:cs typeface="Ovo"/>
              <a:sym typeface="Ovo"/>
            </a:endParaRPr>
          </a:p>
          <a:p>
            <a:pPr indent="-304800" lvl="1" marL="9144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Retailer Specific Values</a:t>
            </a:r>
            <a:endParaRPr sz="1200">
              <a:solidFill>
                <a:srgbClr val="09080B"/>
              </a:solidFill>
              <a:latin typeface="Ovo"/>
              <a:ea typeface="Ovo"/>
              <a:cs typeface="Ovo"/>
              <a:sym typeface="Ovo"/>
            </a:endParaRPr>
          </a:p>
          <a:p>
            <a:pPr indent="-304800" lvl="1" marL="9144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Review Velocity</a:t>
            </a:r>
            <a:endParaRPr sz="1200">
              <a:solidFill>
                <a:srgbClr val="09080B"/>
              </a:solidFill>
              <a:latin typeface="Ovo"/>
              <a:ea typeface="Ovo"/>
              <a:cs typeface="Ovo"/>
              <a:sym typeface="Ovo"/>
            </a:endParaRPr>
          </a:p>
          <a:p>
            <a:pPr indent="-304800" lvl="1" marL="9144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Positive Sentiment Ratio</a:t>
            </a:r>
            <a:endParaRPr sz="1200">
              <a:solidFill>
                <a:srgbClr val="09080B"/>
              </a:solidFill>
              <a:latin typeface="Ovo"/>
              <a:ea typeface="Ovo"/>
              <a:cs typeface="Ovo"/>
              <a:sym typeface="Ovo"/>
            </a:endParaRPr>
          </a:p>
          <a:p>
            <a:pPr indent="-304800" lvl="1" marL="9144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Rating Dispersion over time</a:t>
            </a:r>
            <a:endParaRPr sz="1200">
              <a:solidFill>
                <a:srgbClr val="09080B"/>
              </a:solidFill>
              <a:latin typeface="Ovo"/>
              <a:ea typeface="Ovo"/>
              <a:cs typeface="Ovo"/>
              <a:sym typeface="Ovo"/>
            </a:endParaRPr>
          </a:p>
          <a:p>
            <a:pPr indent="-304800" lvl="1" marL="914400" marR="0" rtl="0" algn="just">
              <a:lnSpc>
                <a:spcPct val="140016"/>
              </a:lnSpc>
              <a:spcBef>
                <a:spcPts val="0"/>
              </a:spcBef>
              <a:spcAft>
                <a:spcPts val="0"/>
              </a:spcAft>
              <a:buClr>
                <a:srgbClr val="09080B"/>
              </a:buClr>
              <a:buSzPts val="1200"/>
              <a:buFont typeface="Ovo"/>
              <a:buChar char="○"/>
            </a:pPr>
            <a:r>
              <a:rPr lang="en" sz="1200">
                <a:solidFill>
                  <a:srgbClr val="09080B"/>
                </a:solidFill>
                <a:latin typeface="Ovo"/>
                <a:ea typeface="Ovo"/>
                <a:cs typeface="Ovo"/>
                <a:sym typeface="Ovo"/>
              </a:rPr>
              <a:t>Rating Variance/Stability</a:t>
            </a:r>
            <a:endParaRPr sz="1200">
              <a:solidFill>
                <a:srgbClr val="09080B"/>
              </a:solidFill>
              <a:latin typeface="Ovo"/>
              <a:ea typeface="Ovo"/>
              <a:cs typeface="Ovo"/>
              <a:sym typeface="Ovo"/>
            </a:endParaRPr>
          </a:p>
        </p:txBody>
      </p:sp>
      <p:sp>
        <p:nvSpPr>
          <p:cNvPr id="191" name="Google Shape;191;p28"/>
          <p:cNvSpPr txBox="1"/>
          <p:nvPr/>
        </p:nvSpPr>
        <p:spPr>
          <a:xfrm>
            <a:off x="-1464925" y="2181599"/>
            <a:ext cx="1212600" cy="107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sp>
        <p:nvSpPr>
          <p:cNvPr id="197" name="Google Shape;197;p29"/>
          <p:cNvSpPr txBox="1"/>
          <p:nvPr/>
        </p:nvSpPr>
        <p:spPr>
          <a:xfrm>
            <a:off x="1227950" y="706625"/>
            <a:ext cx="63135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Sephora Weighted K-means</a:t>
            </a:r>
            <a:endParaRPr sz="700"/>
          </a:p>
        </p:txBody>
      </p:sp>
      <p:sp>
        <p:nvSpPr>
          <p:cNvPr id="198" name="Google Shape;198;p29"/>
          <p:cNvSpPr/>
          <p:nvPr/>
        </p:nvSpPr>
        <p:spPr>
          <a:xfrm flipH="1" rot="-2700000">
            <a:off x="575633" y="597939"/>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grpSp>
        <p:nvGrpSpPr>
          <p:cNvPr id="199" name="Google Shape;199;p29"/>
          <p:cNvGrpSpPr/>
          <p:nvPr/>
        </p:nvGrpSpPr>
        <p:grpSpPr>
          <a:xfrm>
            <a:off x="450825" y="546796"/>
            <a:ext cx="8115140" cy="4187111"/>
            <a:chOff x="0" y="-38100"/>
            <a:chExt cx="4274726" cy="2205600"/>
          </a:xfrm>
        </p:grpSpPr>
        <p:sp>
          <p:nvSpPr>
            <p:cNvPr id="200" name="Google Shape;200;p29"/>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201" name="Google Shape;201;p29"/>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l">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2" name="Google Shape;202;p29"/>
          <p:cNvSpPr/>
          <p:nvPr/>
        </p:nvSpPr>
        <p:spPr>
          <a:xfrm flipH="1" rot="2700000">
            <a:off x="8156768" y="598780"/>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grpSp>
        <p:nvGrpSpPr>
          <p:cNvPr id="203" name="Google Shape;203;p29"/>
          <p:cNvGrpSpPr/>
          <p:nvPr/>
        </p:nvGrpSpPr>
        <p:grpSpPr>
          <a:xfrm>
            <a:off x="662875" y="1199226"/>
            <a:ext cx="2388180" cy="1550814"/>
            <a:chOff x="0" y="-38100"/>
            <a:chExt cx="1257996" cy="711709"/>
          </a:xfrm>
        </p:grpSpPr>
        <p:sp>
          <p:nvSpPr>
            <p:cNvPr id="204" name="Google Shape;204;p29"/>
            <p:cNvSpPr/>
            <p:nvPr/>
          </p:nvSpPr>
          <p:spPr>
            <a:xfrm>
              <a:off x="0" y="0"/>
              <a:ext cx="1257996" cy="673609"/>
            </a:xfrm>
            <a:custGeom>
              <a:rect b="b" l="l" r="r" t="t"/>
              <a:pathLst>
                <a:path extrusionOk="0" h="673609" w="1257996">
                  <a:moveTo>
                    <a:pt x="0" y="0"/>
                  </a:moveTo>
                  <a:lnTo>
                    <a:pt x="1257996" y="0"/>
                  </a:lnTo>
                  <a:lnTo>
                    <a:pt x="1257996" y="673609"/>
                  </a:lnTo>
                  <a:lnTo>
                    <a:pt x="0" y="673609"/>
                  </a:lnTo>
                  <a:close/>
                </a:path>
              </a:pathLst>
            </a:custGeom>
            <a:solidFill>
              <a:srgbClr val="FFFAF5"/>
            </a:solidFill>
            <a:ln>
              <a:noFill/>
            </a:ln>
          </p:spPr>
        </p:sp>
        <p:sp>
          <p:nvSpPr>
            <p:cNvPr id="205" name="Google Shape;205;p29"/>
            <p:cNvSpPr txBox="1"/>
            <p:nvPr/>
          </p:nvSpPr>
          <p:spPr>
            <a:xfrm>
              <a:off x="0" y="-38100"/>
              <a:ext cx="1257900" cy="711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6" name="Google Shape;206;p29"/>
          <p:cNvGrpSpPr/>
          <p:nvPr/>
        </p:nvGrpSpPr>
        <p:grpSpPr>
          <a:xfrm>
            <a:off x="6072742" y="1398940"/>
            <a:ext cx="2388180" cy="1351108"/>
            <a:chOff x="0" y="-38100"/>
            <a:chExt cx="1257996" cy="711709"/>
          </a:xfrm>
        </p:grpSpPr>
        <p:sp>
          <p:nvSpPr>
            <p:cNvPr id="207" name="Google Shape;207;p29"/>
            <p:cNvSpPr/>
            <p:nvPr/>
          </p:nvSpPr>
          <p:spPr>
            <a:xfrm>
              <a:off x="0" y="0"/>
              <a:ext cx="1257996" cy="673609"/>
            </a:xfrm>
            <a:custGeom>
              <a:rect b="b" l="l" r="r" t="t"/>
              <a:pathLst>
                <a:path extrusionOk="0" h="673609" w="1257996">
                  <a:moveTo>
                    <a:pt x="0" y="0"/>
                  </a:moveTo>
                  <a:lnTo>
                    <a:pt x="1257996" y="0"/>
                  </a:lnTo>
                  <a:lnTo>
                    <a:pt x="1257996" y="673609"/>
                  </a:lnTo>
                  <a:lnTo>
                    <a:pt x="0" y="673609"/>
                  </a:lnTo>
                  <a:close/>
                </a:path>
              </a:pathLst>
            </a:custGeom>
            <a:solidFill>
              <a:srgbClr val="FFFAF5"/>
            </a:solidFill>
            <a:ln>
              <a:noFill/>
            </a:ln>
          </p:spPr>
        </p:sp>
        <p:sp>
          <p:nvSpPr>
            <p:cNvPr id="208" name="Google Shape;208;p29"/>
            <p:cNvSpPr txBox="1"/>
            <p:nvPr/>
          </p:nvSpPr>
          <p:spPr>
            <a:xfrm>
              <a:off x="0" y="-38100"/>
              <a:ext cx="1257900" cy="711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9" name="Google Shape;209;p29"/>
          <p:cNvGrpSpPr/>
          <p:nvPr/>
        </p:nvGrpSpPr>
        <p:grpSpPr>
          <a:xfrm>
            <a:off x="662879" y="3087320"/>
            <a:ext cx="2388180" cy="1351108"/>
            <a:chOff x="0" y="-38100"/>
            <a:chExt cx="1257996" cy="711709"/>
          </a:xfrm>
        </p:grpSpPr>
        <p:sp>
          <p:nvSpPr>
            <p:cNvPr id="210" name="Google Shape;210;p29"/>
            <p:cNvSpPr/>
            <p:nvPr/>
          </p:nvSpPr>
          <p:spPr>
            <a:xfrm>
              <a:off x="0" y="0"/>
              <a:ext cx="1257996" cy="673609"/>
            </a:xfrm>
            <a:custGeom>
              <a:rect b="b" l="l" r="r" t="t"/>
              <a:pathLst>
                <a:path extrusionOk="0" h="673609" w="1257996">
                  <a:moveTo>
                    <a:pt x="0" y="0"/>
                  </a:moveTo>
                  <a:lnTo>
                    <a:pt x="1257996" y="0"/>
                  </a:lnTo>
                  <a:lnTo>
                    <a:pt x="1257996" y="673609"/>
                  </a:lnTo>
                  <a:lnTo>
                    <a:pt x="0" y="673609"/>
                  </a:lnTo>
                  <a:close/>
                </a:path>
              </a:pathLst>
            </a:custGeom>
            <a:solidFill>
              <a:srgbClr val="FFFAF5"/>
            </a:solidFill>
            <a:ln>
              <a:noFill/>
            </a:ln>
          </p:spPr>
        </p:sp>
        <p:sp>
          <p:nvSpPr>
            <p:cNvPr id="211" name="Google Shape;211;p29"/>
            <p:cNvSpPr txBox="1"/>
            <p:nvPr/>
          </p:nvSpPr>
          <p:spPr>
            <a:xfrm>
              <a:off x="0" y="-38100"/>
              <a:ext cx="1257900" cy="711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12" name="Google Shape;212;p29"/>
          <p:cNvGrpSpPr/>
          <p:nvPr/>
        </p:nvGrpSpPr>
        <p:grpSpPr>
          <a:xfrm>
            <a:off x="6072788" y="3087026"/>
            <a:ext cx="2388180" cy="1504339"/>
            <a:chOff x="0" y="-38100"/>
            <a:chExt cx="1257996" cy="711709"/>
          </a:xfrm>
        </p:grpSpPr>
        <p:sp>
          <p:nvSpPr>
            <p:cNvPr id="213" name="Google Shape;213;p29"/>
            <p:cNvSpPr/>
            <p:nvPr/>
          </p:nvSpPr>
          <p:spPr>
            <a:xfrm>
              <a:off x="0" y="0"/>
              <a:ext cx="1257996" cy="673609"/>
            </a:xfrm>
            <a:custGeom>
              <a:rect b="b" l="l" r="r" t="t"/>
              <a:pathLst>
                <a:path extrusionOk="0" h="673609" w="1257996">
                  <a:moveTo>
                    <a:pt x="0" y="0"/>
                  </a:moveTo>
                  <a:lnTo>
                    <a:pt x="1257996" y="0"/>
                  </a:lnTo>
                  <a:lnTo>
                    <a:pt x="1257996" y="673609"/>
                  </a:lnTo>
                  <a:lnTo>
                    <a:pt x="0" y="673609"/>
                  </a:lnTo>
                  <a:close/>
                </a:path>
              </a:pathLst>
            </a:custGeom>
            <a:solidFill>
              <a:srgbClr val="FFFAF5"/>
            </a:solidFill>
            <a:ln>
              <a:noFill/>
            </a:ln>
          </p:spPr>
        </p:sp>
        <p:sp>
          <p:nvSpPr>
            <p:cNvPr id="214" name="Google Shape;214;p29"/>
            <p:cNvSpPr txBox="1"/>
            <p:nvPr/>
          </p:nvSpPr>
          <p:spPr>
            <a:xfrm>
              <a:off x="0" y="-38100"/>
              <a:ext cx="1257900" cy="711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15" name="Google Shape;215;p29"/>
          <p:cNvGrpSpPr/>
          <p:nvPr/>
        </p:nvGrpSpPr>
        <p:grpSpPr>
          <a:xfrm>
            <a:off x="662875" y="1236473"/>
            <a:ext cx="2388180" cy="539364"/>
            <a:chOff x="0" y="-38100"/>
            <a:chExt cx="1257996" cy="284100"/>
          </a:xfrm>
        </p:grpSpPr>
        <p:sp>
          <p:nvSpPr>
            <p:cNvPr id="216" name="Google Shape;216;p29"/>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217" name="Google Shape;217;p29"/>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18" name="Google Shape;218;p29"/>
          <p:cNvGrpSpPr/>
          <p:nvPr/>
        </p:nvGrpSpPr>
        <p:grpSpPr>
          <a:xfrm>
            <a:off x="6072750" y="1236473"/>
            <a:ext cx="2388180" cy="539364"/>
            <a:chOff x="0" y="-38100"/>
            <a:chExt cx="1257996" cy="284100"/>
          </a:xfrm>
        </p:grpSpPr>
        <p:sp>
          <p:nvSpPr>
            <p:cNvPr id="219" name="Google Shape;219;p29"/>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220" name="Google Shape;220;p29"/>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1" name="Google Shape;221;p29"/>
          <p:cNvGrpSpPr/>
          <p:nvPr/>
        </p:nvGrpSpPr>
        <p:grpSpPr>
          <a:xfrm>
            <a:off x="662879" y="2847381"/>
            <a:ext cx="2388180" cy="539335"/>
            <a:chOff x="0" y="-38100"/>
            <a:chExt cx="1257996" cy="284100"/>
          </a:xfrm>
        </p:grpSpPr>
        <p:sp>
          <p:nvSpPr>
            <p:cNvPr id="222" name="Google Shape;222;p29"/>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223" name="Google Shape;223;p29"/>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4" name="Google Shape;224;p29"/>
          <p:cNvGrpSpPr/>
          <p:nvPr/>
        </p:nvGrpSpPr>
        <p:grpSpPr>
          <a:xfrm>
            <a:off x="6072750" y="2832625"/>
            <a:ext cx="2388180" cy="554109"/>
            <a:chOff x="0" y="-38100"/>
            <a:chExt cx="1257996" cy="284100"/>
          </a:xfrm>
        </p:grpSpPr>
        <p:sp>
          <p:nvSpPr>
            <p:cNvPr id="225" name="Google Shape;225;p29"/>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226" name="Google Shape;226;p29"/>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7" name="Google Shape;227;p29"/>
          <p:cNvSpPr/>
          <p:nvPr/>
        </p:nvSpPr>
        <p:spPr>
          <a:xfrm rot="1084339">
            <a:off x="3076686" y="1500407"/>
            <a:ext cx="2979256" cy="2841466"/>
          </a:xfrm>
          <a:custGeom>
            <a:rect b="b" l="l" r="r" t="t"/>
            <a:pathLst>
              <a:path extrusionOk="0" h="5686914" w="5962688">
                <a:moveTo>
                  <a:pt x="0" y="0"/>
                </a:moveTo>
                <a:lnTo>
                  <a:pt x="5962688" y="0"/>
                </a:lnTo>
                <a:lnTo>
                  <a:pt x="5962688" y="5686913"/>
                </a:lnTo>
                <a:lnTo>
                  <a:pt x="0" y="5686913"/>
                </a:lnTo>
                <a:lnTo>
                  <a:pt x="0" y="0"/>
                </a:lnTo>
                <a:close/>
              </a:path>
            </a:pathLst>
          </a:custGeom>
          <a:blipFill rotWithShape="1">
            <a:blip r:embed="rId5">
              <a:alphaModFix/>
            </a:blip>
            <a:stretch>
              <a:fillRect b="0" l="0" r="0" t="0"/>
            </a:stretch>
          </a:blipFill>
          <a:ln>
            <a:noFill/>
          </a:ln>
        </p:spPr>
      </p:sp>
      <p:sp>
        <p:nvSpPr>
          <p:cNvPr id="228" name="Google Shape;228;p29"/>
          <p:cNvSpPr txBox="1"/>
          <p:nvPr/>
        </p:nvSpPr>
        <p:spPr>
          <a:xfrm>
            <a:off x="662825" y="1398950"/>
            <a:ext cx="23883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1200">
                <a:solidFill>
                  <a:srgbClr val="FFFAF5"/>
                </a:solidFill>
                <a:latin typeface="Ovo"/>
                <a:ea typeface="Ovo"/>
                <a:cs typeface="Ovo"/>
                <a:sym typeface="Ovo"/>
              </a:rPr>
              <a:t>Cluster 0 — High-Traffic Mainstream (614 products, 37.6%)</a:t>
            </a:r>
            <a:endParaRPr sz="700"/>
          </a:p>
        </p:txBody>
      </p:sp>
      <p:sp>
        <p:nvSpPr>
          <p:cNvPr id="229" name="Google Shape;229;p29"/>
          <p:cNvSpPr txBox="1"/>
          <p:nvPr/>
        </p:nvSpPr>
        <p:spPr>
          <a:xfrm>
            <a:off x="6230975" y="1367026"/>
            <a:ext cx="20718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1200">
                <a:solidFill>
                  <a:srgbClr val="FFFAF5"/>
                </a:solidFill>
                <a:latin typeface="Ovo"/>
                <a:ea typeface="Ovo"/>
                <a:cs typeface="Ovo"/>
                <a:sym typeface="Ovo"/>
              </a:rPr>
              <a:t>Cluster 2 — Low-Visibility Darlings (192 products, 11.8%)</a:t>
            </a:r>
            <a:endParaRPr sz="700"/>
          </a:p>
        </p:txBody>
      </p:sp>
      <p:sp>
        <p:nvSpPr>
          <p:cNvPr id="230" name="Google Shape;230;p29"/>
          <p:cNvSpPr txBox="1"/>
          <p:nvPr/>
        </p:nvSpPr>
        <p:spPr>
          <a:xfrm>
            <a:off x="821106" y="2999094"/>
            <a:ext cx="20718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1200">
                <a:solidFill>
                  <a:srgbClr val="FFFAF5"/>
                </a:solidFill>
                <a:latin typeface="Ovo"/>
                <a:ea typeface="Ovo"/>
                <a:cs typeface="Ovo"/>
                <a:sym typeface="Ovo"/>
              </a:rPr>
              <a:t>Cluster 1 — Quiet Loyalists (500 products, 30.6%)</a:t>
            </a:r>
            <a:endParaRPr sz="700"/>
          </a:p>
        </p:txBody>
      </p:sp>
      <p:sp>
        <p:nvSpPr>
          <p:cNvPr id="231" name="Google Shape;231;p29"/>
          <p:cNvSpPr txBox="1"/>
          <p:nvPr/>
        </p:nvSpPr>
        <p:spPr>
          <a:xfrm>
            <a:off x="6128175" y="2999100"/>
            <a:ext cx="22704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1200">
                <a:solidFill>
                  <a:srgbClr val="FFFAF5"/>
                </a:solidFill>
                <a:latin typeface="Ovo"/>
                <a:ea typeface="Ovo"/>
                <a:cs typeface="Ovo"/>
                <a:sym typeface="Ovo"/>
              </a:rPr>
              <a:t>Cluster 3 — Polarizing Problem Children (326 products, 20.0%)</a:t>
            </a:r>
            <a:endParaRPr sz="700"/>
          </a:p>
        </p:txBody>
      </p:sp>
      <p:sp>
        <p:nvSpPr>
          <p:cNvPr id="232" name="Google Shape;232;p29"/>
          <p:cNvSpPr txBox="1"/>
          <p:nvPr/>
        </p:nvSpPr>
        <p:spPr>
          <a:xfrm>
            <a:off x="821100" y="1775825"/>
            <a:ext cx="2121300" cy="914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900">
                <a:solidFill>
                  <a:srgbClr val="09080B"/>
                </a:solidFill>
                <a:latin typeface="Ovo"/>
                <a:ea typeface="Ovo"/>
                <a:cs typeface="Ovo"/>
                <a:sym typeface="Ovo"/>
              </a:rPr>
              <a:t>Sephora's review engine — 213/month, mostly liked but a 6.4% negative rate generating real debate. Prestige names (Pat McGrath, Merit, Sol de Janeiro) across blush, serums, and fragrance.</a:t>
            </a:r>
            <a:endParaRPr sz="700"/>
          </a:p>
        </p:txBody>
      </p:sp>
      <p:sp>
        <p:nvSpPr>
          <p:cNvPr id="233" name="Google Shape;233;p29"/>
          <p:cNvSpPr txBox="1"/>
          <p:nvPr/>
        </p:nvSpPr>
        <p:spPr>
          <a:xfrm>
            <a:off x="821106" y="3491229"/>
            <a:ext cx="2071800" cy="914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900">
                <a:solidFill>
                  <a:srgbClr val="09080B"/>
                </a:solidFill>
                <a:latin typeface="Ovo"/>
                <a:ea typeface="Ovo"/>
                <a:cs typeface="Ovo"/>
                <a:sym typeface="Ovo"/>
              </a:rPr>
              <a:t>Half the volume of Cluster 0 but better on every quality signal: higher ratings (4.59), stronger sentiment, lower variance. Indie and niche brands with steady, consistently satisfied audiences.</a:t>
            </a:r>
            <a:endParaRPr sz="700"/>
          </a:p>
        </p:txBody>
      </p:sp>
      <p:sp>
        <p:nvSpPr>
          <p:cNvPr id="234" name="Google Shape;234;p29"/>
          <p:cNvSpPr txBox="1"/>
          <p:nvPr/>
        </p:nvSpPr>
        <p:spPr>
          <a:xfrm>
            <a:off x="6128175" y="1813075"/>
            <a:ext cx="2270400" cy="914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900">
                <a:solidFill>
                  <a:srgbClr val="09080B"/>
                </a:solidFill>
                <a:latin typeface="Ovo"/>
                <a:ea typeface="Ovo"/>
                <a:cs typeface="Ovo"/>
                <a:sym typeface="Ovo"/>
              </a:rPr>
              <a:t>Highest-rated cluster (4.63), best sentiment, 17.5 reviews/month — the people who find them love them, almost nobody finds them. Fragrance-heavy, PR-seeded, structurally identical across every model tested.</a:t>
            </a:r>
            <a:endParaRPr sz="700"/>
          </a:p>
        </p:txBody>
      </p:sp>
      <p:sp>
        <p:nvSpPr>
          <p:cNvPr id="235" name="Google Shape;235;p29"/>
          <p:cNvSpPr txBox="1"/>
          <p:nvPr/>
        </p:nvSpPr>
        <p:spPr>
          <a:xfrm>
            <a:off x="6128175" y="3394325"/>
            <a:ext cx="2270400" cy="1108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900">
                <a:solidFill>
                  <a:srgbClr val="09080B"/>
                </a:solidFill>
                <a:latin typeface="Ovo"/>
                <a:ea typeface="Ovo"/>
                <a:cs typeface="Ovo"/>
                <a:sym typeface="Ovo"/>
              </a:rPr>
              <a:t>Lowest ratings (3.78), highest variance (1.50 std), 17.1% negative sentiment, and elevated helpfulness scores signaling purchase anxiety. Foundation, mini sizes, established names — high expectations met with vocal disappointment. The intervention queue.</a:t>
            </a:r>
            <a:endParaRPr sz="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241" name="Google Shape;241;p30"/>
          <p:cNvGrpSpPr/>
          <p:nvPr/>
        </p:nvGrpSpPr>
        <p:grpSpPr>
          <a:xfrm>
            <a:off x="440613" y="442021"/>
            <a:ext cx="8115140" cy="4187111"/>
            <a:chOff x="0" y="-38100"/>
            <a:chExt cx="4274726" cy="2205600"/>
          </a:xfrm>
        </p:grpSpPr>
        <p:sp>
          <p:nvSpPr>
            <p:cNvPr id="242" name="Google Shape;242;p30"/>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243" name="Google Shape;243;p30"/>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44" name="Google Shape;244;p30"/>
          <p:cNvGrpSpPr/>
          <p:nvPr/>
        </p:nvGrpSpPr>
        <p:grpSpPr>
          <a:xfrm>
            <a:off x="4396057" y="998489"/>
            <a:ext cx="769103" cy="852666"/>
            <a:chOff x="0" y="-38100"/>
            <a:chExt cx="284400" cy="315300"/>
          </a:xfrm>
        </p:grpSpPr>
        <p:sp>
          <p:nvSpPr>
            <p:cNvPr id="245" name="Google Shape;245;p30"/>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246" name="Google Shape;246;p30"/>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47" name="Google Shape;247;p30"/>
          <p:cNvGrpSpPr/>
          <p:nvPr/>
        </p:nvGrpSpPr>
        <p:grpSpPr>
          <a:xfrm>
            <a:off x="4402407" y="2975393"/>
            <a:ext cx="769103" cy="852666"/>
            <a:chOff x="0" y="-38100"/>
            <a:chExt cx="284400" cy="315300"/>
          </a:xfrm>
        </p:grpSpPr>
        <p:sp>
          <p:nvSpPr>
            <p:cNvPr id="248" name="Google Shape;248;p30"/>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249" name="Google Shape;249;p30"/>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0" name="Google Shape;250;p30"/>
          <p:cNvSpPr/>
          <p:nvPr/>
        </p:nvSpPr>
        <p:spPr>
          <a:xfrm flipH="1" rot="-2700000">
            <a:off x="575633" y="597939"/>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grpSp>
        <p:nvGrpSpPr>
          <p:cNvPr id="251" name="Google Shape;251;p30"/>
          <p:cNvGrpSpPr/>
          <p:nvPr/>
        </p:nvGrpSpPr>
        <p:grpSpPr>
          <a:xfrm>
            <a:off x="795757" y="2322734"/>
            <a:ext cx="769103" cy="852666"/>
            <a:chOff x="0" y="-38100"/>
            <a:chExt cx="284400" cy="315300"/>
          </a:xfrm>
        </p:grpSpPr>
        <p:sp>
          <p:nvSpPr>
            <p:cNvPr id="252" name="Google Shape;252;p30"/>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253" name="Google Shape;253;p30"/>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54" name="Google Shape;254;p30"/>
          <p:cNvGrpSpPr/>
          <p:nvPr/>
        </p:nvGrpSpPr>
        <p:grpSpPr>
          <a:xfrm>
            <a:off x="4187457" y="6427776"/>
            <a:ext cx="769103" cy="852666"/>
            <a:chOff x="0" y="-38100"/>
            <a:chExt cx="284400" cy="315300"/>
          </a:xfrm>
        </p:grpSpPr>
        <p:sp>
          <p:nvSpPr>
            <p:cNvPr id="255" name="Google Shape;255;p30"/>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256" name="Google Shape;256;p30"/>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7" name="Google Shape;257;p30"/>
          <p:cNvSpPr/>
          <p:nvPr/>
        </p:nvSpPr>
        <p:spPr>
          <a:xfrm>
            <a:off x="4624064" y="1180359"/>
            <a:ext cx="313106" cy="570580"/>
          </a:xfrm>
          <a:custGeom>
            <a:rect b="b" l="l" r="r" t="t"/>
            <a:pathLst>
              <a:path extrusionOk="0" h="1141159" w="626211">
                <a:moveTo>
                  <a:pt x="0" y="0"/>
                </a:moveTo>
                <a:lnTo>
                  <a:pt x="626211" y="0"/>
                </a:lnTo>
                <a:lnTo>
                  <a:pt x="626211" y="1141158"/>
                </a:lnTo>
                <a:lnTo>
                  <a:pt x="0" y="1141158"/>
                </a:lnTo>
                <a:lnTo>
                  <a:pt x="0" y="0"/>
                </a:lnTo>
                <a:close/>
              </a:path>
            </a:pathLst>
          </a:custGeom>
          <a:blipFill rotWithShape="1">
            <a:blip r:embed="rId5">
              <a:alphaModFix/>
            </a:blip>
            <a:stretch>
              <a:fillRect b="0" l="0" r="0" t="0"/>
            </a:stretch>
          </a:blipFill>
          <a:ln>
            <a:noFill/>
          </a:ln>
        </p:spPr>
      </p:sp>
      <p:sp>
        <p:nvSpPr>
          <p:cNvPr id="258" name="Google Shape;258;p30"/>
          <p:cNvSpPr/>
          <p:nvPr/>
        </p:nvSpPr>
        <p:spPr>
          <a:xfrm>
            <a:off x="4600016" y="3284822"/>
            <a:ext cx="417076" cy="435589"/>
          </a:xfrm>
          <a:custGeom>
            <a:rect b="b" l="l" r="r" t="t"/>
            <a:pathLst>
              <a:path extrusionOk="0" h="871178" w="834153">
                <a:moveTo>
                  <a:pt x="0" y="0"/>
                </a:moveTo>
                <a:lnTo>
                  <a:pt x="834153" y="0"/>
                </a:lnTo>
                <a:lnTo>
                  <a:pt x="834153" y="871179"/>
                </a:lnTo>
                <a:lnTo>
                  <a:pt x="0" y="871179"/>
                </a:lnTo>
                <a:lnTo>
                  <a:pt x="0" y="0"/>
                </a:lnTo>
                <a:close/>
              </a:path>
            </a:pathLst>
          </a:custGeom>
          <a:blipFill rotWithShape="1">
            <a:blip r:embed="rId6">
              <a:alphaModFix/>
            </a:blip>
            <a:stretch>
              <a:fillRect b="0" l="0" r="0" t="0"/>
            </a:stretch>
          </a:blipFill>
          <a:ln>
            <a:noFill/>
          </a:ln>
        </p:spPr>
      </p:sp>
      <p:sp>
        <p:nvSpPr>
          <p:cNvPr id="259" name="Google Shape;259;p30"/>
          <p:cNvSpPr/>
          <p:nvPr/>
        </p:nvSpPr>
        <p:spPr>
          <a:xfrm>
            <a:off x="941808" y="2626595"/>
            <a:ext cx="476992" cy="348801"/>
          </a:xfrm>
          <a:custGeom>
            <a:rect b="b" l="l" r="r" t="t"/>
            <a:pathLst>
              <a:path extrusionOk="0" h="697601" w="953984">
                <a:moveTo>
                  <a:pt x="0" y="0"/>
                </a:moveTo>
                <a:lnTo>
                  <a:pt x="953985" y="0"/>
                </a:lnTo>
                <a:lnTo>
                  <a:pt x="953985" y="697601"/>
                </a:lnTo>
                <a:lnTo>
                  <a:pt x="0" y="697601"/>
                </a:lnTo>
                <a:lnTo>
                  <a:pt x="0" y="0"/>
                </a:lnTo>
                <a:close/>
              </a:path>
            </a:pathLst>
          </a:custGeom>
          <a:blipFill rotWithShape="1">
            <a:blip r:embed="rId7">
              <a:alphaModFix/>
            </a:blip>
            <a:stretch>
              <a:fillRect b="0" l="0" r="0" t="0"/>
            </a:stretch>
          </a:blipFill>
          <a:ln>
            <a:noFill/>
          </a:ln>
        </p:spPr>
      </p:sp>
      <p:sp>
        <p:nvSpPr>
          <p:cNvPr id="260" name="Google Shape;260;p30"/>
          <p:cNvSpPr/>
          <p:nvPr/>
        </p:nvSpPr>
        <p:spPr>
          <a:xfrm>
            <a:off x="4572008" y="6427776"/>
            <a:ext cx="417210" cy="366623"/>
          </a:xfrm>
          <a:custGeom>
            <a:rect b="b" l="l" r="r" t="t"/>
            <a:pathLst>
              <a:path extrusionOk="0" h="733247" w="834420">
                <a:moveTo>
                  <a:pt x="0" y="0"/>
                </a:moveTo>
                <a:lnTo>
                  <a:pt x="834420" y="0"/>
                </a:lnTo>
                <a:lnTo>
                  <a:pt x="834420" y="733247"/>
                </a:lnTo>
                <a:lnTo>
                  <a:pt x="0" y="733247"/>
                </a:lnTo>
                <a:lnTo>
                  <a:pt x="0" y="0"/>
                </a:lnTo>
                <a:close/>
              </a:path>
            </a:pathLst>
          </a:custGeom>
          <a:blipFill rotWithShape="1">
            <a:blip r:embed="rId8">
              <a:alphaModFix/>
            </a:blip>
            <a:stretch>
              <a:fillRect b="0" l="0" r="0" t="0"/>
            </a:stretch>
          </a:blipFill>
          <a:ln>
            <a:noFill/>
          </a:ln>
        </p:spPr>
      </p:sp>
      <p:sp>
        <p:nvSpPr>
          <p:cNvPr id="261" name="Google Shape;261;p30"/>
          <p:cNvSpPr txBox="1"/>
          <p:nvPr/>
        </p:nvSpPr>
        <p:spPr>
          <a:xfrm>
            <a:off x="844000" y="1100775"/>
            <a:ext cx="3299700" cy="985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200">
                <a:solidFill>
                  <a:srgbClr val="453D37"/>
                </a:solidFill>
              </a:rPr>
              <a:t>Ulta Segmentation</a:t>
            </a:r>
            <a:endParaRPr sz="700"/>
          </a:p>
        </p:txBody>
      </p:sp>
      <p:sp>
        <p:nvSpPr>
          <p:cNvPr id="262" name="Google Shape;262;p30"/>
          <p:cNvSpPr txBox="1"/>
          <p:nvPr/>
        </p:nvSpPr>
        <p:spPr>
          <a:xfrm>
            <a:off x="5266998" y="1180350"/>
            <a:ext cx="29964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09080B"/>
                </a:solidFill>
                <a:latin typeface="Ovo"/>
                <a:ea typeface="Ovo"/>
                <a:cs typeface="Ovo"/>
                <a:sym typeface="Ovo"/>
              </a:rPr>
              <a:t>Cluster 1 — Seeded High-Traffic (25.6%)</a:t>
            </a:r>
            <a:endParaRPr sz="700"/>
          </a:p>
        </p:txBody>
      </p:sp>
      <p:sp>
        <p:nvSpPr>
          <p:cNvPr id="263" name="Google Shape;263;p30"/>
          <p:cNvSpPr txBox="1"/>
          <p:nvPr/>
        </p:nvSpPr>
        <p:spPr>
          <a:xfrm>
            <a:off x="5284225" y="3098500"/>
            <a:ext cx="32136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09080B"/>
                </a:solidFill>
                <a:latin typeface="Ovo"/>
                <a:ea typeface="Ovo"/>
                <a:cs typeface="Ovo"/>
                <a:sym typeface="Ovo"/>
              </a:rPr>
              <a:t>Cluster 2 — Polarizing Underperformers (31.6%)</a:t>
            </a:r>
            <a:endParaRPr sz="700"/>
          </a:p>
        </p:txBody>
      </p:sp>
      <p:sp>
        <p:nvSpPr>
          <p:cNvPr id="264" name="Google Shape;264;p30"/>
          <p:cNvSpPr txBox="1"/>
          <p:nvPr/>
        </p:nvSpPr>
        <p:spPr>
          <a:xfrm>
            <a:off x="1751349" y="2443175"/>
            <a:ext cx="23922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09080B"/>
                </a:solidFill>
                <a:latin typeface="Ovo"/>
                <a:ea typeface="Ovo"/>
                <a:cs typeface="Ovo"/>
                <a:sym typeface="Ovo"/>
              </a:rPr>
              <a:t>Cluster 0 — Quiet Loyalists (42.8%)</a:t>
            </a:r>
            <a:endParaRPr sz="700"/>
          </a:p>
        </p:txBody>
      </p:sp>
      <p:sp>
        <p:nvSpPr>
          <p:cNvPr id="265" name="Google Shape;265;p30"/>
          <p:cNvSpPr txBox="1"/>
          <p:nvPr/>
        </p:nvSpPr>
        <p:spPr>
          <a:xfrm>
            <a:off x="9245304" y="3762810"/>
            <a:ext cx="32136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 sz="1200" u="none" cap="none" strike="noStrike">
                <a:solidFill>
                  <a:srgbClr val="09080B"/>
                </a:solidFill>
                <a:latin typeface="Ovo"/>
                <a:ea typeface="Ovo"/>
                <a:cs typeface="Ovo"/>
                <a:sym typeface="Ovo"/>
              </a:rPr>
              <a:t>BUNDLE KITS / LIMITED SETS</a:t>
            </a:r>
            <a:endParaRPr sz="700"/>
          </a:p>
        </p:txBody>
      </p:sp>
      <p:sp>
        <p:nvSpPr>
          <p:cNvPr id="266" name="Google Shape;266;p30"/>
          <p:cNvSpPr txBox="1"/>
          <p:nvPr/>
        </p:nvSpPr>
        <p:spPr>
          <a:xfrm>
            <a:off x="5267000" y="1518400"/>
            <a:ext cx="3117300" cy="1108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900">
                <a:solidFill>
                  <a:srgbClr val="09080B"/>
                </a:solidFill>
                <a:latin typeface="Ovo"/>
                <a:ea typeface="Ovo"/>
                <a:cs typeface="Ovo"/>
                <a:sym typeface="Ovo"/>
              </a:rPr>
              <a:t>38.6 reviews/month but the verification signature is the story: 57.3% verified reviewer, only 9.0% verified buyer, 47.4% disclosure rate. High visibility built substantially on incentivized reviews. The question isn't whether the products are good — it's whether the ratings hold when you filter to organic-only.</a:t>
            </a:r>
            <a:endParaRPr sz="700"/>
          </a:p>
        </p:txBody>
      </p:sp>
      <p:sp>
        <p:nvSpPr>
          <p:cNvPr id="267" name="Google Shape;267;p30"/>
          <p:cNvSpPr txBox="1"/>
          <p:nvPr/>
        </p:nvSpPr>
        <p:spPr>
          <a:xfrm>
            <a:off x="5327450" y="3495050"/>
            <a:ext cx="2996400" cy="72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900">
                <a:solidFill>
                  <a:srgbClr val="09080B"/>
                </a:solidFill>
                <a:latin typeface="Ovo"/>
                <a:ea typeface="Ovo"/>
                <a:cs typeface="Ovo"/>
                <a:sym typeface="Ovo"/>
              </a:rPr>
              <a:t>3.83 avg rating, 1.51 std, 1.6 reviews/month. Low traffic and low satisfaction — these aren't generating debate, they're just quietly failing. The delist and formulation review queue.</a:t>
            </a:r>
            <a:endParaRPr sz="700"/>
          </a:p>
        </p:txBody>
      </p:sp>
      <p:sp>
        <p:nvSpPr>
          <p:cNvPr id="268" name="Google Shape;268;p30"/>
          <p:cNvSpPr txBox="1"/>
          <p:nvPr/>
        </p:nvSpPr>
        <p:spPr>
          <a:xfrm>
            <a:off x="1699176" y="2733700"/>
            <a:ext cx="2590500" cy="914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 sz="900">
                <a:solidFill>
                  <a:srgbClr val="09080B"/>
                </a:solidFill>
                <a:latin typeface="Ovo"/>
                <a:ea typeface="Ovo"/>
                <a:cs typeface="Ovo"/>
                <a:sym typeface="Ovo"/>
              </a:rPr>
              <a:t>Best quality signal in the catalog: 4.56 rating, 0.706 std, 93.3% positive sentiment. Organically reviewed, no seeding footprint. The authentic backbone of Ulta's assortment — underexposed and underleveraged.</a:t>
            </a:r>
            <a:endParaRPr sz="700"/>
          </a:p>
        </p:txBody>
      </p:sp>
      <p:sp>
        <p:nvSpPr>
          <p:cNvPr id="269" name="Google Shape;269;p30"/>
          <p:cNvSpPr txBox="1"/>
          <p:nvPr/>
        </p:nvSpPr>
        <p:spPr>
          <a:xfrm>
            <a:off x="8022925" y="6427775"/>
            <a:ext cx="313200" cy="3823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 sz="900" u="none" cap="none" strike="noStrike">
                <a:solidFill>
                  <a:srgbClr val="09080B"/>
                </a:solidFill>
                <a:latin typeface="Ovo"/>
                <a:ea typeface="Ovo"/>
                <a:cs typeface="Ovo"/>
                <a:sym typeface="Ovo"/>
              </a:rPr>
              <a:t>Practical packages containing complete products in exclusive packaging, suitable for beginners or gifts.</a:t>
            </a:r>
            <a:endParaRPr sz="700"/>
          </a:p>
        </p:txBody>
      </p:sp>
      <p:sp>
        <p:nvSpPr>
          <p:cNvPr id="270" name="Google Shape;270;p30"/>
          <p:cNvSpPr txBox="1"/>
          <p:nvPr/>
        </p:nvSpPr>
        <p:spPr>
          <a:xfrm>
            <a:off x="-3245323" y="3468363"/>
            <a:ext cx="2996400" cy="17364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 sz="1200" u="none" cap="none" strike="noStrike">
                <a:solidFill>
                  <a:srgbClr val="09080B"/>
                </a:solidFill>
                <a:latin typeface="Ovo"/>
                <a:ea typeface="Ovo"/>
                <a:cs typeface="Ovo"/>
                <a:sym typeface="Ovo"/>
              </a:rPr>
              <a:t>Our product range is designed to provide a natural finish, is practical to use, and is suitable for everyday makeup needs as well as special events. Our product range is designed to provide a natural finish, is practical to use, and is suitable for everyday makeup needs as well as special events.</a:t>
            </a:r>
            <a:endParaRPr sz="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276" name="Google Shape;276;p31"/>
          <p:cNvGrpSpPr/>
          <p:nvPr/>
        </p:nvGrpSpPr>
        <p:grpSpPr>
          <a:xfrm>
            <a:off x="514350" y="442021"/>
            <a:ext cx="8115140" cy="4187111"/>
            <a:chOff x="0" y="-38100"/>
            <a:chExt cx="4274726" cy="2205600"/>
          </a:xfrm>
        </p:grpSpPr>
        <p:sp>
          <p:nvSpPr>
            <p:cNvPr id="277" name="Google Shape;277;p31"/>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278" name="Google Shape;278;p31"/>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79" name="Google Shape;279;p31"/>
          <p:cNvSpPr txBox="1"/>
          <p:nvPr/>
        </p:nvSpPr>
        <p:spPr>
          <a:xfrm>
            <a:off x="773175" y="540525"/>
            <a:ext cx="72033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Sephora Brand Health Overview</a:t>
            </a:r>
            <a:endParaRPr sz="700"/>
          </a:p>
        </p:txBody>
      </p:sp>
      <p:pic>
        <p:nvPicPr>
          <p:cNvPr id="280" name="Google Shape;280;p31" title="Screenshot 2026-03-04 at 5.09.27 PM.png"/>
          <p:cNvPicPr preferRelativeResize="0"/>
          <p:nvPr/>
        </p:nvPicPr>
        <p:blipFill rotWithShape="1">
          <a:blip r:embed="rId4">
            <a:alphaModFix/>
          </a:blip>
          <a:srcRect b="4496" l="0" r="0" t="4496"/>
          <a:stretch/>
        </p:blipFill>
        <p:spPr>
          <a:xfrm>
            <a:off x="1167400" y="1151151"/>
            <a:ext cx="6809057" cy="3361525"/>
          </a:xfrm>
          <a:prstGeom prst="rect">
            <a:avLst/>
          </a:prstGeom>
          <a:noFill/>
          <a:ln>
            <a:noFill/>
          </a:ln>
        </p:spPr>
      </p:pic>
      <p:sp>
        <p:nvSpPr>
          <p:cNvPr id="281" name="Google Shape;281;p31"/>
          <p:cNvSpPr txBox="1"/>
          <p:nvPr/>
        </p:nvSpPr>
        <p:spPr>
          <a:xfrm>
            <a:off x="10035025" y="3079302"/>
            <a:ext cx="2667900" cy="17364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 sz="1200" u="none" cap="none" strike="noStrike">
                <a:solidFill>
                  <a:srgbClr val="09080B"/>
                </a:solidFill>
                <a:latin typeface="Ovo"/>
                <a:ea typeface="Ovo"/>
                <a:cs typeface="Ovo"/>
                <a:sym typeface="Ovo"/>
              </a:rPr>
              <a:t>The beauty industry continues to experience significant growth along with the increasing interest in makeup that is practical, quality, and in line with modern lifestyles. Consumers are now more aware of product content, comfort, and natural looks.</a:t>
            </a:r>
            <a:endParaRPr sz="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287" name="Google Shape;287;p32"/>
          <p:cNvGrpSpPr/>
          <p:nvPr/>
        </p:nvGrpSpPr>
        <p:grpSpPr>
          <a:xfrm>
            <a:off x="514425" y="478196"/>
            <a:ext cx="8115140" cy="4187111"/>
            <a:chOff x="0" y="-38100"/>
            <a:chExt cx="4274726" cy="2205600"/>
          </a:xfrm>
        </p:grpSpPr>
        <p:sp>
          <p:nvSpPr>
            <p:cNvPr id="288" name="Google Shape;288;p32"/>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289" name="Google Shape;289;p32"/>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90" name="Google Shape;290;p32"/>
          <p:cNvSpPr/>
          <p:nvPr/>
        </p:nvSpPr>
        <p:spPr>
          <a:xfrm flipH="1" rot="-2700000">
            <a:off x="575633" y="597939"/>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sp>
        <p:nvSpPr>
          <p:cNvPr id="291" name="Google Shape;291;p32"/>
          <p:cNvSpPr/>
          <p:nvPr/>
        </p:nvSpPr>
        <p:spPr>
          <a:xfrm flipH="1" rot="2700000">
            <a:off x="8156768" y="598780"/>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grpSp>
        <p:nvGrpSpPr>
          <p:cNvPr id="292" name="Google Shape;292;p32"/>
          <p:cNvGrpSpPr/>
          <p:nvPr/>
        </p:nvGrpSpPr>
        <p:grpSpPr>
          <a:xfrm>
            <a:off x="3377887" y="1555377"/>
            <a:ext cx="2388180" cy="2774701"/>
            <a:chOff x="0" y="-38100"/>
            <a:chExt cx="1257996" cy="1461600"/>
          </a:xfrm>
        </p:grpSpPr>
        <p:sp>
          <p:nvSpPr>
            <p:cNvPr id="293" name="Google Shape;293;p32"/>
            <p:cNvSpPr/>
            <p:nvPr/>
          </p:nvSpPr>
          <p:spPr>
            <a:xfrm>
              <a:off x="0" y="0"/>
              <a:ext cx="1257996" cy="1423478"/>
            </a:xfrm>
            <a:custGeom>
              <a:rect b="b" l="l" r="r" t="t"/>
              <a:pathLst>
                <a:path extrusionOk="0" h="1423478" w="1257996">
                  <a:moveTo>
                    <a:pt x="0" y="0"/>
                  </a:moveTo>
                  <a:lnTo>
                    <a:pt x="1257996" y="0"/>
                  </a:lnTo>
                  <a:lnTo>
                    <a:pt x="1257996" y="1423478"/>
                  </a:lnTo>
                  <a:lnTo>
                    <a:pt x="0" y="1423478"/>
                  </a:lnTo>
                  <a:close/>
                </a:path>
              </a:pathLst>
            </a:custGeom>
            <a:solidFill>
              <a:srgbClr val="FFFAF5"/>
            </a:solidFill>
            <a:ln>
              <a:noFill/>
            </a:ln>
          </p:spPr>
        </p:sp>
        <p:sp>
          <p:nvSpPr>
            <p:cNvPr id="294" name="Google Shape;294;p32"/>
            <p:cNvSpPr txBox="1"/>
            <p:nvPr/>
          </p:nvSpPr>
          <p:spPr>
            <a:xfrm>
              <a:off x="0" y="-38100"/>
              <a:ext cx="1257900" cy="1461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95" name="Google Shape;295;p32"/>
          <p:cNvGrpSpPr/>
          <p:nvPr/>
        </p:nvGrpSpPr>
        <p:grpSpPr>
          <a:xfrm>
            <a:off x="3377887" y="1493465"/>
            <a:ext cx="2388180" cy="539335"/>
            <a:chOff x="0" y="-38100"/>
            <a:chExt cx="1257996" cy="284100"/>
          </a:xfrm>
        </p:grpSpPr>
        <p:sp>
          <p:nvSpPr>
            <p:cNvPr id="296" name="Google Shape;296;p32"/>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297" name="Google Shape;297;p32"/>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98" name="Google Shape;298;p32"/>
          <p:cNvSpPr txBox="1"/>
          <p:nvPr/>
        </p:nvSpPr>
        <p:spPr>
          <a:xfrm>
            <a:off x="1784127" y="681352"/>
            <a:ext cx="55623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Ulta Brand Health Overview</a:t>
            </a:r>
            <a:endParaRPr sz="3200">
              <a:solidFill>
                <a:srgbClr val="453D37"/>
              </a:solidFill>
            </a:endParaRPr>
          </a:p>
        </p:txBody>
      </p:sp>
      <p:sp>
        <p:nvSpPr>
          <p:cNvPr id="299" name="Google Shape;299;p32"/>
          <p:cNvSpPr txBox="1"/>
          <p:nvPr/>
        </p:nvSpPr>
        <p:spPr>
          <a:xfrm>
            <a:off x="3536114" y="1646756"/>
            <a:ext cx="20718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1200" u="none" cap="none" strike="noStrike">
                <a:solidFill>
                  <a:srgbClr val="FFFAF5"/>
                </a:solidFill>
                <a:latin typeface="Ovo"/>
                <a:ea typeface="Ovo"/>
                <a:cs typeface="Ovo"/>
                <a:sym typeface="Ovo"/>
              </a:rPr>
              <a:t>CONSUMER TARGET SEGMENTATION</a:t>
            </a:r>
            <a:endParaRPr sz="700"/>
          </a:p>
        </p:txBody>
      </p:sp>
      <p:sp>
        <p:nvSpPr>
          <p:cNvPr id="300" name="Google Shape;300;p32"/>
          <p:cNvSpPr txBox="1"/>
          <p:nvPr/>
        </p:nvSpPr>
        <p:spPr>
          <a:xfrm>
            <a:off x="1044226" y="1537219"/>
            <a:ext cx="2071800" cy="107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t/>
            </a:r>
            <a:endParaRPr sz="700"/>
          </a:p>
        </p:txBody>
      </p:sp>
      <p:sp>
        <p:nvSpPr>
          <p:cNvPr id="301" name="Google Shape;301;p32"/>
          <p:cNvSpPr txBox="1"/>
          <p:nvPr/>
        </p:nvSpPr>
        <p:spPr>
          <a:xfrm>
            <a:off x="6231186" y="1537219"/>
            <a:ext cx="2071800" cy="107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t/>
            </a:r>
            <a:endParaRPr sz="700"/>
          </a:p>
        </p:txBody>
      </p:sp>
      <p:sp>
        <p:nvSpPr>
          <p:cNvPr id="302" name="Google Shape;302;p32"/>
          <p:cNvSpPr txBox="1"/>
          <p:nvPr/>
        </p:nvSpPr>
        <p:spPr>
          <a:xfrm>
            <a:off x="6231186" y="3033955"/>
            <a:ext cx="2071800" cy="107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t/>
            </a:r>
            <a:endParaRPr sz="700"/>
          </a:p>
        </p:txBody>
      </p:sp>
      <p:sp>
        <p:nvSpPr>
          <p:cNvPr id="303" name="Google Shape;303;p32"/>
          <p:cNvSpPr txBox="1"/>
          <p:nvPr/>
        </p:nvSpPr>
        <p:spPr>
          <a:xfrm>
            <a:off x="1044225" y="2714702"/>
            <a:ext cx="2071800" cy="107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t/>
            </a:r>
            <a:endParaRPr sz="700"/>
          </a:p>
        </p:txBody>
      </p:sp>
      <p:sp>
        <p:nvSpPr>
          <p:cNvPr id="304" name="Google Shape;304;p32"/>
          <p:cNvSpPr txBox="1"/>
          <p:nvPr/>
        </p:nvSpPr>
        <p:spPr>
          <a:xfrm>
            <a:off x="-2120103" y="2476774"/>
            <a:ext cx="1509600" cy="72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 sz="900" u="none" cap="none" strike="noStrike">
                <a:solidFill>
                  <a:srgbClr val="09080B"/>
                </a:solidFill>
                <a:latin typeface="Ovo"/>
                <a:ea typeface="Ovo"/>
                <a:cs typeface="Ovo"/>
                <a:sym typeface="Ovo"/>
              </a:rPr>
              <a:t>(late teens to young adults who are active on social media and follow beauty trends)</a:t>
            </a:r>
            <a:endParaRPr sz="700"/>
          </a:p>
        </p:txBody>
      </p:sp>
      <p:sp>
        <p:nvSpPr>
          <p:cNvPr id="305" name="Google Shape;305;p32"/>
          <p:cNvSpPr txBox="1"/>
          <p:nvPr/>
        </p:nvSpPr>
        <p:spPr>
          <a:xfrm>
            <a:off x="-3362304" y="4260943"/>
            <a:ext cx="1509600" cy="1496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 sz="900" u="none" cap="none" strike="noStrike">
                <a:solidFill>
                  <a:srgbClr val="09080B"/>
                </a:solidFill>
                <a:latin typeface="Ovo"/>
                <a:ea typeface="Ovo"/>
                <a:cs typeface="Ovo"/>
                <a:sym typeface="Ovo"/>
              </a:rPr>
              <a:t>Dynamic, multitasking, looking for products that support daily activities with maximum results. Dynamic, multitasking, looking for products that support daily activities with maximum results.</a:t>
            </a:r>
            <a:endParaRPr sz="700"/>
          </a:p>
        </p:txBody>
      </p:sp>
      <p:sp>
        <p:nvSpPr>
          <p:cNvPr id="306" name="Google Shape;306;p32"/>
          <p:cNvSpPr txBox="1"/>
          <p:nvPr/>
        </p:nvSpPr>
        <p:spPr>
          <a:xfrm>
            <a:off x="9754511" y="2282819"/>
            <a:ext cx="2123700" cy="1108200"/>
          </a:xfrm>
          <a:prstGeom prst="rect">
            <a:avLst/>
          </a:prstGeom>
          <a:noFill/>
          <a:ln>
            <a:noFill/>
          </a:ln>
        </p:spPr>
        <p:txBody>
          <a:bodyPr anchorCtr="0" anchor="t" bIns="0" lIns="0" spcFirstLastPara="1" rIns="0" wrap="square" tIns="0">
            <a:spAutoFit/>
          </a:bodyPr>
          <a:lstStyle/>
          <a:p>
            <a:pPr indent="-95250" lvl="1" marL="190500" marR="0" rtl="0" algn="just">
              <a:lnSpc>
                <a:spcPct val="140000"/>
              </a:lnSpc>
              <a:spcBef>
                <a:spcPts val="0"/>
              </a:spcBef>
              <a:spcAft>
                <a:spcPts val="0"/>
              </a:spcAft>
              <a:buClr>
                <a:srgbClr val="09080B"/>
              </a:buClr>
              <a:buSzPts val="900"/>
              <a:buFont typeface="Arial"/>
              <a:buChar char="•"/>
            </a:pPr>
            <a:r>
              <a:rPr b="0" i="0" lang="en" sz="900" u="none" cap="none" strike="noStrike">
                <a:solidFill>
                  <a:srgbClr val="09080B"/>
                </a:solidFill>
                <a:latin typeface="Ovo"/>
                <a:ea typeface="Ovo"/>
                <a:cs typeface="Ovo"/>
                <a:sym typeface="Ovo"/>
              </a:rPr>
              <a:t>Likes to try new trends</a:t>
            </a:r>
            <a:endParaRPr sz="700"/>
          </a:p>
          <a:p>
            <a:pPr indent="-95250" lvl="1" marL="190500" marR="0" rtl="0" algn="just">
              <a:lnSpc>
                <a:spcPct val="140000"/>
              </a:lnSpc>
              <a:spcBef>
                <a:spcPts val="0"/>
              </a:spcBef>
              <a:spcAft>
                <a:spcPts val="0"/>
              </a:spcAft>
              <a:buClr>
                <a:srgbClr val="09080B"/>
              </a:buClr>
              <a:buSzPts val="900"/>
              <a:buFont typeface="Arial"/>
              <a:buChar char="•"/>
            </a:pPr>
            <a:r>
              <a:rPr b="0" i="0" lang="en" sz="900" u="none" cap="none" strike="noStrike">
                <a:solidFill>
                  <a:srgbClr val="09080B"/>
                </a:solidFill>
                <a:latin typeface="Ovo"/>
                <a:ea typeface="Ovo"/>
                <a:cs typeface="Ovo"/>
                <a:sym typeface="Ovo"/>
              </a:rPr>
              <a:t>Prioritizes comfort and efficiency</a:t>
            </a:r>
            <a:endParaRPr sz="700"/>
          </a:p>
          <a:p>
            <a:pPr indent="-95250" lvl="1" marL="190500" marR="0" rtl="0" algn="just">
              <a:lnSpc>
                <a:spcPct val="140000"/>
              </a:lnSpc>
              <a:spcBef>
                <a:spcPts val="0"/>
              </a:spcBef>
              <a:spcAft>
                <a:spcPts val="0"/>
              </a:spcAft>
              <a:buClr>
                <a:srgbClr val="09080B"/>
              </a:buClr>
              <a:buSzPts val="900"/>
              <a:buFont typeface="Arial"/>
              <a:buChar char="•"/>
            </a:pPr>
            <a:r>
              <a:rPr b="0" i="0" lang="en" sz="900" u="none" cap="none" strike="noStrike">
                <a:solidFill>
                  <a:srgbClr val="09080B"/>
                </a:solidFill>
                <a:latin typeface="Ovo"/>
                <a:ea typeface="Ovo"/>
                <a:cs typeface="Ovo"/>
                <a:sym typeface="Ovo"/>
              </a:rPr>
              <a:t>Prefers products that are light and hassle-free</a:t>
            </a:r>
            <a:endParaRPr sz="700"/>
          </a:p>
          <a:p>
            <a:pPr indent="-95250" lvl="1" marL="190500" marR="0" rtl="0" algn="just">
              <a:lnSpc>
                <a:spcPct val="140000"/>
              </a:lnSpc>
              <a:spcBef>
                <a:spcPts val="0"/>
              </a:spcBef>
              <a:spcAft>
                <a:spcPts val="0"/>
              </a:spcAft>
              <a:buClr>
                <a:srgbClr val="09080B"/>
              </a:buClr>
              <a:buSzPts val="900"/>
              <a:buFont typeface="Arial"/>
              <a:buChar char="•"/>
            </a:pPr>
            <a:r>
              <a:rPr b="0" i="0" lang="en" sz="900" u="none" cap="none" strike="noStrike">
                <a:solidFill>
                  <a:srgbClr val="09080B"/>
                </a:solidFill>
                <a:latin typeface="Ovo"/>
                <a:ea typeface="Ovo"/>
                <a:cs typeface="Ovo"/>
                <a:sym typeface="Ovo"/>
              </a:rPr>
              <a:t>Concerns about material safety and product aesthetics</a:t>
            </a:r>
            <a:endParaRPr sz="700"/>
          </a:p>
        </p:txBody>
      </p:sp>
      <p:sp>
        <p:nvSpPr>
          <p:cNvPr id="307" name="Google Shape;307;p32"/>
          <p:cNvSpPr txBox="1"/>
          <p:nvPr/>
        </p:nvSpPr>
        <p:spPr>
          <a:xfrm>
            <a:off x="10637136" y="3750904"/>
            <a:ext cx="2123700" cy="914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 sz="900" u="none" cap="none" strike="noStrike">
                <a:solidFill>
                  <a:srgbClr val="09080B"/>
                </a:solidFill>
                <a:latin typeface="Ovo"/>
                <a:ea typeface="Ovo"/>
                <a:cs typeface="Ovo"/>
                <a:sym typeface="Ovo"/>
              </a:rPr>
              <a:t>Makeup that is practical, easy to use, buildable (can be adjusted), and looks natural. Makeup that is practical, easy to use, buildable (can be adjusted), and looks natural.</a:t>
            </a:r>
            <a:endParaRPr sz="700"/>
          </a:p>
        </p:txBody>
      </p:sp>
      <p:pic>
        <p:nvPicPr>
          <p:cNvPr id="308" name="Google Shape;308;p32" title="Screenshot 2026-03-04 at 5.12.57 PM.png"/>
          <p:cNvPicPr preferRelativeResize="0"/>
          <p:nvPr/>
        </p:nvPicPr>
        <p:blipFill>
          <a:blip r:embed="rId5">
            <a:alphaModFix/>
          </a:blip>
          <a:stretch>
            <a:fillRect/>
          </a:stretch>
        </p:blipFill>
        <p:spPr>
          <a:xfrm>
            <a:off x="1371275" y="1206375"/>
            <a:ext cx="6401459" cy="3472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314" name="Google Shape;314;p33"/>
          <p:cNvGrpSpPr/>
          <p:nvPr/>
        </p:nvGrpSpPr>
        <p:grpSpPr>
          <a:xfrm>
            <a:off x="514425" y="478196"/>
            <a:ext cx="8115140" cy="4187111"/>
            <a:chOff x="0" y="-38100"/>
            <a:chExt cx="4274726" cy="2205600"/>
          </a:xfrm>
        </p:grpSpPr>
        <p:sp>
          <p:nvSpPr>
            <p:cNvPr id="315" name="Google Shape;315;p33"/>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316" name="Google Shape;316;p33"/>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17" name="Google Shape;317;p33"/>
          <p:cNvGrpSpPr/>
          <p:nvPr/>
        </p:nvGrpSpPr>
        <p:grpSpPr>
          <a:xfrm>
            <a:off x="693821" y="2144768"/>
            <a:ext cx="6095785" cy="2323285"/>
            <a:chOff x="0" y="-38100"/>
            <a:chExt cx="3211012" cy="1223812"/>
          </a:xfrm>
        </p:grpSpPr>
        <p:sp>
          <p:nvSpPr>
            <p:cNvPr id="318" name="Google Shape;318;p33"/>
            <p:cNvSpPr/>
            <p:nvPr/>
          </p:nvSpPr>
          <p:spPr>
            <a:xfrm>
              <a:off x="0" y="0"/>
              <a:ext cx="3211012" cy="1185712"/>
            </a:xfrm>
            <a:custGeom>
              <a:rect b="b" l="l" r="r" t="t"/>
              <a:pathLst>
                <a:path extrusionOk="0" h="1185712" w="3211012">
                  <a:moveTo>
                    <a:pt x="0" y="0"/>
                  </a:moveTo>
                  <a:lnTo>
                    <a:pt x="3211012" y="0"/>
                  </a:lnTo>
                  <a:lnTo>
                    <a:pt x="3211012" y="1185712"/>
                  </a:lnTo>
                  <a:lnTo>
                    <a:pt x="0" y="1185712"/>
                  </a:lnTo>
                  <a:close/>
                </a:path>
              </a:pathLst>
            </a:custGeom>
            <a:solidFill>
              <a:srgbClr val="FFFAF5"/>
            </a:solidFill>
            <a:ln>
              <a:noFill/>
            </a:ln>
          </p:spPr>
        </p:sp>
        <p:sp>
          <p:nvSpPr>
            <p:cNvPr id="319" name="Google Shape;319;p33"/>
            <p:cNvSpPr txBox="1"/>
            <p:nvPr/>
          </p:nvSpPr>
          <p:spPr>
            <a:xfrm>
              <a:off x="0" y="-38100"/>
              <a:ext cx="3210900" cy="1223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20" name="Google Shape;320;p33"/>
          <p:cNvSpPr/>
          <p:nvPr/>
        </p:nvSpPr>
        <p:spPr>
          <a:xfrm>
            <a:off x="6185875" y="650475"/>
            <a:ext cx="2270125" cy="2540000"/>
          </a:xfrm>
          <a:custGeom>
            <a:rect b="b" l="l" r="r" t="t"/>
            <a:pathLst>
              <a:path extrusionOk="0" h="6350000" w="6350000">
                <a:moveTo>
                  <a:pt x="0" y="0"/>
                </a:moveTo>
                <a:cubicBezTo>
                  <a:pt x="0" y="3506470"/>
                  <a:pt x="2843530" y="6350000"/>
                  <a:pt x="6350000" y="6350000"/>
                </a:cubicBezTo>
                <a:lnTo>
                  <a:pt x="6350000" y="0"/>
                </a:lnTo>
                <a:lnTo>
                  <a:pt x="0" y="0"/>
                </a:lnTo>
                <a:close/>
              </a:path>
            </a:pathLst>
          </a:custGeom>
          <a:blipFill rotWithShape="1">
            <a:blip r:embed="rId4">
              <a:alphaModFix/>
            </a:blip>
            <a:stretch>
              <a:fillRect b="0" l="-25050" r="-25039"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1" name="Google Shape;321;p33"/>
          <p:cNvSpPr/>
          <p:nvPr/>
        </p:nvSpPr>
        <p:spPr>
          <a:xfrm>
            <a:off x="6975977" y="2355855"/>
            <a:ext cx="1530964" cy="1634408"/>
          </a:xfrm>
          <a:custGeom>
            <a:rect b="b" l="l" r="r" t="t"/>
            <a:pathLst>
              <a:path extrusionOk="0" h="4358420" w="5516987">
                <a:moveTo>
                  <a:pt x="0" y="0"/>
                </a:moveTo>
                <a:lnTo>
                  <a:pt x="5516987" y="0"/>
                </a:lnTo>
                <a:lnTo>
                  <a:pt x="5516987" y="4358420"/>
                </a:lnTo>
                <a:lnTo>
                  <a:pt x="0" y="4358420"/>
                </a:lnTo>
                <a:lnTo>
                  <a:pt x="0" y="0"/>
                </a:lnTo>
                <a:close/>
              </a:path>
            </a:pathLst>
          </a:custGeom>
          <a:blipFill rotWithShape="1">
            <a:blip r:embed="rId5">
              <a:alphaModFix/>
            </a:blip>
            <a:stretch>
              <a:fillRect b="0" l="0" r="0" t="0"/>
            </a:stretch>
          </a:blipFill>
          <a:ln>
            <a:noFill/>
          </a:ln>
        </p:spPr>
      </p:sp>
      <p:sp>
        <p:nvSpPr>
          <p:cNvPr id="322" name="Google Shape;322;p33"/>
          <p:cNvSpPr/>
          <p:nvPr/>
        </p:nvSpPr>
        <p:spPr>
          <a:xfrm flipH="1" rot="-2700000">
            <a:off x="575633" y="597939"/>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6">
              <a:alphaModFix/>
            </a:blip>
            <a:stretch>
              <a:fillRect b="0" l="0" r="0" t="0"/>
            </a:stretch>
          </a:blipFill>
          <a:ln>
            <a:noFill/>
          </a:ln>
        </p:spPr>
      </p:sp>
      <p:sp>
        <p:nvSpPr>
          <p:cNvPr id="323" name="Google Shape;323;p33"/>
          <p:cNvSpPr txBox="1"/>
          <p:nvPr/>
        </p:nvSpPr>
        <p:spPr>
          <a:xfrm>
            <a:off x="1370250" y="820450"/>
            <a:ext cx="64035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4000">
                <a:solidFill>
                  <a:srgbClr val="453D37"/>
                </a:solidFill>
              </a:rPr>
              <a:t>Brand Health Dashboard</a:t>
            </a:r>
            <a:endParaRPr sz="1500"/>
          </a:p>
        </p:txBody>
      </p:sp>
      <p:sp>
        <p:nvSpPr>
          <p:cNvPr id="324" name="Google Shape;324;p33"/>
          <p:cNvSpPr txBox="1"/>
          <p:nvPr/>
        </p:nvSpPr>
        <p:spPr>
          <a:xfrm>
            <a:off x="883674" y="2355850"/>
            <a:ext cx="6524400" cy="15885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4300">
                <a:solidFill>
                  <a:srgbClr val="09080B"/>
                </a:solidFill>
                <a:latin typeface="Ovo"/>
                <a:ea typeface="Ovo"/>
                <a:cs typeface="Ovo"/>
                <a:sym typeface="Ovo"/>
              </a:rPr>
              <a:t>DEMO</a:t>
            </a:r>
            <a:endParaRPr sz="4300">
              <a:solidFill>
                <a:srgbClr val="09080B"/>
              </a:solidFill>
              <a:latin typeface="Ovo"/>
              <a:ea typeface="Ovo"/>
              <a:cs typeface="Ovo"/>
              <a:sym typeface="Ovo"/>
            </a:endParaRPr>
          </a:p>
          <a:p>
            <a:pPr indent="0" lvl="0" marL="0" marR="0" rtl="0" algn="l">
              <a:lnSpc>
                <a:spcPct val="140016"/>
              </a:lnSpc>
              <a:spcBef>
                <a:spcPts val="0"/>
              </a:spcBef>
              <a:spcAft>
                <a:spcPts val="0"/>
              </a:spcAft>
              <a:buNone/>
            </a:pPr>
            <a:r>
              <a:t/>
            </a:r>
            <a:endParaRPr sz="4300">
              <a:solidFill>
                <a:srgbClr val="09080B"/>
              </a:solidFill>
              <a:latin typeface="Ovo"/>
              <a:ea typeface="Ovo"/>
              <a:cs typeface="Ovo"/>
              <a:sym typeface="Ov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330" name="Google Shape;330;p34"/>
          <p:cNvGrpSpPr/>
          <p:nvPr/>
        </p:nvGrpSpPr>
        <p:grpSpPr>
          <a:xfrm>
            <a:off x="514350" y="442021"/>
            <a:ext cx="8115140" cy="4187111"/>
            <a:chOff x="0" y="-38100"/>
            <a:chExt cx="4274726" cy="2205600"/>
          </a:xfrm>
        </p:grpSpPr>
        <p:sp>
          <p:nvSpPr>
            <p:cNvPr id="331" name="Google Shape;331;p34"/>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332" name="Google Shape;332;p34"/>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33" name="Google Shape;333;p34"/>
          <p:cNvSpPr/>
          <p:nvPr/>
        </p:nvSpPr>
        <p:spPr>
          <a:xfrm>
            <a:off x="5179279" y="670961"/>
            <a:ext cx="3270250" cy="3270250"/>
          </a:xfrm>
          <a:custGeom>
            <a:rect b="b" l="l" r="r" t="t"/>
            <a:pathLst>
              <a:path extrusionOk="0" h="6350000" w="6350000">
                <a:moveTo>
                  <a:pt x="0" y="0"/>
                </a:moveTo>
                <a:cubicBezTo>
                  <a:pt x="0" y="3506470"/>
                  <a:pt x="2843530" y="6350000"/>
                  <a:pt x="6350000" y="6350000"/>
                </a:cubicBezTo>
                <a:lnTo>
                  <a:pt x="6350000" y="0"/>
                </a:lnTo>
                <a:lnTo>
                  <a:pt x="0" y="0"/>
                </a:lnTo>
                <a:close/>
              </a:path>
            </a:pathLst>
          </a:custGeom>
          <a:blipFill rotWithShape="1">
            <a:blip r:embed="rId4">
              <a:alphaModFix/>
            </a:blip>
            <a:stretch>
              <a:fillRect b="0" l="-25050" r="-25039"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4" name="Google Shape;334;p34"/>
          <p:cNvSpPr/>
          <p:nvPr/>
        </p:nvSpPr>
        <p:spPr>
          <a:xfrm>
            <a:off x="6339245" y="2099635"/>
            <a:ext cx="7031230" cy="4114800"/>
          </a:xfrm>
          <a:custGeom>
            <a:rect b="b" l="l" r="r" t="t"/>
            <a:pathLst>
              <a:path extrusionOk="0" h="8229600" w="14062460">
                <a:moveTo>
                  <a:pt x="0" y="0"/>
                </a:moveTo>
                <a:lnTo>
                  <a:pt x="14062459" y="0"/>
                </a:lnTo>
                <a:lnTo>
                  <a:pt x="14062459" y="8229600"/>
                </a:lnTo>
                <a:lnTo>
                  <a:pt x="0" y="8229600"/>
                </a:lnTo>
                <a:lnTo>
                  <a:pt x="0" y="0"/>
                </a:lnTo>
                <a:close/>
              </a:path>
            </a:pathLst>
          </a:custGeom>
          <a:blipFill rotWithShape="1">
            <a:blip r:embed="rId5">
              <a:alphaModFix/>
            </a:blip>
            <a:stretch>
              <a:fillRect b="0" l="-12140" r="0" t="0"/>
            </a:stretch>
          </a:blipFill>
          <a:ln>
            <a:noFill/>
          </a:ln>
        </p:spPr>
      </p:sp>
      <p:sp>
        <p:nvSpPr>
          <p:cNvPr id="335" name="Google Shape;335;p34"/>
          <p:cNvSpPr/>
          <p:nvPr/>
        </p:nvSpPr>
        <p:spPr>
          <a:xfrm>
            <a:off x="226913" y="-215274"/>
            <a:ext cx="3543898" cy="2412804"/>
          </a:xfrm>
          <a:custGeom>
            <a:rect b="b" l="l" r="r" t="t"/>
            <a:pathLst>
              <a:path extrusionOk="0" h="4825607" w="7087795">
                <a:moveTo>
                  <a:pt x="0" y="0"/>
                </a:moveTo>
                <a:lnTo>
                  <a:pt x="7087794" y="0"/>
                </a:lnTo>
                <a:lnTo>
                  <a:pt x="7087794" y="4825607"/>
                </a:lnTo>
                <a:lnTo>
                  <a:pt x="0" y="4825607"/>
                </a:lnTo>
                <a:lnTo>
                  <a:pt x="0" y="0"/>
                </a:lnTo>
                <a:close/>
              </a:path>
            </a:pathLst>
          </a:custGeom>
          <a:blipFill rotWithShape="1">
            <a:blip r:embed="rId6">
              <a:alphaModFix/>
            </a:blip>
            <a:stretch>
              <a:fillRect b="0" l="0" r="0" t="0"/>
            </a:stretch>
          </a:blipFill>
          <a:ln>
            <a:noFill/>
          </a:ln>
        </p:spPr>
      </p:sp>
      <p:sp>
        <p:nvSpPr>
          <p:cNvPr id="336" name="Google Shape;336;p34"/>
          <p:cNvSpPr txBox="1"/>
          <p:nvPr/>
        </p:nvSpPr>
        <p:spPr>
          <a:xfrm>
            <a:off x="780225" y="2571750"/>
            <a:ext cx="7274700" cy="692700"/>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lang="en" sz="4500">
                <a:solidFill>
                  <a:srgbClr val="453D37"/>
                </a:solidFill>
              </a:rPr>
              <a:t>Recommendations</a:t>
            </a:r>
            <a:endParaRPr sz="700"/>
          </a:p>
        </p:txBody>
      </p:sp>
      <p:sp>
        <p:nvSpPr>
          <p:cNvPr id="337" name="Google Shape;337;p34"/>
          <p:cNvSpPr txBox="1"/>
          <p:nvPr/>
        </p:nvSpPr>
        <p:spPr>
          <a:xfrm>
            <a:off x="780224" y="3358838"/>
            <a:ext cx="3987600" cy="6003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lang="en" sz="3900">
                <a:solidFill>
                  <a:srgbClr val="09080B"/>
                </a:solidFill>
                <a:latin typeface="Ovo"/>
                <a:ea typeface="Ovo"/>
                <a:cs typeface="Ovo"/>
                <a:sym typeface="Ovo"/>
              </a:rPr>
              <a:t>DEMO</a:t>
            </a:r>
            <a:endParaRPr sz="2600">
              <a:latin typeface="Ovo"/>
              <a:ea typeface="Ovo"/>
              <a:cs typeface="Ovo"/>
              <a:sym typeface="Ovo"/>
            </a:endParaRPr>
          </a:p>
        </p:txBody>
      </p:sp>
      <p:sp>
        <p:nvSpPr>
          <p:cNvPr id="338" name="Google Shape;338;p34"/>
          <p:cNvSpPr/>
          <p:nvPr/>
        </p:nvSpPr>
        <p:spPr>
          <a:xfrm>
            <a:off x="780224" y="4138745"/>
            <a:ext cx="3657600" cy="36576"/>
          </a:xfrm>
          <a:custGeom>
            <a:rect b="b" l="l" r="r" t="t"/>
            <a:pathLst>
              <a:path extrusionOk="0" h="73152" w="7315200">
                <a:moveTo>
                  <a:pt x="0" y="0"/>
                </a:moveTo>
                <a:lnTo>
                  <a:pt x="7315200" y="0"/>
                </a:lnTo>
                <a:lnTo>
                  <a:pt x="7315200" y="73152"/>
                </a:lnTo>
                <a:lnTo>
                  <a:pt x="0" y="73152"/>
                </a:lnTo>
                <a:lnTo>
                  <a:pt x="0" y="0"/>
                </a:lnTo>
                <a:close/>
              </a:path>
            </a:pathLst>
          </a:custGeom>
          <a:blipFill rotWithShape="1">
            <a:blip r:embed="rId7">
              <a:alphaModFix/>
            </a:blip>
            <a:stretch>
              <a:fillRect b="0" l="0" r="0" t="0"/>
            </a:stretch>
          </a:blipFill>
          <a:ln>
            <a:noFill/>
          </a:ln>
        </p:spPr>
      </p:sp>
      <p:sp>
        <p:nvSpPr>
          <p:cNvPr id="339" name="Google Shape;339;p34"/>
          <p:cNvSpPr/>
          <p:nvPr/>
        </p:nvSpPr>
        <p:spPr>
          <a:xfrm flipH="1" rot="5400000">
            <a:off x="4561767" y="3985887"/>
            <a:ext cx="399336" cy="378869"/>
          </a:xfrm>
          <a:custGeom>
            <a:rect b="b" l="l" r="r" t="t"/>
            <a:pathLst>
              <a:path extrusionOk="0" h="757739" w="798671">
                <a:moveTo>
                  <a:pt x="0" y="757739"/>
                </a:moveTo>
                <a:lnTo>
                  <a:pt x="798671" y="757739"/>
                </a:lnTo>
                <a:lnTo>
                  <a:pt x="798671" y="0"/>
                </a:lnTo>
                <a:lnTo>
                  <a:pt x="0" y="0"/>
                </a:lnTo>
                <a:lnTo>
                  <a:pt x="0" y="757739"/>
                </a:lnTo>
                <a:close/>
              </a:path>
            </a:pathLst>
          </a:custGeom>
          <a:blipFill rotWithShape="1">
            <a:blip r:embed="rId8">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345" name="Google Shape;345;p35"/>
          <p:cNvGrpSpPr/>
          <p:nvPr/>
        </p:nvGrpSpPr>
        <p:grpSpPr>
          <a:xfrm>
            <a:off x="514350" y="442021"/>
            <a:ext cx="8115140" cy="4187111"/>
            <a:chOff x="0" y="-38100"/>
            <a:chExt cx="4274726" cy="2205600"/>
          </a:xfrm>
        </p:grpSpPr>
        <p:sp>
          <p:nvSpPr>
            <p:cNvPr id="346" name="Google Shape;346;p35"/>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347" name="Google Shape;347;p35"/>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48" name="Google Shape;348;p35"/>
          <p:cNvSpPr txBox="1"/>
          <p:nvPr/>
        </p:nvSpPr>
        <p:spPr>
          <a:xfrm>
            <a:off x="84325" y="675300"/>
            <a:ext cx="88980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Cross Platform Segmentation Comparison</a:t>
            </a:r>
            <a:endParaRPr sz="700"/>
          </a:p>
        </p:txBody>
      </p:sp>
      <p:grpSp>
        <p:nvGrpSpPr>
          <p:cNvPr id="349" name="Google Shape;349;p35"/>
          <p:cNvGrpSpPr/>
          <p:nvPr/>
        </p:nvGrpSpPr>
        <p:grpSpPr>
          <a:xfrm>
            <a:off x="774684" y="2214705"/>
            <a:ext cx="4633045" cy="466543"/>
            <a:chOff x="0" y="-38100"/>
            <a:chExt cx="2440500" cy="245756"/>
          </a:xfrm>
        </p:grpSpPr>
        <p:sp>
          <p:nvSpPr>
            <p:cNvPr id="350" name="Google Shape;350;p35"/>
            <p:cNvSpPr/>
            <p:nvPr/>
          </p:nvSpPr>
          <p:spPr>
            <a:xfrm>
              <a:off x="0" y="0"/>
              <a:ext cx="2440461" cy="207656"/>
            </a:xfrm>
            <a:custGeom>
              <a:rect b="b" l="l" r="r" t="t"/>
              <a:pathLst>
                <a:path extrusionOk="0" h="207656" w="2440461">
                  <a:moveTo>
                    <a:pt x="0" y="0"/>
                  </a:moveTo>
                  <a:lnTo>
                    <a:pt x="2440461" y="0"/>
                  </a:lnTo>
                  <a:lnTo>
                    <a:pt x="2440461" y="207656"/>
                  </a:lnTo>
                  <a:lnTo>
                    <a:pt x="0" y="207656"/>
                  </a:lnTo>
                  <a:close/>
                </a:path>
              </a:pathLst>
            </a:custGeom>
            <a:solidFill>
              <a:srgbClr val="A18F67"/>
            </a:solidFill>
            <a:ln>
              <a:noFill/>
            </a:ln>
          </p:spPr>
        </p:sp>
        <p:sp>
          <p:nvSpPr>
            <p:cNvPr id="351" name="Google Shape;351;p35"/>
            <p:cNvSpPr txBox="1"/>
            <p:nvPr/>
          </p:nvSpPr>
          <p:spPr>
            <a:xfrm>
              <a:off x="0" y="-38100"/>
              <a:ext cx="2440500" cy="2457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52" name="Google Shape;352;p35"/>
          <p:cNvSpPr txBox="1"/>
          <p:nvPr/>
        </p:nvSpPr>
        <p:spPr>
          <a:xfrm>
            <a:off x="1091948" y="2401888"/>
            <a:ext cx="3823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1200" u="none" cap="none" strike="noStrike">
                <a:solidFill>
                  <a:srgbClr val="FFFAF5"/>
                </a:solidFill>
                <a:latin typeface="Ovo"/>
                <a:ea typeface="Ovo"/>
                <a:cs typeface="Ovo"/>
                <a:sym typeface="Ovo"/>
              </a:rPr>
              <a:t>COSMETICS MARKET GROWTH (2021-2025)</a:t>
            </a:r>
            <a:endParaRPr sz="700"/>
          </a:p>
        </p:txBody>
      </p:sp>
      <p:sp>
        <p:nvSpPr>
          <p:cNvPr id="353" name="Google Shape;353;p35"/>
          <p:cNvSpPr txBox="1"/>
          <p:nvPr/>
        </p:nvSpPr>
        <p:spPr>
          <a:xfrm>
            <a:off x="5407725" y="1361100"/>
            <a:ext cx="2985000" cy="3001800"/>
          </a:xfrm>
          <a:prstGeom prst="rect">
            <a:avLst/>
          </a:prstGeom>
          <a:noFill/>
          <a:ln>
            <a:noFill/>
          </a:ln>
        </p:spPr>
        <p:txBody>
          <a:bodyPr anchorCtr="0" anchor="t" bIns="0" lIns="0" spcFirstLastPara="1" rIns="0" wrap="square" tIns="0">
            <a:spAutoFit/>
          </a:bodyPr>
          <a:lstStyle/>
          <a:p>
            <a:pPr indent="-311150" lvl="0" marL="457200" marR="0" rtl="0" algn="l">
              <a:lnSpc>
                <a:spcPct val="140016"/>
              </a:lnSpc>
              <a:spcBef>
                <a:spcPts val="0"/>
              </a:spcBef>
              <a:spcAft>
                <a:spcPts val="0"/>
              </a:spcAft>
              <a:buSzPts val="1300"/>
              <a:buChar char="●"/>
            </a:pPr>
            <a:r>
              <a:rPr lang="en" sz="1300"/>
              <a:t>Low alignment across platforms</a:t>
            </a:r>
            <a:endParaRPr sz="1300"/>
          </a:p>
          <a:p>
            <a:pPr indent="-311150" lvl="0" marL="457200" marR="0" rtl="0" algn="l">
              <a:lnSpc>
                <a:spcPct val="140016"/>
              </a:lnSpc>
              <a:spcBef>
                <a:spcPts val="0"/>
              </a:spcBef>
              <a:spcAft>
                <a:spcPts val="0"/>
              </a:spcAft>
              <a:buSzPts val="1300"/>
              <a:buChar char="●"/>
            </a:pPr>
            <a:r>
              <a:rPr lang="en" sz="1300"/>
              <a:t>Sephora signals dont reliably transfer</a:t>
            </a:r>
            <a:endParaRPr sz="1300"/>
          </a:p>
          <a:p>
            <a:pPr indent="-311150" lvl="0" marL="457200" marR="0" rtl="0" algn="l">
              <a:lnSpc>
                <a:spcPct val="140016"/>
              </a:lnSpc>
              <a:spcBef>
                <a:spcPts val="0"/>
              </a:spcBef>
              <a:spcAft>
                <a:spcPts val="0"/>
              </a:spcAft>
              <a:buSzPts val="1300"/>
              <a:buChar char="●"/>
            </a:pPr>
            <a:r>
              <a:rPr lang="en" sz="1300"/>
              <a:t>Most stable segment: Niche beloved</a:t>
            </a:r>
            <a:endParaRPr sz="1300"/>
          </a:p>
          <a:p>
            <a:pPr indent="-311150" lvl="0" marL="457200" marR="0" rtl="0" algn="l">
              <a:lnSpc>
                <a:spcPct val="140016"/>
              </a:lnSpc>
              <a:spcBef>
                <a:spcPts val="0"/>
              </a:spcBef>
              <a:spcAft>
                <a:spcPts val="0"/>
              </a:spcAft>
              <a:buSzPts val="1300"/>
              <a:buChar char="●"/>
            </a:pPr>
            <a:r>
              <a:rPr lang="en" sz="1300"/>
              <a:t>Most revealing </a:t>
            </a:r>
            <a:r>
              <a:rPr lang="en" sz="1300"/>
              <a:t>asymmetry</a:t>
            </a:r>
            <a:r>
              <a:rPr lang="en" sz="1300"/>
              <a:t>: </a:t>
            </a:r>
            <a:r>
              <a:rPr lang="en" sz="1300">
                <a:solidFill>
                  <a:schemeClr val="dk1"/>
                </a:solidFill>
              </a:rPr>
              <a:t>Nearly 60% of Sephora’s “Disappointed &amp; Vocal” products appear as neutral or positive performers on Ulta</a:t>
            </a:r>
            <a:endParaRPr sz="1300">
              <a:solidFill>
                <a:schemeClr val="dk1"/>
              </a:solidFill>
            </a:endParaRPr>
          </a:p>
          <a:p>
            <a:pPr indent="-311150" lvl="0" marL="457200" marR="0" rtl="0" algn="l">
              <a:lnSpc>
                <a:spcPct val="140016"/>
              </a:lnSpc>
              <a:spcBef>
                <a:spcPts val="0"/>
              </a:spcBef>
              <a:spcAft>
                <a:spcPts val="0"/>
              </a:spcAft>
              <a:buClr>
                <a:schemeClr val="dk1"/>
              </a:buClr>
              <a:buSzPts val="1300"/>
              <a:buChar char="●"/>
            </a:pPr>
            <a:r>
              <a:rPr lang="en" sz="1300">
                <a:solidFill>
                  <a:schemeClr val="dk1"/>
                </a:solidFill>
              </a:rPr>
              <a:t>Price parity holds</a:t>
            </a:r>
            <a:endParaRPr sz="1300">
              <a:solidFill>
                <a:schemeClr val="dk1"/>
              </a:solidFill>
            </a:endParaRPr>
          </a:p>
          <a:p>
            <a:pPr indent="-311150" lvl="0" marL="457200" marR="0" rtl="0" algn="l">
              <a:lnSpc>
                <a:spcPct val="140016"/>
              </a:lnSpc>
              <a:spcBef>
                <a:spcPts val="0"/>
              </a:spcBef>
              <a:spcAft>
                <a:spcPts val="0"/>
              </a:spcAft>
              <a:buClr>
                <a:schemeClr val="dk1"/>
              </a:buClr>
              <a:buSzPts val="1300"/>
              <a:buChar char="●"/>
            </a:pPr>
            <a:r>
              <a:rPr lang="en" sz="1300">
                <a:solidFill>
                  <a:schemeClr val="dk1"/>
                </a:solidFill>
              </a:rPr>
              <a:t>Brand Consistency varies widely</a:t>
            </a:r>
            <a:endParaRPr sz="1300">
              <a:solidFill>
                <a:schemeClr val="dk1"/>
              </a:solidFill>
            </a:endParaRPr>
          </a:p>
        </p:txBody>
      </p:sp>
      <p:pic>
        <p:nvPicPr>
          <p:cNvPr id="354" name="Google Shape;354;p35"/>
          <p:cNvPicPr preferRelativeResize="0"/>
          <p:nvPr/>
        </p:nvPicPr>
        <p:blipFill>
          <a:blip r:embed="rId4">
            <a:alphaModFix/>
          </a:blip>
          <a:stretch>
            <a:fillRect/>
          </a:stretch>
        </p:blipFill>
        <p:spPr>
          <a:xfrm>
            <a:off x="615788" y="1583676"/>
            <a:ext cx="4776125" cy="2556650"/>
          </a:xfrm>
          <a:prstGeom prst="rect">
            <a:avLst/>
          </a:prstGeom>
          <a:noFill/>
          <a:ln>
            <a:noFill/>
          </a:ln>
        </p:spPr>
      </p:pic>
      <p:pic>
        <p:nvPicPr>
          <p:cNvPr id="355" name="Google Shape;355;p35"/>
          <p:cNvPicPr preferRelativeResize="0"/>
          <p:nvPr/>
        </p:nvPicPr>
        <p:blipFill>
          <a:blip r:embed="rId5">
            <a:alphaModFix/>
          </a:blip>
          <a:stretch>
            <a:fillRect/>
          </a:stretch>
        </p:blipFill>
        <p:spPr>
          <a:xfrm>
            <a:off x="615775" y="1583675"/>
            <a:ext cx="4776148" cy="2556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361" name="Google Shape;361;p36"/>
          <p:cNvGrpSpPr/>
          <p:nvPr/>
        </p:nvGrpSpPr>
        <p:grpSpPr>
          <a:xfrm>
            <a:off x="514350" y="442021"/>
            <a:ext cx="8115140" cy="4187111"/>
            <a:chOff x="0" y="-38100"/>
            <a:chExt cx="4274726" cy="2205600"/>
          </a:xfrm>
        </p:grpSpPr>
        <p:sp>
          <p:nvSpPr>
            <p:cNvPr id="362" name="Google Shape;362;p36"/>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363" name="Google Shape;363;p36"/>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64" name="Google Shape;364;p36"/>
          <p:cNvGrpSpPr/>
          <p:nvPr/>
        </p:nvGrpSpPr>
        <p:grpSpPr>
          <a:xfrm>
            <a:off x="5312107" y="740289"/>
            <a:ext cx="769103" cy="852666"/>
            <a:chOff x="0" y="-38100"/>
            <a:chExt cx="284400" cy="315300"/>
          </a:xfrm>
        </p:grpSpPr>
        <p:sp>
          <p:nvSpPr>
            <p:cNvPr id="365" name="Google Shape;365;p36"/>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366" name="Google Shape;366;p36"/>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67" name="Google Shape;367;p36"/>
          <p:cNvGrpSpPr/>
          <p:nvPr/>
        </p:nvGrpSpPr>
        <p:grpSpPr>
          <a:xfrm>
            <a:off x="5312107" y="1666793"/>
            <a:ext cx="769103" cy="852666"/>
            <a:chOff x="0" y="-38100"/>
            <a:chExt cx="284400" cy="315300"/>
          </a:xfrm>
        </p:grpSpPr>
        <p:sp>
          <p:nvSpPr>
            <p:cNvPr id="368" name="Google Shape;368;p36"/>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369" name="Google Shape;369;p36"/>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70" name="Google Shape;370;p36"/>
          <p:cNvGrpSpPr/>
          <p:nvPr/>
        </p:nvGrpSpPr>
        <p:grpSpPr>
          <a:xfrm>
            <a:off x="5312107" y="2593309"/>
            <a:ext cx="769103" cy="852666"/>
            <a:chOff x="0" y="-38100"/>
            <a:chExt cx="284400" cy="315300"/>
          </a:xfrm>
        </p:grpSpPr>
        <p:sp>
          <p:nvSpPr>
            <p:cNvPr id="371" name="Google Shape;371;p36"/>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372" name="Google Shape;372;p36"/>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73" name="Google Shape;373;p36"/>
          <p:cNvGrpSpPr/>
          <p:nvPr/>
        </p:nvGrpSpPr>
        <p:grpSpPr>
          <a:xfrm>
            <a:off x="5312107" y="3519826"/>
            <a:ext cx="769103" cy="852666"/>
            <a:chOff x="0" y="-38100"/>
            <a:chExt cx="284400" cy="315300"/>
          </a:xfrm>
        </p:grpSpPr>
        <p:sp>
          <p:nvSpPr>
            <p:cNvPr id="374" name="Google Shape;374;p36"/>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375" name="Google Shape;375;p36"/>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76" name="Google Shape;376;p36"/>
          <p:cNvSpPr/>
          <p:nvPr/>
        </p:nvSpPr>
        <p:spPr>
          <a:xfrm>
            <a:off x="5540102" y="966209"/>
            <a:ext cx="313106" cy="570580"/>
          </a:xfrm>
          <a:custGeom>
            <a:rect b="b" l="l" r="r" t="t"/>
            <a:pathLst>
              <a:path extrusionOk="0" h="1141159" w="626211">
                <a:moveTo>
                  <a:pt x="0" y="0"/>
                </a:moveTo>
                <a:lnTo>
                  <a:pt x="626211" y="0"/>
                </a:lnTo>
                <a:lnTo>
                  <a:pt x="626211" y="1141158"/>
                </a:lnTo>
                <a:lnTo>
                  <a:pt x="0" y="1141158"/>
                </a:lnTo>
                <a:lnTo>
                  <a:pt x="0" y="0"/>
                </a:lnTo>
                <a:close/>
              </a:path>
            </a:pathLst>
          </a:custGeom>
          <a:blipFill rotWithShape="1">
            <a:blip r:embed="rId4">
              <a:alphaModFix/>
            </a:blip>
            <a:stretch>
              <a:fillRect b="0" l="0" r="0" t="0"/>
            </a:stretch>
          </a:blipFill>
          <a:ln>
            <a:noFill/>
          </a:ln>
        </p:spPr>
      </p:sp>
      <p:sp>
        <p:nvSpPr>
          <p:cNvPr id="377" name="Google Shape;377;p36"/>
          <p:cNvSpPr/>
          <p:nvPr/>
        </p:nvSpPr>
        <p:spPr>
          <a:xfrm>
            <a:off x="5488104" y="1875335"/>
            <a:ext cx="417076" cy="435589"/>
          </a:xfrm>
          <a:custGeom>
            <a:rect b="b" l="l" r="r" t="t"/>
            <a:pathLst>
              <a:path extrusionOk="0" h="871178" w="834153">
                <a:moveTo>
                  <a:pt x="0" y="0"/>
                </a:moveTo>
                <a:lnTo>
                  <a:pt x="834153" y="0"/>
                </a:lnTo>
                <a:lnTo>
                  <a:pt x="834153" y="871179"/>
                </a:lnTo>
                <a:lnTo>
                  <a:pt x="0" y="871179"/>
                </a:lnTo>
                <a:lnTo>
                  <a:pt x="0" y="0"/>
                </a:lnTo>
                <a:close/>
              </a:path>
            </a:pathLst>
          </a:custGeom>
          <a:blipFill rotWithShape="1">
            <a:blip r:embed="rId5">
              <a:alphaModFix/>
            </a:blip>
            <a:stretch>
              <a:fillRect b="0" l="0" r="0" t="0"/>
            </a:stretch>
          </a:blipFill>
          <a:ln>
            <a:noFill/>
          </a:ln>
        </p:spPr>
      </p:sp>
      <p:sp>
        <p:nvSpPr>
          <p:cNvPr id="378" name="Google Shape;378;p36"/>
          <p:cNvSpPr/>
          <p:nvPr/>
        </p:nvSpPr>
        <p:spPr>
          <a:xfrm>
            <a:off x="5458146" y="2927220"/>
            <a:ext cx="476992" cy="348801"/>
          </a:xfrm>
          <a:custGeom>
            <a:rect b="b" l="l" r="r" t="t"/>
            <a:pathLst>
              <a:path extrusionOk="0" h="697601" w="953984">
                <a:moveTo>
                  <a:pt x="0" y="0"/>
                </a:moveTo>
                <a:lnTo>
                  <a:pt x="953985" y="0"/>
                </a:lnTo>
                <a:lnTo>
                  <a:pt x="953985" y="697601"/>
                </a:lnTo>
                <a:lnTo>
                  <a:pt x="0" y="697601"/>
                </a:lnTo>
                <a:lnTo>
                  <a:pt x="0" y="0"/>
                </a:lnTo>
                <a:close/>
              </a:path>
            </a:pathLst>
          </a:custGeom>
          <a:blipFill rotWithShape="1">
            <a:blip r:embed="rId6">
              <a:alphaModFix/>
            </a:blip>
            <a:stretch>
              <a:fillRect b="0" l="0" r="0" t="0"/>
            </a:stretch>
          </a:blipFill>
          <a:ln>
            <a:noFill/>
          </a:ln>
        </p:spPr>
      </p:sp>
      <p:sp>
        <p:nvSpPr>
          <p:cNvPr id="379" name="Google Shape;379;p36"/>
          <p:cNvSpPr/>
          <p:nvPr/>
        </p:nvSpPr>
        <p:spPr>
          <a:xfrm>
            <a:off x="5458158" y="3762851"/>
            <a:ext cx="417210" cy="366624"/>
          </a:xfrm>
          <a:custGeom>
            <a:rect b="b" l="l" r="r" t="t"/>
            <a:pathLst>
              <a:path extrusionOk="0" h="733247" w="834420">
                <a:moveTo>
                  <a:pt x="0" y="0"/>
                </a:moveTo>
                <a:lnTo>
                  <a:pt x="834420" y="0"/>
                </a:lnTo>
                <a:lnTo>
                  <a:pt x="834420" y="733247"/>
                </a:lnTo>
                <a:lnTo>
                  <a:pt x="0" y="733247"/>
                </a:lnTo>
                <a:lnTo>
                  <a:pt x="0" y="0"/>
                </a:lnTo>
                <a:close/>
              </a:path>
            </a:pathLst>
          </a:custGeom>
          <a:blipFill rotWithShape="1">
            <a:blip r:embed="rId7">
              <a:alphaModFix/>
            </a:blip>
            <a:stretch>
              <a:fillRect b="0" l="0" r="0" t="0"/>
            </a:stretch>
          </a:blipFill>
          <a:ln>
            <a:noFill/>
          </a:ln>
        </p:spPr>
      </p:sp>
      <p:sp>
        <p:nvSpPr>
          <p:cNvPr id="380" name="Google Shape;380;p36"/>
          <p:cNvSpPr txBox="1"/>
          <p:nvPr/>
        </p:nvSpPr>
        <p:spPr>
          <a:xfrm>
            <a:off x="590225" y="581625"/>
            <a:ext cx="45732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solidFill>
                  <a:srgbClr val="453D37"/>
                </a:solidFill>
              </a:rPr>
              <a:t>Sentiment Gap Analysis</a:t>
            </a:r>
            <a:endParaRPr sz="700"/>
          </a:p>
        </p:txBody>
      </p:sp>
      <p:sp>
        <p:nvSpPr>
          <p:cNvPr id="381" name="Google Shape;381;p36"/>
          <p:cNvSpPr txBox="1"/>
          <p:nvPr/>
        </p:nvSpPr>
        <p:spPr>
          <a:xfrm>
            <a:off x="6229879" y="1074235"/>
            <a:ext cx="20718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09080B"/>
                </a:solidFill>
                <a:latin typeface="Ovo"/>
                <a:ea typeface="Ovo"/>
                <a:cs typeface="Ovo"/>
                <a:sym typeface="Ovo"/>
              </a:rPr>
              <a:t>Platform calibration differs</a:t>
            </a:r>
            <a:endParaRPr sz="700"/>
          </a:p>
        </p:txBody>
      </p:sp>
      <p:sp>
        <p:nvSpPr>
          <p:cNvPr id="382" name="Google Shape;382;p36"/>
          <p:cNvSpPr txBox="1"/>
          <p:nvPr/>
        </p:nvSpPr>
        <p:spPr>
          <a:xfrm>
            <a:off x="6229876" y="2000713"/>
            <a:ext cx="21405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09080B"/>
                </a:solidFill>
                <a:latin typeface="Ovo"/>
                <a:ea typeface="Ovo"/>
                <a:cs typeface="Ovo"/>
                <a:sym typeface="Ovo"/>
              </a:rPr>
              <a:t>Same products score differently</a:t>
            </a:r>
            <a:endParaRPr sz="700"/>
          </a:p>
        </p:txBody>
      </p:sp>
      <p:sp>
        <p:nvSpPr>
          <p:cNvPr id="383" name="Google Shape;383;p36"/>
          <p:cNvSpPr txBox="1"/>
          <p:nvPr/>
        </p:nvSpPr>
        <p:spPr>
          <a:xfrm>
            <a:off x="6229874" y="2927225"/>
            <a:ext cx="28881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09080B"/>
                </a:solidFill>
                <a:latin typeface="Ovo"/>
                <a:ea typeface="Ovo"/>
                <a:cs typeface="Ovo"/>
                <a:sym typeface="Ovo"/>
              </a:rPr>
              <a:t>Clear brand &amp; category splits</a:t>
            </a:r>
            <a:endParaRPr sz="700"/>
          </a:p>
        </p:txBody>
      </p:sp>
      <p:sp>
        <p:nvSpPr>
          <p:cNvPr id="384" name="Google Shape;384;p36"/>
          <p:cNvSpPr txBox="1"/>
          <p:nvPr/>
        </p:nvSpPr>
        <p:spPr>
          <a:xfrm>
            <a:off x="6229879" y="3853722"/>
            <a:ext cx="3213600" cy="1848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lang="en" sz="1200">
                <a:solidFill>
                  <a:srgbClr val="09080B"/>
                </a:solidFill>
                <a:latin typeface="Ovo"/>
                <a:ea typeface="Ovo"/>
                <a:cs typeface="Ovo"/>
                <a:sym typeface="Ovo"/>
              </a:rPr>
              <a:t>Context drives delighters</a:t>
            </a:r>
            <a:endParaRPr sz="700"/>
          </a:p>
        </p:txBody>
      </p:sp>
      <p:sp>
        <p:nvSpPr>
          <p:cNvPr id="385" name="Google Shape;385;p36"/>
          <p:cNvSpPr txBox="1"/>
          <p:nvPr/>
        </p:nvSpPr>
        <p:spPr>
          <a:xfrm>
            <a:off x="844002" y="2369638"/>
            <a:ext cx="2996400" cy="17364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 sz="1200" u="none" cap="none" strike="noStrike">
                <a:solidFill>
                  <a:srgbClr val="09080B"/>
                </a:solidFill>
                <a:latin typeface="Ovo"/>
                <a:ea typeface="Ovo"/>
                <a:cs typeface="Ovo"/>
                <a:sym typeface="Ovo"/>
              </a:rPr>
              <a:t>Our product range is designed to provide a natural finish, is practical to use, and is suitable for everyday makeup needs as well as special events. Our product range is designed to provide a natural finish, is practical to use, and is suitable for everyday makeup needs as well as special events.</a:t>
            </a:r>
            <a:endParaRPr sz="700"/>
          </a:p>
        </p:txBody>
      </p:sp>
      <p:pic>
        <p:nvPicPr>
          <p:cNvPr id="386" name="Google Shape;386;p36"/>
          <p:cNvPicPr preferRelativeResize="0"/>
          <p:nvPr/>
        </p:nvPicPr>
        <p:blipFill>
          <a:blip r:embed="rId8">
            <a:alphaModFix/>
          </a:blip>
          <a:stretch>
            <a:fillRect/>
          </a:stretch>
        </p:blipFill>
        <p:spPr>
          <a:xfrm>
            <a:off x="687247" y="1259016"/>
            <a:ext cx="4271425" cy="29850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sp>
        <p:nvSpPr>
          <p:cNvPr id="392" name="Google Shape;392;p37"/>
          <p:cNvSpPr txBox="1"/>
          <p:nvPr/>
        </p:nvSpPr>
        <p:spPr>
          <a:xfrm>
            <a:off x="445700" y="706625"/>
            <a:ext cx="78780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Price Consistency &amp; Perceived Value</a:t>
            </a:r>
            <a:endParaRPr sz="700"/>
          </a:p>
        </p:txBody>
      </p:sp>
      <p:sp>
        <p:nvSpPr>
          <p:cNvPr id="393" name="Google Shape;393;p37"/>
          <p:cNvSpPr/>
          <p:nvPr/>
        </p:nvSpPr>
        <p:spPr>
          <a:xfrm flipH="1" rot="-2700000">
            <a:off x="575633" y="597939"/>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sp>
        <p:nvSpPr>
          <p:cNvPr id="394" name="Google Shape;394;p37"/>
          <p:cNvSpPr/>
          <p:nvPr/>
        </p:nvSpPr>
        <p:spPr>
          <a:xfrm flipH="1" rot="2700000">
            <a:off x="8156768" y="598780"/>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grpSp>
        <p:nvGrpSpPr>
          <p:cNvPr id="395" name="Google Shape;395;p37"/>
          <p:cNvGrpSpPr/>
          <p:nvPr/>
        </p:nvGrpSpPr>
        <p:grpSpPr>
          <a:xfrm>
            <a:off x="662875" y="1398945"/>
            <a:ext cx="2388180" cy="492574"/>
            <a:chOff x="0" y="-38100"/>
            <a:chExt cx="1257996" cy="711709"/>
          </a:xfrm>
        </p:grpSpPr>
        <p:sp>
          <p:nvSpPr>
            <p:cNvPr id="396" name="Google Shape;396;p37"/>
            <p:cNvSpPr/>
            <p:nvPr/>
          </p:nvSpPr>
          <p:spPr>
            <a:xfrm>
              <a:off x="0" y="0"/>
              <a:ext cx="1257996" cy="673609"/>
            </a:xfrm>
            <a:custGeom>
              <a:rect b="b" l="l" r="r" t="t"/>
              <a:pathLst>
                <a:path extrusionOk="0" h="673609" w="1257996">
                  <a:moveTo>
                    <a:pt x="0" y="0"/>
                  </a:moveTo>
                  <a:lnTo>
                    <a:pt x="1257996" y="0"/>
                  </a:lnTo>
                  <a:lnTo>
                    <a:pt x="1257996" y="673609"/>
                  </a:lnTo>
                  <a:lnTo>
                    <a:pt x="0" y="673609"/>
                  </a:lnTo>
                  <a:close/>
                </a:path>
              </a:pathLst>
            </a:custGeom>
            <a:solidFill>
              <a:srgbClr val="FFFAF5"/>
            </a:solidFill>
            <a:ln>
              <a:noFill/>
            </a:ln>
          </p:spPr>
        </p:sp>
        <p:sp>
          <p:nvSpPr>
            <p:cNvPr id="397" name="Google Shape;397;p37"/>
            <p:cNvSpPr txBox="1"/>
            <p:nvPr/>
          </p:nvSpPr>
          <p:spPr>
            <a:xfrm>
              <a:off x="0" y="-38100"/>
              <a:ext cx="1257900" cy="711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98" name="Google Shape;398;p37"/>
          <p:cNvSpPr txBox="1"/>
          <p:nvPr/>
        </p:nvSpPr>
        <p:spPr>
          <a:xfrm>
            <a:off x="-6878127" y="-201010"/>
            <a:ext cx="8576331" cy="4425095"/>
          </a:xfrm>
          <a:prstGeom prst="rect">
            <a:avLst/>
          </a:prstGeom>
          <a:noFill/>
          <a:ln>
            <a:noFill/>
          </a:ln>
        </p:spPr>
        <p:txBody>
          <a:bodyPr anchorCtr="0" anchor="ctr" bIns="26850" lIns="26850" spcFirstLastPara="1" rIns="26850" wrap="square" tIns="26850">
            <a:noAutofit/>
          </a:bodyPr>
          <a:lstStyle/>
          <a:p>
            <a:pPr indent="0" lvl="0" marL="0" marR="0" rtl="0" algn="ctr">
              <a:lnSpc>
                <a:spcPct val="147722"/>
              </a:lnSpc>
              <a:spcBef>
                <a:spcPts val="0"/>
              </a:spcBef>
              <a:spcAft>
                <a:spcPts val="0"/>
              </a:spcAft>
              <a:buNone/>
            </a:pPr>
            <a:r>
              <a:t/>
            </a:r>
            <a:endParaRPr b="0" i="0" sz="951" u="none" cap="none" strike="noStrike">
              <a:solidFill>
                <a:schemeClr val="dk1"/>
              </a:solidFill>
              <a:latin typeface="Calibri"/>
              <a:ea typeface="Calibri"/>
              <a:cs typeface="Calibri"/>
              <a:sym typeface="Calibri"/>
            </a:endParaRPr>
          </a:p>
        </p:txBody>
      </p:sp>
      <p:grpSp>
        <p:nvGrpSpPr>
          <p:cNvPr id="399" name="Google Shape;399;p37"/>
          <p:cNvGrpSpPr/>
          <p:nvPr/>
        </p:nvGrpSpPr>
        <p:grpSpPr>
          <a:xfrm>
            <a:off x="662879" y="1337028"/>
            <a:ext cx="2388180" cy="539335"/>
            <a:chOff x="0" y="-38100"/>
            <a:chExt cx="1257996" cy="284100"/>
          </a:xfrm>
        </p:grpSpPr>
        <p:sp>
          <p:nvSpPr>
            <p:cNvPr id="400" name="Google Shape;400;p37"/>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401" name="Google Shape;401;p37"/>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02" name="Google Shape;402;p37"/>
          <p:cNvGrpSpPr/>
          <p:nvPr/>
        </p:nvGrpSpPr>
        <p:grpSpPr>
          <a:xfrm>
            <a:off x="662905" y="2660828"/>
            <a:ext cx="2388180" cy="539335"/>
            <a:chOff x="0" y="-38100"/>
            <a:chExt cx="1257996" cy="284100"/>
          </a:xfrm>
        </p:grpSpPr>
        <p:sp>
          <p:nvSpPr>
            <p:cNvPr id="403" name="Google Shape;403;p37"/>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404" name="Google Shape;404;p37"/>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05" name="Google Shape;405;p37"/>
          <p:cNvGrpSpPr/>
          <p:nvPr/>
        </p:nvGrpSpPr>
        <p:grpSpPr>
          <a:xfrm>
            <a:off x="662879" y="2006506"/>
            <a:ext cx="2388180" cy="539335"/>
            <a:chOff x="0" y="-38100"/>
            <a:chExt cx="1257996" cy="284100"/>
          </a:xfrm>
        </p:grpSpPr>
        <p:sp>
          <p:nvSpPr>
            <p:cNvPr id="406" name="Google Shape;406;p37"/>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407" name="Google Shape;407;p37"/>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08" name="Google Shape;408;p37"/>
          <p:cNvGrpSpPr/>
          <p:nvPr/>
        </p:nvGrpSpPr>
        <p:grpSpPr>
          <a:xfrm>
            <a:off x="662905" y="3368406"/>
            <a:ext cx="2388180" cy="539335"/>
            <a:chOff x="0" y="-38100"/>
            <a:chExt cx="1257996" cy="284100"/>
          </a:xfrm>
        </p:grpSpPr>
        <p:sp>
          <p:nvSpPr>
            <p:cNvPr id="409" name="Google Shape;409;p37"/>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410" name="Google Shape;410;p37"/>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11" name="Google Shape;411;p37"/>
          <p:cNvSpPr txBox="1"/>
          <p:nvPr/>
        </p:nvSpPr>
        <p:spPr>
          <a:xfrm>
            <a:off x="821106" y="1490320"/>
            <a:ext cx="2071800" cy="246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1600">
                <a:solidFill>
                  <a:srgbClr val="FFFAF5"/>
                </a:solidFill>
                <a:latin typeface="Ovo"/>
                <a:ea typeface="Ovo"/>
                <a:cs typeface="Ovo"/>
                <a:sym typeface="Ovo"/>
              </a:rPr>
              <a:t>Price parity dominates</a:t>
            </a:r>
            <a:endParaRPr sz="1100"/>
          </a:p>
        </p:txBody>
      </p:sp>
      <p:sp>
        <p:nvSpPr>
          <p:cNvPr id="412" name="Google Shape;412;p37"/>
          <p:cNvSpPr txBox="1"/>
          <p:nvPr/>
        </p:nvSpPr>
        <p:spPr>
          <a:xfrm>
            <a:off x="821094" y="2745845"/>
            <a:ext cx="2071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a:solidFill>
                  <a:srgbClr val="FFFAF5"/>
                </a:solidFill>
                <a:latin typeface="Ovo"/>
                <a:ea typeface="Ovo"/>
                <a:cs typeface="Ovo"/>
                <a:sym typeface="Ovo"/>
              </a:rPr>
              <a:t>Brand outliers are category-driven</a:t>
            </a:r>
            <a:endParaRPr sz="900"/>
          </a:p>
        </p:txBody>
      </p:sp>
      <p:sp>
        <p:nvSpPr>
          <p:cNvPr id="413" name="Google Shape;413;p37"/>
          <p:cNvSpPr txBox="1"/>
          <p:nvPr/>
        </p:nvSpPr>
        <p:spPr>
          <a:xfrm>
            <a:off x="821106" y="2160569"/>
            <a:ext cx="2071800" cy="40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Font typeface="Arial"/>
              <a:buNone/>
            </a:pPr>
            <a:r>
              <a:rPr lang="en" sz="1300">
                <a:solidFill>
                  <a:srgbClr val="FFFAF5"/>
                </a:solidFill>
                <a:latin typeface="Ovo"/>
                <a:ea typeface="Ovo"/>
                <a:cs typeface="Ovo"/>
                <a:sym typeface="Ovo"/>
              </a:rPr>
              <a:t>Structured deviations by tier &amp; category</a:t>
            </a:r>
            <a:endParaRPr sz="800"/>
          </a:p>
        </p:txBody>
      </p:sp>
      <p:sp>
        <p:nvSpPr>
          <p:cNvPr id="414" name="Google Shape;414;p37"/>
          <p:cNvSpPr txBox="1"/>
          <p:nvPr/>
        </p:nvSpPr>
        <p:spPr>
          <a:xfrm>
            <a:off x="821094" y="3491219"/>
            <a:ext cx="2071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Font typeface="Arial"/>
              <a:buNone/>
            </a:pPr>
            <a:r>
              <a:rPr lang="en">
                <a:solidFill>
                  <a:srgbClr val="FFFAF5"/>
                </a:solidFill>
                <a:latin typeface="Ovo"/>
                <a:ea typeface="Ovo"/>
                <a:cs typeface="Ovo"/>
                <a:sym typeface="Ovo"/>
              </a:rPr>
              <a:t>Higher price ≠ better experience</a:t>
            </a:r>
            <a:endParaRPr sz="900"/>
          </a:p>
        </p:txBody>
      </p:sp>
      <p:sp>
        <p:nvSpPr>
          <p:cNvPr id="415" name="Google Shape;415;p37"/>
          <p:cNvSpPr txBox="1"/>
          <p:nvPr/>
        </p:nvSpPr>
        <p:spPr>
          <a:xfrm>
            <a:off x="821106" y="1980876"/>
            <a:ext cx="2071800" cy="107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t/>
            </a:r>
            <a:endParaRPr sz="700"/>
          </a:p>
        </p:txBody>
      </p:sp>
      <p:sp>
        <p:nvSpPr>
          <p:cNvPr id="416" name="Google Shape;416;p37"/>
          <p:cNvSpPr txBox="1"/>
          <p:nvPr/>
        </p:nvSpPr>
        <p:spPr>
          <a:xfrm>
            <a:off x="821106" y="3491229"/>
            <a:ext cx="2071800" cy="107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t/>
            </a:r>
            <a:endParaRPr sz="700"/>
          </a:p>
        </p:txBody>
      </p:sp>
      <p:pic>
        <p:nvPicPr>
          <p:cNvPr id="417" name="Google Shape;417;p37"/>
          <p:cNvPicPr preferRelativeResize="0"/>
          <p:nvPr/>
        </p:nvPicPr>
        <p:blipFill>
          <a:blip r:embed="rId5">
            <a:alphaModFix/>
          </a:blip>
          <a:stretch>
            <a:fillRect/>
          </a:stretch>
        </p:blipFill>
        <p:spPr>
          <a:xfrm>
            <a:off x="3382899" y="1264775"/>
            <a:ext cx="4380026" cy="3107774"/>
          </a:xfrm>
          <a:prstGeom prst="rect">
            <a:avLst/>
          </a:prstGeom>
          <a:noFill/>
          <a:ln>
            <a:noFill/>
          </a:ln>
        </p:spPr>
      </p:pic>
      <p:sp>
        <p:nvSpPr>
          <p:cNvPr id="418" name="Google Shape;418;p37"/>
          <p:cNvSpPr txBox="1"/>
          <p:nvPr/>
        </p:nvSpPr>
        <p:spPr>
          <a:xfrm>
            <a:off x="-3541425" y="642150"/>
            <a:ext cx="3216300" cy="2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424" name="Google Shape;424;p38"/>
          <p:cNvGrpSpPr/>
          <p:nvPr/>
        </p:nvGrpSpPr>
        <p:grpSpPr>
          <a:xfrm>
            <a:off x="514350" y="442020"/>
            <a:ext cx="8115300" cy="4187130"/>
            <a:chOff x="0" y="-38100"/>
            <a:chExt cx="4274726" cy="2205567"/>
          </a:xfrm>
        </p:grpSpPr>
        <p:sp>
          <p:nvSpPr>
            <p:cNvPr id="425" name="Google Shape;425;p38"/>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426" name="Google Shape;426;p38"/>
            <p:cNvSpPr txBox="1"/>
            <p:nvPr/>
          </p:nvSpPr>
          <p:spPr>
            <a:xfrm>
              <a:off x="0" y="-38100"/>
              <a:ext cx="4274726"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27" name="Google Shape;427;p38"/>
          <p:cNvGrpSpPr/>
          <p:nvPr/>
        </p:nvGrpSpPr>
        <p:grpSpPr>
          <a:xfrm>
            <a:off x="693821" y="2144767"/>
            <a:ext cx="6095905" cy="2323331"/>
            <a:chOff x="0" y="-38100"/>
            <a:chExt cx="3211012" cy="1223812"/>
          </a:xfrm>
        </p:grpSpPr>
        <p:sp>
          <p:nvSpPr>
            <p:cNvPr id="428" name="Google Shape;428;p38"/>
            <p:cNvSpPr/>
            <p:nvPr/>
          </p:nvSpPr>
          <p:spPr>
            <a:xfrm>
              <a:off x="0" y="0"/>
              <a:ext cx="3211012" cy="1185712"/>
            </a:xfrm>
            <a:custGeom>
              <a:rect b="b" l="l" r="r" t="t"/>
              <a:pathLst>
                <a:path extrusionOk="0" h="1185712" w="3211012">
                  <a:moveTo>
                    <a:pt x="0" y="0"/>
                  </a:moveTo>
                  <a:lnTo>
                    <a:pt x="3211012" y="0"/>
                  </a:lnTo>
                  <a:lnTo>
                    <a:pt x="3211012" y="1185712"/>
                  </a:lnTo>
                  <a:lnTo>
                    <a:pt x="0" y="1185712"/>
                  </a:lnTo>
                  <a:close/>
                </a:path>
              </a:pathLst>
            </a:custGeom>
            <a:solidFill>
              <a:srgbClr val="FFFAF5"/>
            </a:solidFill>
            <a:ln>
              <a:noFill/>
            </a:ln>
          </p:spPr>
        </p:sp>
        <p:sp>
          <p:nvSpPr>
            <p:cNvPr id="429" name="Google Shape;429;p38"/>
            <p:cNvSpPr txBox="1"/>
            <p:nvPr/>
          </p:nvSpPr>
          <p:spPr>
            <a:xfrm>
              <a:off x="0" y="-38100"/>
              <a:ext cx="3211012" cy="122381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30" name="Google Shape;430;p38"/>
          <p:cNvSpPr/>
          <p:nvPr/>
        </p:nvSpPr>
        <p:spPr>
          <a:xfrm>
            <a:off x="6185875" y="650475"/>
            <a:ext cx="2270125" cy="2540000"/>
          </a:xfrm>
          <a:custGeom>
            <a:rect b="b" l="l" r="r" t="t"/>
            <a:pathLst>
              <a:path extrusionOk="0" h="6350000" w="6350000">
                <a:moveTo>
                  <a:pt x="0" y="0"/>
                </a:moveTo>
                <a:cubicBezTo>
                  <a:pt x="0" y="3506470"/>
                  <a:pt x="2843530" y="6350000"/>
                  <a:pt x="6350000" y="6350000"/>
                </a:cubicBezTo>
                <a:lnTo>
                  <a:pt x="6350000" y="0"/>
                </a:lnTo>
                <a:lnTo>
                  <a:pt x="0" y="0"/>
                </a:lnTo>
                <a:close/>
              </a:path>
            </a:pathLst>
          </a:custGeom>
          <a:blipFill rotWithShape="1">
            <a:blip r:embed="rId4">
              <a:alphaModFix/>
            </a:blip>
            <a:stretch>
              <a:fillRect b="0" l="-25046" r="-25046"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1" name="Google Shape;431;p38"/>
          <p:cNvSpPr/>
          <p:nvPr/>
        </p:nvSpPr>
        <p:spPr>
          <a:xfrm>
            <a:off x="6975977" y="2355855"/>
            <a:ext cx="1530964" cy="1634408"/>
          </a:xfrm>
          <a:custGeom>
            <a:rect b="b" l="l" r="r" t="t"/>
            <a:pathLst>
              <a:path extrusionOk="0" h="4358420" w="5516987">
                <a:moveTo>
                  <a:pt x="0" y="0"/>
                </a:moveTo>
                <a:lnTo>
                  <a:pt x="5516987" y="0"/>
                </a:lnTo>
                <a:lnTo>
                  <a:pt x="5516987" y="4358420"/>
                </a:lnTo>
                <a:lnTo>
                  <a:pt x="0" y="4358420"/>
                </a:lnTo>
                <a:lnTo>
                  <a:pt x="0" y="0"/>
                </a:lnTo>
                <a:close/>
              </a:path>
            </a:pathLst>
          </a:custGeom>
          <a:blipFill rotWithShape="1">
            <a:blip r:embed="rId5">
              <a:alphaModFix/>
            </a:blip>
            <a:stretch>
              <a:fillRect b="0" l="0" r="0" t="0"/>
            </a:stretch>
          </a:blipFill>
          <a:ln>
            <a:noFill/>
          </a:ln>
        </p:spPr>
      </p:sp>
      <p:sp>
        <p:nvSpPr>
          <p:cNvPr id="432" name="Google Shape;432;p38"/>
          <p:cNvSpPr/>
          <p:nvPr/>
        </p:nvSpPr>
        <p:spPr>
          <a:xfrm flipH="1" rot="-2700000">
            <a:off x="575016" y="598194"/>
            <a:ext cx="399336" cy="378870"/>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6">
              <a:alphaModFix/>
            </a:blip>
            <a:stretch>
              <a:fillRect b="0" l="0" r="0" t="0"/>
            </a:stretch>
          </a:blipFill>
          <a:ln>
            <a:noFill/>
          </a:ln>
        </p:spPr>
      </p:sp>
      <p:sp>
        <p:nvSpPr>
          <p:cNvPr id="433" name="Google Shape;433;p38"/>
          <p:cNvSpPr txBox="1"/>
          <p:nvPr/>
        </p:nvSpPr>
        <p:spPr>
          <a:xfrm>
            <a:off x="572450" y="856375"/>
            <a:ext cx="6262800" cy="615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4000">
                <a:solidFill>
                  <a:srgbClr val="453D37"/>
                </a:solidFill>
              </a:rPr>
              <a:t>Joint Recommendations</a:t>
            </a:r>
            <a:endParaRPr sz="1500"/>
          </a:p>
        </p:txBody>
      </p:sp>
      <p:sp>
        <p:nvSpPr>
          <p:cNvPr id="434" name="Google Shape;434;p38"/>
          <p:cNvSpPr txBox="1"/>
          <p:nvPr/>
        </p:nvSpPr>
        <p:spPr>
          <a:xfrm>
            <a:off x="883674" y="2355850"/>
            <a:ext cx="6524400" cy="15885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4300">
                <a:solidFill>
                  <a:srgbClr val="09080B"/>
                </a:solidFill>
                <a:latin typeface="Ovo"/>
                <a:ea typeface="Ovo"/>
                <a:cs typeface="Ovo"/>
                <a:sym typeface="Ovo"/>
              </a:rPr>
              <a:t>DEMO</a:t>
            </a:r>
            <a:endParaRPr sz="4300">
              <a:solidFill>
                <a:srgbClr val="09080B"/>
              </a:solidFill>
              <a:latin typeface="Ovo"/>
              <a:ea typeface="Ovo"/>
              <a:cs typeface="Ovo"/>
              <a:sym typeface="Ovo"/>
            </a:endParaRPr>
          </a:p>
          <a:p>
            <a:pPr indent="0" lvl="0" marL="0" marR="0" rtl="0" algn="l">
              <a:lnSpc>
                <a:spcPct val="140016"/>
              </a:lnSpc>
              <a:spcBef>
                <a:spcPts val="0"/>
              </a:spcBef>
              <a:spcAft>
                <a:spcPts val="0"/>
              </a:spcAft>
              <a:buNone/>
            </a:pPr>
            <a:r>
              <a:t/>
            </a:r>
            <a:endParaRPr sz="4300">
              <a:solidFill>
                <a:srgbClr val="09080B"/>
              </a:solidFill>
              <a:latin typeface="Ovo"/>
              <a:ea typeface="Ovo"/>
              <a:cs typeface="Ovo"/>
              <a:sym typeface="O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440" name="Google Shape;440;p39"/>
          <p:cNvGrpSpPr/>
          <p:nvPr/>
        </p:nvGrpSpPr>
        <p:grpSpPr>
          <a:xfrm>
            <a:off x="514350" y="442021"/>
            <a:ext cx="8115140" cy="4187111"/>
            <a:chOff x="0" y="-38100"/>
            <a:chExt cx="4274726" cy="2205600"/>
          </a:xfrm>
        </p:grpSpPr>
        <p:sp>
          <p:nvSpPr>
            <p:cNvPr id="441" name="Google Shape;441;p39"/>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442" name="Google Shape;442;p39"/>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43" name="Google Shape;443;p39"/>
          <p:cNvGrpSpPr/>
          <p:nvPr/>
        </p:nvGrpSpPr>
        <p:grpSpPr>
          <a:xfrm>
            <a:off x="4174750" y="1104825"/>
            <a:ext cx="4225510" cy="3280847"/>
            <a:chOff x="0" y="-38100"/>
            <a:chExt cx="2225827" cy="1971900"/>
          </a:xfrm>
        </p:grpSpPr>
        <p:sp>
          <p:nvSpPr>
            <p:cNvPr id="444" name="Google Shape;444;p39"/>
            <p:cNvSpPr/>
            <p:nvPr/>
          </p:nvSpPr>
          <p:spPr>
            <a:xfrm>
              <a:off x="0" y="0"/>
              <a:ext cx="2225827" cy="1933739"/>
            </a:xfrm>
            <a:custGeom>
              <a:rect b="b" l="l" r="r" t="t"/>
              <a:pathLst>
                <a:path extrusionOk="0" h="1933739" w="2225827">
                  <a:moveTo>
                    <a:pt x="0" y="0"/>
                  </a:moveTo>
                  <a:lnTo>
                    <a:pt x="2225827" y="0"/>
                  </a:lnTo>
                  <a:lnTo>
                    <a:pt x="2225827" y="1933739"/>
                  </a:lnTo>
                  <a:lnTo>
                    <a:pt x="0" y="1933739"/>
                  </a:lnTo>
                  <a:close/>
                </a:path>
              </a:pathLst>
            </a:custGeom>
            <a:solidFill>
              <a:srgbClr val="FFFAF5"/>
            </a:solidFill>
            <a:ln>
              <a:noFill/>
            </a:ln>
          </p:spPr>
        </p:sp>
        <p:sp>
          <p:nvSpPr>
            <p:cNvPr id="445" name="Google Shape;445;p39"/>
            <p:cNvSpPr txBox="1"/>
            <p:nvPr/>
          </p:nvSpPr>
          <p:spPr>
            <a:xfrm>
              <a:off x="0" y="-38100"/>
              <a:ext cx="2225700" cy="19719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46" name="Google Shape;446;p39"/>
          <p:cNvSpPr/>
          <p:nvPr/>
        </p:nvSpPr>
        <p:spPr>
          <a:xfrm>
            <a:off x="6365661" y="2074071"/>
            <a:ext cx="4527978" cy="4114800"/>
          </a:xfrm>
          <a:custGeom>
            <a:rect b="b" l="l" r="r" t="t"/>
            <a:pathLst>
              <a:path extrusionOk="0" h="8229600" w="9055956">
                <a:moveTo>
                  <a:pt x="0" y="0"/>
                </a:moveTo>
                <a:lnTo>
                  <a:pt x="9055956" y="0"/>
                </a:lnTo>
                <a:lnTo>
                  <a:pt x="9055956" y="8229600"/>
                </a:lnTo>
                <a:lnTo>
                  <a:pt x="0" y="8229600"/>
                </a:lnTo>
                <a:lnTo>
                  <a:pt x="0" y="0"/>
                </a:lnTo>
                <a:close/>
              </a:path>
            </a:pathLst>
          </a:custGeom>
          <a:blipFill rotWithShape="1">
            <a:blip r:embed="rId4">
              <a:alphaModFix/>
            </a:blip>
            <a:stretch>
              <a:fillRect b="0" l="0" r="0" t="0"/>
            </a:stretch>
          </a:blipFill>
          <a:ln>
            <a:noFill/>
          </a:ln>
        </p:spPr>
      </p:sp>
      <p:sp>
        <p:nvSpPr>
          <p:cNvPr id="447" name="Google Shape;447;p39"/>
          <p:cNvSpPr/>
          <p:nvPr/>
        </p:nvSpPr>
        <p:spPr>
          <a:xfrm>
            <a:off x="514350" y="3243840"/>
            <a:ext cx="3291840" cy="4114800"/>
          </a:xfrm>
          <a:custGeom>
            <a:rect b="b" l="l" r="r" t="t"/>
            <a:pathLst>
              <a:path extrusionOk="0" h="8229600" w="6583680">
                <a:moveTo>
                  <a:pt x="0" y="0"/>
                </a:moveTo>
                <a:lnTo>
                  <a:pt x="6583680" y="0"/>
                </a:lnTo>
                <a:lnTo>
                  <a:pt x="6583680" y="8229600"/>
                </a:lnTo>
                <a:lnTo>
                  <a:pt x="0" y="8229600"/>
                </a:lnTo>
                <a:lnTo>
                  <a:pt x="0" y="0"/>
                </a:lnTo>
                <a:close/>
              </a:path>
            </a:pathLst>
          </a:custGeom>
          <a:blipFill rotWithShape="1">
            <a:blip r:embed="rId5">
              <a:alphaModFix/>
            </a:blip>
            <a:stretch>
              <a:fillRect b="0" l="0" r="0" t="0"/>
            </a:stretch>
          </a:blipFill>
          <a:ln>
            <a:noFill/>
          </a:ln>
        </p:spPr>
      </p:sp>
      <p:sp>
        <p:nvSpPr>
          <p:cNvPr id="448" name="Google Shape;448;p39"/>
          <p:cNvSpPr txBox="1"/>
          <p:nvPr/>
        </p:nvSpPr>
        <p:spPr>
          <a:xfrm>
            <a:off x="836923" y="673975"/>
            <a:ext cx="73998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Competitive Positioning</a:t>
            </a:r>
            <a:endParaRPr sz="700"/>
          </a:p>
        </p:txBody>
      </p:sp>
      <p:sp>
        <p:nvSpPr>
          <p:cNvPr id="449" name="Google Shape;449;p39"/>
          <p:cNvSpPr/>
          <p:nvPr/>
        </p:nvSpPr>
        <p:spPr>
          <a:xfrm flipH="1" rot="2700000">
            <a:off x="8156768" y="598780"/>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6">
              <a:alphaModFix/>
            </a:blip>
            <a:stretch>
              <a:fillRect b="0" l="0" r="0" t="0"/>
            </a:stretch>
          </a:blipFill>
          <a:ln>
            <a:noFill/>
          </a:ln>
        </p:spPr>
      </p:sp>
      <p:sp>
        <p:nvSpPr>
          <p:cNvPr id="450" name="Google Shape;450;p39"/>
          <p:cNvSpPr txBox="1"/>
          <p:nvPr/>
        </p:nvSpPr>
        <p:spPr>
          <a:xfrm>
            <a:off x="4384014" y="1166573"/>
            <a:ext cx="3807000" cy="3405300"/>
          </a:xfrm>
          <a:prstGeom prst="rect">
            <a:avLst/>
          </a:prstGeom>
          <a:noFill/>
          <a:ln>
            <a:noFill/>
          </a:ln>
        </p:spPr>
        <p:txBody>
          <a:bodyPr anchorCtr="0" anchor="t" bIns="0" lIns="0" spcFirstLastPara="1" rIns="0" wrap="square" tIns="0">
            <a:spAutoFit/>
          </a:bodyPr>
          <a:lstStyle/>
          <a:p>
            <a:pPr indent="-336550" lvl="0" marL="457200" marR="0" rtl="0" algn="l">
              <a:lnSpc>
                <a:spcPct val="140016"/>
              </a:lnSpc>
              <a:spcBef>
                <a:spcPts val="0"/>
              </a:spcBef>
              <a:spcAft>
                <a:spcPts val="0"/>
              </a:spcAft>
              <a:buSzPts val="1700"/>
              <a:buChar char="●"/>
            </a:pPr>
            <a:r>
              <a:rPr lang="en" sz="1700"/>
              <a:t>Two axes define competitive position</a:t>
            </a:r>
            <a:endParaRPr sz="1700"/>
          </a:p>
          <a:p>
            <a:pPr indent="-336550" lvl="0" marL="457200" marR="0" rtl="0" algn="l">
              <a:lnSpc>
                <a:spcPct val="140016"/>
              </a:lnSpc>
              <a:spcBef>
                <a:spcPts val="0"/>
              </a:spcBef>
              <a:spcAft>
                <a:spcPts val="0"/>
              </a:spcAft>
              <a:buSzPts val="1700"/>
              <a:buChar char="●"/>
            </a:pPr>
            <a:r>
              <a:rPr lang="en" sz="1700"/>
              <a:t>Platform landscapes differ structurally</a:t>
            </a:r>
            <a:endParaRPr sz="1700"/>
          </a:p>
          <a:p>
            <a:pPr indent="-336550" lvl="0" marL="457200" marR="0" rtl="0" algn="l">
              <a:lnSpc>
                <a:spcPct val="140016"/>
              </a:lnSpc>
              <a:spcBef>
                <a:spcPts val="0"/>
              </a:spcBef>
              <a:spcAft>
                <a:spcPts val="0"/>
              </a:spcAft>
              <a:buSzPts val="1700"/>
              <a:buChar char="●"/>
            </a:pPr>
            <a:r>
              <a:rPr lang="en" sz="1700"/>
              <a:t>Channel shifts brand perception</a:t>
            </a:r>
            <a:endParaRPr sz="1700"/>
          </a:p>
          <a:p>
            <a:pPr indent="-336550" lvl="0" marL="457200" marR="0" rtl="0" algn="l">
              <a:lnSpc>
                <a:spcPct val="140016"/>
              </a:lnSpc>
              <a:spcBef>
                <a:spcPts val="0"/>
              </a:spcBef>
              <a:spcAft>
                <a:spcPts val="0"/>
              </a:spcAft>
              <a:buSzPts val="1700"/>
              <a:buChar char="●"/>
            </a:pPr>
            <a:r>
              <a:rPr lang="en" sz="1700"/>
              <a:t>Tier structures are not interchangeable</a:t>
            </a:r>
            <a:endParaRPr sz="1700"/>
          </a:p>
          <a:p>
            <a:pPr indent="-336550" lvl="0" marL="457200" marR="0" rtl="0" algn="l">
              <a:lnSpc>
                <a:spcPct val="140016"/>
              </a:lnSpc>
              <a:spcBef>
                <a:spcPts val="0"/>
              </a:spcBef>
              <a:spcAft>
                <a:spcPts val="0"/>
              </a:spcAft>
              <a:buSzPts val="1700"/>
              <a:buChar char="●"/>
            </a:pPr>
            <a:r>
              <a:rPr lang="en" sz="1700"/>
              <a:t>Value efficiency diverges by platform</a:t>
            </a:r>
            <a:endParaRPr sz="1700"/>
          </a:p>
          <a:p>
            <a:pPr indent="0" lvl="0" marL="0" marR="0" rtl="0" algn="just">
              <a:lnSpc>
                <a:spcPct val="140016"/>
              </a:lnSpc>
              <a:spcBef>
                <a:spcPts val="0"/>
              </a:spcBef>
              <a:spcAft>
                <a:spcPts val="0"/>
              </a:spcAft>
              <a:buNone/>
            </a:pPr>
            <a:r>
              <a:t/>
            </a:r>
            <a:endParaRPr sz="700"/>
          </a:p>
        </p:txBody>
      </p:sp>
      <p:grpSp>
        <p:nvGrpSpPr>
          <p:cNvPr id="451" name="Google Shape;451;p39"/>
          <p:cNvGrpSpPr/>
          <p:nvPr/>
        </p:nvGrpSpPr>
        <p:grpSpPr>
          <a:xfrm>
            <a:off x="836932" y="1994932"/>
            <a:ext cx="1799114" cy="820268"/>
            <a:chOff x="0" y="-38100"/>
            <a:chExt cx="947700" cy="432084"/>
          </a:xfrm>
        </p:grpSpPr>
        <p:sp>
          <p:nvSpPr>
            <p:cNvPr id="452" name="Google Shape;452;p39"/>
            <p:cNvSpPr/>
            <p:nvPr/>
          </p:nvSpPr>
          <p:spPr>
            <a:xfrm>
              <a:off x="0" y="0"/>
              <a:ext cx="947639" cy="393984"/>
            </a:xfrm>
            <a:custGeom>
              <a:rect b="b" l="l" r="r" t="t"/>
              <a:pathLst>
                <a:path extrusionOk="0" h="393984" w="947639">
                  <a:moveTo>
                    <a:pt x="0" y="0"/>
                  </a:moveTo>
                  <a:lnTo>
                    <a:pt x="947639" y="0"/>
                  </a:lnTo>
                  <a:lnTo>
                    <a:pt x="947639" y="393984"/>
                  </a:lnTo>
                  <a:lnTo>
                    <a:pt x="0" y="393984"/>
                  </a:lnTo>
                  <a:close/>
                </a:path>
              </a:pathLst>
            </a:custGeom>
            <a:solidFill>
              <a:srgbClr val="A18F67"/>
            </a:solidFill>
            <a:ln>
              <a:noFill/>
            </a:ln>
          </p:spPr>
        </p:sp>
        <p:sp>
          <p:nvSpPr>
            <p:cNvPr id="453" name="Google Shape;453;p39"/>
            <p:cNvSpPr txBox="1"/>
            <p:nvPr/>
          </p:nvSpPr>
          <p:spPr>
            <a:xfrm>
              <a:off x="0" y="-38100"/>
              <a:ext cx="947700" cy="4320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54" name="Google Shape;454;p39"/>
          <p:cNvSpPr txBox="1"/>
          <p:nvPr/>
        </p:nvSpPr>
        <p:spPr>
          <a:xfrm>
            <a:off x="836932" y="2152851"/>
            <a:ext cx="19728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 sz="3200" u="none" cap="none" strike="noStrike">
                <a:solidFill>
                  <a:srgbClr val="FFFAF5"/>
                </a:solidFill>
                <a:latin typeface="Arial"/>
                <a:ea typeface="Arial"/>
                <a:cs typeface="Arial"/>
                <a:sym typeface="Arial"/>
              </a:rPr>
              <a:t>5,000 </a:t>
            </a:r>
            <a:endParaRPr sz="700"/>
          </a:p>
        </p:txBody>
      </p:sp>
      <p:sp>
        <p:nvSpPr>
          <p:cNvPr id="455" name="Google Shape;455;p39"/>
          <p:cNvSpPr txBox="1"/>
          <p:nvPr/>
        </p:nvSpPr>
        <p:spPr>
          <a:xfrm>
            <a:off x="2809746" y="2088917"/>
            <a:ext cx="1212600" cy="800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000" u="none" cap="none" strike="noStrike">
                <a:solidFill>
                  <a:srgbClr val="09080B"/>
                </a:solidFill>
                <a:latin typeface="Ovo"/>
                <a:ea typeface="Ovo"/>
                <a:cs typeface="Ovo"/>
                <a:sym typeface="Ovo"/>
              </a:rPr>
              <a:t>Sold more than 5,000 units in the first 3 months after launch</a:t>
            </a:r>
            <a:endParaRPr sz="700"/>
          </a:p>
        </p:txBody>
      </p:sp>
      <p:pic>
        <p:nvPicPr>
          <p:cNvPr id="456" name="Google Shape;456;p39"/>
          <p:cNvPicPr preferRelativeResize="0"/>
          <p:nvPr/>
        </p:nvPicPr>
        <p:blipFill>
          <a:blip r:embed="rId7">
            <a:alphaModFix/>
          </a:blip>
          <a:stretch>
            <a:fillRect/>
          </a:stretch>
        </p:blipFill>
        <p:spPr>
          <a:xfrm>
            <a:off x="170925" y="1166575"/>
            <a:ext cx="4140075" cy="32133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462" name="Google Shape;462;p40"/>
          <p:cNvGrpSpPr/>
          <p:nvPr/>
        </p:nvGrpSpPr>
        <p:grpSpPr>
          <a:xfrm>
            <a:off x="514350" y="442021"/>
            <a:ext cx="8115140" cy="4187111"/>
            <a:chOff x="0" y="-38100"/>
            <a:chExt cx="4274726" cy="2205600"/>
          </a:xfrm>
        </p:grpSpPr>
        <p:sp>
          <p:nvSpPr>
            <p:cNvPr id="463" name="Google Shape;463;p40"/>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464" name="Google Shape;464;p40"/>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65" name="Google Shape;465;p40"/>
          <p:cNvSpPr txBox="1"/>
          <p:nvPr/>
        </p:nvSpPr>
        <p:spPr>
          <a:xfrm>
            <a:off x="996275" y="675300"/>
            <a:ext cx="70596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Perceptual</a:t>
            </a:r>
            <a:r>
              <a:rPr lang="en" sz="3200">
                <a:solidFill>
                  <a:srgbClr val="453D37"/>
                </a:solidFill>
              </a:rPr>
              <a:t> Mapping</a:t>
            </a:r>
            <a:endParaRPr sz="700"/>
          </a:p>
        </p:txBody>
      </p:sp>
      <p:sp>
        <p:nvSpPr>
          <p:cNvPr id="466" name="Google Shape;466;p40"/>
          <p:cNvSpPr txBox="1"/>
          <p:nvPr/>
        </p:nvSpPr>
        <p:spPr>
          <a:xfrm>
            <a:off x="-2649827" y="5240088"/>
            <a:ext cx="3823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1200" u="none" cap="none" strike="noStrike">
                <a:solidFill>
                  <a:srgbClr val="FFFAF5"/>
                </a:solidFill>
                <a:latin typeface="Ovo"/>
                <a:ea typeface="Ovo"/>
                <a:cs typeface="Ovo"/>
                <a:sym typeface="Ovo"/>
              </a:rPr>
              <a:t>COSMETICS MARKET GROWTH (2021-2025)</a:t>
            </a:r>
            <a:endParaRPr sz="700"/>
          </a:p>
        </p:txBody>
      </p:sp>
      <p:sp>
        <p:nvSpPr>
          <p:cNvPr id="467" name="Google Shape;467;p40"/>
          <p:cNvSpPr txBox="1"/>
          <p:nvPr/>
        </p:nvSpPr>
        <p:spPr>
          <a:xfrm>
            <a:off x="641825" y="4267275"/>
            <a:ext cx="7907400" cy="261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700"/>
              <a:t>* </a:t>
            </a:r>
            <a:r>
              <a:rPr lang="en" sz="1700"/>
              <a:t>Distinct platform topologies * Asymmetric white space * Different value contracts</a:t>
            </a:r>
            <a:endParaRPr sz="1700">
              <a:solidFill>
                <a:schemeClr val="dk1"/>
              </a:solidFill>
            </a:endParaRPr>
          </a:p>
        </p:txBody>
      </p:sp>
      <p:pic>
        <p:nvPicPr>
          <p:cNvPr id="468" name="Google Shape;468;p40"/>
          <p:cNvPicPr preferRelativeResize="0"/>
          <p:nvPr/>
        </p:nvPicPr>
        <p:blipFill>
          <a:blip r:embed="rId4">
            <a:alphaModFix/>
          </a:blip>
          <a:stretch>
            <a:fillRect/>
          </a:stretch>
        </p:blipFill>
        <p:spPr>
          <a:xfrm>
            <a:off x="1785838" y="1459650"/>
            <a:ext cx="5480474" cy="2515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1"/>
          <p:cNvSpPr/>
          <p:nvPr/>
        </p:nvSpPr>
        <p:spPr>
          <a:xfrm>
            <a:off x="-13140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474" name="Google Shape;474;p41"/>
          <p:cNvGrpSpPr/>
          <p:nvPr/>
        </p:nvGrpSpPr>
        <p:grpSpPr>
          <a:xfrm>
            <a:off x="-140243" y="4307289"/>
            <a:ext cx="769103" cy="852666"/>
            <a:chOff x="0" y="-38100"/>
            <a:chExt cx="284400" cy="315300"/>
          </a:xfrm>
        </p:grpSpPr>
        <p:sp>
          <p:nvSpPr>
            <p:cNvPr id="475" name="Google Shape;475;p41"/>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476" name="Google Shape;476;p41"/>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77" name="Google Shape;477;p41"/>
          <p:cNvGrpSpPr/>
          <p:nvPr/>
        </p:nvGrpSpPr>
        <p:grpSpPr>
          <a:xfrm>
            <a:off x="2027245" y="4307293"/>
            <a:ext cx="769103" cy="852666"/>
            <a:chOff x="0" y="-38100"/>
            <a:chExt cx="284400" cy="315300"/>
          </a:xfrm>
        </p:grpSpPr>
        <p:sp>
          <p:nvSpPr>
            <p:cNvPr id="478" name="Google Shape;478;p41"/>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479" name="Google Shape;479;p41"/>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80" name="Google Shape;480;p41"/>
          <p:cNvSpPr/>
          <p:nvPr/>
        </p:nvSpPr>
        <p:spPr>
          <a:xfrm flipH="1" rot="-2700000">
            <a:off x="575633" y="597939"/>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grpSp>
        <p:nvGrpSpPr>
          <p:cNvPr id="481" name="Google Shape;481;p41"/>
          <p:cNvGrpSpPr/>
          <p:nvPr/>
        </p:nvGrpSpPr>
        <p:grpSpPr>
          <a:xfrm>
            <a:off x="4644470" y="4307309"/>
            <a:ext cx="769103" cy="852666"/>
            <a:chOff x="0" y="-38100"/>
            <a:chExt cx="284400" cy="315300"/>
          </a:xfrm>
        </p:grpSpPr>
        <p:sp>
          <p:nvSpPr>
            <p:cNvPr id="482" name="Google Shape;482;p41"/>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483" name="Google Shape;483;p41"/>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84" name="Google Shape;484;p41"/>
          <p:cNvGrpSpPr/>
          <p:nvPr/>
        </p:nvGrpSpPr>
        <p:grpSpPr>
          <a:xfrm>
            <a:off x="7027570" y="4307301"/>
            <a:ext cx="769103" cy="852666"/>
            <a:chOff x="0" y="-38100"/>
            <a:chExt cx="284400" cy="315300"/>
          </a:xfrm>
        </p:grpSpPr>
        <p:sp>
          <p:nvSpPr>
            <p:cNvPr id="485" name="Google Shape;485;p41"/>
            <p:cNvSpPr/>
            <p:nvPr/>
          </p:nvSpPr>
          <p:spPr>
            <a:xfrm>
              <a:off x="0" y="0"/>
              <a:ext cx="284291" cy="277121"/>
            </a:xfrm>
            <a:custGeom>
              <a:rect b="b" l="l" r="r" t="t"/>
              <a:pathLst>
                <a:path extrusionOk="0" h="277121" w="284291">
                  <a:moveTo>
                    <a:pt x="0" y="0"/>
                  </a:moveTo>
                  <a:lnTo>
                    <a:pt x="284291" y="0"/>
                  </a:lnTo>
                  <a:lnTo>
                    <a:pt x="284291" y="277121"/>
                  </a:lnTo>
                  <a:lnTo>
                    <a:pt x="0" y="277121"/>
                  </a:lnTo>
                  <a:close/>
                </a:path>
              </a:pathLst>
            </a:custGeom>
            <a:solidFill>
              <a:srgbClr val="A18F67"/>
            </a:solidFill>
            <a:ln>
              <a:noFill/>
            </a:ln>
          </p:spPr>
        </p:sp>
        <p:sp>
          <p:nvSpPr>
            <p:cNvPr id="486" name="Google Shape;486;p41"/>
            <p:cNvSpPr txBox="1"/>
            <p:nvPr/>
          </p:nvSpPr>
          <p:spPr>
            <a:xfrm>
              <a:off x="0" y="-38100"/>
              <a:ext cx="284400" cy="3153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87" name="Google Shape;487;p41"/>
          <p:cNvSpPr/>
          <p:nvPr/>
        </p:nvSpPr>
        <p:spPr>
          <a:xfrm>
            <a:off x="77401" y="4448347"/>
            <a:ext cx="313106" cy="570579"/>
          </a:xfrm>
          <a:custGeom>
            <a:rect b="b" l="l" r="r" t="t"/>
            <a:pathLst>
              <a:path extrusionOk="0" h="1141159" w="626211">
                <a:moveTo>
                  <a:pt x="0" y="0"/>
                </a:moveTo>
                <a:lnTo>
                  <a:pt x="626211" y="0"/>
                </a:lnTo>
                <a:lnTo>
                  <a:pt x="626211" y="1141158"/>
                </a:lnTo>
                <a:lnTo>
                  <a:pt x="0" y="1141158"/>
                </a:lnTo>
                <a:lnTo>
                  <a:pt x="0" y="0"/>
                </a:lnTo>
                <a:close/>
              </a:path>
            </a:pathLst>
          </a:custGeom>
          <a:blipFill rotWithShape="1">
            <a:blip r:embed="rId5">
              <a:alphaModFix/>
            </a:blip>
            <a:stretch>
              <a:fillRect b="0" l="0" r="0" t="0"/>
            </a:stretch>
          </a:blipFill>
          <a:ln>
            <a:noFill/>
          </a:ln>
        </p:spPr>
      </p:sp>
      <p:sp>
        <p:nvSpPr>
          <p:cNvPr id="488" name="Google Shape;488;p41"/>
          <p:cNvSpPr/>
          <p:nvPr/>
        </p:nvSpPr>
        <p:spPr>
          <a:xfrm>
            <a:off x="2203262" y="4590550"/>
            <a:ext cx="417076" cy="435589"/>
          </a:xfrm>
          <a:custGeom>
            <a:rect b="b" l="l" r="r" t="t"/>
            <a:pathLst>
              <a:path extrusionOk="0" h="871178" w="834153">
                <a:moveTo>
                  <a:pt x="0" y="0"/>
                </a:moveTo>
                <a:lnTo>
                  <a:pt x="834153" y="0"/>
                </a:lnTo>
                <a:lnTo>
                  <a:pt x="834153" y="871179"/>
                </a:lnTo>
                <a:lnTo>
                  <a:pt x="0" y="871179"/>
                </a:lnTo>
                <a:lnTo>
                  <a:pt x="0" y="0"/>
                </a:lnTo>
                <a:close/>
              </a:path>
            </a:pathLst>
          </a:custGeom>
          <a:blipFill rotWithShape="1">
            <a:blip r:embed="rId6">
              <a:alphaModFix/>
            </a:blip>
            <a:stretch>
              <a:fillRect b="0" l="0" r="0" t="0"/>
            </a:stretch>
          </a:blipFill>
          <a:ln>
            <a:noFill/>
          </a:ln>
        </p:spPr>
      </p:sp>
      <p:sp>
        <p:nvSpPr>
          <p:cNvPr id="489" name="Google Shape;489;p41"/>
          <p:cNvSpPr/>
          <p:nvPr/>
        </p:nvSpPr>
        <p:spPr>
          <a:xfrm>
            <a:off x="4790508" y="4606520"/>
            <a:ext cx="476992" cy="348800"/>
          </a:xfrm>
          <a:custGeom>
            <a:rect b="b" l="l" r="r" t="t"/>
            <a:pathLst>
              <a:path extrusionOk="0" h="697601" w="953984">
                <a:moveTo>
                  <a:pt x="0" y="0"/>
                </a:moveTo>
                <a:lnTo>
                  <a:pt x="953985" y="0"/>
                </a:lnTo>
                <a:lnTo>
                  <a:pt x="953985" y="697601"/>
                </a:lnTo>
                <a:lnTo>
                  <a:pt x="0" y="697601"/>
                </a:lnTo>
                <a:lnTo>
                  <a:pt x="0" y="0"/>
                </a:lnTo>
                <a:close/>
              </a:path>
            </a:pathLst>
          </a:custGeom>
          <a:blipFill rotWithShape="1">
            <a:blip r:embed="rId7">
              <a:alphaModFix/>
            </a:blip>
            <a:stretch>
              <a:fillRect b="0" l="0" r="0" t="0"/>
            </a:stretch>
          </a:blipFill>
          <a:ln>
            <a:noFill/>
          </a:ln>
        </p:spPr>
      </p:sp>
      <p:sp>
        <p:nvSpPr>
          <p:cNvPr id="490" name="Google Shape;490;p41"/>
          <p:cNvSpPr/>
          <p:nvPr/>
        </p:nvSpPr>
        <p:spPr>
          <a:xfrm>
            <a:off x="7203508" y="4597613"/>
            <a:ext cx="417210" cy="366624"/>
          </a:xfrm>
          <a:custGeom>
            <a:rect b="b" l="l" r="r" t="t"/>
            <a:pathLst>
              <a:path extrusionOk="0" h="733247" w="834420">
                <a:moveTo>
                  <a:pt x="0" y="0"/>
                </a:moveTo>
                <a:lnTo>
                  <a:pt x="834420" y="0"/>
                </a:lnTo>
                <a:lnTo>
                  <a:pt x="834420" y="733247"/>
                </a:lnTo>
                <a:lnTo>
                  <a:pt x="0" y="733247"/>
                </a:lnTo>
                <a:lnTo>
                  <a:pt x="0" y="0"/>
                </a:lnTo>
                <a:close/>
              </a:path>
            </a:pathLst>
          </a:custGeom>
          <a:blipFill rotWithShape="1">
            <a:blip r:embed="rId8">
              <a:alphaModFix/>
            </a:blip>
            <a:stretch>
              <a:fillRect b="0" l="0" r="0" t="0"/>
            </a:stretch>
          </a:blipFill>
          <a:ln>
            <a:noFill/>
          </a:ln>
        </p:spPr>
      </p:sp>
      <p:sp>
        <p:nvSpPr>
          <p:cNvPr id="491" name="Google Shape;491;p41"/>
          <p:cNvSpPr txBox="1"/>
          <p:nvPr/>
        </p:nvSpPr>
        <p:spPr>
          <a:xfrm>
            <a:off x="0" y="405100"/>
            <a:ext cx="9012600" cy="4311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2800">
                <a:solidFill>
                  <a:srgbClr val="453D37"/>
                </a:solidFill>
              </a:rPr>
              <a:t>Perceived Value, Price Context and Demand Sensitivity</a:t>
            </a:r>
            <a:endParaRPr sz="300"/>
          </a:p>
        </p:txBody>
      </p:sp>
      <p:sp>
        <p:nvSpPr>
          <p:cNvPr id="492" name="Google Shape;492;p41"/>
          <p:cNvSpPr txBox="1"/>
          <p:nvPr/>
        </p:nvSpPr>
        <p:spPr>
          <a:xfrm>
            <a:off x="648426" y="4605100"/>
            <a:ext cx="1449600" cy="4065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100">
                <a:solidFill>
                  <a:srgbClr val="09080B"/>
                </a:solidFill>
                <a:latin typeface="Ovo"/>
                <a:ea typeface="Ovo"/>
                <a:cs typeface="Ovo"/>
                <a:sym typeface="Ovo"/>
              </a:rPr>
              <a:t>Demand sensitivity is platform-conditional</a:t>
            </a:r>
            <a:endParaRPr sz="600"/>
          </a:p>
        </p:txBody>
      </p:sp>
      <p:sp>
        <p:nvSpPr>
          <p:cNvPr id="493" name="Google Shape;493;p41"/>
          <p:cNvSpPr txBox="1"/>
          <p:nvPr/>
        </p:nvSpPr>
        <p:spPr>
          <a:xfrm>
            <a:off x="2811188" y="4605100"/>
            <a:ext cx="1905000" cy="4065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100">
                <a:solidFill>
                  <a:srgbClr val="09080B"/>
                </a:solidFill>
                <a:latin typeface="Ovo"/>
                <a:ea typeface="Ovo"/>
                <a:cs typeface="Ovo"/>
                <a:sym typeface="Ovo"/>
              </a:rPr>
              <a:t>Sentiment drives demand on Sephora, not Ulta</a:t>
            </a:r>
            <a:endParaRPr sz="600"/>
          </a:p>
        </p:txBody>
      </p:sp>
      <p:sp>
        <p:nvSpPr>
          <p:cNvPr id="494" name="Google Shape;494;p41"/>
          <p:cNvSpPr txBox="1"/>
          <p:nvPr/>
        </p:nvSpPr>
        <p:spPr>
          <a:xfrm>
            <a:off x="5438325" y="4559225"/>
            <a:ext cx="1564500" cy="443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Price deviation behaves oppositely by channel</a:t>
            </a:r>
            <a:endParaRPr sz="700"/>
          </a:p>
        </p:txBody>
      </p:sp>
      <p:sp>
        <p:nvSpPr>
          <p:cNvPr id="495" name="Google Shape;495;p41"/>
          <p:cNvSpPr txBox="1"/>
          <p:nvPr/>
        </p:nvSpPr>
        <p:spPr>
          <a:xfrm>
            <a:off x="7861877" y="4559225"/>
            <a:ext cx="1282200" cy="443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Fragility is not a product trait</a:t>
            </a:r>
            <a:endParaRPr sz="700"/>
          </a:p>
        </p:txBody>
      </p:sp>
      <p:sp>
        <p:nvSpPr>
          <p:cNvPr id="496" name="Google Shape;496;p41"/>
          <p:cNvSpPr txBox="1"/>
          <p:nvPr/>
        </p:nvSpPr>
        <p:spPr>
          <a:xfrm>
            <a:off x="-1762498" y="5300488"/>
            <a:ext cx="2996400" cy="7020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 sz="1200" u="none" cap="none" strike="noStrike">
                <a:solidFill>
                  <a:srgbClr val="09080B"/>
                </a:solidFill>
                <a:latin typeface="Ovo"/>
                <a:ea typeface="Ovo"/>
                <a:cs typeface="Ovo"/>
                <a:sym typeface="Ovo"/>
              </a:rPr>
              <a:t>Our product range is designed to provide a natural finish, is practical to use, and is suitable for everyday makeup needs as well </a:t>
            </a:r>
            <a:endParaRPr sz="700"/>
          </a:p>
        </p:txBody>
      </p:sp>
      <p:pic>
        <p:nvPicPr>
          <p:cNvPr id="497" name="Google Shape;497;p41"/>
          <p:cNvPicPr preferRelativeResize="0"/>
          <p:nvPr/>
        </p:nvPicPr>
        <p:blipFill>
          <a:blip r:embed="rId9">
            <a:alphaModFix/>
          </a:blip>
          <a:stretch>
            <a:fillRect/>
          </a:stretch>
        </p:blipFill>
        <p:spPr>
          <a:xfrm>
            <a:off x="1691350" y="1382378"/>
            <a:ext cx="5312099" cy="237873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sp>
        <p:nvSpPr>
          <p:cNvPr id="503" name="Google Shape;503;p42"/>
          <p:cNvSpPr txBox="1"/>
          <p:nvPr/>
        </p:nvSpPr>
        <p:spPr>
          <a:xfrm>
            <a:off x="445700" y="706625"/>
            <a:ext cx="78780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Cross Retailer Simulations</a:t>
            </a:r>
            <a:endParaRPr sz="700"/>
          </a:p>
        </p:txBody>
      </p:sp>
      <p:sp>
        <p:nvSpPr>
          <p:cNvPr id="504" name="Google Shape;504;p42"/>
          <p:cNvSpPr/>
          <p:nvPr/>
        </p:nvSpPr>
        <p:spPr>
          <a:xfrm flipH="1" rot="-2700000">
            <a:off x="575633" y="597939"/>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sp>
        <p:nvSpPr>
          <p:cNvPr id="505" name="Google Shape;505;p42"/>
          <p:cNvSpPr/>
          <p:nvPr/>
        </p:nvSpPr>
        <p:spPr>
          <a:xfrm flipH="1" rot="2700000">
            <a:off x="8156768" y="598780"/>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4">
              <a:alphaModFix/>
            </a:blip>
            <a:stretch>
              <a:fillRect b="0" l="0" r="0" t="0"/>
            </a:stretch>
          </a:blipFill>
          <a:ln>
            <a:noFill/>
          </a:ln>
        </p:spPr>
      </p:sp>
      <p:sp>
        <p:nvSpPr>
          <p:cNvPr id="506" name="Google Shape;506;p42"/>
          <p:cNvSpPr txBox="1"/>
          <p:nvPr/>
        </p:nvSpPr>
        <p:spPr>
          <a:xfrm>
            <a:off x="-6191377" y="-93235"/>
            <a:ext cx="8576400" cy="4425000"/>
          </a:xfrm>
          <a:prstGeom prst="rect">
            <a:avLst/>
          </a:prstGeom>
          <a:noFill/>
          <a:ln>
            <a:noFill/>
          </a:ln>
        </p:spPr>
        <p:txBody>
          <a:bodyPr anchorCtr="0" anchor="ctr" bIns="26850" lIns="26850" spcFirstLastPara="1" rIns="26850" wrap="square" tIns="26850">
            <a:noAutofit/>
          </a:bodyPr>
          <a:lstStyle/>
          <a:p>
            <a:pPr indent="0" lvl="0" marL="0" marR="0" rtl="0" algn="ctr">
              <a:lnSpc>
                <a:spcPct val="147722"/>
              </a:lnSpc>
              <a:spcBef>
                <a:spcPts val="0"/>
              </a:spcBef>
              <a:spcAft>
                <a:spcPts val="0"/>
              </a:spcAft>
              <a:buNone/>
            </a:pPr>
            <a:r>
              <a:t/>
            </a:r>
            <a:endParaRPr b="0" i="0" sz="951" u="none" cap="none" strike="noStrike">
              <a:solidFill>
                <a:schemeClr val="dk1"/>
              </a:solidFill>
              <a:latin typeface="Calibri"/>
              <a:ea typeface="Calibri"/>
              <a:cs typeface="Calibri"/>
              <a:sym typeface="Calibri"/>
            </a:endParaRPr>
          </a:p>
        </p:txBody>
      </p:sp>
      <p:grpSp>
        <p:nvGrpSpPr>
          <p:cNvPr id="507" name="Google Shape;507;p42"/>
          <p:cNvGrpSpPr/>
          <p:nvPr/>
        </p:nvGrpSpPr>
        <p:grpSpPr>
          <a:xfrm>
            <a:off x="-322121" y="4399428"/>
            <a:ext cx="2388180" cy="539335"/>
            <a:chOff x="0" y="-38100"/>
            <a:chExt cx="1257996" cy="284100"/>
          </a:xfrm>
        </p:grpSpPr>
        <p:sp>
          <p:nvSpPr>
            <p:cNvPr id="508" name="Google Shape;508;p42"/>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509" name="Google Shape;509;p42"/>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10" name="Google Shape;510;p42"/>
          <p:cNvGrpSpPr/>
          <p:nvPr/>
        </p:nvGrpSpPr>
        <p:grpSpPr>
          <a:xfrm>
            <a:off x="4667117" y="4399428"/>
            <a:ext cx="2388180" cy="539335"/>
            <a:chOff x="0" y="-38100"/>
            <a:chExt cx="1257996" cy="284100"/>
          </a:xfrm>
        </p:grpSpPr>
        <p:sp>
          <p:nvSpPr>
            <p:cNvPr id="511" name="Google Shape;511;p42"/>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512" name="Google Shape;512;p42"/>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13" name="Google Shape;513;p42"/>
          <p:cNvGrpSpPr/>
          <p:nvPr/>
        </p:nvGrpSpPr>
        <p:grpSpPr>
          <a:xfrm>
            <a:off x="2172504" y="4399431"/>
            <a:ext cx="2388180" cy="539335"/>
            <a:chOff x="0" y="-38100"/>
            <a:chExt cx="1257996" cy="284100"/>
          </a:xfrm>
        </p:grpSpPr>
        <p:sp>
          <p:nvSpPr>
            <p:cNvPr id="514" name="Google Shape;514;p42"/>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515" name="Google Shape;515;p42"/>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16" name="Google Shape;516;p42"/>
          <p:cNvGrpSpPr/>
          <p:nvPr/>
        </p:nvGrpSpPr>
        <p:grpSpPr>
          <a:xfrm>
            <a:off x="7161754" y="4399431"/>
            <a:ext cx="2388180" cy="539335"/>
            <a:chOff x="0" y="-38100"/>
            <a:chExt cx="1257996" cy="284100"/>
          </a:xfrm>
        </p:grpSpPr>
        <p:sp>
          <p:nvSpPr>
            <p:cNvPr id="517" name="Google Shape;517;p42"/>
            <p:cNvSpPr/>
            <p:nvPr/>
          </p:nvSpPr>
          <p:spPr>
            <a:xfrm>
              <a:off x="0" y="0"/>
              <a:ext cx="1257996" cy="245857"/>
            </a:xfrm>
            <a:custGeom>
              <a:rect b="b" l="l" r="r" t="t"/>
              <a:pathLst>
                <a:path extrusionOk="0" h="245857" w="1257996">
                  <a:moveTo>
                    <a:pt x="0" y="0"/>
                  </a:moveTo>
                  <a:lnTo>
                    <a:pt x="1257996" y="0"/>
                  </a:lnTo>
                  <a:lnTo>
                    <a:pt x="1257996" y="245857"/>
                  </a:lnTo>
                  <a:lnTo>
                    <a:pt x="0" y="245857"/>
                  </a:lnTo>
                  <a:close/>
                </a:path>
              </a:pathLst>
            </a:custGeom>
            <a:solidFill>
              <a:srgbClr val="A18F67"/>
            </a:solidFill>
            <a:ln>
              <a:noFill/>
            </a:ln>
          </p:spPr>
        </p:sp>
        <p:sp>
          <p:nvSpPr>
            <p:cNvPr id="518" name="Google Shape;518;p42"/>
            <p:cNvSpPr txBox="1"/>
            <p:nvPr/>
          </p:nvSpPr>
          <p:spPr>
            <a:xfrm>
              <a:off x="0" y="-38100"/>
              <a:ext cx="1257900" cy="284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19" name="Google Shape;519;p42"/>
          <p:cNvSpPr txBox="1"/>
          <p:nvPr/>
        </p:nvSpPr>
        <p:spPr>
          <a:xfrm>
            <a:off x="-5757" y="4553870"/>
            <a:ext cx="2071800" cy="33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1100">
                <a:solidFill>
                  <a:srgbClr val="FFFAF5"/>
                </a:solidFill>
                <a:latin typeface="Ovo"/>
                <a:ea typeface="Ovo"/>
                <a:cs typeface="Ovo"/>
                <a:sym typeface="Ovo"/>
              </a:rPr>
              <a:t>Negative review shocks increase demand, not suppress it</a:t>
            </a:r>
            <a:endParaRPr sz="900"/>
          </a:p>
        </p:txBody>
      </p:sp>
      <p:sp>
        <p:nvSpPr>
          <p:cNvPr id="520" name="Google Shape;520;p42"/>
          <p:cNvSpPr txBox="1"/>
          <p:nvPr/>
        </p:nvSpPr>
        <p:spPr>
          <a:xfrm>
            <a:off x="4825319" y="4453545"/>
            <a:ext cx="2071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a:solidFill>
                  <a:srgbClr val="FFFAF5"/>
                </a:solidFill>
                <a:latin typeface="Ovo"/>
                <a:ea typeface="Ovo"/>
                <a:cs typeface="Ovo"/>
                <a:sym typeface="Ovo"/>
              </a:rPr>
              <a:t>Price sensitivity is brand- and channel-specific</a:t>
            </a:r>
            <a:endParaRPr sz="900"/>
          </a:p>
        </p:txBody>
      </p:sp>
      <p:sp>
        <p:nvSpPr>
          <p:cNvPr id="521" name="Google Shape;521;p42"/>
          <p:cNvSpPr txBox="1"/>
          <p:nvPr/>
        </p:nvSpPr>
        <p:spPr>
          <a:xfrm>
            <a:off x="2385018" y="4523119"/>
            <a:ext cx="2071800" cy="40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Font typeface="Arial"/>
              <a:buNone/>
            </a:pPr>
            <a:r>
              <a:rPr lang="en" sz="1300">
                <a:solidFill>
                  <a:srgbClr val="FFFAF5"/>
                </a:solidFill>
                <a:latin typeface="Ovo"/>
                <a:ea typeface="Ovo"/>
                <a:cs typeface="Ovo"/>
                <a:sym typeface="Ovo"/>
              </a:rPr>
              <a:t>Platforms are mostly informationally independent</a:t>
            </a:r>
            <a:endParaRPr sz="800"/>
          </a:p>
        </p:txBody>
      </p:sp>
      <p:sp>
        <p:nvSpPr>
          <p:cNvPr id="522" name="Google Shape;522;p42"/>
          <p:cNvSpPr txBox="1"/>
          <p:nvPr/>
        </p:nvSpPr>
        <p:spPr>
          <a:xfrm>
            <a:off x="7215694" y="4507669"/>
            <a:ext cx="2071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Font typeface="Arial"/>
              <a:buNone/>
            </a:pPr>
            <a:r>
              <a:rPr lang="en">
                <a:solidFill>
                  <a:srgbClr val="FFFAF5"/>
                </a:solidFill>
                <a:latin typeface="Ovo"/>
                <a:ea typeface="Ovo"/>
                <a:cs typeface="Ovo"/>
                <a:sym typeface="Ovo"/>
              </a:rPr>
              <a:t>Ulta dominates value conversion</a:t>
            </a:r>
            <a:endParaRPr sz="900"/>
          </a:p>
        </p:txBody>
      </p:sp>
      <p:sp>
        <p:nvSpPr>
          <p:cNvPr id="523" name="Google Shape;523;p42"/>
          <p:cNvSpPr txBox="1"/>
          <p:nvPr/>
        </p:nvSpPr>
        <p:spPr>
          <a:xfrm>
            <a:off x="821106" y="1980876"/>
            <a:ext cx="2071800" cy="107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t/>
            </a:r>
            <a:endParaRPr sz="700"/>
          </a:p>
        </p:txBody>
      </p:sp>
      <p:sp>
        <p:nvSpPr>
          <p:cNvPr id="524" name="Google Shape;524;p42"/>
          <p:cNvSpPr txBox="1"/>
          <p:nvPr/>
        </p:nvSpPr>
        <p:spPr>
          <a:xfrm>
            <a:off x="-3541425" y="642150"/>
            <a:ext cx="3216300" cy="29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id="525" name="Google Shape;525;p42"/>
          <p:cNvPicPr preferRelativeResize="0"/>
          <p:nvPr/>
        </p:nvPicPr>
        <p:blipFill>
          <a:blip r:embed="rId5">
            <a:alphaModFix/>
          </a:blip>
          <a:stretch>
            <a:fillRect/>
          </a:stretch>
        </p:blipFill>
        <p:spPr>
          <a:xfrm>
            <a:off x="1691450" y="1364200"/>
            <a:ext cx="5761102" cy="26166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531" name="Google Shape;531;p43"/>
          <p:cNvGrpSpPr/>
          <p:nvPr/>
        </p:nvGrpSpPr>
        <p:grpSpPr>
          <a:xfrm>
            <a:off x="514350" y="442020"/>
            <a:ext cx="8115300" cy="4187130"/>
            <a:chOff x="0" y="-38100"/>
            <a:chExt cx="4274726" cy="2205567"/>
          </a:xfrm>
        </p:grpSpPr>
        <p:sp>
          <p:nvSpPr>
            <p:cNvPr id="532" name="Google Shape;532;p43"/>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533" name="Google Shape;533;p43"/>
            <p:cNvSpPr txBox="1"/>
            <p:nvPr/>
          </p:nvSpPr>
          <p:spPr>
            <a:xfrm>
              <a:off x="0" y="-38100"/>
              <a:ext cx="4274726"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34" name="Google Shape;534;p43"/>
          <p:cNvSpPr/>
          <p:nvPr/>
        </p:nvSpPr>
        <p:spPr>
          <a:xfrm>
            <a:off x="699798" y="697746"/>
            <a:ext cx="2208072" cy="3721227"/>
          </a:xfrm>
          <a:custGeom>
            <a:rect b="b" l="l" r="r" t="t"/>
            <a:pathLst>
              <a:path extrusionOk="0" h="1153031" w="684176">
                <a:moveTo>
                  <a:pt x="0" y="0"/>
                </a:moveTo>
                <a:lnTo>
                  <a:pt x="684176" y="0"/>
                </a:lnTo>
                <a:lnTo>
                  <a:pt x="684176" y="1153031"/>
                </a:lnTo>
                <a:lnTo>
                  <a:pt x="0" y="1153031"/>
                </a:lnTo>
                <a:close/>
              </a:path>
            </a:pathLst>
          </a:custGeom>
          <a:blipFill rotWithShape="1">
            <a:blip r:embed="rId4">
              <a:alphaModFix/>
            </a:blip>
            <a:stretch>
              <a:fillRect b="0" l="-178955" r="-71971" t="-38737"/>
            </a:stretch>
          </a:blipFill>
          <a:ln cap="sq" cmpd="sng" w="38100">
            <a:solidFill>
              <a:srgbClr val="C6AF83"/>
            </a:solidFill>
            <a:prstDash val="solid"/>
            <a:miter lim="8000"/>
            <a:headEnd len="sm" w="sm" type="none"/>
            <a:tailEnd len="sm" w="sm" type="none"/>
          </a:ln>
        </p:spPr>
      </p:sp>
      <p:grpSp>
        <p:nvGrpSpPr>
          <p:cNvPr id="535" name="Google Shape;535;p43"/>
          <p:cNvGrpSpPr/>
          <p:nvPr/>
        </p:nvGrpSpPr>
        <p:grpSpPr>
          <a:xfrm>
            <a:off x="3239947" y="1982809"/>
            <a:ext cx="5121502" cy="2449130"/>
            <a:chOff x="0" y="-38100"/>
            <a:chExt cx="2697799" cy="1290102"/>
          </a:xfrm>
        </p:grpSpPr>
        <p:sp>
          <p:nvSpPr>
            <p:cNvPr id="536" name="Google Shape;536;p43"/>
            <p:cNvSpPr/>
            <p:nvPr/>
          </p:nvSpPr>
          <p:spPr>
            <a:xfrm>
              <a:off x="0" y="0"/>
              <a:ext cx="2697799" cy="1252001"/>
            </a:xfrm>
            <a:custGeom>
              <a:rect b="b" l="l" r="r" t="t"/>
              <a:pathLst>
                <a:path extrusionOk="0" h="1252001" w="2697799">
                  <a:moveTo>
                    <a:pt x="0" y="0"/>
                  </a:moveTo>
                  <a:lnTo>
                    <a:pt x="2697799" y="0"/>
                  </a:lnTo>
                  <a:lnTo>
                    <a:pt x="2697799" y="1252001"/>
                  </a:lnTo>
                  <a:lnTo>
                    <a:pt x="0" y="1252001"/>
                  </a:lnTo>
                  <a:close/>
                </a:path>
              </a:pathLst>
            </a:custGeom>
            <a:solidFill>
              <a:srgbClr val="FFFAF5"/>
            </a:solidFill>
            <a:ln>
              <a:noFill/>
            </a:ln>
          </p:spPr>
        </p:sp>
        <p:sp>
          <p:nvSpPr>
            <p:cNvPr id="537" name="Google Shape;537;p43"/>
            <p:cNvSpPr txBox="1"/>
            <p:nvPr/>
          </p:nvSpPr>
          <p:spPr>
            <a:xfrm>
              <a:off x="0" y="-38100"/>
              <a:ext cx="2697799" cy="129010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38" name="Google Shape;538;p43"/>
          <p:cNvSpPr/>
          <p:nvPr/>
        </p:nvSpPr>
        <p:spPr>
          <a:xfrm flipH="1" rot="8100000">
            <a:off x="8200683" y="4196200"/>
            <a:ext cx="399336" cy="378869"/>
          </a:xfrm>
          <a:custGeom>
            <a:rect b="b" l="l" r="r" t="t"/>
            <a:pathLst>
              <a:path extrusionOk="0" h="757739" w="798671">
                <a:moveTo>
                  <a:pt x="0" y="757740"/>
                </a:moveTo>
                <a:lnTo>
                  <a:pt x="798671" y="757740"/>
                </a:lnTo>
                <a:lnTo>
                  <a:pt x="798671" y="0"/>
                </a:lnTo>
                <a:lnTo>
                  <a:pt x="0" y="0"/>
                </a:lnTo>
                <a:lnTo>
                  <a:pt x="0" y="757740"/>
                </a:lnTo>
                <a:close/>
              </a:path>
            </a:pathLst>
          </a:custGeom>
          <a:blipFill rotWithShape="1">
            <a:blip r:embed="rId5">
              <a:alphaModFix/>
            </a:blip>
            <a:stretch>
              <a:fillRect b="0" l="0" r="0" t="0"/>
            </a:stretch>
          </a:blipFill>
          <a:ln>
            <a:noFill/>
          </a:ln>
        </p:spPr>
      </p:sp>
      <p:sp>
        <p:nvSpPr>
          <p:cNvPr id="539" name="Google Shape;539;p43"/>
          <p:cNvSpPr/>
          <p:nvPr/>
        </p:nvSpPr>
        <p:spPr>
          <a:xfrm>
            <a:off x="3382700" y="2266522"/>
            <a:ext cx="114581" cy="79204"/>
          </a:xfrm>
          <a:custGeom>
            <a:rect b="b" l="l" r="r" t="t"/>
            <a:pathLst>
              <a:path extrusionOk="0" h="158408" w="229162">
                <a:moveTo>
                  <a:pt x="0" y="0"/>
                </a:moveTo>
                <a:lnTo>
                  <a:pt x="229162" y="0"/>
                </a:lnTo>
                <a:lnTo>
                  <a:pt x="229162" y="158409"/>
                </a:lnTo>
                <a:lnTo>
                  <a:pt x="0" y="158409"/>
                </a:lnTo>
                <a:lnTo>
                  <a:pt x="0" y="0"/>
                </a:lnTo>
                <a:close/>
              </a:path>
            </a:pathLst>
          </a:custGeom>
          <a:blipFill rotWithShape="1">
            <a:blip r:embed="rId6">
              <a:alphaModFix/>
            </a:blip>
            <a:stretch>
              <a:fillRect b="0" l="0" r="0" t="0"/>
            </a:stretch>
          </a:blipFill>
          <a:ln>
            <a:noFill/>
          </a:ln>
        </p:spPr>
      </p:sp>
      <p:sp>
        <p:nvSpPr>
          <p:cNvPr id="540" name="Google Shape;540;p43"/>
          <p:cNvSpPr/>
          <p:nvPr/>
        </p:nvSpPr>
        <p:spPr>
          <a:xfrm>
            <a:off x="5910815" y="2266522"/>
            <a:ext cx="114581" cy="79204"/>
          </a:xfrm>
          <a:custGeom>
            <a:rect b="b" l="l" r="r" t="t"/>
            <a:pathLst>
              <a:path extrusionOk="0" h="158408" w="229162">
                <a:moveTo>
                  <a:pt x="0" y="0"/>
                </a:moveTo>
                <a:lnTo>
                  <a:pt x="229162" y="0"/>
                </a:lnTo>
                <a:lnTo>
                  <a:pt x="229162" y="158409"/>
                </a:lnTo>
                <a:lnTo>
                  <a:pt x="0" y="158409"/>
                </a:lnTo>
                <a:lnTo>
                  <a:pt x="0" y="0"/>
                </a:lnTo>
                <a:close/>
              </a:path>
            </a:pathLst>
          </a:custGeom>
          <a:blipFill rotWithShape="1">
            <a:blip r:embed="rId6">
              <a:alphaModFix/>
            </a:blip>
            <a:stretch>
              <a:fillRect b="0" l="0" r="0" t="0"/>
            </a:stretch>
          </a:blipFill>
          <a:ln>
            <a:noFill/>
          </a:ln>
        </p:spPr>
      </p:sp>
      <p:sp>
        <p:nvSpPr>
          <p:cNvPr id="541" name="Google Shape;541;p43"/>
          <p:cNvSpPr/>
          <p:nvPr/>
        </p:nvSpPr>
        <p:spPr>
          <a:xfrm>
            <a:off x="3382700" y="2840205"/>
            <a:ext cx="114581" cy="79204"/>
          </a:xfrm>
          <a:custGeom>
            <a:rect b="b" l="l" r="r" t="t"/>
            <a:pathLst>
              <a:path extrusionOk="0" h="158408" w="229162">
                <a:moveTo>
                  <a:pt x="0" y="0"/>
                </a:moveTo>
                <a:lnTo>
                  <a:pt x="229162" y="0"/>
                </a:lnTo>
                <a:lnTo>
                  <a:pt x="229162" y="158408"/>
                </a:lnTo>
                <a:lnTo>
                  <a:pt x="0" y="158408"/>
                </a:lnTo>
                <a:lnTo>
                  <a:pt x="0" y="0"/>
                </a:lnTo>
                <a:close/>
              </a:path>
            </a:pathLst>
          </a:custGeom>
          <a:blipFill rotWithShape="1">
            <a:blip r:embed="rId6">
              <a:alphaModFix/>
            </a:blip>
            <a:stretch>
              <a:fillRect b="0" l="0" r="0" t="0"/>
            </a:stretch>
          </a:blipFill>
          <a:ln>
            <a:noFill/>
          </a:ln>
        </p:spPr>
      </p:sp>
      <p:sp>
        <p:nvSpPr>
          <p:cNvPr id="542" name="Google Shape;542;p43"/>
          <p:cNvSpPr txBox="1"/>
          <p:nvPr/>
        </p:nvSpPr>
        <p:spPr>
          <a:xfrm>
            <a:off x="3278747" y="675293"/>
            <a:ext cx="5043900" cy="4926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lang="en" sz="3200">
                <a:solidFill>
                  <a:srgbClr val="453D37"/>
                </a:solidFill>
              </a:rPr>
              <a:t>Causal Attribution</a:t>
            </a:r>
            <a:endParaRPr sz="700"/>
          </a:p>
        </p:txBody>
      </p:sp>
      <p:sp>
        <p:nvSpPr>
          <p:cNvPr id="543" name="Google Shape;543;p43"/>
          <p:cNvSpPr txBox="1"/>
          <p:nvPr/>
        </p:nvSpPr>
        <p:spPr>
          <a:xfrm flipH="1" rot="-6825674">
            <a:off x="-2448672" y="3563902"/>
            <a:ext cx="1500275" cy="58484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000" u="none" cap="none" strike="noStrike">
                <a:solidFill>
                  <a:srgbClr val="FFFAF5"/>
                </a:solidFill>
                <a:latin typeface="Ovo"/>
                <a:ea typeface="Ovo"/>
                <a:cs typeface="Ovo"/>
                <a:sym typeface="Ovo"/>
              </a:rPr>
              <a:t>“42% of users complain that their makeup doesn't last long”</a:t>
            </a:r>
            <a:endParaRPr sz="700"/>
          </a:p>
        </p:txBody>
      </p:sp>
      <p:sp>
        <p:nvSpPr>
          <p:cNvPr id="544" name="Google Shape;544;p43"/>
          <p:cNvSpPr txBox="1"/>
          <p:nvPr/>
        </p:nvSpPr>
        <p:spPr>
          <a:xfrm>
            <a:off x="3643760" y="2228312"/>
            <a:ext cx="2071800" cy="443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Negative review shocks are engagement catalysts</a:t>
            </a:r>
            <a:endParaRPr sz="700"/>
          </a:p>
        </p:txBody>
      </p:sp>
      <p:sp>
        <p:nvSpPr>
          <p:cNvPr id="545" name="Google Shape;545;p43"/>
          <p:cNvSpPr txBox="1"/>
          <p:nvPr/>
        </p:nvSpPr>
        <p:spPr>
          <a:xfrm>
            <a:off x="6162407" y="2236537"/>
            <a:ext cx="1872900" cy="443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Price tier moderates shock impact on Sephora</a:t>
            </a:r>
            <a:endParaRPr sz="700"/>
          </a:p>
        </p:txBody>
      </p:sp>
      <p:sp>
        <p:nvSpPr>
          <p:cNvPr id="546" name="Google Shape;546;p43"/>
          <p:cNvSpPr txBox="1"/>
          <p:nvPr/>
        </p:nvSpPr>
        <p:spPr>
          <a:xfrm>
            <a:off x="3601235" y="2783220"/>
            <a:ext cx="2071800" cy="443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But shocks causally damage perceived quality</a:t>
            </a:r>
            <a:endParaRPr sz="700"/>
          </a:p>
        </p:txBody>
      </p:sp>
      <p:sp>
        <p:nvSpPr>
          <p:cNvPr id="547" name="Google Shape;547;p43"/>
          <p:cNvSpPr txBox="1"/>
          <p:nvPr/>
        </p:nvSpPr>
        <p:spPr>
          <a:xfrm>
            <a:off x="6162407" y="2840212"/>
            <a:ext cx="1664700" cy="443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Ulta reacts differently to price context</a:t>
            </a:r>
            <a:endParaRPr sz="700"/>
          </a:p>
        </p:txBody>
      </p:sp>
      <p:sp>
        <p:nvSpPr>
          <p:cNvPr id="548" name="Google Shape;548;p43"/>
          <p:cNvSpPr txBox="1"/>
          <p:nvPr/>
        </p:nvSpPr>
        <p:spPr>
          <a:xfrm>
            <a:off x="3643760" y="3338153"/>
            <a:ext cx="2071800" cy="443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 sz="1200">
                <a:solidFill>
                  <a:srgbClr val="09080B"/>
                </a:solidFill>
                <a:latin typeface="Ovo"/>
                <a:ea typeface="Ovo"/>
                <a:cs typeface="Ovo"/>
                <a:sym typeface="Ovo"/>
              </a:rPr>
              <a:t>Recovery is partial, not complete</a:t>
            </a:r>
            <a:endParaRPr sz="700"/>
          </a:p>
        </p:txBody>
      </p:sp>
      <p:sp>
        <p:nvSpPr>
          <p:cNvPr id="549" name="Google Shape;549;p43"/>
          <p:cNvSpPr/>
          <p:nvPr/>
        </p:nvSpPr>
        <p:spPr>
          <a:xfrm>
            <a:off x="3382700" y="3444338"/>
            <a:ext cx="114581" cy="79204"/>
          </a:xfrm>
          <a:custGeom>
            <a:rect b="b" l="l" r="r" t="t"/>
            <a:pathLst>
              <a:path extrusionOk="0" h="158408" w="229162">
                <a:moveTo>
                  <a:pt x="0" y="0"/>
                </a:moveTo>
                <a:lnTo>
                  <a:pt x="229162" y="0"/>
                </a:lnTo>
                <a:lnTo>
                  <a:pt x="229162" y="158408"/>
                </a:lnTo>
                <a:lnTo>
                  <a:pt x="0" y="158408"/>
                </a:lnTo>
                <a:lnTo>
                  <a:pt x="0" y="0"/>
                </a:lnTo>
                <a:close/>
              </a:path>
            </a:pathLst>
          </a:custGeom>
          <a:blipFill rotWithShape="1">
            <a:blip r:embed="rId6">
              <a:alphaModFix/>
            </a:blip>
            <a:stretch>
              <a:fillRect b="0" l="0" r="0" t="0"/>
            </a:stretch>
          </a:blipFill>
          <a:ln>
            <a:noFill/>
          </a:ln>
        </p:spPr>
      </p:sp>
      <p:sp>
        <p:nvSpPr>
          <p:cNvPr id="550" name="Google Shape;550;p43"/>
          <p:cNvSpPr/>
          <p:nvPr/>
        </p:nvSpPr>
        <p:spPr>
          <a:xfrm>
            <a:off x="5910815" y="2840188"/>
            <a:ext cx="114581" cy="79204"/>
          </a:xfrm>
          <a:custGeom>
            <a:rect b="b" l="l" r="r" t="t"/>
            <a:pathLst>
              <a:path extrusionOk="0" h="158408" w="229162">
                <a:moveTo>
                  <a:pt x="0" y="0"/>
                </a:moveTo>
                <a:lnTo>
                  <a:pt x="229162" y="0"/>
                </a:lnTo>
                <a:lnTo>
                  <a:pt x="229162" y="158408"/>
                </a:lnTo>
                <a:lnTo>
                  <a:pt x="0" y="158408"/>
                </a:lnTo>
                <a:lnTo>
                  <a:pt x="0" y="0"/>
                </a:lnTo>
                <a:close/>
              </a:path>
            </a:pathLst>
          </a:custGeom>
          <a:blipFill rotWithShape="1">
            <a:blip r:embed="rId6">
              <a:alphaModFix/>
            </a:blip>
            <a:stretch>
              <a:fillRect b="0" l="0" r="0" t="0"/>
            </a:stretch>
          </a:blipFill>
          <a:ln>
            <a:noFill/>
          </a:ln>
        </p:spPr>
      </p:sp>
      <p:sp>
        <p:nvSpPr>
          <p:cNvPr id="551" name="Google Shape;551;p43"/>
          <p:cNvSpPr/>
          <p:nvPr/>
        </p:nvSpPr>
        <p:spPr>
          <a:xfrm>
            <a:off x="5910825" y="3413863"/>
            <a:ext cx="114581" cy="79204"/>
          </a:xfrm>
          <a:custGeom>
            <a:rect b="b" l="l" r="r" t="t"/>
            <a:pathLst>
              <a:path extrusionOk="0" h="158408" w="229162">
                <a:moveTo>
                  <a:pt x="0" y="0"/>
                </a:moveTo>
                <a:lnTo>
                  <a:pt x="229162" y="0"/>
                </a:lnTo>
                <a:lnTo>
                  <a:pt x="229162" y="158408"/>
                </a:lnTo>
                <a:lnTo>
                  <a:pt x="0" y="158408"/>
                </a:lnTo>
                <a:lnTo>
                  <a:pt x="0" y="0"/>
                </a:lnTo>
                <a:close/>
              </a:path>
            </a:pathLst>
          </a:custGeom>
          <a:blipFill rotWithShape="1">
            <a:blip r:embed="rId6">
              <a:alphaModFix/>
            </a:blip>
            <a:stretch>
              <a:fillRect b="0" l="0" r="0" t="0"/>
            </a:stretch>
          </a:blipFill>
          <a:ln>
            <a:noFill/>
          </a:ln>
        </p:spPr>
      </p:sp>
      <p:sp>
        <p:nvSpPr>
          <p:cNvPr id="552" name="Google Shape;552;p43"/>
          <p:cNvSpPr txBox="1"/>
          <p:nvPr/>
        </p:nvSpPr>
        <p:spPr>
          <a:xfrm>
            <a:off x="6080550" y="3226625"/>
            <a:ext cx="1954800" cy="3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Ovo"/>
                <a:ea typeface="Ovo"/>
                <a:cs typeface="Ovo"/>
                <a:sym typeface="Ovo"/>
              </a:rPr>
              <a:t>Spillovers affect attention, not belief</a:t>
            </a:r>
            <a:endParaRPr sz="1200">
              <a:solidFill>
                <a:schemeClr val="dk1"/>
              </a:solidFill>
              <a:latin typeface="Ovo"/>
              <a:ea typeface="Ovo"/>
              <a:cs typeface="Ovo"/>
              <a:sym typeface="Ov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558" name="Google Shape;558;p44"/>
          <p:cNvGrpSpPr/>
          <p:nvPr/>
        </p:nvGrpSpPr>
        <p:grpSpPr>
          <a:xfrm>
            <a:off x="514350" y="442020"/>
            <a:ext cx="8115300" cy="4187130"/>
            <a:chOff x="0" y="-38100"/>
            <a:chExt cx="4274726" cy="2205567"/>
          </a:xfrm>
        </p:grpSpPr>
        <p:sp>
          <p:nvSpPr>
            <p:cNvPr id="559" name="Google Shape;559;p44"/>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560" name="Google Shape;560;p44"/>
            <p:cNvSpPr txBox="1"/>
            <p:nvPr/>
          </p:nvSpPr>
          <p:spPr>
            <a:xfrm>
              <a:off x="0" y="-38100"/>
              <a:ext cx="4274726"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61" name="Google Shape;561;p44"/>
          <p:cNvGrpSpPr/>
          <p:nvPr/>
        </p:nvGrpSpPr>
        <p:grpSpPr>
          <a:xfrm>
            <a:off x="723450" y="660320"/>
            <a:ext cx="7676739" cy="3725299"/>
            <a:chOff x="0" y="-38100"/>
            <a:chExt cx="4043794" cy="1290102"/>
          </a:xfrm>
        </p:grpSpPr>
        <p:sp>
          <p:nvSpPr>
            <p:cNvPr id="562" name="Google Shape;562;p44"/>
            <p:cNvSpPr/>
            <p:nvPr/>
          </p:nvSpPr>
          <p:spPr>
            <a:xfrm>
              <a:off x="0" y="0"/>
              <a:ext cx="4043794" cy="1252001"/>
            </a:xfrm>
            <a:custGeom>
              <a:rect b="b" l="l" r="r" t="t"/>
              <a:pathLst>
                <a:path extrusionOk="0" h="1252001" w="4043794">
                  <a:moveTo>
                    <a:pt x="0" y="0"/>
                  </a:moveTo>
                  <a:lnTo>
                    <a:pt x="4043794" y="0"/>
                  </a:lnTo>
                  <a:lnTo>
                    <a:pt x="4043794" y="1252001"/>
                  </a:lnTo>
                  <a:lnTo>
                    <a:pt x="0" y="1252001"/>
                  </a:lnTo>
                  <a:close/>
                </a:path>
              </a:pathLst>
            </a:custGeom>
            <a:solidFill>
              <a:srgbClr val="FFFAF5"/>
            </a:solidFill>
            <a:ln>
              <a:noFill/>
            </a:ln>
          </p:spPr>
        </p:sp>
        <p:sp>
          <p:nvSpPr>
            <p:cNvPr id="563" name="Google Shape;563;p44"/>
            <p:cNvSpPr txBox="1"/>
            <p:nvPr/>
          </p:nvSpPr>
          <p:spPr>
            <a:xfrm>
              <a:off x="0" y="-38100"/>
              <a:ext cx="4043794" cy="129010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64" name="Google Shape;564;p44"/>
          <p:cNvSpPr/>
          <p:nvPr/>
        </p:nvSpPr>
        <p:spPr>
          <a:xfrm>
            <a:off x="5277308" y="270990"/>
            <a:ext cx="7031230" cy="4114800"/>
          </a:xfrm>
          <a:custGeom>
            <a:rect b="b" l="l" r="r" t="t"/>
            <a:pathLst>
              <a:path extrusionOk="0" h="8229600" w="14062460">
                <a:moveTo>
                  <a:pt x="0" y="0"/>
                </a:moveTo>
                <a:lnTo>
                  <a:pt x="14062459" y="0"/>
                </a:lnTo>
                <a:lnTo>
                  <a:pt x="14062459" y="8229600"/>
                </a:lnTo>
                <a:lnTo>
                  <a:pt x="0" y="8229600"/>
                </a:lnTo>
                <a:lnTo>
                  <a:pt x="0" y="0"/>
                </a:lnTo>
                <a:close/>
              </a:path>
            </a:pathLst>
          </a:custGeom>
          <a:blipFill rotWithShape="1">
            <a:blip r:embed="rId4">
              <a:alphaModFix/>
            </a:blip>
            <a:stretch>
              <a:fillRect b="0" l="-12137" r="0" t="0"/>
            </a:stretch>
          </a:blipFill>
          <a:ln>
            <a:noFill/>
          </a:ln>
        </p:spPr>
      </p:sp>
      <p:sp>
        <p:nvSpPr>
          <p:cNvPr id="565" name="Google Shape;565;p44"/>
          <p:cNvSpPr/>
          <p:nvPr/>
        </p:nvSpPr>
        <p:spPr>
          <a:xfrm flipH="1" rot="8100000">
            <a:off x="8200683" y="4196200"/>
            <a:ext cx="399336" cy="378869"/>
          </a:xfrm>
          <a:custGeom>
            <a:rect b="b" l="l" r="r" t="t"/>
            <a:pathLst>
              <a:path extrusionOk="0" h="757739" w="798671">
                <a:moveTo>
                  <a:pt x="0" y="757740"/>
                </a:moveTo>
                <a:lnTo>
                  <a:pt x="798671" y="757740"/>
                </a:lnTo>
                <a:lnTo>
                  <a:pt x="798671" y="0"/>
                </a:lnTo>
                <a:lnTo>
                  <a:pt x="0" y="0"/>
                </a:lnTo>
                <a:lnTo>
                  <a:pt x="0" y="757740"/>
                </a:lnTo>
                <a:close/>
              </a:path>
            </a:pathLst>
          </a:custGeom>
          <a:blipFill rotWithShape="1">
            <a:blip r:embed="rId5">
              <a:alphaModFix/>
            </a:blip>
            <a:stretch>
              <a:fillRect b="0" l="0" r="0" t="0"/>
            </a:stretch>
          </a:blipFill>
          <a:ln>
            <a:noFill/>
          </a:ln>
        </p:spPr>
      </p:sp>
      <p:sp>
        <p:nvSpPr>
          <p:cNvPr id="566" name="Google Shape;566;p44"/>
          <p:cNvSpPr txBox="1"/>
          <p:nvPr/>
        </p:nvSpPr>
        <p:spPr>
          <a:xfrm>
            <a:off x="81100" y="48400"/>
            <a:ext cx="88923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Convergent Strategic Recommendations</a:t>
            </a:r>
            <a:endParaRPr sz="700"/>
          </a:p>
        </p:txBody>
      </p:sp>
      <p:sp>
        <p:nvSpPr>
          <p:cNvPr id="567" name="Google Shape;567;p44"/>
          <p:cNvSpPr txBox="1"/>
          <p:nvPr/>
        </p:nvSpPr>
        <p:spPr>
          <a:xfrm>
            <a:off x="834075" y="799325"/>
            <a:ext cx="4877100" cy="3586200"/>
          </a:xfrm>
          <a:prstGeom prst="rect">
            <a:avLst/>
          </a:prstGeom>
          <a:noFill/>
          <a:ln>
            <a:noFill/>
          </a:ln>
        </p:spPr>
        <p:txBody>
          <a:bodyPr anchorCtr="0" anchor="ctr"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Font typeface="Ovo"/>
              <a:buChar char="●"/>
            </a:pPr>
            <a:r>
              <a:rPr lang="en">
                <a:solidFill>
                  <a:schemeClr val="dk1"/>
                </a:solidFill>
                <a:latin typeface="Ovo"/>
                <a:ea typeface="Ovo"/>
                <a:cs typeface="Ovo"/>
                <a:sym typeface="Ovo"/>
              </a:rPr>
              <a:t>Adopt a </a:t>
            </a:r>
            <a:r>
              <a:rPr b="1" lang="en">
                <a:solidFill>
                  <a:schemeClr val="dk1"/>
                </a:solidFill>
                <a:latin typeface="Ovo"/>
                <a:ea typeface="Ovo"/>
                <a:cs typeface="Ovo"/>
                <a:sym typeface="Ovo"/>
              </a:rPr>
              <a:t>platform-differentiated growth system</a:t>
            </a:r>
            <a:r>
              <a:rPr lang="en">
                <a:solidFill>
                  <a:schemeClr val="dk1"/>
                </a:solidFill>
                <a:latin typeface="Ovo"/>
                <a:ea typeface="Ovo"/>
                <a:cs typeface="Ovo"/>
                <a:sym typeface="Ovo"/>
              </a:rPr>
              <a:t>, not a unified brand strategy.</a:t>
            </a:r>
            <a:endParaRPr>
              <a:solidFill>
                <a:schemeClr val="dk1"/>
              </a:solidFill>
              <a:latin typeface="Ovo"/>
              <a:ea typeface="Ovo"/>
              <a:cs typeface="Ovo"/>
              <a:sym typeface="Ovo"/>
            </a:endParaRPr>
          </a:p>
          <a:p>
            <a:pPr indent="-317500" lvl="0" marL="457200" rtl="0" algn="l">
              <a:lnSpc>
                <a:spcPct val="115000"/>
              </a:lnSpc>
              <a:spcBef>
                <a:spcPts val="0"/>
              </a:spcBef>
              <a:spcAft>
                <a:spcPts val="0"/>
              </a:spcAft>
              <a:buClr>
                <a:schemeClr val="dk1"/>
              </a:buClr>
              <a:buSzPts val="1400"/>
              <a:buFont typeface="Ovo"/>
              <a:buChar char="●"/>
            </a:pPr>
            <a:r>
              <a:rPr lang="en">
                <a:solidFill>
                  <a:schemeClr val="dk1"/>
                </a:solidFill>
                <a:latin typeface="Ovo"/>
                <a:ea typeface="Ovo"/>
                <a:cs typeface="Ovo"/>
                <a:sym typeface="Ovo"/>
              </a:rPr>
              <a:t>Use </a:t>
            </a:r>
            <a:r>
              <a:rPr b="1" lang="en">
                <a:solidFill>
                  <a:schemeClr val="dk1"/>
                </a:solidFill>
                <a:latin typeface="Ovo"/>
                <a:ea typeface="Ovo"/>
                <a:cs typeface="Ovo"/>
                <a:sym typeface="Ovo"/>
              </a:rPr>
              <a:t>segmentation as the operating backbone</a:t>
            </a:r>
            <a:r>
              <a:rPr lang="en">
                <a:solidFill>
                  <a:schemeClr val="dk1"/>
                </a:solidFill>
                <a:latin typeface="Ovo"/>
                <a:ea typeface="Ovo"/>
                <a:cs typeface="Ovo"/>
                <a:sym typeface="Ovo"/>
              </a:rPr>
              <a:t> for every decision</a:t>
            </a:r>
            <a:endParaRPr>
              <a:solidFill>
                <a:schemeClr val="dk1"/>
              </a:solidFill>
              <a:latin typeface="Ovo"/>
              <a:ea typeface="Ovo"/>
              <a:cs typeface="Ovo"/>
              <a:sym typeface="Ovo"/>
            </a:endParaRPr>
          </a:p>
          <a:p>
            <a:pPr indent="-317500" lvl="0" marL="457200" rtl="0" algn="l">
              <a:lnSpc>
                <a:spcPct val="115000"/>
              </a:lnSpc>
              <a:spcBef>
                <a:spcPts val="0"/>
              </a:spcBef>
              <a:spcAft>
                <a:spcPts val="0"/>
              </a:spcAft>
              <a:buClr>
                <a:schemeClr val="dk1"/>
              </a:buClr>
              <a:buSzPts val="1400"/>
              <a:buFont typeface="Ovo"/>
              <a:buChar char="●"/>
            </a:pPr>
            <a:r>
              <a:rPr lang="en">
                <a:solidFill>
                  <a:schemeClr val="dk1"/>
                </a:solidFill>
                <a:latin typeface="Ovo"/>
                <a:ea typeface="Ovo"/>
                <a:cs typeface="Ovo"/>
                <a:sym typeface="Ovo"/>
              </a:rPr>
              <a:t>Optimize for </a:t>
            </a:r>
            <a:r>
              <a:rPr b="1" lang="en">
                <a:solidFill>
                  <a:schemeClr val="dk1"/>
                </a:solidFill>
                <a:latin typeface="Ovo"/>
                <a:ea typeface="Ovo"/>
                <a:cs typeface="Ovo"/>
                <a:sym typeface="Ovo"/>
              </a:rPr>
              <a:t>visibility where quality is proven</a:t>
            </a:r>
            <a:r>
              <a:rPr lang="en">
                <a:solidFill>
                  <a:schemeClr val="dk1"/>
                </a:solidFill>
                <a:latin typeface="Ovo"/>
                <a:ea typeface="Ovo"/>
                <a:cs typeface="Ovo"/>
                <a:sym typeface="Ovo"/>
              </a:rPr>
              <a:t>, and for </a:t>
            </a:r>
            <a:r>
              <a:rPr b="1" lang="en">
                <a:solidFill>
                  <a:schemeClr val="dk1"/>
                </a:solidFill>
                <a:latin typeface="Ovo"/>
                <a:ea typeface="Ovo"/>
                <a:cs typeface="Ovo"/>
                <a:sym typeface="Ovo"/>
              </a:rPr>
              <a:t>quality where visibility is unavoidable</a:t>
            </a:r>
            <a:endParaRPr b="1">
              <a:solidFill>
                <a:schemeClr val="dk1"/>
              </a:solidFill>
              <a:latin typeface="Ovo"/>
              <a:ea typeface="Ovo"/>
              <a:cs typeface="Ovo"/>
              <a:sym typeface="Ovo"/>
            </a:endParaRPr>
          </a:p>
          <a:p>
            <a:pPr indent="-317500" lvl="0" marL="457200" rtl="0" algn="l">
              <a:lnSpc>
                <a:spcPct val="115000"/>
              </a:lnSpc>
              <a:spcBef>
                <a:spcPts val="0"/>
              </a:spcBef>
              <a:spcAft>
                <a:spcPts val="0"/>
              </a:spcAft>
              <a:buClr>
                <a:schemeClr val="dk1"/>
              </a:buClr>
              <a:buSzPts val="1400"/>
              <a:buFont typeface="Ovo"/>
              <a:buChar char="●"/>
            </a:pPr>
            <a:r>
              <a:rPr lang="en">
                <a:solidFill>
                  <a:schemeClr val="dk1"/>
                </a:solidFill>
                <a:latin typeface="Ovo"/>
                <a:ea typeface="Ovo"/>
                <a:cs typeface="Ovo"/>
                <a:sym typeface="Ovo"/>
              </a:rPr>
              <a:t>Treat </a:t>
            </a:r>
            <a:r>
              <a:rPr b="1" lang="en">
                <a:solidFill>
                  <a:schemeClr val="dk1"/>
                </a:solidFill>
                <a:latin typeface="Ovo"/>
                <a:ea typeface="Ovo"/>
                <a:cs typeface="Ovo"/>
                <a:sym typeface="Ovo"/>
              </a:rPr>
              <a:t>reputation shocks as attention events</a:t>
            </a:r>
            <a:r>
              <a:rPr lang="en">
                <a:solidFill>
                  <a:schemeClr val="dk1"/>
                </a:solidFill>
                <a:latin typeface="Ovo"/>
                <a:ea typeface="Ovo"/>
                <a:cs typeface="Ovo"/>
                <a:sym typeface="Ovo"/>
              </a:rPr>
              <a:t>, not crises — except where causally harmful</a:t>
            </a:r>
            <a:endParaRPr>
              <a:solidFill>
                <a:schemeClr val="dk1"/>
              </a:solidFill>
              <a:latin typeface="Ovo"/>
              <a:ea typeface="Ovo"/>
              <a:cs typeface="Ovo"/>
              <a:sym typeface="Ovo"/>
            </a:endParaRPr>
          </a:p>
          <a:p>
            <a:pPr indent="-317500" lvl="0" marL="457200" rtl="0" algn="l">
              <a:lnSpc>
                <a:spcPct val="115000"/>
              </a:lnSpc>
              <a:spcBef>
                <a:spcPts val="0"/>
              </a:spcBef>
              <a:spcAft>
                <a:spcPts val="0"/>
              </a:spcAft>
              <a:buClr>
                <a:schemeClr val="dk1"/>
              </a:buClr>
              <a:buSzPts val="1400"/>
              <a:buFont typeface="Ovo"/>
              <a:buChar char="●"/>
            </a:pPr>
            <a:r>
              <a:rPr lang="en">
                <a:solidFill>
                  <a:schemeClr val="dk1"/>
                </a:solidFill>
                <a:latin typeface="Ovo"/>
                <a:ea typeface="Ovo"/>
                <a:cs typeface="Ovo"/>
                <a:sym typeface="Ovo"/>
              </a:rPr>
              <a:t>Decouple pricing logic by channel while harmonizing within-category perception</a:t>
            </a:r>
            <a:endParaRPr>
              <a:solidFill>
                <a:schemeClr val="dk1"/>
              </a:solidFill>
              <a:latin typeface="Ovo"/>
              <a:ea typeface="Ovo"/>
              <a:cs typeface="Ovo"/>
              <a:sym typeface="Ovo"/>
            </a:endParaRPr>
          </a:p>
          <a:p>
            <a:pPr indent="-317500" lvl="0" marL="457200" rtl="0" algn="l">
              <a:lnSpc>
                <a:spcPct val="115000"/>
              </a:lnSpc>
              <a:spcBef>
                <a:spcPts val="0"/>
              </a:spcBef>
              <a:spcAft>
                <a:spcPts val="0"/>
              </a:spcAft>
              <a:buClr>
                <a:schemeClr val="dk1"/>
              </a:buClr>
              <a:buSzPts val="1400"/>
              <a:buFont typeface="Ovo"/>
              <a:buChar char="●"/>
            </a:pPr>
            <a:r>
              <a:rPr lang="en">
                <a:solidFill>
                  <a:schemeClr val="dk1"/>
                </a:solidFill>
                <a:latin typeface="Ovo"/>
                <a:ea typeface="Ovo"/>
                <a:cs typeface="Ovo"/>
                <a:sym typeface="Ovo"/>
              </a:rPr>
              <a:t>Design Ulta presence as </a:t>
            </a:r>
            <a:r>
              <a:rPr b="1" lang="en">
                <a:solidFill>
                  <a:schemeClr val="dk1"/>
                </a:solidFill>
                <a:latin typeface="Ovo"/>
                <a:ea typeface="Ovo"/>
                <a:cs typeface="Ovo"/>
                <a:sym typeface="Ovo"/>
              </a:rPr>
              <a:t>discovery-first</a:t>
            </a:r>
            <a:r>
              <a:rPr lang="en">
                <a:solidFill>
                  <a:schemeClr val="dk1"/>
                </a:solidFill>
                <a:latin typeface="Ovo"/>
                <a:ea typeface="Ovo"/>
                <a:cs typeface="Ovo"/>
                <a:sym typeface="Ovo"/>
              </a:rPr>
              <a:t>; Sephora presence as </a:t>
            </a:r>
            <a:r>
              <a:rPr b="1" lang="en">
                <a:solidFill>
                  <a:schemeClr val="dk1"/>
                </a:solidFill>
                <a:latin typeface="Ovo"/>
                <a:ea typeface="Ovo"/>
                <a:cs typeface="Ovo"/>
                <a:sym typeface="Ovo"/>
              </a:rPr>
              <a:t>validation-first</a:t>
            </a:r>
            <a:endParaRPr b="1">
              <a:solidFill>
                <a:schemeClr val="dk1"/>
              </a:solidFill>
              <a:latin typeface="Ovo"/>
              <a:ea typeface="Ovo"/>
              <a:cs typeface="Ovo"/>
              <a:sym typeface="Ovo"/>
            </a:endParaRPr>
          </a:p>
          <a:p>
            <a:pPr indent="-317500" lvl="0" marL="457200" rtl="0" algn="l">
              <a:lnSpc>
                <a:spcPct val="115000"/>
              </a:lnSpc>
              <a:spcBef>
                <a:spcPts val="0"/>
              </a:spcBef>
              <a:spcAft>
                <a:spcPts val="0"/>
              </a:spcAft>
              <a:buClr>
                <a:schemeClr val="dk1"/>
              </a:buClr>
              <a:buSzPts val="1400"/>
              <a:buFont typeface="Ovo"/>
              <a:buChar char="●"/>
            </a:pPr>
            <a:r>
              <a:rPr lang="en">
                <a:solidFill>
                  <a:schemeClr val="dk1"/>
                </a:solidFill>
                <a:latin typeface="Ovo"/>
                <a:ea typeface="Ovo"/>
                <a:cs typeface="Ovo"/>
                <a:sym typeface="Ovo"/>
              </a:rPr>
              <a:t>Institutionalize segmentation as a continuous control system</a:t>
            </a:r>
            <a:endParaRPr>
              <a:solidFill>
                <a:schemeClr val="dk1"/>
              </a:solidFill>
              <a:latin typeface="Ovo"/>
              <a:ea typeface="Ovo"/>
              <a:cs typeface="Ovo"/>
              <a:sym typeface="Ov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573" name="Google Shape;573;p45"/>
          <p:cNvGrpSpPr/>
          <p:nvPr/>
        </p:nvGrpSpPr>
        <p:grpSpPr>
          <a:xfrm>
            <a:off x="787756" y="642225"/>
            <a:ext cx="7612551" cy="3743455"/>
            <a:chOff x="0" y="-38100"/>
            <a:chExt cx="2225827" cy="1971900"/>
          </a:xfrm>
        </p:grpSpPr>
        <p:sp>
          <p:nvSpPr>
            <p:cNvPr id="574" name="Google Shape;574;p45"/>
            <p:cNvSpPr/>
            <p:nvPr/>
          </p:nvSpPr>
          <p:spPr>
            <a:xfrm>
              <a:off x="0" y="0"/>
              <a:ext cx="2225827" cy="1933739"/>
            </a:xfrm>
            <a:custGeom>
              <a:rect b="b" l="l" r="r" t="t"/>
              <a:pathLst>
                <a:path extrusionOk="0" h="1933739" w="2225827">
                  <a:moveTo>
                    <a:pt x="0" y="0"/>
                  </a:moveTo>
                  <a:lnTo>
                    <a:pt x="2225827" y="0"/>
                  </a:lnTo>
                  <a:lnTo>
                    <a:pt x="2225827" y="1933739"/>
                  </a:lnTo>
                  <a:lnTo>
                    <a:pt x="0" y="1933739"/>
                  </a:lnTo>
                  <a:close/>
                </a:path>
              </a:pathLst>
            </a:custGeom>
            <a:solidFill>
              <a:srgbClr val="FFFAF5"/>
            </a:solidFill>
            <a:ln>
              <a:noFill/>
            </a:ln>
          </p:spPr>
        </p:sp>
        <p:sp>
          <p:nvSpPr>
            <p:cNvPr id="575" name="Google Shape;575;p45"/>
            <p:cNvSpPr txBox="1"/>
            <p:nvPr/>
          </p:nvSpPr>
          <p:spPr>
            <a:xfrm>
              <a:off x="0" y="-38100"/>
              <a:ext cx="2225700" cy="19719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76" name="Google Shape;576;p45"/>
          <p:cNvSpPr/>
          <p:nvPr/>
        </p:nvSpPr>
        <p:spPr>
          <a:xfrm>
            <a:off x="6365661" y="2074071"/>
            <a:ext cx="4527978" cy="4114800"/>
          </a:xfrm>
          <a:custGeom>
            <a:rect b="b" l="l" r="r" t="t"/>
            <a:pathLst>
              <a:path extrusionOk="0" h="8229600" w="9055956">
                <a:moveTo>
                  <a:pt x="0" y="0"/>
                </a:moveTo>
                <a:lnTo>
                  <a:pt x="9055956" y="0"/>
                </a:lnTo>
                <a:lnTo>
                  <a:pt x="9055956" y="8229600"/>
                </a:lnTo>
                <a:lnTo>
                  <a:pt x="0" y="8229600"/>
                </a:lnTo>
                <a:lnTo>
                  <a:pt x="0" y="0"/>
                </a:lnTo>
                <a:close/>
              </a:path>
            </a:pathLst>
          </a:custGeom>
          <a:blipFill rotWithShape="1">
            <a:blip r:embed="rId4">
              <a:alphaModFix/>
            </a:blip>
            <a:stretch>
              <a:fillRect b="0" l="0" r="0" t="0"/>
            </a:stretch>
          </a:blipFill>
          <a:ln>
            <a:noFill/>
          </a:ln>
        </p:spPr>
      </p:sp>
      <p:sp>
        <p:nvSpPr>
          <p:cNvPr id="577" name="Google Shape;577;p45"/>
          <p:cNvSpPr/>
          <p:nvPr/>
        </p:nvSpPr>
        <p:spPr>
          <a:xfrm>
            <a:off x="514350" y="3243840"/>
            <a:ext cx="3291840" cy="4114800"/>
          </a:xfrm>
          <a:custGeom>
            <a:rect b="b" l="l" r="r" t="t"/>
            <a:pathLst>
              <a:path extrusionOk="0" h="8229600" w="6583680">
                <a:moveTo>
                  <a:pt x="0" y="0"/>
                </a:moveTo>
                <a:lnTo>
                  <a:pt x="6583680" y="0"/>
                </a:lnTo>
                <a:lnTo>
                  <a:pt x="6583680" y="8229600"/>
                </a:lnTo>
                <a:lnTo>
                  <a:pt x="0" y="8229600"/>
                </a:lnTo>
                <a:lnTo>
                  <a:pt x="0" y="0"/>
                </a:lnTo>
                <a:close/>
              </a:path>
            </a:pathLst>
          </a:custGeom>
          <a:blipFill rotWithShape="1">
            <a:blip r:embed="rId5">
              <a:alphaModFix/>
            </a:blip>
            <a:stretch>
              <a:fillRect b="0" l="0" r="0" t="0"/>
            </a:stretch>
          </a:blipFill>
          <a:ln>
            <a:noFill/>
          </a:ln>
        </p:spPr>
      </p:sp>
      <p:sp>
        <p:nvSpPr>
          <p:cNvPr id="578" name="Google Shape;578;p45"/>
          <p:cNvSpPr txBox="1"/>
          <p:nvPr/>
        </p:nvSpPr>
        <p:spPr>
          <a:xfrm>
            <a:off x="787747" y="213600"/>
            <a:ext cx="7612500" cy="4926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lang="en" sz="3200">
                <a:solidFill>
                  <a:srgbClr val="453D37"/>
                </a:solidFill>
              </a:rPr>
              <a:t>Limitations</a:t>
            </a:r>
            <a:endParaRPr sz="700"/>
          </a:p>
        </p:txBody>
      </p:sp>
      <p:sp>
        <p:nvSpPr>
          <p:cNvPr id="579" name="Google Shape;579;p45"/>
          <p:cNvSpPr/>
          <p:nvPr/>
        </p:nvSpPr>
        <p:spPr>
          <a:xfrm flipH="1" rot="2700000">
            <a:off x="8156768" y="598780"/>
            <a:ext cx="398146" cy="377741"/>
          </a:xfrm>
          <a:custGeom>
            <a:rect b="b" l="l" r="r" t="t"/>
            <a:pathLst>
              <a:path extrusionOk="0" h="757739" w="798671">
                <a:moveTo>
                  <a:pt x="798671" y="0"/>
                </a:moveTo>
                <a:lnTo>
                  <a:pt x="0" y="0"/>
                </a:lnTo>
                <a:lnTo>
                  <a:pt x="0" y="757739"/>
                </a:lnTo>
                <a:lnTo>
                  <a:pt x="798671" y="757739"/>
                </a:lnTo>
                <a:lnTo>
                  <a:pt x="798671" y="0"/>
                </a:lnTo>
                <a:close/>
              </a:path>
            </a:pathLst>
          </a:custGeom>
          <a:blipFill rotWithShape="1">
            <a:blip r:embed="rId6">
              <a:alphaModFix/>
            </a:blip>
            <a:stretch>
              <a:fillRect b="0" l="0" r="0" t="0"/>
            </a:stretch>
          </a:blipFill>
          <a:ln>
            <a:noFill/>
          </a:ln>
        </p:spPr>
      </p:sp>
      <p:sp>
        <p:nvSpPr>
          <p:cNvPr id="580" name="Google Shape;580;p45"/>
          <p:cNvSpPr txBox="1"/>
          <p:nvPr/>
        </p:nvSpPr>
        <p:spPr>
          <a:xfrm>
            <a:off x="836924" y="818125"/>
            <a:ext cx="7349400" cy="2660100"/>
          </a:xfrm>
          <a:prstGeom prst="rect">
            <a:avLst/>
          </a:prstGeom>
          <a:noFill/>
          <a:ln>
            <a:noFill/>
          </a:ln>
        </p:spPr>
        <p:txBody>
          <a:bodyPr anchorCtr="0" anchor="t" bIns="0" lIns="0" spcFirstLastPara="1" rIns="0" wrap="square" tIns="0">
            <a:spAutoFit/>
          </a:bodyPr>
          <a:lstStyle/>
          <a:p>
            <a:pPr indent="-330200" lvl="0" marL="457200" marR="0" rtl="0" algn="just">
              <a:lnSpc>
                <a:spcPct val="140016"/>
              </a:lnSpc>
              <a:spcBef>
                <a:spcPts val="0"/>
              </a:spcBef>
              <a:spcAft>
                <a:spcPts val="0"/>
              </a:spcAft>
              <a:buClr>
                <a:srgbClr val="09080B"/>
              </a:buClr>
              <a:buSzPts val="1600"/>
              <a:buFont typeface="Ovo"/>
              <a:buChar char="●"/>
            </a:pPr>
            <a:r>
              <a:rPr lang="en" sz="1600">
                <a:solidFill>
                  <a:srgbClr val="09080B"/>
                </a:solidFill>
                <a:latin typeface="Ovo"/>
                <a:ea typeface="Ovo"/>
                <a:cs typeface="Ovo"/>
                <a:sym typeface="Ovo"/>
              </a:rPr>
              <a:t>We were able to scrape much more products for ulta than we were for sephora</a:t>
            </a:r>
            <a:endParaRPr sz="1600">
              <a:solidFill>
                <a:srgbClr val="09080B"/>
              </a:solidFill>
              <a:latin typeface="Ovo"/>
              <a:ea typeface="Ovo"/>
              <a:cs typeface="Ovo"/>
              <a:sym typeface="Ovo"/>
            </a:endParaRPr>
          </a:p>
          <a:p>
            <a:pPr indent="-330200" lvl="0" marL="457200" marR="0" rtl="0" algn="just">
              <a:lnSpc>
                <a:spcPct val="140016"/>
              </a:lnSpc>
              <a:spcBef>
                <a:spcPts val="0"/>
              </a:spcBef>
              <a:spcAft>
                <a:spcPts val="0"/>
              </a:spcAft>
              <a:buClr>
                <a:srgbClr val="09080B"/>
              </a:buClr>
              <a:buSzPts val="1600"/>
              <a:buFont typeface="Ovo"/>
              <a:buChar char="●"/>
            </a:pPr>
            <a:r>
              <a:rPr lang="en" sz="1600">
                <a:solidFill>
                  <a:srgbClr val="09080B"/>
                </a:solidFill>
                <a:latin typeface="Ovo"/>
                <a:ea typeface="Ovo"/>
                <a:cs typeface="Ovo"/>
                <a:sym typeface="Ovo"/>
              </a:rPr>
              <a:t>We do not have the full catalogue for either sephora or ulta</a:t>
            </a:r>
            <a:endParaRPr sz="1600">
              <a:solidFill>
                <a:srgbClr val="09080B"/>
              </a:solidFill>
              <a:latin typeface="Ovo"/>
              <a:ea typeface="Ovo"/>
              <a:cs typeface="Ovo"/>
              <a:sym typeface="Ovo"/>
            </a:endParaRPr>
          </a:p>
          <a:p>
            <a:pPr indent="-330200" lvl="0" marL="457200" marR="0" rtl="0" algn="just">
              <a:lnSpc>
                <a:spcPct val="140016"/>
              </a:lnSpc>
              <a:spcBef>
                <a:spcPts val="0"/>
              </a:spcBef>
              <a:spcAft>
                <a:spcPts val="0"/>
              </a:spcAft>
              <a:buClr>
                <a:srgbClr val="09080B"/>
              </a:buClr>
              <a:buSzPts val="1600"/>
              <a:buFont typeface="Ovo"/>
              <a:buChar char="●"/>
            </a:pPr>
            <a:r>
              <a:rPr lang="en" sz="1600">
                <a:solidFill>
                  <a:srgbClr val="09080B"/>
                </a:solidFill>
                <a:latin typeface="Ovo"/>
                <a:ea typeface="Ovo"/>
                <a:cs typeface="Ovo"/>
                <a:sym typeface="Ovo"/>
              </a:rPr>
              <a:t>We only scraped up to the most recent 300 reviews</a:t>
            </a:r>
            <a:endParaRPr sz="1600">
              <a:solidFill>
                <a:srgbClr val="09080B"/>
              </a:solidFill>
              <a:latin typeface="Ovo"/>
              <a:ea typeface="Ovo"/>
              <a:cs typeface="Ovo"/>
              <a:sym typeface="Ovo"/>
            </a:endParaRPr>
          </a:p>
          <a:p>
            <a:pPr indent="-330200" lvl="0" marL="457200" marR="0" rtl="0" algn="just">
              <a:lnSpc>
                <a:spcPct val="140016"/>
              </a:lnSpc>
              <a:spcBef>
                <a:spcPts val="0"/>
              </a:spcBef>
              <a:spcAft>
                <a:spcPts val="0"/>
              </a:spcAft>
              <a:buClr>
                <a:srgbClr val="09080B"/>
              </a:buClr>
              <a:buSzPts val="1600"/>
              <a:buFont typeface="Ovo"/>
              <a:buChar char="●"/>
            </a:pPr>
            <a:r>
              <a:rPr lang="en" sz="1600">
                <a:solidFill>
                  <a:srgbClr val="09080B"/>
                </a:solidFill>
                <a:latin typeface="Ovo"/>
                <a:ea typeface="Ovo"/>
                <a:cs typeface="Ovo"/>
                <a:sym typeface="Ovo"/>
              </a:rPr>
              <a:t>Some </a:t>
            </a:r>
            <a:r>
              <a:rPr lang="en" sz="1600">
                <a:solidFill>
                  <a:srgbClr val="09080B"/>
                </a:solidFill>
                <a:latin typeface="Ovo"/>
                <a:ea typeface="Ovo"/>
                <a:cs typeface="Ovo"/>
                <a:sym typeface="Ovo"/>
              </a:rPr>
              <a:t>products</a:t>
            </a:r>
            <a:r>
              <a:rPr lang="en" sz="1600">
                <a:solidFill>
                  <a:srgbClr val="09080B"/>
                </a:solidFill>
                <a:latin typeface="Ovo"/>
                <a:ea typeface="Ovo"/>
                <a:cs typeface="Ovo"/>
                <a:sym typeface="Ovo"/>
              </a:rPr>
              <a:t> we scraped had no reviews</a:t>
            </a:r>
            <a:endParaRPr sz="1600">
              <a:solidFill>
                <a:srgbClr val="09080B"/>
              </a:solidFill>
              <a:latin typeface="Ovo"/>
              <a:ea typeface="Ovo"/>
              <a:cs typeface="Ovo"/>
              <a:sym typeface="Ovo"/>
            </a:endParaRPr>
          </a:p>
          <a:p>
            <a:pPr indent="-330200" lvl="0" marL="457200" marR="0" rtl="0" algn="just">
              <a:lnSpc>
                <a:spcPct val="140016"/>
              </a:lnSpc>
              <a:spcBef>
                <a:spcPts val="0"/>
              </a:spcBef>
              <a:spcAft>
                <a:spcPts val="0"/>
              </a:spcAft>
              <a:buClr>
                <a:srgbClr val="09080B"/>
              </a:buClr>
              <a:buSzPts val="1600"/>
              <a:buFont typeface="Ovo"/>
              <a:buChar char="●"/>
            </a:pPr>
            <a:r>
              <a:rPr lang="en" sz="1600">
                <a:solidFill>
                  <a:srgbClr val="09080B"/>
                </a:solidFill>
                <a:latin typeface="Ovo"/>
                <a:ea typeface="Ovo"/>
                <a:cs typeface="Ovo"/>
                <a:sym typeface="Ovo"/>
              </a:rPr>
              <a:t>Some brands with fewer products were skipped for ulta by the scraper</a:t>
            </a:r>
            <a:endParaRPr sz="1600">
              <a:solidFill>
                <a:srgbClr val="09080B"/>
              </a:solidFill>
              <a:latin typeface="Ovo"/>
              <a:ea typeface="Ovo"/>
              <a:cs typeface="Ovo"/>
              <a:sym typeface="Ovo"/>
            </a:endParaRPr>
          </a:p>
          <a:p>
            <a:pPr indent="-330200" lvl="0" marL="457200" marR="0" rtl="0" algn="just">
              <a:lnSpc>
                <a:spcPct val="140016"/>
              </a:lnSpc>
              <a:spcBef>
                <a:spcPts val="0"/>
              </a:spcBef>
              <a:spcAft>
                <a:spcPts val="0"/>
              </a:spcAft>
              <a:buClr>
                <a:srgbClr val="09080B"/>
              </a:buClr>
              <a:buSzPts val="1600"/>
              <a:buFont typeface="Ovo"/>
              <a:buChar char="●"/>
            </a:pPr>
            <a:r>
              <a:rPr lang="en" sz="1600">
                <a:solidFill>
                  <a:srgbClr val="09080B"/>
                </a:solidFill>
                <a:latin typeface="Ovo"/>
                <a:ea typeface="Ovo"/>
                <a:cs typeface="Ovo"/>
                <a:sym typeface="Ovo"/>
              </a:rPr>
              <a:t>Static data, no presence of change over time</a:t>
            </a:r>
            <a:endParaRPr sz="1600">
              <a:solidFill>
                <a:srgbClr val="09080B"/>
              </a:solidFill>
              <a:latin typeface="Ovo"/>
              <a:ea typeface="Ovo"/>
              <a:cs typeface="Ovo"/>
              <a:sym typeface="Ovo"/>
            </a:endParaRPr>
          </a:p>
          <a:p>
            <a:pPr indent="-330200" lvl="0" marL="457200" marR="0" rtl="0" algn="just">
              <a:lnSpc>
                <a:spcPct val="140016"/>
              </a:lnSpc>
              <a:spcBef>
                <a:spcPts val="0"/>
              </a:spcBef>
              <a:spcAft>
                <a:spcPts val="0"/>
              </a:spcAft>
              <a:buClr>
                <a:srgbClr val="09080B"/>
              </a:buClr>
              <a:buSzPts val="1600"/>
              <a:buFont typeface="Ovo"/>
              <a:buChar char="●"/>
            </a:pPr>
            <a:r>
              <a:rPr lang="en" sz="1600">
                <a:solidFill>
                  <a:srgbClr val="09080B"/>
                </a:solidFill>
                <a:latin typeface="Ovo"/>
                <a:ea typeface="Ovo"/>
                <a:cs typeface="Ovo"/>
                <a:sym typeface="Ovo"/>
              </a:rPr>
              <a:t>Missing </a:t>
            </a:r>
            <a:r>
              <a:rPr lang="en" sz="1600">
                <a:solidFill>
                  <a:srgbClr val="09080B"/>
                </a:solidFill>
                <a:latin typeface="Ovo"/>
                <a:ea typeface="Ovo"/>
                <a:cs typeface="Ovo"/>
                <a:sym typeface="Ovo"/>
              </a:rPr>
              <a:t>ingredients</a:t>
            </a:r>
            <a:r>
              <a:rPr lang="en" sz="1600">
                <a:solidFill>
                  <a:srgbClr val="09080B"/>
                </a:solidFill>
                <a:latin typeface="Ovo"/>
                <a:ea typeface="Ovo"/>
                <a:cs typeface="Ovo"/>
                <a:sym typeface="Ovo"/>
              </a:rPr>
              <a:t> to identify similar products</a:t>
            </a:r>
            <a:endParaRPr sz="1600">
              <a:solidFill>
                <a:srgbClr val="09080B"/>
              </a:solidFill>
              <a:latin typeface="Ovo"/>
              <a:ea typeface="Ovo"/>
              <a:cs typeface="Ovo"/>
              <a:sym typeface="Ovo"/>
            </a:endParaRPr>
          </a:p>
        </p:txBody>
      </p:sp>
      <p:sp>
        <p:nvSpPr>
          <p:cNvPr id="581" name="Google Shape;581;p45"/>
          <p:cNvSpPr txBox="1"/>
          <p:nvPr/>
        </p:nvSpPr>
        <p:spPr>
          <a:xfrm>
            <a:off x="836925" y="2196625"/>
            <a:ext cx="1972800" cy="107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t/>
            </a:r>
            <a:endParaRPr sz="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6"/>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587" name="Google Shape;587;p46"/>
          <p:cNvGrpSpPr/>
          <p:nvPr/>
        </p:nvGrpSpPr>
        <p:grpSpPr>
          <a:xfrm>
            <a:off x="514350" y="442021"/>
            <a:ext cx="8115140" cy="4187111"/>
            <a:chOff x="0" y="-38100"/>
            <a:chExt cx="4274726" cy="2205600"/>
          </a:xfrm>
        </p:grpSpPr>
        <p:sp>
          <p:nvSpPr>
            <p:cNvPr id="588" name="Google Shape;588;p46"/>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589" name="Google Shape;589;p46"/>
            <p:cNvSpPr txBox="1"/>
            <p:nvPr/>
          </p:nvSpPr>
          <p:spPr>
            <a:xfrm>
              <a:off x="0" y="-38100"/>
              <a:ext cx="4274700" cy="2205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90" name="Google Shape;590;p46"/>
          <p:cNvSpPr/>
          <p:nvPr/>
        </p:nvSpPr>
        <p:spPr>
          <a:xfrm>
            <a:off x="5179279" y="670961"/>
            <a:ext cx="3270250" cy="3270250"/>
          </a:xfrm>
          <a:custGeom>
            <a:rect b="b" l="l" r="r" t="t"/>
            <a:pathLst>
              <a:path extrusionOk="0" h="6350000" w="6350000">
                <a:moveTo>
                  <a:pt x="0" y="0"/>
                </a:moveTo>
                <a:cubicBezTo>
                  <a:pt x="0" y="3506470"/>
                  <a:pt x="2843530" y="6350000"/>
                  <a:pt x="6350000" y="6350000"/>
                </a:cubicBezTo>
                <a:lnTo>
                  <a:pt x="6350000" y="0"/>
                </a:lnTo>
                <a:lnTo>
                  <a:pt x="0" y="0"/>
                </a:lnTo>
                <a:close/>
              </a:path>
            </a:pathLst>
          </a:custGeom>
          <a:blipFill rotWithShape="1">
            <a:blip r:embed="rId4">
              <a:alphaModFix/>
            </a:blip>
            <a:stretch>
              <a:fillRect b="0" l="-25050" r="-25039"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1" name="Google Shape;591;p46"/>
          <p:cNvSpPr/>
          <p:nvPr/>
        </p:nvSpPr>
        <p:spPr>
          <a:xfrm>
            <a:off x="6339245" y="2099635"/>
            <a:ext cx="7031230" cy="4114800"/>
          </a:xfrm>
          <a:custGeom>
            <a:rect b="b" l="l" r="r" t="t"/>
            <a:pathLst>
              <a:path extrusionOk="0" h="8229600" w="14062460">
                <a:moveTo>
                  <a:pt x="0" y="0"/>
                </a:moveTo>
                <a:lnTo>
                  <a:pt x="14062459" y="0"/>
                </a:lnTo>
                <a:lnTo>
                  <a:pt x="14062459" y="8229600"/>
                </a:lnTo>
                <a:lnTo>
                  <a:pt x="0" y="8229600"/>
                </a:lnTo>
                <a:lnTo>
                  <a:pt x="0" y="0"/>
                </a:lnTo>
                <a:close/>
              </a:path>
            </a:pathLst>
          </a:custGeom>
          <a:blipFill rotWithShape="1">
            <a:blip r:embed="rId5">
              <a:alphaModFix/>
            </a:blip>
            <a:stretch>
              <a:fillRect b="0" l="-12140" r="0" t="0"/>
            </a:stretch>
          </a:blipFill>
          <a:ln>
            <a:noFill/>
          </a:ln>
        </p:spPr>
      </p:sp>
      <p:sp>
        <p:nvSpPr>
          <p:cNvPr id="592" name="Google Shape;592;p46"/>
          <p:cNvSpPr/>
          <p:nvPr/>
        </p:nvSpPr>
        <p:spPr>
          <a:xfrm>
            <a:off x="226913" y="-215274"/>
            <a:ext cx="3543898" cy="2412804"/>
          </a:xfrm>
          <a:custGeom>
            <a:rect b="b" l="l" r="r" t="t"/>
            <a:pathLst>
              <a:path extrusionOk="0" h="4825607" w="7087795">
                <a:moveTo>
                  <a:pt x="0" y="0"/>
                </a:moveTo>
                <a:lnTo>
                  <a:pt x="7087794" y="0"/>
                </a:lnTo>
                <a:lnTo>
                  <a:pt x="7087794" y="4825607"/>
                </a:lnTo>
                <a:lnTo>
                  <a:pt x="0" y="4825607"/>
                </a:lnTo>
                <a:lnTo>
                  <a:pt x="0" y="0"/>
                </a:lnTo>
                <a:close/>
              </a:path>
            </a:pathLst>
          </a:custGeom>
          <a:blipFill rotWithShape="1">
            <a:blip r:embed="rId6">
              <a:alphaModFix/>
            </a:blip>
            <a:stretch>
              <a:fillRect b="0" l="0" r="0" t="0"/>
            </a:stretch>
          </a:blipFill>
          <a:ln>
            <a:noFill/>
          </a:ln>
        </p:spPr>
      </p:sp>
      <p:sp>
        <p:nvSpPr>
          <p:cNvPr id="593" name="Google Shape;593;p46"/>
          <p:cNvSpPr txBox="1"/>
          <p:nvPr/>
        </p:nvSpPr>
        <p:spPr>
          <a:xfrm>
            <a:off x="780225" y="2571750"/>
            <a:ext cx="7274700" cy="692700"/>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lang="en" sz="4500">
                <a:solidFill>
                  <a:srgbClr val="453D37"/>
                </a:solidFill>
              </a:rPr>
              <a:t>Code Repository</a:t>
            </a:r>
            <a:endParaRPr sz="700"/>
          </a:p>
        </p:txBody>
      </p:sp>
      <p:sp>
        <p:nvSpPr>
          <p:cNvPr id="594" name="Google Shape;594;p46"/>
          <p:cNvSpPr txBox="1"/>
          <p:nvPr/>
        </p:nvSpPr>
        <p:spPr>
          <a:xfrm>
            <a:off x="780225" y="3358850"/>
            <a:ext cx="4564200" cy="4464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lang="en" sz="2900" u="sng">
                <a:solidFill>
                  <a:schemeClr val="hlink"/>
                </a:solidFill>
                <a:latin typeface="Ovo"/>
                <a:ea typeface="Ovo"/>
                <a:cs typeface="Ovo"/>
                <a:sym typeface="Ovo"/>
                <a:hlinkClick r:id="rId7"/>
              </a:rPr>
              <a:t>Analyzing Beauty Retailers</a:t>
            </a:r>
            <a:endParaRPr sz="1600">
              <a:latin typeface="Ovo"/>
              <a:ea typeface="Ovo"/>
              <a:cs typeface="Ovo"/>
              <a:sym typeface="Ovo"/>
            </a:endParaRPr>
          </a:p>
        </p:txBody>
      </p:sp>
      <p:sp>
        <p:nvSpPr>
          <p:cNvPr id="595" name="Google Shape;595;p46"/>
          <p:cNvSpPr/>
          <p:nvPr/>
        </p:nvSpPr>
        <p:spPr>
          <a:xfrm>
            <a:off x="780224" y="4138745"/>
            <a:ext cx="3657600" cy="36576"/>
          </a:xfrm>
          <a:custGeom>
            <a:rect b="b" l="l" r="r" t="t"/>
            <a:pathLst>
              <a:path extrusionOk="0" h="73152" w="7315200">
                <a:moveTo>
                  <a:pt x="0" y="0"/>
                </a:moveTo>
                <a:lnTo>
                  <a:pt x="7315200" y="0"/>
                </a:lnTo>
                <a:lnTo>
                  <a:pt x="7315200" y="73152"/>
                </a:lnTo>
                <a:lnTo>
                  <a:pt x="0" y="73152"/>
                </a:lnTo>
                <a:lnTo>
                  <a:pt x="0" y="0"/>
                </a:lnTo>
                <a:close/>
              </a:path>
            </a:pathLst>
          </a:custGeom>
          <a:blipFill rotWithShape="1">
            <a:blip r:embed="rId8">
              <a:alphaModFix/>
            </a:blip>
            <a:stretch>
              <a:fillRect b="0" l="0" r="0" t="0"/>
            </a:stretch>
          </a:blipFill>
          <a:ln>
            <a:noFill/>
          </a:ln>
        </p:spPr>
      </p:sp>
      <p:sp>
        <p:nvSpPr>
          <p:cNvPr id="596" name="Google Shape;596;p46"/>
          <p:cNvSpPr/>
          <p:nvPr/>
        </p:nvSpPr>
        <p:spPr>
          <a:xfrm flipH="1" rot="5400000">
            <a:off x="4561767" y="3985887"/>
            <a:ext cx="399336" cy="378869"/>
          </a:xfrm>
          <a:custGeom>
            <a:rect b="b" l="l" r="r" t="t"/>
            <a:pathLst>
              <a:path extrusionOk="0" h="757739" w="798671">
                <a:moveTo>
                  <a:pt x="0" y="757739"/>
                </a:moveTo>
                <a:lnTo>
                  <a:pt x="798671" y="757739"/>
                </a:lnTo>
                <a:lnTo>
                  <a:pt x="798671" y="0"/>
                </a:lnTo>
                <a:lnTo>
                  <a:pt x="0" y="0"/>
                </a:lnTo>
                <a:lnTo>
                  <a:pt x="0" y="757739"/>
                </a:lnTo>
                <a:close/>
              </a:path>
            </a:pathLst>
          </a:custGeom>
          <a:blipFill rotWithShape="1">
            <a:blip r:embed="rId9">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1" l="0" r="0" t="-9221"/>
            </a:stretch>
          </a:blipFill>
          <a:ln>
            <a:noFill/>
          </a:ln>
        </p:spPr>
      </p:sp>
      <p:grpSp>
        <p:nvGrpSpPr>
          <p:cNvPr id="602" name="Google Shape;602;p47"/>
          <p:cNvGrpSpPr/>
          <p:nvPr/>
        </p:nvGrpSpPr>
        <p:grpSpPr>
          <a:xfrm>
            <a:off x="514350" y="442020"/>
            <a:ext cx="8115300" cy="4187130"/>
            <a:chOff x="0" y="-38100"/>
            <a:chExt cx="4274726" cy="2205567"/>
          </a:xfrm>
        </p:grpSpPr>
        <p:sp>
          <p:nvSpPr>
            <p:cNvPr id="603" name="Google Shape;603;p47"/>
            <p:cNvSpPr/>
            <p:nvPr/>
          </p:nvSpPr>
          <p:spPr>
            <a:xfrm>
              <a:off x="0" y="0"/>
              <a:ext cx="4274726" cy="2167467"/>
            </a:xfrm>
            <a:custGeom>
              <a:rect b="b" l="l" r="r" t="t"/>
              <a:pathLst>
                <a:path extrusionOk="0" h="2167467" w="4274726">
                  <a:moveTo>
                    <a:pt x="0" y="0"/>
                  </a:moveTo>
                  <a:lnTo>
                    <a:pt x="4274726" y="0"/>
                  </a:lnTo>
                  <a:lnTo>
                    <a:pt x="4274726" y="2167467"/>
                  </a:lnTo>
                  <a:lnTo>
                    <a:pt x="0" y="2167467"/>
                  </a:lnTo>
                  <a:close/>
                </a:path>
              </a:pathLst>
            </a:custGeom>
            <a:noFill/>
            <a:ln cap="sq" cmpd="sng" w="38100">
              <a:solidFill>
                <a:srgbClr val="A18F67"/>
              </a:solidFill>
              <a:prstDash val="solid"/>
              <a:miter lim="8000"/>
              <a:headEnd len="sm" w="sm" type="none"/>
              <a:tailEnd len="sm" w="sm" type="none"/>
            </a:ln>
          </p:spPr>
        </p:sp>
        <p:sp>
          <p:nvSpPr>
            <p:cNvPr id="604" name="Google Shape;604;p47"/>
            <p:cNvSpPr txBox="1"/>
            <p:nvPr/>
          </p:nvSpPr>
          <p:spPr>
            <a:xfrm>
              <a:off x="0" y="-38100"/>
              <a:ext cx="4274726"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605" name="Google Shape;605;p47"/>
          <p:cNvSpPr/>
          <p:nvPr/>
        </p:nvSpPr>
        <p:spPr>
          <a:xfrm>
            <a:off x="5179279" y="670961"/>
            <a:ext cx="3268117" cy="3268117"/>
          </a:xfrm>
          <a:custGeom>
            <a:rect b="b" l="l" r="r" t="t"/>
            <a:pathLst>
              <a:path extrusionOk="0" h="6350000" w="6350000">
                <a:moveTo>
                  <a:pt x="0" y="0"/>
                </a:moveTo>
                <a:cubicBezTo>
                  <a:pt x="0" y="3506470"/>
                  <a:pt x="2843530" y="6350000"/>
                  <a:pt x="6350000" y="6350000"/>
                </a:cubicBezTo>
                <a:lnTo>
                  <a:pt x="6350000" y="0"/>
                </a:lnTo>
                <a:lnTo>
                  <a:pt x="0" y="0"/>
                </a:lnTo>
                <a:close/>
              </a:path>
            </a:pathLst>
          </a:custGeom>
          <a:blipFill rotWithShape="1">
            <a:blip r:embed="rId4">
              <a:alphaModFix/>
            </a:blip>
            <a:stretch>
              <a:fillRect b="0" l="-25046" r="-25046"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6" name="Google Shape;606;p47"/>
          <p:cNvSpPr/>
          <p:nvPr/>
        </p:nvSpPr>
        <p:spPr>
          <a:xfrm>
            <a:off x="6339245" y="2029823"/>
            <a:ext cx="7031230" cy="4114800"/>
          </a:xfrm>
          <a:custGeom>
            <a:rect b="b" l="l" r="r" t="t"/>
            <a:pathLst>
              <a:path extrusionOk="0" h="8229600" w="14062460">
                <a:moveTo>
                  <a:pt x="0" y="0"/>
                </a:moveTo>
                <a:lnTo>
                  <a:pt x="14062459" y="0"/>
                </a:lnTo>
                <a:lnTo>
                  <a:pt x="14062459" y="8229600"/>
                </a:lnTo>
                <a:lnTo>
                  <a:pt x="0" y="8229600"/>
                </a:lnTo>
                <a:lnTo>
                  <a:pt x="0" y="0"/>
                </a:lnTo>
                <a:close/>
              </a:path>
            </a:pathLst>
          </a:custGeom>
          <a:blipFill rotWithShape="1">
            <a:blip r:embed="rId5">
              <a:alphaModFix/>
            </a:blip>
            <a:stretch>
              <a:fillRect b="0" l="-12137" r="0" t="0"/>
            </a:stretch>
          </a:blipFill>
          <a:ln>
            <a:noFill/>
          </a:ln>
        </p:spPr>
      </p:sp>
      <p:sp>
        <p:nvSpPr>
          <p:cNvPr id="607" name="Google Shape;607;p47"/>
          <p:cNvSpPr/>
          <p:nvPr/>
        </p:nvSpPr>
        <p:spPr>
          <a:xfrm>
            <a:off x="226913" y="-215274"/>
            <a:ext cx="3543898" cy="2412804"/>
          </a:xfrm>
          <a:custGeom>
            <a:rect b="b" l="l" r="r" t="t"/>
            <a:pathLst>
              <a:path extrusionOk="0" h="4825607" w="7087795">
                <a:moveTo>
                  <a:pt x="0" y="0"/>
                </a:moveTo>
                <a:lnTo>
                  <a:pt x="7087794" y="0"/>
                </a:lnTo>
                <a:lnTo>
                  <a:pt x="7087794" y="4825607"/>
                </a:lnTo>
                <a:lnTo>
                  <a:pt x="0" y="4825607"/>
                </a:lnTo>
                <a:lnTo>
                  <a:pt x="0" y="0"/>
                </a:lnTo>
                <a:close/>
              </a:path>
            </a:pathLst>
          </a:custGeom>
          <a:blipFill rotWithShape="1">
            <a:blip r:embed="rId6">
              <a:alphaModFix/>
            </a:blip>
            <a:stretch>
              <a:fillRect b="0" l="0" r="0" t="0"/>
            </a:stretch>
          </a:blipFill>
          <a:ln>
            <a:noFill/>
          </a:ln>
        </p:spPr>
      </p:sp>
      <p:sp>
        <p:nvSpPr>
          <p:cNvPr id="608" name="Google Shape;608;p47"/>
          <p:cNvSpPr txBox="1"/>
          <p:nvPr/>
        </p:nvSpPr>
        <p:spPr>
          <a:xfrm>
            <a:off x="780224" y="2577788"/>
            <a:ext cx="5725162" cy="814388"/>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b="0" i="0" lang="en" sz="4500" u="none" cap="none" strike="noStrike">
                <a:solidFill>
                  <a:srgbClr val="453D37"/>
                </a:solidFill>
                <a:latin typeface="Arial"/>
                <a:ea typeface="Arial"/>
                <a:cs typeface="Arial"/>
                <a:sym typeface="Arial"/>
              </a:rPr>
              <a:t>THANK YOU</a:t>
            </a:r>
            <a:endParaRPr sz="700"/>
          </a:p>
        </p:txBody>
      </p:sp>
      <p:sp>
        <p:nvSpPr>
          <p:cNvPr id="609" name="Google Shape;609;p47"/>
          <p:cNvSpPr txBox="1"/>
          <p:nvPr/>
        </p:nvSpPr>
        <p:spPr>
          <a:xfrm>
            <a:off x="780224" y="3358838"/>
            <a:ext cx="3987615" cy="334963"/>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 sz="2000" u="none" cap="none" strike="noStrike">
                <a:solidFill>
                  <a:srgbClr val="09080B"/>
                </a:solidFill>
                <a:latin typeface="Playwrite US Trad"/>
                <a:ea typeface="Playwrite US Trad"/>
                <a:cs typeface="Playwrite US Trad"/>
                <a:sym typeface="Playwrite US Trad"/>
              </a:rPr>
              <a:t>for your time and attention</a:t>
            </a:r>
            <a:endParaRPr sz="700"/>
          </a:p>
        </p:txBody>
      </p:sp>
      <p:sp>
        <p:nvSpPr>
          <p:cNvPr id="610" name="Google Shape;610;p47"/>
          <p:cNvSpPr/>
          <p:nvPr/>
        </p:nvSpPr>
        <p:spPr>
          <a:xfrm>
            <a:off x="780224" y="4138745"/>
            <a:ext cx="3657600" cy="36576"/>
          </a:xfrm>
          <a:custGeom>
            <a:rect b="b" l="l" r="r" t="t"/>
            <a:pathLst>
              <a:path extrusionOk="0" h="73152" w="7315200">
                <a:moveTo>
                  <a:pt x="0" y="0"/>
                </a:moveTo>
                <a:lnTo>
                  <a:pt x="7315200" y="0"/>
                </a:lnTo>
                <a:lnTo>
                  <a:pt x="7315200" y="73152"/>
                </a:lnTo>
                <a:lnTo>
                  <a:pt x="0" y="73152"/>
                </a:lnTo>
                <a:lnTo>
                  <a:pt x="0" y="0"/>
                </a:lnTo>
                <a:close/>
              </a:path>
            </a:pathLst>
          </a:custGeom>
          <a:blipFill rotWithShape="1">
            <a:blip r:embed="rId7">
              <a:alphaModFix/>
            </a:blip>
            <a:stretch>
              <a:fillRect b="0" l="0" r="0" t="0"/>
            </a:stretch>
          </a:blipFill>
          <a:ln>
            <a:noFill/>
          </a:ln>
        </p:spPr>
      </p:sp>
      <p:sp>
        <p:nvSpPr>
          <p:cNvPr id="611" name="Google Shape;611;p47"/>
          <p:cNvSpPr/>
          <p:nvPr/>
        </p:nvSpPr>
        <p:spPr>
          <a:xfrm flipH="1" rot="5400000">
            <a:off x="4561767" y="3985887"/>
            <a:ext cx="399336" cy="378869"/>
          </a:xfrm>
          <a:custGeom>
            <a:rect b="b" l="l" r="r" t="t"/>
            <a:pathLst>
              <a:path extrusionOk="0" h="757739" w="798671">
                <a:moveTo>
                  <a:pt x="0" y="757739"/>
                </a:moveTo>
                <a:lnTo>
                  <a:pt x="798671" y="757739"/>
                </a:lnTo>
                <a:lnTo>
                  <a:pt x="798671" y="0"/>
                </a:lnTo>
                <a:lnTo>
                  <a:pt x="0" y="0"/>
                </a:lnTo>
                <a:lnTo>
                  <a:pt x="0" y="757739"/>
                </a:lnTo>
                <a:close/>
              </a:path>
            </a:pathLst>
          </a:custGeom>
          <a:blipFill rotWithShape="1">
            <a:blip r:embed="rId8">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