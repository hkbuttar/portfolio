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y="5143500" cx="9144000"/>
  <p:notesSz cx="6858000" cy="9144000"/>
  <p:embeddedFontLst>
    <p:embeddedFont>
      <p:font typeface="Libre Baskerville"/>
      <p:regular r:id="rId37"/>
      <p:bold r:id="rId38"/>
      <p:italic r:id="rId39"/>
      <p:boldItalic r:id="rId40"/>
    </p:embeddedFont>
    <p:embeddedFont>
      <p:font typeface="Martel Sans"/>
      <p:regular r:id="rId41"/>
      <p:bold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Aren Mizun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2CC8E5-6C95-467E-912A-38C3718EC678}">
  <a:tblStyle styleId="{C02CC8E5-6C95-467E-912A-38C3718EC67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ibreBaskerville-boldItalic.fntdata"/><Relationship Id="rId20" Type="http://schemas.openxmlformats.org/officeDocument/2006/relationships/slide" Target="slides/slide13.xml"/><Relationship Id="rId42" Type="http://schemas.openxmlformats.org/officeDocument/2006/relationships/font" Target="fonts/MartelSans-bold.fntdata"/><Relationship Id="rId41" Type="http://schemas.openxmlformats.org/officeDocument/2006/relationships/font" Target="fonts/MartelSans-regular.fntdata"/><Relationship Id="rId22" Type="http://schemas.openxmlformats.org/officeDocument/2006/relationships/slide" Target="slides/slide15.xml"/><Relationship Id="rId44" Type="http://schemas.openxmlformats.org/officeDocument/2006/relationships/font" Target="fonts/OpenSans-bold.fntdata"/><Relationship Id="rId21" Type="http://schemas.openxmlformats.org/officeDocument/2006/relationships/slide" Target="slides/slide14.xml"/><Relationship Id="rId43" Type="http://schemas.openxmlformats.org/officeDocument/2006/relationships/font" Target="fonts/OpenSans-regular.fntdata"/><Relationship Id="rId24" Type="http://schemas.openxmlformats.org/officeDocument/2006/relationships/slide" Target="slides/slide17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6.xml"/><Relationship Id="rId45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LibreBaskerville-regular.fntdata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font" Target="fonts/LibreBaskerville-italic.fntdata"/><Relationship Id="rId16" Type="http://schemas.openxmlformats.org/officeDocument/2006/relationships/slide" Target="slides/slide9.xml"/><Relationship Id="rId38" Type="http://schemas.openxmlformats.org/officeDocument/2006/relationships/font" Target="fonts/LibreBaskerville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7-20T03:27:58.956">
    <p:pos x="3766" y="1090"/>
    <p:text>change this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7-17T20:34:09.439">
    <p:pos x="1028" y="2409"/>
    <p:text>change...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7-17T20:31:52.640">
    <p:pos x="6000" y="0"/>
    <p:text>Change this slide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7-19T14:31:58.453">
    <p:pos x="2111" y="807"/>
    <p:text>might need to change based on covariates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Aren Mizuno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30f6cd61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30f6cd61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Aren Mizuno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30f6cd61a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30f6cd61a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Aren Mizuno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30f6cd61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30f6cd61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Aren Mizuno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30f6cd61a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30f6cd61a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Aren Mizuno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30f6cd61a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e30f6cd61a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30f6cd61a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e30f6cd61a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4971a269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4971a269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563947e0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f563947e0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Kevin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563947e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f563947e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Kevin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e30f6cd61a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e30f6cd61a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Kevin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30f6cd61a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e30f6cd61a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Harleen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562c05ba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f562c05ba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Harleen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5537bf225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g3f5537bf225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Harleen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e4d18a29fa_1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g3e4d18a29fa_1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Aren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e4d18a29fa_1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g3e4d18a29fa_1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Aren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f5537bf225_1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g3f5537bf225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Harleen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577bac1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f577bac1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Kevin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f565e76b5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2" name="Google Shape;622;g3f565e76b5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e4d18a29fa_5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e4d18a29fa_5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e4d18a29fa_5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g3e4d18a29fa_5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e4d18a29fa_5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3e4d18a29fa_5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f591296104_6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g3f591296104_6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f591296104_6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g3f591296104_6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f591296104_6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g3f591296104_6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f591296104_6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g3f591296104_6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f591296104_6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g3f591296104_6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f591296104_6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3f591296104_6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f591296104_6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g3f591296104_6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5" Type="http://schemas.openxmlformats.org/officeDocument/2006/relationships/image" Target="../media/image9.jpg"/><Relationship Id="rId6" Type="http://schemas.openxmlformats.org/officeDocument/2006/relationships/image" Target="../media/image13.png"/><Relationship Id="rId7" Type="http://schemas.openxmlformats.org/officeDocument/2006/relationships/image" Target="../media/image23.jpg"/><Relationship Id="rId8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1.xml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2.xml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3.xml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4.xml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hyperlink" Target="http://drive.google.com/file/d/1CqlHZbYtCN0DNWtkM6v0E1gnjfnaCj9d/view" TargetMode="External"/><Relationship Id="rId6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96125" y="1374800"/>
            <a:ext cx="50112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750"/>
              <a:buFont typeface="Libre Baskerville"/>
              <a:buNone/>
            </a:pPr>
            <a:r>
              <a:rPr lang="en" sz="275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Standardizing Accurate Revenue Forecasting for Affiliate Marketing</a:t>
            </a:r>
            <a:endParaRPr sz="275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496119" y="2967007"/>
            <a:ext cx="4722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Building Standardized</a:t>
            </a: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0" i="0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Scalable</a:t>
            </a: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, and Accurate </a:t>
            </a:r>
            <a:r>
              <a:rPr b="0" i="0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Forecasting Pipelines with Time Series Foundation Models and </a:t>
            </a: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Parameter-Efficient Fine-Tuning</a:t>
            </a:r>
            <a:endParaRPr b="0" i="0" sz="1100" u="none" cap="none" strike="noStrike"/>
          </a:p>
        </p:txBody>
      </p:sp>
      <p:sp>
        <p:nvSpPr>
          <p:cNvPr id="56" name="Google Shape;56;p13"/>
          <p:cNvSpPr/>
          <p:nvPr/>
        </p:nvSpPr>
        <p:spPr>
          <a:xfrm>
            <a:off x="496125" y="3580095"/>
            <a:ext cx="51801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1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Capstone Project · 202</a:t>
            </a:r>
            <a:r>
              <a:rPr i="1"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i="1"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i="1"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Harleen Buttar, Kevin Fan, Aren Mizuno, Kai Schindler </a:t>
            </a:r>
            <a:endParaRPr sz="1750">
              <a:solidFill>
                <a:srgbClr val="2C3249"/>
              </a:solidFill>
              <a:latin typeface="Martel Sans"/>
              <a:ea typeface="Martel Sans"/>
              <a:cs typeface="Martel Sans"/>
              <a:sym typeface="Martel Sans"/>
            </a:endParaRPr>
          </a:p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t/>
            </a:r>
            <a:endParaRPr sz="1750">
              <a:solidFill>
                <a:srgbClr val="2C3249"/>
              </a:solidFill>
              <a:latin typeface="Martel Sans"/>
              <a:ea typeface="Martel Sans"/>
              <a:cs typeface="Martel Sans"/>
              <a:sym typeface="Martel Sans"/>
            </a:endParaRPr>
          </a:p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t/>
            </a:r>
            <a:endParaRPr sz="1750">
              <a:solidFill>
                <a:srgbClr val="2C3249"/>
              </a:solidFill>
              <a:latin typeface="Martel Sans"/>
              <a:ea typeface="Martel Sans"/>
              <a:cs typeface="Martel Sans"/>
              <a:sym typeface="Martel San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i="1"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1"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7" name="Google Shape;57;p13" title="channels4_prof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7325" y="1701420"/>
            <a:ext cx="1265591" cy="1265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3347" y="1962158"/>
            <a:ext cx="1916103" cy="7472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3"/>
          <p:cNvCxnSpPr/>
          <p:nvPr/>
        </p:nvCxnSpPr>
        <p:spPr>
          <a:xfrm>
            <a:off x="6888882" y="2025406"/>
            <a:ext cx="0" cy="620700"/>
          </a:xfrm>
          <a:prstGeom prst="straightConnector1">
            <a:avLst/>
          </a:prstGeom>
          <a:noFill/>
          <a:ln cap="flat" cmpd="sng" w="136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146575" y="1237000"/>
            <a:ext cx="1498800" cy="15003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143357" y="156989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228412" y="199479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679212" y="152226"/>
            <a:ext cx="636000" cy="276000"/>
          </a:xfrm>
          <a:prstGeom prst="roundRect">
            <a:avLst>
              <a:gd fmla="val 6165" name="adj"/>
            </a:avLst>
          </a:prstGeom>
          <a:noFill/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281594" y="690932"/>
            <a:ext cx="4001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750"/>
              <a:buFont typeface="Libre Baskerville"/>
              <a:buNone/>
            </a:pPr>
            <a:r>
              <a:rPr b="0" i="0" lang="en" sz="275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Table of Contents</a:t>
            </a:r>
            <a:endParaRPr b="0" i="0" sz="2750" u="none" cap="none" strike="noStrike">
              <a:solidFill>
                <a:srgbClr val="8528CB"/>
              </a:solidFill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281594" y="1379770"/>
            <a:ext cx="7407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Libre Baskerville"/>
              <a:buNone/>
            </a:pP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01</a:t>
            </a:r>
            <a:endParaRPr b="0" i="0" sz="1500" u="none" cap="none" strike="noStrike"/>
          </a:p>
        </p:txBody>
      </p:sp>
      <p:sp>
        <p:nvSpPr>
          <p:cNvPr id="70" name="Google Shape;70;p14"/>
          <p:cNvSpPr/>
          <p:nvPr/>
        </p:nvSpPr>
        <p:spPr>
          <a:xfrm>
            <a:off x="226225" y="1722700"/>
            <a:ext cx="13395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Team Introduction</a:t>
            </a:r>
            <a:endParaRPr b="0" i="0" sz="1500" u="none" cap="none" strike="noStrike">
              <a:solidFill>
                <a:srgbClr val="49495A"/>
              </a:solidFill>
            </a:endParaRPr>
          </a:p>
        </p:txBody>
      </p:sp>
      <p:pic>
        <p:nvPicPr>
          <p:cNvPr descr="preencoded.png" id="71" name="Google Shape;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6076" y="1458898"/>
            <a:ext cx="2622724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558" y="1458898"/>
            <a:ext cx="2622724" cy="190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/>
          <p:nvPr/>
        </p:nvSpPr>
        <p:spPr>
          <a:xfrm>
            <a:off x="1386061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20929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279976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35066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213462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49203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562716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6334011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7040862" y="152214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7747712" y="152239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pic>
        <p:nvPicPr>
          <p:cNvPr id="83" name="Google Shape;83;p14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4" title="image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p14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4"/>
          <p:cNvSpPr/>
          <p:nvPr/>
        </p:nvSpPr>
        <p:spPr>
          <a:xfrm>
            <a:off x="1973250" y="1237000"/>
            <a:ext cx="1498800" cy="15003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3799925" y="1237000"/>
            <a:ext cx="1498800" cy="15003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5626600" y="1237000"/>
            <a:ext cx="1498800" cy="15003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7453275" y="1237000"/>
            <a:ext cx="1498800" cy="15003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128700" y="2968925"/>
            <a:ext cx="1498800" cy="15003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263719" y="3111695"/>
            <a:ext cx="7407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Libre Baskerville"/>
              <a:buNone/>
            </a:pP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</a:t>
            </a: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</a:t>
            </a:r>
            <a:endParaRPr b="0" i="0" sz="1500" u="none" cap="none" strike="noStrike"/>
          </a:p>
        </p:txBody>
      </p:sp>
      <p:sp>
        <p:nvSpPr>
          <p:cNvPr id="92" name="Google Shape;92;p14"/>
          <p:cNvSpPr/>
          <p:nvPr/>
        </p:nvSpPr>
        <p:spPr>
          <a:xfrm>
            <a:off x="3959225" y="1787025"/>
            <a:ext cx="11802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Business Problem</a:t>
            </a:r>
            <a:endParaRPr b="0" i="0" sz="1500" u="none" cap="none" strike="noStrike"/>
          </a:p>
        </p:txBody>
      </p:sp>
      <p:pic>
        <p:nvPicPr>
          <p:cNvPr descr="preencoded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8751" y="3190836"/>
            <a:ext cx="2622724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3233" y="3190836"/>
            <a:ext cx="2622724" cy="190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1955375" y="2968925"/>
            <a:ext cx="1498800" cy="15003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3782050" y="2968925"/>
            <a:ext cx="1498800" cy="15003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608725" y="2968925"/>
            <a:ext cx="1498800" cy="15003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435400" y="2968925"/>
            <a:ext cx="1498800" cy="15003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2092894" y="1379770"/>
            <a:ext cx="7407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Libre Baskerville"/>
              <a:buNone/>
            </a:pP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</a:t>
            </a: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b="0" i="0" sz="1500" u="none" cap="none" strike="noStrike"/>
          </a:p>
        </p:txBody>
      </p:sp>
      <p:sp>
        <p:nvSpPr>
          <p:cNvPr id="100" name="Google Shape;100;p14"/>
          <p:cNvSpPr/>
          <p:nvPr/>
        </p:nvSpPr>
        <p:spPr>
          <a:xfrm>
            <a:off x="3951719" y="1379770"/>
            <a:ext cx="7407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Libre Baskerville"/>
              <a:buNone/>
            </a:pP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</a:t>
            </a: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b="0" i="0" sz="1500" u="none" cap="none" strike="noStrike"/>
          </a:p>
        </p:txBody>
      </p:sp>
      <p:sp>
        <p:nvSpPr>
          <p:cNvPr id="101" name="Google Shape;101;p14"/>
          <p:cNvSpPr/>
          <p:nvPr/>
        </p:nvSpPr>
        <p:spPr>
          <a:xfrm>
            <a:off x="5810544" y="1379770"/>
            <a:ext cx="7407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Libre Baskerville"/>
              <a:buNone/>
            </a:pP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</a:t>
            </a: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endParaRPr b="0" i="0" sz="1500" u="none" cap="none" strike="noStrike"/>
          </a:p>
        </p:txBody>
      </p:sp>
      <p:sp>
        <p:nvSpPr>
          <p:cNvPr id="102" name="Google Shape;102;p14"/>
          <p:cNvSpPr/>
          <p:nvPr/>
        </p:nvSpPr>
        <p:spPr>
          <a:xfrm>
            <a:off x="7621844" y="1379770"/>
            <a:ext cx="7407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05</a:t>
            </a:r>
            <a:endParaRPr b="0" i="0" sz="1500" u="none" cap="none" strike="noStrike"/>
          </a:p>
        </p:txBody>
      </p:sp>
      <p:sp>
        <p:nvSpPr>
          <p:cNvPr id="103" name="Google Shape;103;p14"/>
          <p:cNvSpPr/>
          <p:nvPr/>
        </p:nvSpPr>
        <p:spPr>
          <a:xfrm>
            <a:off x="2040544" y="3111695"/>
            <a:ext cx="7407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Libre Baskerville"/>
              <a:buNone/>
            </a:pP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</a:t>
            </a: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7</a:t>
            </a:r>
            <a:endParaRPr b="0" i="0" sz="1500" u="none" cap="none" strike="noStrike"/>
          </a:p>
        </p:txBody>
      </p:sp>
      <p:sp>
        <p:nvSpPr>
          <p:cNvPr id="104" name="Google Shape;104;p14"/>
          <p:cNvSpPr/>
          <p:nvPr/>
        </p:nvSpPr>
        <p:spPr>
          <a:xfrm>
            <a:off x="3936882" y="3111695"/>
            <a:ext cx="7407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Libre Baskerville"/>
              <a:buNone/>
            </a:pP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</a:t>
            </a: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8</a:t>
            </a:r>
            <a:endParaRPr b="0" i="0" sz="1500" u="none" cap="none" strike="noStrike"/>
          </a:p>
        </p:txBody>
      </p:sp>
      <p:sp>
        <p:nvSpPr>
          <p:cNvPr id="105" name="Google Shape;105;p14"/>
          <p:cNvSpPr/>
          <p:nvPr/>
        </p:nvSpPr>
        <p:spPr>
          <a:xfrm>
            <a:off x="5772007" y="3111695"/>
            <a:ext cx="7407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Libre Baskerville"/>
              <a:buNone/>
            </a:pP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</a:t>
            </a: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9</a:t>
            </a:r>
            <a:endParaRPr b="0" i="0" sz="1500" u="none" cap="none" strike="noStrike"/>
          </a:p>
        </p:txBody>
      </p:sp>
      <p:sp>
        <p:nvSpPr>
          <p:cNvPr id="106" name="Google Shape;106;p14"/>
          <p:cNvSpPr/>
          <p:nvPr/>
        </p:nvSpPr>
        <p:spPr>
          <a:xfrm>
            <a:off x="7607132" y="3111695"/>
            <a:ext cx="7407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10</a:t>
            </a:r>
            <a:endParaRPr b="0" i="0" sz="1500" u="none" cap="none" strike="noStrike"/>
          </a:p>
        </p:txBody>
      </p:sp>
      <p:sp>
        <p:nvSpPr>
          <p:cNvPr id="107" name="Google Shape;107;p14"/>
          <p:cNvSpPr/>
          <p:nvPr/>
        </p:nvSpPr>
        <p:spPr>
          <a:xfrm>
            <a:off x="2062050" y="1722700"/>
            <a:ext cx="13212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Company </a:t>
            </a: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Background</a:t>
            </a:r>
            <a:endParaRPr b="0" i="0" sz="1500" u="none" cap="none" strike="noStrike"/>
          </a:p>
        </p:txBody>
      </p:sp>
      <p:sp>
        <p:nvSpPr>
          <p:cNvPr id="108" name="Google Shape;108;p14"/>
          <p:cNvSpPr/>
          <p:nvPr/>
        </p:nvSpPr>
        <p:spPr>
          <a:xfrm>
            <a:off x="5785900" y="1787025"/>
            <a:ext cx="11802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Goal of Analysis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t/>
            </a:r>
            <a:endParaRPr sz="1500"/>
          </a:p>
        </p:txBody>
      </p:sp>
      <p:sp>
        <p:nvSpPr>
          <p:cNvPr id="109" name="Google Shape;109;p14"/>
          <p:cNvSpPr/>
          <p:nvPr/>
        </p:nvSpPr>
        <p:spPr>
          <a:xfrm>
            <a:off x="7532925" y="1787025"/>
            <a:ext cx="13212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Deliverables</a:t>
            </a:r>
            <a:endParaRPr sz="1500"/>
          </a:p>
        </p:txBody>
      </p:sp>
      <p:sp>
        <p:nvSpPr>
          <p:cNvPr id="110" name="Google Shape;110;p14"/>
          <p:cNvSpPr/>
          <p:nvPr/>
        </p:nvSpPr>
        <p:spPr>
          <a:xfrm>
            <a:off x="288000" y="3454638"/>
            <a:ext cx="11802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Literature Review</a:t>
            </a:r>
            <a:endParaRPr sz="1500"/>
          </a:p>
        </p:txBody>
      </p:sp>
      <p:sp>
        <p:nvSpPr>
          <p:cNvPr id="111" name="Google Shape;111;p14"/>
          <p:cNvSpPr/>
          <p:nvPr/>
        </p:nvSpPr>
        <p:spPr>
          <a:xfrm>
            <a:off x="2035025" y="3454638"/>
            <a:ext cx="11802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</a:t>
            </a:r>
            <a:endParaRPr sz="1500"/>
          </a:p>
        </p:txBody>
      </p:sp>
      <p:sp>
        <p:nvSpPr>
          <p:cNvPr id="112" name="Google Shape;112;p14"/>
          <p:cNvSpPr/>
          <p:nvPr/>
        </p:nvSpPr>
        <p:spPr>
          <a:xfrm>
            <a:off x="3941350" y="3454638"/>
            <a:ext cx="11802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Modeling Analysis</a:t>
            </a:r>
            <a:endParaRPr sz="1500"/>
          </a:p>
        </p:txBody>
      </p:sp>
      <p:sp>
        <p:nvSpPr>
          <p:cNvPr id="113" name="Google Shape;113;p14"/>
          <p:cNvSpPr/>
          <p:nvPr/>
        </p:nvSpPr>
        <p:spPr>
          <a:xfrm>
            <a:off x="5768025" y="3454638"/>
            <a:ext cx="11802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Results</a:t>
            </a:r>
            <a:endParaRPr sz="1500"/>
          </a:p>
        </p:txBody>
      </p:sp>
      <p:sp>
        <p:nvSpPr>
          <p:cNvPr id="114" name="Google Shape;114;p14"/>
          <p:cNvSpPr/>
          <p:nvPr/>
        </p:nvSpPr>
        <p:spPr>
          <a:xfrm>
            <a:off x="7641225" y="3454638"/>
            <a:ext cx="11802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Final Takeaway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/>
          <p:nvPr/>
        </p:nvSpPr>
        <p:spPr>
          <a:xfrm>
            <a:off x="4728925" y="3222563"/>
            <a:ext cx="1849200" cy="14496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143357" y="156989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228412" y="199479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792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1386050" y="152200"/>
            <a:ext cx="1341300" cy="276000"/>
          </a:xfrm>
          <a:prstGeom prst="roundRect">
            <a:avLst>
              <a:gd fmla="val 6165" name="adj"/>
            </a:avLst>
          </a:prstGeom>
          <a:noFill/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TEAM INTRODUCTION</a:t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27982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350506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370294" y="639574"/>
            <a:ext cx="4001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750"/>
              <a:buFont typeface="Libre Baskerville"/>
              <a:buNone/>
            </a:pPr>
            <a:r>
              <a:rPr b="0" i="0" lang="en" sz="275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Meet the Team</a:t>
            </a:r>
            <a:endParaRPr b="0" i="0" sz="2750" u="none" cap="none" strike="noStrike">
              <a:solidFill>
                <a:srgbClr val="8528CB"/>
              </a:solidFill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82048" y="2919125"/>
            <a:ext cx="13413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3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Harleen Buttar</a:t>
            </a:r>
            <a:endParaRPr b="0" i="0" sz="1350" u="none" cap="none" strike="noStrike"/>
          </a:p>
        </p:txBody>
      </p:sp>
      <p:sp>
        <p:nvSpPr>
          <p:cNvPr id="129" name="Google Shape;129;p15"/>
          <p:cNvSpPr/>
          <p:nvPr/>
        </p:nvSpPr>
        <p:spPr>
          <a:xfrm>
            <a:off x="3020524" y="2941625"/>
            <a:ext cx="9192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3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Kevin Fan</a:t>
            </a:r>
            <a:endParaRPr b="0" i="0" sz="1350" u="none" cap="none" strike="noStrike"/>
          </a:p>
        </p:txBody>
      </p:sp>
      <p:sp>
        <p:nvSpPr>
          <p:cNvPr id="130" name="Google Shape;130;p15"/>
          <p:cNvSpPr/>
          <p:nvPr/>
        </p:nvSpPr>
        <p:spPr>
          <a:xfrm>
            <a:off x="5060726" y="2952649"/>
            <a:ext cx="11856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3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Aren Mizuno</a:t>
            </a:r>
            <a:endParaRPr b="0" i="0" sz="1350" u="none" cap="none" strike="noStrike"/>
          </a:p>
        </p:txBody>
      </p:sp>
      <p:sp>
        <p:nvSpPr>
          <p:cNvPr id="131" name="Google Shape;131;p15"/>
          <p:cNvSpPr/>
          <p:nvPr/>
        </p:nvSpPr>
        <p:spPr>
          <a:xfrm>
            <a:off x="4656675" y="3299188"/>
            <a:ext cx="18183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MS Applied Data Science, UChicago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BA Data Science &amp; Business Economics, UChicago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Data Science Intern, Actelligent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Data Science Intern, Morningstar</a:t>
            </a:r>
            <a:endParaRPr sz="7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7261328" y="2957437"/>
            <a:ext cx="12297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3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Kai Schindler</a:t>
            </a:r>
            <a:endParaRPr b="0" i="0" sz="1350" u="none" cap="none" strike="noStrike"/>
          </a:p>
        </p:txBody>
      </p:sp>
      <p:pic>
        <p:nvPicPr>
          <p:cNvPr id="133" name="Google Shape;133;p15" title="headshot.jpg"/>
          <p:cNvPicPr preferRelativeResize="0"/>
          <p:nvPr/>
        </p:nvPicPr>
        <p:blipFill rotWithShape="1">
          <a:blip r:embed="rId4">
            <a:alphaModFix/>
          </a:blip>
          <a:srcRect b="60" l="0" r="0" t="60"/>
          <a:stretch/>
        </p:blipFill>
        <p:spPr>
          <a:xfrm>
            <a:off x="4923375" y="1351467"/>
            <a:ext cx="1496400" cy="1494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4" name="Google Shape;134;p15" title="1757438911229.jpeg"/>
          <p:cNvPicPr preferRelativeResize="0"/>
          <p:nvPr/>
        </p:nvPicPr>
        <p:blipFill rotWithShape="1">
          <a:blip r:embed="rId5">
            <a:alphaModFix/>
          </a:blip>
          <a:srcRect b="60" l="0" r="0" t="60"/>
          <a:stretch/>
        </p:blipFill>
        <p:spPr>
          <a:xfrm>
            <a:off x="604500" y="1341275"/>
            <a:ext cx="1496400" cy="1494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5" name="Google Shape;135;p15"/>
          <p:cNvSpPr/>
          <p:nvPr/>
        </p:nvSpPr>
        <p:spPr>
          <a:xfrm>
            <a:off x="4211912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4918762" y="152214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5625612" y="152214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6332461" y="152189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039312" y="152189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7746162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8453012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2578513" y="3224975"/>
            <a:ext cx="1849200" cy="14496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2506263" y="3301600"/>
            <a:ext cx="18183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MS Applied Data Science, UChicago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BS Data Science &amp; Economics, UC Berkeley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Academic Intern, UC Berkeley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428100" y="3223775"/>
            <a:ext cx="1849200" cy="14496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355850" y="3300400"/>
            <a:ext cx="18183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MS Applied Data Science, UChicago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BS Data Science UChicago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Data Science Project Manager, CharacTour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Data Science Team Member, Internet Equity Initiative</a:t>
            </a:r>
            <a:endParaRPr sz="7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6" name="Google Shape;146;p15" title="channels4_profil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15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15"/>
          <p:cNvSpPr/>
          <p:nvPr/>
        </p:nvSpPr>
        <p:spPr>
          <a:xfrm>
            <a:off x="6951575" y="3222575"/>
            <a:ext cx="1849200" cy="14496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6879325" y="3299200"/>
            <a:ext cx="18183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MS Applied Data Science, UChicago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BA Mathematics, UChicago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Data Science Intern, CharacTour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0" name="Google Shape;150;p15"/>
          <p:cNvPicPr preferRelativeResize="0"/>
          <p:nvPr/>
        </p:nvPicPr>
        <p:blipFill rotWithShape="1">
          <a:blip r:embed="rId7">
            <a:alphaModFix/>
          </a:blip>
          <a:srcRect b="0" l="0" r="0" t="21606"/>
          <a:stretch/>
        </p:blipFill>
        <p:spPr>
          <a:xfrm>
            <a:off x="7114175" y="1345675"/>
            <a:ext cx="1432200" cy="1494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1" name="Google Shape;151;p15" title="05.jpg"/>
          <p:cNvPicPr preferRelativeResize="0"/>
          <p:nvPr/>
        </p:nvPicPr>
        <p:blipFill rotWithShape="1">
          <a:blip r:embed="rId8">
            <a:alphaModFix/>
          </a:blip>
          <a:srcRect b="16197" l="-5779" r="-5779" t="-2860"/>
          <a:stretch/>
        </p:blipFill>
        <p:spPr>
          <a:xfrm>
            <a:off x="2798200" y="1294017"/>
            <a:ext cx="1496400" cy="1494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/>
          <p:nvPr/>
        </p:nvSpPr>
        <p:spPr>
          <a:xfrm>
            <a:off x="143357" y="156989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228412" y="199479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792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1386061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092900" y="152225"/>
            <a:ext cx="973800" cy="2760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 sz="850">
              <a:solidFill>
                <a:srgbClr val="8528C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228400" y="755875"/>
            <a:ext cx="88548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050"/>
              <a:buFont typeface="Libre Baskerville"/>
              <a:buNone/>
            </a:pPr>
            <a:r>
              <a:rPr lang="en" sz="275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Forecasting Matters at Rakuten Marketing </a:t>
            </a:r>
            <a:endParaRPr b="0" i="0" sz="2050" u="none" cap="none" strike="noStrike"/>
          </a:p>
        </p:txBody>
      </p:sp>
      <p:sp>
        <p:nvSpPr>
          <p:cNvPr id="162" name="Google Shape;162;p16"/>
          <p:cNvSpPr/>
          <p:nvPr/>
        </p:nvSpPr>
        <p:spPr>
          <a:xfrm>
            <a:off x="228405" y="1619675"/>
            <a:ext cx="2965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rPr b="0" i="0" lang="en" sz="18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Affiliate Network</a:t>
            </a:r>
            <a:endParaRPr b="0" i="0" sz="1800" u="none" cap="none" strike="noStrike">
              <a:solidFill>
                <a:srgbClr val="8528CB"/>
              </a:solidFill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228405" y="2061952"/>
            <a:ext cx="3610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Rakuten operates a </a:t>
            </a:r>
            <a:r>
              <a:rPr b="1" i="0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global affiliate advertising network</a:t>
            </a:r>
            <a:r>
              <a:rPr b="0" i="0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, connecting brands with affiliate marketers and publishers across key verticals:</a:t>
            </a:r>
            <a:endParaRPr b="0" i="0" sz="1100" u="none" cap="none" strike="noStrike"/>
          </a:p>
        </p:txBody>
      </p:sp>
      <p:sp>
        <p:nvSpPr>
          <p:cNvPr id="164" name="Google Shape;164;p16"/>
          <p:cNvSpPr/>
          <p:nvPr/>
        </p:nvSpPr>
        <p:spPr>
          <a:xfrm>
            <a:off x="4243657" y="1619675"/>
            <a:ext cx="41733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rPr lang="en" sz="18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Accurate Forecasting Matters</a:t>
            </a:r>
            <a:endParaRPr b="0" i="0" sz="1000" u="none" cap="none" strike="noStrike">
              <a:solidFill>
                <a:srgbClr val="8528CB"/>
              </a:solidFill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4277975" y="2133875"/>
            <a:ext cx="39729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Revenue forecasts protect</a:t>
            </a: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 revenue and </a:t>
            </a:r>
            <a:r>
              <a:rPr b="0" i="0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drives critical business decisions:</a:t>
            </a:r>
            <a:endParaRPr b="0" i="0" sz="1100" u="none" cap="none" strike="noStrike"/>
          </a:p>
        </p:txBody>
      </p:sp>
      <p:sp>
        <p:nvSpPr>
          <p:cNvPr id="166" name="Google Shape;166;p16"/>
          <p:cNvSpPr/>
          <p:nvPr/>
        </p:nvSpPr>
        <p:spPr>
          <a:xfrm>
            <a:off x="4746363" y="2813966"/>
            <a:ext cx="3114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Libre Baskerville"/>
              <a:buNone/>
            </a:pPr>
            <a:r>
              <a:rPr b="0" i="0" lang="en" sz="10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Revenue Target Setting</a:t>
            </a:r>
            <a:endParaRPr b="0" i="0" sz="1000" u="none" cap="none" strike="noStrike"/>
          </a:p>
        </p:txBody>
      </p:sp>
      <p:sp>
        <p:nvSpPr>
          <p:cNvPr id="167" name="Google Shape;167;p16"/>
          <p:cNvSpPr/>
          <p:nvPr/>
        </p:nvSpPr>
        <p:spPr>
          <a:xfrm>
            <a:off x="4746363" y="3295648"/>
            <a:ext cx="30810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Libre Baskerville"/>
              <a:buNone/>
            </a:pPr>
            <a:r>
              <a:rPr b="0" i="0" lang="en" sz="10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Advertising Budget Allocation</a:t>
            </a:r>
            <a:endParaRPr b="0" i="0" sz="1000" u="none" cap="none" strike="noStrike"/>
          </a:p>
        </p:txBody>
      </p:sp>
      <p:sp>
        <p:nvSpPr>
          <p:cNvPr id="168" name="Google Shape;168;p16"/>
          <p:cNvSpPr/>
          <p:nvPr/>
        </p:nvSpPr>
        <p:spPr>
          <a:xfrm>
            <a:off x="4746363" y="3787302"/>
            <a:ext cx="30810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Libre Baskerville"/>
              <a:buNone/>
            </a:pPr>
            <a:r>
              <a:rPr b="0" i="0" lang="en" sz="10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Campaign Timing &amp; Planning</a:t>
            </a:r>
            <a:endParaRPr b="0" i="0" sz="1000" u="none" cap="none" strike="noStrike"/>
          </a:p>
        </p:txBody>
      </p:sp>
      <p:sp>
        <p:nvSpPr>
          <p:cNvPr id="169" name="Google Shape;169;p16"/>
          <p:cNvSpPr/>
          <p:nvPr/>
        </p:nvSpPr>
        <p:spPr>
          <a:xfrm>
            <a:off x="4746363" y="4278956"/>
            <a:ext cx="33891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Libre Baskerville"/>
              <a:buNone/>
            </a:pPr>
            <a:r>
              <a:rPr b="0" i="0" lang="en" sz="10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Affiliate Partner Selection</a:t>
            </a:r>
            <a:endParaRPr b="0" i="0" sz="1000" u="none" cap="none" strike="noStrike"/>
          </a:p>
        </p:txBody>
      </p:sp>
      <p:sp>
        <p:nvSpPr>
          <p:cNvPr id="170" name="Google Shape;170;p16"/>
          <p:cNvSpPr/>
          <p:nvPr/>
        </p:nvSpPr>
        <p:spPr>
          <a:xfrm>
            <a:off x="313756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3844412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4551262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5258112" y="152214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5964962" y="152189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6671812" y="152189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7378662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8085512" y="15217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420525" y="2933238"/>
            <a:ext cx="1157700" cy="5232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Luxury Brand Retail</a:t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1843750" y="2933238"/>
            <a:ext cx="1157700" cy="5232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Luxury Department Retail</a:t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420525" y="3638963"/>
            <a:ext cx="1157700" cy="5232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Travel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1843750" y="3638963"/>
            <a:ext cx="1157700" cy="5232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Finance</a:t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4277975" y="2813975"/>
            <a:ext cx="289200" cy="11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BFAFF"/>
          </a:solidFill>
          <a:ln cap="flat" cmpd="sng" w="952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4277975" y="3295650"/>
            <a:ext cx="289200" cy="11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BFAFF"/>
          </a:solidFill>
          <a:ln cap="flat" cmpd="sng" w="952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4277975" y="3842675"/>
            <a:ext cx="289200" cy="11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BFAFF"/>
          </a:solidFill>
          <a:ln cap="flat" cmpd="sng" w="952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6"/>
          <p:cNvSpPr/>
          <p:nvPr/>
        </p:nvSpPr>
        <p:spPr>
          <a:xfrm>
            <a:off x="4277975" y="4304150"/>
            <a:ext cx="289200" cy="11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BFAFF"/>
          </a:solidFill>
          <a:ln cap="flat" cmpd="sng" w="952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16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6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16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/>
          <p:nvPr/>
        </p:nvSpPr>
        <p:spPr>
          <a:xfrm>
            <a:off x="143357" y="156989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228412" y="199479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6792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1386061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2799750" y="141425"/>
            <a:ext cx="1218000" cy="2976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BUSINESS PROBLEM</a:t>
            </a:r>
            <a:endParaRPr sz="850">
              <a:solidFill>
                <a:srgbClr val="8528C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180425" y="632200"/>
            <a:ext cx="89028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500"/>
              <a:buFont typeface="Libre Baskerville"/>
              <a:buNone/>
            </a:pPr>
            <a:r>
              <a:rPr lang="en" sz="275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Need for a Standardized Forecasting Pipeline</a:t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050"/>
              <a:buFont typeface="Libre Baskerville"/>
              <a:buNone/>
            </a:pPr>
            <a:r>
              <a:t/>
            </a:r>
            <a:endParaRPr sz="2050">
              <a:solidFill>
                <a:srgbClr val="403CC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20929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4088612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4795462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449600" y="1222175"/>
            <a:ext cx="3568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250"/>
              <a:buFont typeface="Libre Baskerville"/>
              <a:buNone/>
            </a:pPr>
            <a:r>
              <a:rPr lang="en" sz="16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Current Process Challenges</a:t>
            </a:r>
            <a:endParaRPr b="0" i="0" sz="1050" u="none" cap="none" strike="noStrike"/>
          </a:p>
        </p:txBody>
      </p:sp>
      <p:sp>
        <p:nvSpPr>
          <p:cNvPr id="203" name="Google Shape;203;p17"/>
          <p:cNvSpPr/>
          <p:nvPr/>
        </p:nvSpPr>
        <p:spPr>
          <a:xfrm>
            <a:off x="449610" y="1597447"/>
            <a:ext cx="2670600" cy="13443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7"/>
          <p:cNvSpPr/>
          <p:nvPr/>
        </p:nvSpPr>
        <p:spPr>
          <a:xfrm>
            <a:off x="572213" y="1759975"/>
            <a:ext cx="25704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50"/>
              <a:buFont typeface="Libre Baskerville"/>
              <a:buNone/>
            </a:pPr>
            <a:r>
              <a:rPr b="0" i="0" lang="en" sz="12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Manual Monthly Adjustments</a:t>
            </a:r>
            <a:endParaRPr b="0" i="0" sz="1250" u="none" cap="none" strike="noStrike"/>
          </a:p>
        </p:txBody>
      </p:sp>
      <p:sp>
        <p:nvSpPr>
          <p:cNvPr id="205" name="Google Shape;205;p17"/>
          <p:cNvSpPr/>
          <p:nvPr/>
        </p:nvSpPr>
        <p:spPr>
          <a:xfrm>
            <a:off x="592248" y="2010663"/>
            <a:ext cx="23424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Open Sans"/>
              <a:buNone/>
            </a:pPr>
            <a:r>
              <a:rPr lang="en" sz="1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Forecasts are manually revised each month with no scalable or repeatable framework, resulting in high revision costs</a:t>
            </a:r>
            <a:endParaRPr b="0" i="0" sz="1000" u="none" cap="none" strike="noStrike"/>
          </a:p>
        </p:txBody>
      </p:sp>
      <p:sp>
        <p:nvSpPr>
          <p:cNvPr id="206" name="Google Shape;206;p17"/>
          <p:cNvSpPr/>
          <p:nvPr/>
        </p:nvSpPr>
        <p:spPr>
          <a:xfrm>
            <a:off x="3236640" y="1597447"/>
            <a:ext cx="2670600" cy="13443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3422228" y="1740173"/>
            <a:ext cx="25704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50"/>
              <a:buFont typeface="Libre Baskerville"/>
              <a:buNone/>
            </a:pPr>
            <a:r>
              <a:rPr lang="en" sz="12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Client Pressure</a:t>
            </a:r>
            <a:endParaRPr b="0" i="0" sz="1250" u="none" cap="none" strike="noStrike"/>
          </a:p>
        </p:txBody>
      </p:sp>
      <p:sp>
        <p:nvSpPr>
          <p:cNvPr id="208" name="Google Shape;208;p17"/>
          <p:cNvSpPr/>
          <p:nvPr/>
        </p:nvSpPr>
        <p:spPr>
          <a:xfrm>
            <a:off x="3422228" y="2010668"/>
            <a:ext cx="23424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Open Sans"/>
              <a:buNone/>
            </a:pPr>
            <a:r>
              <a:rPr lang="en" sz="1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Clients frequently adjust company-specific assumptions, and inaccurate forecasts can reduce client satisfaction and trust</a:t>
            </a:r>
            <a:endParaRPr b="0" i="0" sz="1000" u="none" cap="none" strike="noStrike"/>
          </a:p>
        </p:txBody>
      </p:sp>
      <p:sp>
        <p:nvSpPr>
          <p:cNvPr id="209" name="Google Shape;209;p17"/>
          <p:cNvSpPr/>
          <p:nvPr/>
        </p:nvSpPr>
        <p:spPr>
          <a:xfrm>
            <a:off x="6023670" y="1597447"/>
            <a:ext cx="2670600" cy="13443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6168650" y="1759975"/>
            <a:ext cx="2385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50"/>
              <a:buFont typeface="Libre Baskerville"/>
              <a:buNone/>
            </a:pPr>
            <a:r>
              <a:rPr lang="en" sz="12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Vertical-level Modeling Gaps</a:t>
            </a:r>
            <a:endParaRPr b="0" i="0" sz="1250" u="none" cap="none" strike="noStrike"/>
          </a:p>
        </p:txBody>
      </p:sp>
      <p:sp>
        <p:nvSpPr>
          <p:cNvPr id="211" name="Google Shape;211;p17"/>
          <p:cNvSpPr/>
          <p:nvPr/>
        </p:nvSpPr>
        <p:spPr>
          <a:xfrm>
            <a:off x="6209258" y="2072663"/>
            <a:ext cx="2342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Open Sans"/>
              <a:buNone/>
            </a:pPr>
            <a:r>
              <a:rPr lang="en" sz="1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Companies within the same vertical often share trends and behaviors, but these relationships are not currently leveraged in forecasting models</a:t>
            </a:r>
            <a:endParaRPr b="0" i="0" sz="1000" u="none" cap="none" strike="noStrike"/>
          </a:p>
        </p:txBody>
      </p:sp>
      <p:sp>
        <p:nvSpPr>
          <p:cNvPr id="212" name="Google Shape;212;p17"/>
          <p:cNvSpPr/>
          <p:nvPr/>
        </p:nvSpPr>
        <p:spPr>
          <a:xfrm>
            <a:off x="474585" y="3039836"/>
            <a:ext cx="33387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250"/>
              <a:buFont typeface="Libre Baskerville"/>
              <a:buNone/>
            </a:pPr>
            <a:r>
              <a:rPr lang="en" sz="16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Operational Cost</a:t>
            </a:r>
            <a:endParaRPr b="0" i="0" sz="1250" u="none" cap="none" strike="noStrike"/>
          </a:p>
        </p:txBody>
      </p:sp>
      <p:sp>
        <p:nvSpPr>
          <p:cNvPr id="213" name="Google Shape;213;p17"/>
          <p:cNvSpPr/>
          <p:nvPr/>
        </p:nvSpPr>
        <p:spPr>
          <a:xfrm>
            <a:off x="2433485" y="3488200"/>
            <a:ext cx="21807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3300"/>
              <a:buFont typeface="Libre Baskerville"/>
              <a:buNone/>
            </a:pPr>
            <a:r>
              <a:rPr b="0" i="0" lang="en" sz="33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6hrs</a:t>
            </a:r>
            <a:endParaRPr b="0" i="0" sz="3300" u="none" cap="none" strike="noStrike"/>
          </a:p>
        </p:txBody>
      </p:sp>
      <p:sp>
        <p:nvSpPr>
          <p:cNvPr id="214" name="Google Shape;214;p17"/>
          <p:cNvSpPr/>
          <p:nvPr/>
        </p:nvSpPr>
        <p:spPr>
          <a:xfrm>
            <a:off x="2606497" y="4063644"/>
            <a:ext cx="18345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50"/>
              <a:buFont typeface="Libre Baskerville"/>
              <a:buNone/>
            </a:pPr>
            <a:r>
              <a:rPr b="0" i="0" lang="en" sz="12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Per Forecast</a:t>
            </a:r>
            <a:endParaRPr b="0" i="0" sz="1250" u="none" cap="none" strike="noStrike"/>
          </a:p>
        </p:txBody>
      </p:sp>
      <p:sp>
        <p:nvSpPr>
          <p:cNvPr id="215" name="Google Shape;215;p17"/>
          <p:cNvSpPr/>
          <p:nvPr/>
        </p:nvSpPr>
        <p:spPr>
          <a:xfrm>
            <a:off x="312344" y="3488188"/>
            <a:ext cx="21807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3300"/>
              <a:buFont typeface="Libre Baskerville"/>
              <a:buNone/>
            </a:pPr>
            <a:r>
              <a:rPr b="0" i="0" lang="en" sz="33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400</a:t>
            </a:r>
            <a:endParaRPr b="0" i="0" sz="3300" u="none" cap="none" strike="noStrike"/>
          </a:p>
        </p:txBody>
      </p:sp>
      <p:sp>
        <p:nvSpPr>
          <p:cNvPr id="216" name="Google Shape;216;p17"/>
          <p:cNvSpPr/>
          <p:nvPr/>
        </p:nvSpPr>
        <p:spPr>
          <a:xfrm>
            <a:off x="485431" y="4063632"/>
            <a:ext cx="18345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50"/>
              <a:buFont typeface="Libre Baskerville"/>
              <a:buNone/>
            </a:pPr>
            <a:r>
              <a:rPr b="0" i="0" lang="en" sz="12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Forecasts / </a:t>
            </a:r>
            <a:r>
              <a:rPr lang="en" sz="12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Month</a:t>
            </a:r>
            <a:endParaRPr b="0" i="0" sz="1250" u="none" cap="none" strike="noStrike"/>
          </a:p>
        </p:txBody>
      </p:sp>
      <p:sp>
        <p:nvSpPr>
          <p:cNvPr id="217" name="Google Shape;217;p17"/>
          <p:cNvSpPr/>
          <p:nvPr/>
        </p:nvSpPr>
        <p:spPr>
          <a:xfrm>
            <a:off x="4441078" y="3479325"/>
            <a:ext cx="21807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3300"/>
              <a:buFont typeface="Libre Baskerville"/>
              <a:buNone/>
            </a:pPr>
            <a:r>
              <a:rPr b="0" i="0" lang="en" sz="33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$75</a:t>
            </a:r>
            <a:endParaRPr b="0" i="0" sz="3300" u="none" cap="none" strike="noStrike"/>
          </a:p>
        </p:txBody>
      </p:sp>
      <p:sp>
        <p:nvSpPr>
          <p:cNvPr id="218" name="Google Shape;218;p17"/>
          <p:cNvSpPr/>
          <p:nvPr/>
        </p:nvSpPr>
        <p:spPr>
          <a:xfrm>
            <a:off x="4614165" y="4054769"/>
            <a:ext cx="18345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50"/>
              <a:buFont typeface="Libre Baskerville"/>
              <a:buNone/>
            </a:pPr>
            <a:r>
              <a:rPr b="0" i="0" lang="en" sz="12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Labor Cost / Hr</a:t>
            </a:r>
            <a:endParaRPr b="0" i="0" sz="1250" u="none" cap="none" strike="noStrike"/>
          </a:p>
        </p:txBody>
      </p:sp>
      <p:sp>
        <p:nvSpPr>
          <p:cNvPr id="219" name="Google Shape;219;p17"/>
          <p:cNvSpPr/>
          <p:nvPr/>
        </p:nvSpPr>
        <p:spPr>
          <a:xfrm>
            <a:off x="6538661" y="3479325"/>
            <a:ext cx="21807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3300"/>
              <a:buFont typeface="Libre Baskerville"/>
              <a:buNone/>
            </a:pPr>
            <a:r>
              <a:rPr b="0" i="0" lang="en" sz="33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$2.16M</a:t>
            </a:r>
            <a:endParaRPr b="0" i="0" sz="3300" u="none" cap="none" strike="noStrike">
              <a:solidFill>
                <a:srgbClr val="8528CB"/>
              </a:solidFill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6711748" y="4054769"/>
            <a:ext cx="18345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50"/>
              <a:buFont typeface="Libre Baskerville"/>
              <a:buNone/>
            </a:pPr>
            <a:r>
              <a:rPr b="0" i="0" lang="en" sz="125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Annual Cost</a:t>
            </a:r>
            <a:endParaRPr b="0" i="0" sz="1250" u="none" cap="none" strike="noStrike">
              <a:solidFill>
                <a:srgbClr val="8528CB"/>
              </a:solidFill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474585" y="4407033"/>
            <a:ext cx="86943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Open Sans"/>
              <a:buNone/>
            </a:pPr>
            <a:r>
              <a:rPr lang="en" sz="1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400 forecasts × 12 months × </a:t>
            </a:r>
            <a:r>
              <a:rPr b="0" i="0" lang="en" sz="10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6 hrs × $75/hr = </a:t>
            </a:r>
            <a:r>
              <a:rPr b="1" i="0" lang="en" sz="10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$2.16M annually</a:t>
            </a:r>
            <a:r>
              <a:rPr b="0" i="0" lang="en" sz="10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in forecasting labor</a:t>
            </a:r>
            <a:endParaRPr b="0" i="0" sz="1000" u="none" cap="none" strike="noStrike"/>
          </a:p>
        </p:txBody>
      </p:sp>
      <p:sp>
        <p:nvSpPr>
          <p:cNvPr id="222" name="Google Shape;222;p17"/>
          <p:cNvSpPr/>
          <p:nvPr/>
        </p:nvSpPr>
        <p:spPr>
          <a:xfrm>
            <a:off x="55023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620916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69160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762286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83297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pic>
        <p:nvPicPr>
          <p:cNvPr id="227" name="Google Shape;227;p17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7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9" name="Google Shape;229;p17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/>
          <p:nvPr/>
        </p:nvSpPr>
        <p:spPr>
          <a:xfrm>
            <a:off x="6092750" y="2434250"/>
            <a:ext cx="24678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3154688" y="2434250"/>
            <a:ext cx="24678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261100" y="2434250"/>
            <a:ext cx="24678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8"/>
          <p:cNvSpPr/>
          <p:nvPr/>
        </p:nvSpPr>
        <p:spPr>
          <a:xfrm>
            <a:off x="143357" y="156989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228412" y="199479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6792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1386061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3521763" y="152200"/>
            <a:ext cx="1217100" cy="2760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GOAL OF ANALYSIS</a:t>
            </a:r>
            <a:endParaRPr sz="850">
              <a:solidFill>
                <a:srgbClr val="8528C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20929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2799762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4824912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492475" y="643000"/>
            <a:ext cx="75696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450"/>
              <a:buFont typeface="Libre Baskerville"/>
              <a:buNone/>
            </a:pPr>
            <a:r>
              <a:rPr lang="en" sz="275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Building a Scalable, Accurate Forecasting System</a:t>
            </a:r>
            <a:endParaRPr b="0" i="0" sz="2450" u="none" cap="none" strike="noStrike"/>
          </a:p>
        </p:txBody>
      </p:sp>
      <p:sp>
        <p:nvSpPr>
          <p:cNvPr id="246" name="Google Shape;246;p18"/>
          <p:cNvSpPr/>
          <p:nvPr/>
        </p:nvSpPr>
        <p:spPr>
          <a:xfrm>
            <a:off x="492475" y="1646778"/>
            <a:ext cx="820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b="0" i="0" lang="en" sz="12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We aim to design a forecasting system that is </a:t>
            </a:r>
            <a:r>
              <a:rPr b="1" i="0" lang="en" sz="12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accurate</a:t>
            </a:r>
            <a:r>
              <a:rPr b="0" i="0" lang="en" sz="12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i="0" lang="en" sz="12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standardized</a:t>
            </a:r>
            <a:r>
              <a:rPr b="0" i="0" lang="en" sz="12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, personalized by </a:t>
            </a:r>
            <a:r>
              <a:rPr lang="en" sz="125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vertical</a:t>
            </a:r>
            <a:r>
              <a:rPr b="0" i="0" lang="en" sz="12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, and </a:t>
            </a:r>
            <a:r>
              <a:rPr b="1" i="0" lang="en" sz="12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computationally efficient</a:t>
            </a:r>
            <a:r>
              <a:rPr b="0" i="0" lang="en" sz="12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. To achieve this, we address three core research questions:</a:t>
            </a:r>
            <a:endParaRPr b="0" i="0" sz="1250" u="none" cap="none" strike="noStrike"/>
          </a:p>
        </p:txBody>
      </p:sp>
      <p:sp>
        <p:nvSpPr>
          <p:cNvPr id="247" name="Google Shape;247;p18"/>
          <p:cNvSpPr/>
          <p:nvPr/>
        </p:nvSpPr>
        <p:spPr>
          <a:xfrm>
            <a:off x="397055" y="2629388"/>
            <a:ext cx="14715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Question 1</a:t>
            </a:r>
            <a:endParaRPr b="0" i="0" sz="1500" u="none" cap="none" strike="noStrike"/>
          </a:p>
        </p:txBody>
      </p:sp>
      <p:sp>
        <p:nvSpPr>
          <p:cNvPr id="248" name="Google Shape;248;p18"/>
          <p:cNvSpPr/>
          <p:nvPr/>
        </p:nvSpPr>
        <p:spPr>
          <a:xfrm>
            <a:off x="397038" y="3035900"/>
            <a:ext cx="23193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b="0" i="0" lang="en" sz="12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Do </a:t>
            </a:r>
            <a:r>
              <a:rPr b="1" i="0" lang="en" sz="12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Time Series Foundation Models (TSFMs)</a:t>
            </a:r>
            <a:r>
              <a:rPr b="0" i="0" lang="en" sz="12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outperform traditional forecasting approaches</a:t>
            </a: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 b="0" i="0" sz="1200" u="none" cap="none" strike="noStrike"/>
          </a:p>
        </p:txBody>
      </p:sp>
      <p:sp>
        <p:nvSpPr>
          <p:cNvPr id="249" name="Google Shape;249;p18"/>
          <p:cNvSpPr/>
          <p:nvPr/>
        </p:nvSpPr>
        <p:spPr>
          <a:xfrm>
            <a:off x="3310806" y="2594897"/>
            <a:ext cx="11172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Question 2</a:t>
            </a:r>
            <a:endParaRPr b="0" i="0" sz="1500" u="none" cap="none" strike="noStrike"/>
          </a:p>
        </p:txBody>
      </p:sp>
      <p:sp>
        <p:nvSpPr>
          <p:cNvPr id="250" name="Google Shape;250;p18"/>
          <p:cNvSpPr/>
          <p:nvPr/>
        </p:nvSpPr>
        <p:spPr>
          <a:xfrm>
            <a:off x="3310803" y="3035900"/>
            <a:ext cx="24678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b="0" i="0" lang="en" sz="12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Can </a:t>
            </a:r>
            <a:r>
              <a:rPr b="1" i="0" lang="en" sz="12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Parameter-Efficient Fine-Tuning (PEFT)</a:t>
            </a:r>
            <a:r>
              <a:rPr b="0" i="0" lang="en" sz="12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improve forecasting accuracy within vertical while remaining cost-effective?</a:t>
            </a:r>
            <a:endParaRPr b="0" i="0" sz="1200" u="none" cap="none" strike="noStrike"/>
          </a:p>
        </p:txBody>
      </p:sp>
      <p:sp>
        <p:nvSpPr>
          <p:cNvPr id="251" name="Google Shape;251;p18"/>
          <p:cNvSpPr/>
          <p:nvPr/>
        </p:nvSpPr>
        <p:spPr>
          <a:xfrm>
            <a:off x="6253781" y="2590103"/>
            <a:ext cx="11553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Question 3</a:t>
            </a:r>
            <a:endParaRPr b="0" i="0" sz="1500" u="none" cap="none" strike="noStrike"/>
          </a:p>
        </p:txBody>
      </p:sp>
      <p:sp>
        <p:nvSpPr>
          <p:cNvPr id="252" name="Google Shape;252;p18"/>
          <p:cNvSpPr/>
          <p:nvPr/>
        </p:nvSpPr>
        <p:spPr>
          <a:xfrm>
            <a:off x="6253775" y="3035900"/>
            <a:ext cx="21204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b="0" i="0" lang="en" sz="12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Can these approaches operate within </a:t>
            </a:r>
            <a:r>
              <a:rPr b="1" i="0" lang="en" sz="12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Rakuten's computational and infrastructure constraints</a:t>
            </a:r>
            <a:r>
              <a:rPr b="0" i="0" lang="en" sz="12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at scale?</a:t>
            </a:r>
            <a:endParaRPr b="0" i="0" sz="1200" u="none" cap="none" strike="noStrike"/>
          </a:p>
        </p:txBody>
      </p:sp>
      <p:sp>
        <p:nvSpPr>
          <p:cNvPr id="253" name="Google Shape;253;p18"/>
          <p:cNvSpPr/>
          <p:nvPr/>
        </p:nvSpPr>
        <p:spPr>
          <a:xfrm>
            <a:off x="5546937" y="152214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6253786" y="152214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6960637" y="152214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7667487" y="152189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8374337" y="152189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pic>
        <p:nvPicPr>
          <p:cNvPr id="258" name="Google Shape;258;p18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8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" name="Google Shape;260;p18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"/>
          <p:cNvSpPr/>
          <p:nvPr/>
        </p:nvSpPr>
        <p:spPr>
          <a:xfrm>
            <a:off x="143357" y="156989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228412" y="199479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6792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1386061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4213450" y="148450"/>
            <a:ext cx="927600" cy="2835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DELIVERABLES</a:t>
            </a:r>
            <a:endParaRPr sz="850">
              <a:solidFill>
                <a:srgbClr val="8528C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20929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2799762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3506612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492469" y="788879"/>
            <a:ext cx="4882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750"/>
              <a:buFont typeface="Libre Baskerville"/>
              <a:buNone/>
            </a:pPr>
            <a:r>
              <a:rPr lang="en" sz="275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Three Core Deliverables</a:t>
            </a:r>
            <a:endParaRPr b="0" i="0" sz="2750" u="none" cap="none" strike="noStrike"/>
          </a:p>
        </p:txBody>
      </p:sp>
      <p:sp>
        <p:nvSpPr>
          <p:cNvPr id="274" name="Google Shape;274;p19"/>
          <p:cNvSpPr/>
          <p:nvPr/>
        </p:nvSpPr>
        <p:spPr>
          <a:xfrm>
            <a:off x="52119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5918762" y="152239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6625612" y="152239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7332462" y="152239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8039312" y="152214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5979375" y="1730544"/>
            <a:ext cx="26706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9"/>
          <p:cNvSpPr/>
          <p:nvPr/>
        </p:nvSpPr>
        <p:spPr>
          <a:xfrm>
            <a:off x="3192350" y="1730544"/>
            <a:ext cx="26706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419625" y="1730544"/>
            <a:ext cx="26706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"/>
          <p:cNvSpPr/>
          <p:nvPr/>
        </p:nvSpPr>
        <p:spPr>
          <a:xfrm>
            <a:off x="561725" y="1925700"/>
            <a:ext cx="40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1. </a:t>
            </a: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b="0" i="0" sz="1500" u="none" cap="none" strike="noStrike"/>
          </a:p>
        </p:txBody>
      </p:sp>
      <p:sp>
        <p:nvSpPr>
          <p:cNvPr id="283" name="Google Shape;283;p19"/>
          <p:cNvSpPr/>
          <p:nvPr/>
        </p:nvSpPr>
        <p:spPr>
          <a:xfrm>
            <a:off x="544388" y="2571750"/>
            <a:ext cx="23193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One vertical-aware pipeline produces forecasts on demand — replacing 6 hours of hand-tuning per forecast with a repeatable, one-click run. </a:t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3323031" y="1891197"/>
            <a:ext cx="11172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2.</a:t>
            </a:r>
            <a:endParaRPr b="0" i="0" sz="1500" u="none" cap="none" strike="noStrike"/>
          </a:p>
        </p:txBody>
      </p:sp>
      <p:sp>
        <p:nvSpPr>
          <p:cNvPr id="285" name="Google Shape;285;p19"/>
          <p:cNvSpPr/>
          <p:nvPr/>
        </p:nvSpPr>
        <p:spPr>
          <a:xfrm>
            <a:off x="3293753" y="2387725"/>
            <a:ext cx="24678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Built for non-technical stakeholders — displays forecasts, model comparisons, uncertainty ranges, and confidence intervals to support business decisions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t/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6124356" y="1925703"/>
            <a:ext cx="11553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3. </a:t>
            </a:r>
            <a:endParaRPr b="0" i="0" sz="1500" u="none" cap="none" strike="noStrike"/>
          </a:p>
        </p:txBody>
      </p:sp>
      <p:sp>
        <p:nvSpPr>
          <p:cNvPr id="287" name="Google Shape;287;p19"/>
          <p:cNvSpPr/>
          <p:nvPr/>
        </p:nvSpPr>
        <p:spPr>
          <a:xfrm>
            <a:off x="6080775" y="2470925"/>
            <a:ext cx="24678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Scores every candidate model on the same accuracy metrics so Rakuten can standardize on a defensible best model — and keep re-checking it for drift as new data and verticals come online.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t/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8" name="Google Shape;288;p19"/>
          <p:cNvSpPr txBox="1"/>
          <p:nvPr/>
        </p:nvSpPr>
        <p:spPr>
          <a:xfrm>
            <a:off x="759813" y="1846050"/>
            <a:ext cx="21066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Standardized Forecasting Pipeline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3565083" y="1913702"/>
            <a:ext cx="24693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en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Interactive Dashboard</a:t>
            </a:r>
            <a:endParaRPr b="0" i="0" u="none" cap="none" strike="noStrike"/>
          </a:p>
        </p:txBody>
      </p:sp>
      <p:sp>
        <p:nvSpPr>
          <p:cNvPr id="290" name="Google Shape;290;p19"/>
          <p:cNvSpPr/>
          <p:nvPr/>
        </p:nvSpPr>
        <p:spPr>
          <a:xfrm>
            <a:off x="6364247" y="1925689"/>
            <a:ext cx="2599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en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 Evaluation Framework</a:t>
            </a:r>
            <a:endParaRPr b="0" i="0" u="none" cap="none" strike="noStrike"/>
          </a:p>
        </p:txBody>
      </p:sp>
      <p:pic>
        <p:nvPicPr>
          <p:cNvPr id="291" name="Google Shape;291;p19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9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3" name="Google Shape;293;p19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0"/>
          <p:cNvSpPr/>
          <p:nvPr/>
        </p:nvSpPr>
        <p:spPr>
          <a:xfrm>
            <a:off x="4716450" y="1289000"/>
            <a:ext cx="4183200" cy="3375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0"/>
          <p:cNvSpPr/>
          <p:nvPr/>
        </p:nvSpPr>
        <p:spPr>
          <a:xfrm>
            <a:off x="143357" y="156989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228412" y="199479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6792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1386061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4920300" y="152200"/>
            <a:ext cx="1217100" cy="2760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LITERATURE REVIEW</a:t>
            </a:r>
            <a:endParaRPr sz="850">
              <a:solidFill>
                <a:srgbClr val="8528C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20929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2799762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3506612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492475" y="643000"/>
            <a:ext cx="8209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450"/>
              <a:buFont typeface="Libre Baskerville"/>
              <a:buNone/>
            </a:pPr>
            <a:r>
              <a:rPr lang="en" sz="275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What Does the Literature Tell Us?</a:t>
            </a:r>
            <a:endParaRPr sz="2450">
              <a:solidFill>
                <a:srgbClr val="403CC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4213462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6208262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6915112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7621962" y="1522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8328812" y="15217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pic>
        <p:nvPicPr>
          <p:cNvPr id="313" name="Google Shape;313;p20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0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5" name="Google Shape;315;p20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" name="Google Shape;316;p20"/>
          <p:cNvSpPr/>
          <p:nvPr/>
        </p:nvSpPr>
        <p:spPr>
          <a:xfrm>
            <a:off x="4855150" y="1468488"/>
            <a:ext cx="28404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PEFT Enables Affordable Vertical Adaptation</a:t>
            </a:r>
            <a:endParaRPr b="0" i="0" sz="1500" u="none" cap="none" strike="noStrike"/>
          </a:p>
        </p:txBody>
      </p:sp>
      <p:sp>
        <p:nvSpPr>
          <p:cNvPr id="317" name="Google Shape;317;p20"/>
          <p:cNvSpPr/>
          <p:nvPr/>
        </p:nvSpPr>
        <p:spPr>
          <a:xfrm>
            <a:off x="4855150" y="2363475"/>
            <a:ext cx="3782100" cy="2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pen Sans"/>
              <a:buChar char="●"/>
            </a:pP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Full fine-tuning is difficult to scale due to high compute costs and overfitting risks 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pen Sans"/>
              <a:buChar char="●"/>
            </a:pPr>
            <a:r>
              <a:rPr b="1"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Low Rank Adaptation (LoRA / QLoRA)</a:t>
            </a: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reduce training costs by updating only a small portion of the model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b="1"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Prompt-based methods</a:t>
            </a: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use trainable embeddings to adapt forecasting behavior to industry-specific patterns such as luxury retail or finance trends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163250" y="1289000"/>
            <a:ext cx="4183200" cy="3375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0"/>
          <p:cNvSpPr/>
          <p:nvPr/>
        </p:nvSpPr>
        <p:spPr>
          <a:xfrm>
            <a:off x="352725" y="1468488"/>
            <a:ext cx="28404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t/>
            </a:r>
            <a:endParaRPr b="0" i="0" sz="1500" u="none" cap="none" strike="noStrike"/>
          </a:p>
        </p:txBody>
      </p:sp>
      <p:sp>
        <p:nvSpPr>
          <p:cNvPr id="320" name="Google Shape;320;p20"/>
          <p:cNvSpPr/>
          <p:nvPr/>
        </p:nvSpPr>
        <p:spPr>
          <a:xfrm>
            <a:off x="188450" y="2203325"/>
            <a:ext cx="4132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pen Sans"/>
              <a:buChar char="●"/>
            </a:pP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Learn broad temporal patterns through large-scale pretraining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pen Sans"/>
              <a:buChar char="●"/>
            </a:pPr>
            <a:r>
              <a:rPr b="1"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TimesFM</a:t>
            </a: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aligns with consumer interest signals through web and Google Trends pretraining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pen Sans"/>
              <a:buChar char="●"/>
            </a:pPr>
            <a:r>
              <a:rPr b="1"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Chronos</a:t>
            </a: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uses synthetic augmentation to improve sparse-history forecasting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pen Sans"/>
              <a:buChar char="●"/>
            </a:pPr>
            <a:r>
              <a:rPr b="1"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Tiny Time Mixers</a:t>
            </a: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supports exogenous variables, allowing forecasts to incorporate promotions and other business signals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427325" y="1504850"/>
            <a:ext cx="35061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TSFMs Capture Complex Temporal Patterns at Scale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"/>
          <p:cNvSpPr/>
          <p:nvPr/>
        </p:nvSpPr>
        <p:spPr>
          <a:xfrm>
            <a:off x="492469" y="788879"/>
            <a:ext cx="4882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150"/>
              <a:buFont typeface="Libre Baskerville"/>
              <a:buNone/>
            </a:pPr>
            <a:r>
              <a:rPr lang="en" sz="275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Dataset Overview </a:t>
            </a:r>
            <a:endParaRPr sz="2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750"/>
              <a:buFont typeface="Libre Baskerville"/>
              <a:buNone/>
            </a:pPr>
            <a:r>
              <a:t/>
            </a:r>
            <a:endParaRPr sz="275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5979375" y="1730544"/>
            <a:ext cx="26706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1"/>
          <p:cNvSpPr/>
          <p:nvPr/>
        </p:nvSpPr>
        <p:spPr>
          <a:xfrm>
            <a:off x="3192350" y="1730544"/>
            <a:ext cx="26706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1"/>
          <p:cNvSpPr/>
          <p:nvPr/>
        </p:nvSpPr>
        <p:spPr>
          <a:xfrm>
            <a:off x="419625" y="1730544"/>
            <a:ext cx="26706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595263" y="2357825"/>
            <a:ext cx="23193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lang="en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Nielsen Consumer Marketing Data (Receipts)</a:t>
            </a:r>
            <a:endParaRPr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3323031" y="1891197"/>
            <a:ext cx="11172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t/>
            </a:r>
            <a:endParaRPr b="0" i="0" sz="1500" u="none" cap="none" strike="noStrike"/>
          </a:p>
        </p:txBody>
      </p:sp>
      <p:sp>
        <p:nvSpPr>
          <p:cNvPr id="332" name="Google Shape;332;p21"/>
          <p:cNvSpPr/>
          <p:nvPr/>
        </p:nvSpPr>
        <p:spPr>
          <a:xfrm>
            <a:off x="3293753" y="2387725"/>
            <a:ext cx="24678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3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1,661,290 rows x 8 columns</a:t>
            </a:r>
            <a:endParaRPr sz="13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3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100MB</a:t>
            </a:r>
            <a:endParaRPr sz="13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t/>
            </a:r>
            <a:endParaRPr sz="13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3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01-01-2022 to 04-05-2026</a:t>
            </a:r>
            <a:endParaRPr sz="13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6124356" y="1925703"/>
            <a:ext cx="11553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t/>
            </a:r>
            <a:endParaRPr b="0" i="0" sz="1500" u="none" cap="none" strike="noStrike"/>
          </a:p>
        </p:txBody>
      </p:sp>
      <p:sp>
        <p:nvSpPr>
          <p:cNvPr id="334" name="Google Shape;334;p21"/>
          <p:cNvSpPr/>
          <p:nvPr/>
        </p:nvSpPr>
        <p:spPr>
          <a:xfrm>
            <a:off x="6080775" y="2356500"/>
            <a:ext cx="24678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115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order date, vertical, merchant name, order count, scaled order volume, scaled item volume, scaled revenue, scaled aov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t/>
            </a:r>
            <a:endParaRPr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t/>
            </a:r>
            <a:endParaRPr sz="15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544388" y="1842300"/>
            <a:ext cx="21066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Source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3300158" y="1913702"/>
            <a:ext cx="24693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Size and Range</a:t>
            </a:r>
            <a:endParaRPr i="0" sz="1500" u="none" cap="none" strike="noStrike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6080772" y="1913689"/>
            <a:ext cx="2599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Variables</a:t>
            </a:r>
            <a:endParaRPr b="0" i="0" sz="1500" u="none" cap="none" strike="noStrike"/>
          </a:p>
        </p:txBody>
      </p:sp>
      <p:pic>
        <p:nvPicPr>
          <p:cNvPr id="338" name="Google Shape;338;p21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1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" name="Google Shape;340;p21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21"/>
          <p:cNvSpPr/>
          <p:nvPr/>
        </p:nvSpPr>
        <p:spPr>
          <a:xfrm>
            <a:off x="143357" y="1570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228412" y="199479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6792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1386061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5627150" y="149300"/>
            <a:ext cx="636000" cy="2664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 sz="850">
              <a:solidFill>
                <a:srgbClr val="8528C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20929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42134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492031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279976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350661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6334011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70408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774771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22" title="channels4_prof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00" y="4346652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9" name="Google Shape;359;p22"/>
          <p:cNvCxnSpPr/>
          <p:nvPr/>
        </p:nvCxnSpPr>
        <p:spPr>
          <a:xfrm>
            <a:off x="830538" y="45346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" name="Google Shape;360;p22"/>
          <p:cNvSpPr/>
          <p:nvPr/>
        </p:nvSpPr>
        <p:spPr>
          <a:xfrm>
            <a:off x="143357" y="1570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228412" y="199479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6792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1386061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5627150" y="149300"/>
            <a:ext cx="636000" cy="2664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 sz="850">
              <a:solidFill>
                <a:srgbClr val="8528C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20929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42134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492031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68" name="Google Shape;368;p22"/>
          <p:cNvSpPr/>
          <p:nvPr/>
        </p:nvSpPr>
        <p:spPr>
          <a:xfrm>
            <a:off x="492475" y="643000"/>
            <a:ext cx="8209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150"/>
              <a:buFont typeface="Libre Baskerville"/>
              <a:buNone/>
            </a:pPr>
            <a:r>
              <a:rPr lang="en" sz="275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Exploratory Data Analysis (EDA)</a:t>
            </a:r>
            <a:endParaRPr sz="2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450"/>
              <a:buFont typeface="Libre Baskerville"/>
              <a:buNone/>
            </a:pPr>
            <a:r>
              <a:t/>
            </a:r>
            <a:endParaRPr sz="1800">
              <a:solidFill>
                <a:srgbClr val="403CC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69" name="Google Shape;369;p22"/>
          <p:cNvSpPr/>
          <p:nvPr/>
        </p:nvSpPr>
        <p:spPr>
          <a:xfrm>
            <a:off x="279976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350661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6334011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70408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774771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457225" y="1243198"/>
            <a:ext cx="109800" cy="109800"/>
          </a:xfrm>
          <a:prstGeom prst="roundRect">
            <a:avLst>
              <a:gd fmla="val 16667" name="adj"/>
            </a:avLst>
          </a:prstGeom>
          <a:solidFill>
            <a:srgbClr val="7E57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2"/>
          <p:cNvSpPr/>
          <p:nvPr/>
        </p:nvSpPr>
        <p:spPr>
          <a:xfrm>
            <a:off x="679188" y="1177251"/>
            <a:ext cx="2487300" cy="13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1350"/>
              <a:buFont typeface="Calibri"/>
              <a:buNone/>
            </a:pPr>
            <a:r>
              <a:rPr b="1" i="0" lang="en" sz="115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Quality</a:t>
            </a:r>
            <a:endParaRPr i="0" sz="1150" u="none" cap="none" strike="noStrike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Libre Baskerville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 duplicate records</a:t>
            </a:r>
            <a:endParaRPr i="0" sz="115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Libre Baskerville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10% missingness in scaled revenue &amp; AOV</a:t>
            </a:r>
            <a:endParaRPr i="0" sz="115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Libre Baskerville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Weak relationship to observed variables</a:t>
            </a:r>
            <a:endParaRPr i="0" sz="115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Libre Baskerville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Limited concentration in primary verticals</a:t>
            </a:r>
            <a:endParaRPr i="0" sz="115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457250" y="2628878"/>
            <a:ext cx="109800" cy="109800"/>
          </a:xfrm>
          <a:prstGeom prst="roundRect">
            <a:avLst>
              <a:gd fmla="val 16667" name="adj"/>
            </a:avLst>
          </a:prstGeom>
          <a:solidFill>
            <a:srgbClr val="7E57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2"/>
          <p:cNvSpPr/>
          <p:nvPr/>
        </p:nvSpPr>
        <p:spPr>
          <a:xfrm>
            <a:off x="679188" y="2571760"/>
            <a:ext cx="24873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1350"/>
              <a:buFont typeface="Calibri"/>
              <a:buNone/>
            </a:pPr>
            <a:r>
              <a:rPr b="1" i="0" lang="en" sz="115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Business Verticals</a:t>
            </a:r>
            <a:endParaRPr i="0" sz="1150" u="none" cap="none" strike="noStrike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Libre Baskerville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14 business verticals in total</a:t>
            </a:r>
            <a:endParaRPr i="0" sz="115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Libre Baskerville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Narrowed to Luxury Brand Retail, Luxury Dept. Retail, Travel &amp; Finance</a:t>
            </a:r>
            <a:endParaRPr i="0" sz="115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457225" y="3548415"/>
            <a:ext cx="109800" cy="109800"/>
          </a:xfrm>
          <a:prstGeom prst="roundRect">
            <a:avLst>
              <a:gd fmla="val 16667" name="adj"/>
            </a:avLst>
          </a:prstGeom>
          <a:solidFill>
            <a:srgbClr val="7E57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2"/>
          <p:cNvSpPr/>
          <p:nvPr/>
        </p:nvSpPr>
        <p:spPr>
          <a:xfrm>
            <a:off x="717918" y="3504695"/>
            <a:ext cx="24873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1350"/>
              <a:buFont typeface="Calibri"/>
              <a:buNone/>
            </a:pPr>
            <a:r>
              <a:rPr b="1" i="0" lang="en" sz="115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Trend &amp; Seasonality</a:t>
            </a:r>
            <a:endParaRPr i="0" sz="1150" u="none" cap="none" strike="noStrike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Libre Baskerville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Seasonal patterns in revenue transaction metrics</a:t>
            </a:r>
            <a:endParaRPr i="0" sz="115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Libre Baskerville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Holiday demand peaks every December</a:t>
            </a:r>
            <a:endParaRPr i="0" sz="115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3182203" y="1243198"/>
            <a:ext cx="109800" cy="109800"/>
          </a:xfrm>
          <a:prstGeom prst="roundRect">
            <a:avLst>
              <a:gd fmla="val 16667" name="adj"/>
            </a:avLst>
          </a:prstGeom>
          <a:solidFill>
            <a:srgbClr val="7E57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2"/>
          <p:cNvSpPr/>
          <p:nvPr/>
        </p:nvSpPr>
        <p:spPr>
          <a:xfrm>
            <a:off x="3388450" y="1177252"/>
            <a:ext cx="22860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1350"/>
              <a:buFont typeface="Calibri"/>
              <a:buNone/>
            </a:pPr>
            <a:r>
              <a:rPr b="1" i="0" lang="en" sz="115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Distribution Analysis</a:t>
            </a:r>
            <a:endParaRPr i="0" sz="1150" u="none" cap="none" strike="noStrike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Libre Baskerville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Revenue, order count &amp; order volume are right-skewed</a:t>
            </a:r>
            <a:endParaRPr i="0" sz="115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Libre Baskerville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Many outliers observed across verticals</a:t>
            </a:r>
            <a:endParaRPr i="0" sz="115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3182203" y="2169440"/>
            <a:ext cx="109800" cy="109800"/>
          </a:xfrm>
          <a:prstGeom prst="roundRect">
            <a:avLst>
              <a:gd fmla="val 16667" name="adj"/>
            </a:avLst>
          </a:prstGeom>
          <a:solidFill>
            <a:srgbClr val="7E57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2"/>
          <p:cNvSpPr/>
          <p:nvPr/>
        </p:nvSpPr>
        <p:spPr>
          <a:xfrm>
            <a:off x="3341138" y="2116523"/>
            <a:ext cx="22860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1350"/>
              <a:buFont typeface="Calibri"/>
              <a:buNone/>
            </a:pPr>
            <a:r>
              <a:rPr b="1" i="0" lang="en" sz="115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Correlation Structure</a:t>
            </a:r>
            <a:endParaRPr i="0" sz="1150" u="none" cap="none" strike="noStrike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Libre Baskerville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Order count, order volume &amp; item volume correlate strongly with revenue</a:t>
            </a:r>
            <a:endParaRPr i="0" sz="115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Libre Baskerville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AOV behaves more independently across verticals</a:t>
            </a:r>
            <a:endParaRPr i="0" sz="115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384" name="Google Shape;384;p22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3725" y="4497747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6300" y="1006725"/>
            <a:ext cx="3345326" cy="3036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20225" y="3255000"/>
            <a:ext cx="3582977" cy="182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3"/>
          <p:cNvSpPr/>
          <p:nvPr/>
        </p:nvSpPr>
        <p:spPr>
          <a:xfrm>
            <a:off x="5755450" y="1534400"/>
            <a:ext cx="2628300" cy="3210300"/>
          </a:xfrm>
          <a:prstGeom prst="roundRect">
            <a:avLst>
              <a:gd fmla="val 2086" name="adj"/>
            </a:avLst>
          </a:prstGeom>
          <a:solidFill>
            <a:srgbClr val="FBFAFF"/>
          </a:solidFill>
          <a:ln cap="flat" cmpd="sng" w="952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3"/>
          <p:cNvSpPr/>
          <p:nvPr/>
        </p:nvSpPr>
        <p:spPr>
          <a:xfrm>
            <a:off x="143357" y="156989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93" name="Google Shape;393;p23"/>
          <p:cNvSpPr/>
          <p:nvPr/>
        </p:nvSpPr>
        <p:spPr>
          <a:xfrm>
            <a:off x="228412" y="199479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10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394" name="Google Shape;394;p23"/>
          <p:cNvSpPr/>
          <p:nvPr/>
        </p:nvSpPr>
        <p:spPr>
          <a:xfrm>
            <a:off x="492475" y="643000"/>
            <a:ext cx="8209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900"/>
              <a:buFont typeface="Libre Baskerville"/>
              <a:buNone/>
            </a:pPr>
            <a:r>
              <a:rPr lang="en" sz="275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Preprocessing &amp; Validation Strategy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450"/>
              <a:buFont typeface="Libre Baskerville"/>
              <a:buNone/>
            </a:pPr>
            <a:r>
              <a:t/>
            </a:r>
            <a:endParaRPr sz="1800">
              <a:solidFill>
                <a:srgbClr val="403CC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descr="preencoded.png" id="395" name="Google Shape;39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200" y="1776888"/>
            <a:ext cx="4333271" cy="21036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3"/>
          <p:cNvSpPr/>
          <p:nvPr/>
        </p:nvSpPr>
        <p:spPr>
          <a:xfrm>
            <a:off x="1633000" y="3825325"/>
            <a:ext cx="1284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700"/>
              <a:buFont typeface="Libre Baskerville"/>
              <a:buNone/>
            </a:pPr>
            <a:r>
              <a:rPr lang="en" sz="1000">
                <a:solidFill>
                  <a:srgbClr val="99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Vertical and Test/Train Split</a:t>
            </a:r>
            <a:endParaRPr b="0" i="0" sz="1000" u="none" cap="none" strike="noStrike">
              <a:solidFill>
                <a:srgbClr val="9900FF"/>
              </a:solidFill>
            </a:endParaRPr>
          </a:p>
        </p:txBody>
      </p:sp>
      <p:sp>
        <p:nvSpPr>
          <p:cNvPr id="397" name="Google Shape;397;p23"/>
          <p:cNvSpPr/>
          <p:nvPr/>
        </p:nvSpPr>
        <p:spPr>
          <a:xfrm>
            <a:off x="1249650" y="4167525"/>
            <a:ext cx="21861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550"/>
              <a:buFont typeface="Open Sans"/>
              <a:buNone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 dataset was segmented by business vertical and split chronologically into training and testing periods. The length of the testing window can be adjusted by the client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8" name="Google Shape;398;p23"/>
          <p:cNvSpPr/>
          <p:nvPr/>
        </p:nvSpPr>
        <p:spPr>
          <a:xfrm>
            <a:off x="3807593" y="3886375"/>
            <a:ext cx="11172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700"/>
              <a:buFont typeface="Libre Baskerville"/>
              <a:buNone/>
            </a:pPr>
            <a:r>
              <a:rPr lang="en" sz="10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Feature Engineering</a:t>
            </a:r>
            <a:endParaRPr b="0" i="0" sz="1000" u="none" cap="none" strike="noStrike">
              <a:solidFill>
                <a:srgbClr val="8528CB"/>
              </a:solidFill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4042209" y="4275988"/>
            <a:ext cx="6480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550"/>
              <a:buFont typeface="Open Sans"/>
              <a:buNone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Added features</a:t>
            </a:r>
            <a:endParaRPr b="0" i="0" sz="800" u="none" cap="none" strike="noStrike"/>
          </a:p>
        </p:txBody>
      </p:sp>
      <p:sp>
        <p:nvSpPr>
          <p:cNvPr id="400" name="Google Shape;400;p23"/>
          <p:cNvSpPr/>
          <p:nvPr/>
        </p:nvSpPr>
        <p:spPr>
          <a:xfrm>
            <a:off x="624678" y="1199800"/>
            <a:ext cx="13890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700"/>
              <a:buFont typeface="Libre Baskerville"/>
              <a:buNone/>
            </a:pPr>
            <a:r>
              <a:rPr b="0" i="0" lang="en" sz="10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Missing Values</a:t>
            </a:r>
            <a:endParaRPr b="0" i="0" sz="1000" u="none" cap="none" strike="noStrike">
              <a:solidFill>
                <a:srgbClr val="8528CB"/>
              </a:solidFill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475125" y="1432000"/>
            <a:ext cx="16881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550"/>
              <a:buFont typeface="Open Sans"/>
              <a:buNone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Missing values were consistent with MAR behavior and removed due to limited impact on the primary verticals of interest</a:t>
            </a:r>
            <a:endParaRPr b="0" i="0" sz="800" u="none" cap="none" strike="noStrike"/>
          </a:p>
        </p:txBody>
      </p:sp>
      <p:sp>
        <p:nvSpPr>
          <p:cNvPr id="402" name="Google Shape;402;p23"/>
          <p:cNvSpPr/>
          <p:nvPr/>
        </p:nvSpPr>
        <p:spPr>
          <a:xfrm>
            <a:off x="2917600" y="1223500"/>
            <a:ext cx="10548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700"/>
              <a:buFont typeface="Libre Baskerville"/>
              <a:buNone/>
            </a:pPr>
            <a:r>
              <a:rPr lang="en" sz="10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Normalization</a:t>
            </a:r>
            <a:endParaRPr b="0" i="0" sz="1000" u="none" cap="none" strike="noStrike">
              <a:solidFill>
                <a:srgbClr val="8528CB"/>
              </a:solidFill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2695300" y="1432000"/>
            <a:ext cx="14994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550"/>
              <a:buFont typeface="Open Sans"/>
              <a:buNone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Standard scaling was applied to normalize the heavily right-skewed feature distributions</a:t>
            </a:r>
            <a:endParaRPr b="0" i="0" sz="800" u="none" cap="none" strike="noStrike"/>
          </a:p>
        </p:txBody>
      </p:sp>
      <p:sp>
        <p:nvSpPr>
          <p:cNvPr id="404" name="Google Shape;404;p23"/>
          <p:cNvSpPr/>
          <p:nvPr/>
        </p:nvSpPr>
        <p:spPr>
          <a:xfrm>
            <a:off x="5755454" y="1199800"/>
            <a:ext cx="1793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950"/>
              <a:buFont typeface="Libre Baskerville"/>
              <a:buNone/>
            </a:pPr>
            <a:r>
              <a:rPr lang="en" sz="13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Feature Engineering</a:t>
            </a:r>
            <a:endParaRPr b="0" i="0" sz="1300" u="none" cap="none" strike="noStrike">
              <a:solidFill>
                <a:srgbClr val="8528CB"/>
              </a:solidFill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5814796" y="1582137"/>
            <a:ext cx="2568900" cy="29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Rolling statistics (7-day and 28-day moving averages and standard deviations)</a:t>
            </a:r>
            <a:endParaRPr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Lag features for revenue, order count, and AOV (1, 7, and 28 days)</a:t>
            </a:r>
            <a:endParaRPr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Day-over-day and week-over-week percentage change features</a:t>
            </a:r>
            <a:endParaRPr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Ratio features including items per order and revenue per item</a:t>
            </a:r>
            <a:endParaRPr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Cyclical sine/cosine encodings for day of week and month</a:t>
            </a:r>
            <a:endParaRPr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Weekend indicator variables and expanding revenue averages</a:t>
            </a:r>
            <a:endParaRPr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6792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1386061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5627150" y="149300"/>
            <a:ext cx="636000" cy="2664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 sz="850">
              <a:solidFill>
                <a:srgbClr val="8528C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9" name="Google Shape;409;p23"/>
          <p:cNvSpPr/>
          <p:nvPr/>
        </p:nvSpPr>
        <p:spPr>
          <a:xfrm>
            <a:off x="20929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10" name="Google Shape;410;p23"/>
          <p:cNvSpPr/>
          <p:nvPr/>
        </p:nvSpPr>
        <p:spPr>
          <a:xfrm>
            <a:off x="42134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11" name="Google Shape;411;p23"/>
          <p:cNvSpPr/>
          <p:nvPr/>
        </p:nvSpPr>
        <p:spPr>
          <a:xfrm>
            <a:off x="492031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279976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350661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6334011" y="1445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15" name="Google Shape;415;p23"/>
          <p:cNvSpPr/>
          <p:nvPr/>
        </p:nvSpPr>
        <p:spPr>
          <a:xfrm>
            <a:off x="7040862" y="1445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16" name="Google Shape;416;p23"/>
          <p:cNvSpPr/>
          <p:nvPr/>
        </p:nvSpPr>
        <p:spPr>
          <a:xfrm>
            <a:off x="7747712" y="14450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pic>
        <p:nvPicPr>
          <p:cNvPr id="417" name="Google Shape;417;p23" title="image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3" title="channels4_profil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9" name="Google Shape;419;p23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"/>
          <p:cNvSpPr/>
          <p:nvPr/>
        </p:nvSpPr>
        <p:spPr>
          <a:xfrm>
            <a:off x="143357" y="156989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189336" y="199479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6792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1386061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6349525" y="155550"/>
            <a:ext cx="1341300" cy="2760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MODELING ANALYSIS</a:t>
            </a:r>
            <a:endParaRPr sz="850">
              <a:solidFill>
                <a:srgbClr val="8528C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20929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42134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492031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32" name="Google Shape;432;p24"/>
          <p:cNvSpPr/>
          <p:nvPr/>
        </p:nvSpPr>
        <p:spPr>
          <a:xfrm>
            <a:off x="279976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33" name="Google Shape;433;p24"/>
          <p:cNvSpPr/>
          <p:nvPr/>
        </p:nvSpPr>
        <p:spPr>
          <a:xfrm>
            <a:off x="350661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34" name="Google Shape;434;p24"/>
          <p:cNvSpPr/>
          <p:nvPr/>
        </p:nvSpPr>
        <p:spPr>
          <a:xfrm>
            <a:off x="56271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35" name="Google Shape;435;p24"/>
          <p:cNvSpPr/>
          <p:nvPr/>
        </p:nvSpPr>
        <p:spPr>
          <a:xfrm>
            <a:off x="777721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36" name="Google Shape;436;p24"/>
          <p:cNvSpPr/>
          <p:nvPr/>
        </p:nvSpPr>
        <p:spPr>
          <a:xfrm>
            <a:off x="84840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37" name="Google Shape;437;p24"/>
          <p:cNvSpPr/>
          <p:nvPr/>
        </p:nvSpPr>
        <p:spPr>
          <a:xfrm>
            <a:off x="426550" y="615600"/>
            <a:ext cx="8209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450"/>
              <a:buFont typeface="Libre Baskerville"/>
              <a:buNone/>
            </a:pPr>
            <a:r>
              <a:rPr lang="en" sz="275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Modeling Analysis – Baseline Models</a:t>
            </a:r>
            <a:endParaRPr sz="2450">
              <a:solidFill>
                <a:srgbClr val="403CC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8" name="Google Shape;438;p24"/>
          <p:cNvSpPr/>
          <p:nvPr/>
        </p:nvSpPr>
        <p:spPr>
          <a:xfrm>
            <a:off x="228400" y="755875"/>
            <a:ext cx="88548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050"/>
              <a:buFont typeface="Libre Baskerville"/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39" name="Google Shape;439;p24"/>
          <p:cNvSpPr/>
          <p:nvPr/>
        </p:nvSpPr>
        <p:spPr>
          <a:xfrm>
            <a:off x="3014875" y="1144375"/>
            <a:ext cx="31704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rPr lang="en" sz="16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Statistical Forecasting Models</a:t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t/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440" name="Google Shape;440;p24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24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2" name="Google Shape;442;p24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24"/>
          <p:cNvSpPr/>
          <p:nvPr/>
        </p:nvSpPr>
        <p:spPr>
          <a:xfrm>
            <a:off x="143350" y="1499425"/>
            <a:ext cx="2108400" cy="1794900"/>
          </a:xfrm>
          <a:prstGeom prst="roundRect">
            <a:avLst>
              <a:gd fmla="val 16667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SARIMA/SARIMAX </a:t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</a:t>
            </a: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Seasonal AutoRegressive Integrated Moving Average/eXogenous regressors)</a:t>
            </a:r>
            <a:endParaRPr i="0" sz="11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Autoregressive trend + seasonality modeling; SARIMAX adds external regressors</a:t>
            </a:r>
            <a:endParaRPr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4" name="Google Shape;444;p24"/>
          <p:cNvSpPr/>
          <p:nvPr/>
        </p:nvSpPr>
        <p:spPr>
          <a:xfrm>
            <a:off x="4920300" y="3762175"/>
            <a:ext cx="2108400" cy="938700"/>
          </a:xfrm>
          <a:prstGeom prst="roundRect">
            <a:avLst>
              <a:gd fmla="val 16667" name="adj"/>
            </a:avLst>
          </a:prstGeom>
          <a:solidFill>
            <a:srgbClr val="E9D7F8"/>
          </a:solidFill>
          <a:ln>
            <a:noFill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XGBoost</a:t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1" sz="9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Gradient boosting with engineered lag/rolling features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2063550" y="3762175"/>
            <a:ext cx="2108400" cy="938700"/>
          </a:xfrm>
          <a:prstGeom prst="roundRect">
            <a:avLst>
              <a:gd fmla="val 16667" name="adj"/>
            </a:avLst>
          </a:prstGeom>
          <a:solidFill>
            <a:srgbClr val="E9D7F8"/>
          </a:solidFill>
          <a:ln>
            <a:noFill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LightGBM</a:t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1" sz="9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Histogram-based tree boosting, optimized for speed and scale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2434900" y="1499425"/>
            <a:ext cx="2079000" cy="1830300"/>
          </a:xfrm>
          <a:prstGeom prst="roundRect">
            <a:avLst>
              <a:gd fmla="val 16667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VAR (Vector AutoRegression)</a:t>
            </a:r>
            <a:endParaRPr i="0" sz="11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Multivariate modeling of interdependent time series</a:t>
            </a:r>
            <a:endParaRPr sz="9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4697050" y="1499425"/>
            <a:ext cx="2108400" cy="1830300"/>
          </a:xfrm>
          <a:prstGeom prst="roundRect">
            <a:avLst>
              <a:gd fmla="val 16667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GARCH (Generalized AutoRegressive Conditional Heteroskedasticity)</a:t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Time-varying volatility (heteroskedasticity) modeling</a:t>
            </a:r>
            <a:endParaRPr sz="9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8" name="Google Shape;448;p24"/>
          <p:cNvSpPr/>
          <p:nvPr/>
        </p:nvSpPr>
        <p:spPr>
          <a:xfrm>
            <a:off x="6974800" y="1499425"/>
            <a:ext cx="2108400" cy="1830300"/>
          </a:xfrm>
          <a:prstGeom prst="roundRect">
            <a:avLst>
              <a:gd fmla="val 16667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ETS (Exponential Smoothing)</a:t>
            </a:r>
            <a:endParaRPr i="0" sz="11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Level, trend, and seasonal decomposition via smoothing</a:t>
            </a:r>
            <a:endParaRPr sz="9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3174600" y="3394888"/>
            <a:ext cx="27948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rPr lang="en" sz="16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Machine Learning</a:t>
            </a:r>
            <a:r>
              <a:rPr lang="en" sz="16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Models</a:t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t/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5"/>
          <p:cNvSpPr/>
          <p:nvPr/>
        </p:nvSpPr>
        <p:spPr>
          <a:xfrm>
            <a:off x="143357" y="156989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55" name="Google Shape;455;p25"/>
          <p:cNvSpPr/>
          <p:nvPr/>
        </p:nvSpPr>
        <p:spPr>
          <a:xfrm>
            <a:off x="189336" y="199479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456" name="Google Shape;456;p25"/>
          <p:cNvSpPr/>
          <p:nvPr/>
        </p:nvSpPr>
        <p:spPr>
          <a:xfrm>
            <a:off x="6792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1386061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58" name="Google Shape;458;p25"/>
          <p:cNvSpPr/>
          <p:nvPr/>
        </p:nvSpPr>
        <p:spPr>
          <a:xfrm>
            <a:off x="6349525" y="155550"/>
            <a:ext cx="1341300" cy="2760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MODELING ANALYSIS</a:t>
            </a:r>
            <a:endParaRPr sz="850">
              <a:solidFill>
                <a:srgbClr val="8528C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9" name="Google Shape;459;p25"/>
          <p:cNvSpPr/>
          <p:nvPr/>
        </p:nvSpPr>
        <p:spPr>
          <a:xfrm>
            <a:off x="20929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60" name="Google Shape;460;p25"/>
          <p:cNvSpPr/>
          <p:nvPr/>
        </p:nvSpPr>
        <p:spPr>
          <a:xfrm>
            <a:off x="42134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61" name="Google Shape;461;p25"/>
          <p:cNvSpPr/>
          <p:nvPr/>
        </p:nvSpPr>
        <p:spPr>
          <a:xfrm>
            <a:off x="492031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62" name="Google Shape;462;p25"/>
          <p:cNvSpPr/>
          <p:nvPr/>
        </p:nvSpPr>
        <p:spPr>
          <a:xfrm>
            <a:off x="279976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63" name="Google Shape;463;p25"/>
          <p:cNvSpPr/>
          <p:nvPr/>
        </p:nvSpPr>
        <p:spPr>
          <a:xfrm>
            <a:off x="350661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64" name="Google Shape;464;p25"/>
          <p:cNvSpPr/>
          <p:nvPr/>
        </p:nvSpPr>
        <p:spPr>
          <a:xfrm>
            <a:off x="56271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65" name="Google Shape;465;p25"/>
          <p:cNvSpPr/>
          <p:nvPr/>
        </p:nvSpPr>
        <p:spPr>
          <a:xfrm>
            <a:off x="777721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66" name="Google Shape;466;p25"/>
          <p:cNvSpPr/>
          <p:nvPr/>
        </p:nvSpPr>
        <p:spPr>
          <a:xfrm>
            <a:off x="84840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67" name="Google Shape;467;p25"/>
          <p:cNvSpPr/>
          <p:nvPr/>
        </p:nvSpPr>
        <p:spPr>
          <a:xfrm>
            <a:off x="426550" y="615600"/>
            <a:ext cx="8209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450"/>
              <a:buFont typeface="Libre Baskerville"/>
              <a:buNone/>
            </a:pPr>
            <a:r>
              <a:rPr lang="en" sz="275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Modeling Analysis</a:t>
            </a:r>
            <a:endParaRPr sz="2450">
              <a:solidFill>
                <a:srgbClr val="403CC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68" name="Google Shape;468;p25"/>
          <p:cNvSpPr/>
          <p:nvPr/>
        </p:nvSpPr>
        <p:spPr>
          <a:xfrm>
            <a:off x="228400" y="755875"/>
            <a:ext cx="88548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050"/>
              <a:buFont typeface="Libre Baskerville"/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69" name="Google Shape;469;p25"/>
          <p:cNvSpPr/>
          <p:nvPr/>
        </p:nvSpPr>
        <p:spPr>
          <a:xfrm>
            <a:off x="3532500" y="1144375"/>
            <a:ext cx="20790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rPr lang="en" sz="16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Foundation</a:t>
            </a:r>
            <a:r>
              <a:rPr lang="en" sz="16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Models</a:t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t/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470" name="Google Shape;470;p25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5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2" name="Google Shape;472;p25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3" name="Google Shape;473;p25"/>
          <p:cNvSpPr/>
          <p:nvPr/>
        </p:nvSpPr>
        <p:spPr>
          <a:xfrm>
            <a:off x="85675" y="1499425"/>
            <a:ext cx="1661400" cy="1418100"/>
          </a:xfrm>
          <a:prstGeom prst="roundRect">
            <a:avLst>
              <a:gd fmla="val 16667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TimesFM</a:t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Decoder-only pretrained transformer (Google) for zero-shot forecasting</a:t>
            </a:r>
            <a:endParaRPr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4" name="Google Shape;474;p25"/>
          <p:cNvSpPr/>
          <p:nvPr/>
        </p:nvSpPr>
        <p:spPr>
          <a:xfrm>
            <a:off x="504550" y="3442363"/>
            <a:ext cx="2492100" cy="1211700"/>
          </a:xfrm>
          <a:prstGeom prst="roundRect">
            <a:avLst>
              <a:gd fmla="val 16667" name="adj"/>
            </a:avLst>
          </a:prstGeom>
          <a:solidFill>
            <a:srgbClr val="E9D7F8"/>
          </a:solidFill>
          <a:ln>
            <a:noFill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P-tuning / Prompt Tuning / Prefix Tuning</a:t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Learn continuous prompt vectors prepended to inputs (or to keys/values per layer for prefix tuning); backbone frozen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5" name="Google Shape;475;p25"/>
          <p:cNvSpPr/>
          <p:nvPr/>
        </p:nvSpPr>
        <p:spPr>
          <a:xfrm>
            <a:off x="6144250" y="3442225"/>
            <a:ext cx="2492100" cy="1211700"/>
          </a:xfrm>
          <a:prstGeom prst="roundRect">
            <a:avLst>
              <a:gd fmla="val 16667" name="adj"/>
            </a:avLst>
          </a:prstGeom>
          <a:solidFill>
            <a:srgbClr val="E9D7F8"/>
          </a:solidFill>
          <a:ln>
            <a:noFill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LoRA/QLoRA/DoRA</a:t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1" sz="9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Trainable low-rank matrices injected into frozen weights; QLoRA adds 4-bit quantization; applies LoRA only to direction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6" name="Google Shape;476;p25"/>
          <p:cNvSpPr/>
          <p:nvPr/>
        </p:nvSpPr>
        <p:spPr>
          <a:xfrm>
            <a:off x="1913488" y="1499425"/>
            <a:ext cx="1661400" cy="1418100"/>
          </a:xfrm>
          <a:prstGeom prst="roundRect">
            <a:avLst>
              <a:gd fmla="val 16667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Chronos</a:t>
            </a:r>
            <a:endParaRPr i="0" sz="11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Tokenizes time series values, trained as a language model (Amazon, T5-based)</a:t>
            </a:r>
            <a:endParaRPr sz="9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7" name="Google Shape;477;p25"/>
          <p:cNvSpPr/>
          <p:nvPr/>
        </p:nvSpPr>
        <p:spPr>
          <a:xfrm>
            <a:off x="3741288" y="1522525"/>
            <a:ext cx="1661400" cy="1418100"/>
          </a:xfrm>
          <a:prstGeom prst="roundRect">
            <a:avLst>
              <a:gd fmla="val 16667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MOMENT</a:t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Masked pretraining transformer for forecasting, classification, anomaly detection, imputation</a:t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8" name="Google Shape;478;p25"/>
          <p:cNvSpPr/>
          <p:nvPr/>
        </p:nvSpPr>
        <p:spPr>
          <a:xfrm>
            <a:off x="7421800" y="1499425"/>
            <a:ext cx="1661400" cy="1418100"/>
          </a:xfrm>
          <a:prstGeom prst="roundRect">
            <a:avLst>
              <a:gd fmla="val 16667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Moirai</a:t>
            </a:r>
            <a:endParaRPr i="0" sz="11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Masked encoder transformer (Salesforce) handling arbitrary frequencies/dimensions via any-variate attention</a:t>
            </a:r>
            <a:endParaRPr sz="9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2845800" y="3092425"/>
            <a:ext cx="34524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rPr lang="en" sz="16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Parameter Efficient Fine-Tuning</a:t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80" name="Google Shape;480;p25"/>
          <p:cNvSpPr/>
          <p:nvPr/>
        </p:nvSpPr>
        <p:spPr>
          <a:xfrm>
            <a:off x="5581550" y="1522525"/>
            <a:ext cx="1661400" cy="1418100"/>
          </a:xfrm>
          <a:prstGeom prst="roundRect">
            <a:avLst>
              <a:gd fmla="val 16667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Tiny Time Mixers</a:t>
            </a:r>
            <a:endParaRPr i="0" sz="11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Lightweight MLP-Mixer model (IBM), no attention, fast zero/few-shot forecasting</a:t>
            </a:r>
            <a:endParaRPr sz="9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1" name="Google Shape;481;p25"/>
          <p:cNvSpPr/>
          <p:nvPr/>
        </p:nvSpPr>
        <p:spPr>
          <a:xfrm>
            <a:off x="3337150" y="3442225"/>
            <a:ext cx="2466600" cy="1211700"/>
          </a:xfrm>
          <a:prstGeom prst="roundRect">
            <a:avLst>
              <a:gd fmla="val 16667" name="adj"/>
            </a:avLst>
          </a:prstGeom>
          <a:solidFill>
            <a:srgbClr val="E9D7F8"/>
          </a:solidFill>
          <a:ln>
            <a:noFill/>
          </a:ln>
        </p:spPr>
        <p:txBody>
          <a:bodyPr anchorCtr="0" anchor="t" bIns="40000" lIns="65000" spcFirstLastPara="1" rIns="65000" wrap="square" tIns="5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BitFit</a:t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1" sz="9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Fine-tunes only bias terms, freezes all other weights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6"/>
          <p:cNvSpPr/>
          <p:nvPr/>
        </p:nvSpPr>
        <p:spPr>
          <a:xfrm>
            <a:off x="143357" y="156989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189336" y="199479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="0" i="0" sz="85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6792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1386061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6349525" y="155550"/>
            <a:ext cx="1341300" cy="2760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MODELING ANALYSIS</a:t>
            </a:r>
            <a:endParaRPr b="0" i="0" sz="850" u="none" cap="none" strike="noStrike">
              <a:solidFill>
                <a:srgbClr val="8528C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20929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42134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492031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279976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6"/>
          <p:cNvSpPr/>
          <p:nvPr/>
        </p:nvSpPr>
        <p:spPr>
          <a:xfrm>
            <a:off x="350661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56271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6"/>
          <p:cNvSpPr/>
          <p:nvPr/>
        </p:nvSpPr>
        <p:spPr>
          <a:xfrm>
            <a:off x="777721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84840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6"/>
          <p:cNvSpPr/>
          <p:nvPr/>
        </p:nvSpPr>
        <p:spPr>
          <a:xfrm>
            <a:off x="426550" y="615600"/>
            <a:ext cx="8209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450"/>
              <a:buFont typeface="Libre Baskerville"/>
              <a:buNone/>
            </a:pPr>
            <a:r>
              <a:rPr b="0" i="0" lang="en" sz="275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Modeling Analysis</a:t>
            </a:r>
            <a:endParaRPr b="0" i="0" sz="2450" u="none" cap="none" strike="noStrike">
              <a:solidFill>
                <a:srgbClr val="403CC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00" name="Google Shape;500;p26"/>
          <p:cNvSpPr/>
          <p:nvPr/>
        </p:nvSpPr>
        <p:spPr>
          <a:xfrm>
            <a:off x="228400" y="755875"/>
            <a:ext cx="88548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050"/>
              <a:buFont typeface="Libre Baskervill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6"/>
          <p:cNvSpPr/>
          <p:nvPr/>
        </p:nvSpPr>
        <p:spPr>
          <a:xfrm>
            <a:off x="426555" y="1155400"/>
            <a:ext cx="2965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rPr b="0" i="0" lang="en" sz="16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Metrics</a:t>
            </a:r>
            <a:endParaRPr b="0" i="0" sz="16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2" name="Google Shape;502;p26" title="image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26" title="channels4_profil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4" name="Google Shape;504;p26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5" name="Google Shape;505;p26"/>
          <p:cNvSpPr txBox="1"/>
          <p:nvPr/>
        </p:nvSpPr>
        <p:spPr>
          <a:xfrm>
            <a:off x="426555" y="1282100"/>
            <a:ext cx="82908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Nine accuracy metrics were computed for every model run; WAPE and MdAPE were tracked as the primary metrics.</a:t>
            </a:r>
            <a:endParaRPr/>
          </a:p>
        </p:txBody>
      </p:sp>
      <p:sp>
        <p:nvSpPr>
          <p:cNvPr id="506" name="Google Shape;506;p26"/>
          <p:cNvSpPr/>
          <p:nvPr/>
        </p:nvSpPr>
        <p:spPr>
          <a:xfrm>
            <a:off x="426555" y="1720000"/>
            <a:ext cx="4015500" cy="950100"/>
          </a:xfrm>
          <a:prstGeom prst="roundRect">
            <a:avLst>
              <a:gd fmla="val 10000" name="adj"/>
            </a:avLst>
          </a:prstGeom>
          <a:solidFill>
            <a:srgbClr val="8528CB"/>
          </a:solidFill>
          <a:ln>
            <a:noFill/>
          </a:ln>
        </p:spPr>
        <p:txBody>
          <a:bodyPr anchorCtr="0" anchor="ctr" bIns="73150" lIns="320025" spcFirstLastPara="1" rIns="3200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WAPE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Weighted Absolute Percentage Error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FE3FB"/>
                </a:solidFill>
                <a:latin typeface="Open Sans"/>
                <a:ea typeface="Open Sans"/>
                <a:cs typeface="Open Sans"/>
                <a:sym typeface="Open Sans"/>
              </a:rPr>
              <a:t>Primary metric — aggregate, scale-independent accuracy across verticals</a:t>
            </a:r>
            <a:endParaRPr/>
          </a:p>
        </p:txBody>
      </p:sp>
      <p:sp>
        <p:nvSpPr>
          <p:cNvPr id="507" name="Google Shape;507;p26"/>
          <p:cNvSpPr/>
          <p:nvPr/>
        </p:nvSpPr>
        <p:spPr>
          <a:xfrm>
            <a:off x="4702000" y="1720000"/>
            <a:ext cx="4015500" cy="950100"/>
          </a:xfrm>
          <a:prstGeom prst="roundRect">
            <a:avLst>
              <a:gd fmla="val 10000" name="adj"/>
            </a:avLst>
          </a:prstGeom>
          <a:solidFill>
            <a:srgbClr val="8528CB"/>
          </a:solidFill>
          <a:ln>
            <a:noFill/>
          </a:ln>
        </p:spPr>
        <p:txBody>
          <a:bodyPr anchorCtr="0" anchor="ctr" bIns="73150" lIns="320025" spcFirstLastPara="1" rIns="3200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MdAPE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Median Absolute Percentage Error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FE3FB"/>
                </a:solidFill>
                <a:latin typeface="Open Sans"/>
                <a:ea typeface="Open Sans"/>
                <a:cs typeface="Open Sans"/>
                <a:sym typeface="Open Sans"/>
              </a:rPr>
              <a:t>Primary metric — robust to outliers and near-zero revenue days</a:t>
            </a:r>
            <a:endParaRPr/>
          </a:p>
        </p:txBody>
      </p:sp>
      <p:sp>
        <p:nvSpPr>
          <p:cNvPr id="508" name="Google Shape;508;p26"/>
          <p:cNvSpPr txBox="1"/>
          <p:nvPr/>
        </p:nvSpPr>
        <p:spPr>
          <a:xfrm>
            <a:off x="426555" y="2760000"/>
            <a:ext cx="82908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ALSO TRACKED</a:t>
            </a:r>
            <a:endParaRPr sz="1600"/>
          </a:p>
        </p:txBody>
      </p:sp>
      <p:sp>
        <p:nvSpPr>
          <p:cNvPr id="509" name="Google Shape;509;p26"/>
          <p:cNvSpPr/>
          <p:nvPr/>
        </p:nvSpPr>
        <p:spPr>
          <a:xfrm>
            <a:off x="426555" y="3080000"/>
            <a:ext cx="1960200" cy="560100"/>
          </a:xfrm>
          <a:prstGeom prst="roundRect">
            <a:avLst>
              <a:gd fmla="val 12000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82275" spcFirstLastPara="1" rIns="822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Mean Absolute Error</a:t>
            </a:r>
            <a:endParaRPr/>
          </a:p>
        </p:txBody>
      </p:sp>
      <p:sp>
        <p:nvSpPr>
          <p:cNvPr id="510" name="Google Shape;510;p26"/>
          <p:cNvSpPr/>
          <p:nvPr/>
        </p:nvSpPr>
        <p:spPr>
          <a:xfrm>
            <a:off x="2536777" y="3080000"/>
            <a:ext cx="1960200" cy="560100"/>
          </a:xfrm>
          <a:prstGeom prst="roundRect">
            <a:avLst>
              <a:gd fmla="val 12000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82275" spcFirstLastPara="1" rIns="822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RMSE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Root Mean Squared Error</a:t>
            </a:r>
            <a:endParaRPr/>
          </a:p>
        </p:txBody>
      </p:sp>
      <p:sp>
        <p:nvSpPr>
          <p:cNvPr id="511" name="Google Shape;511;p26"/>
          <p:cNvSpPr/>
          <p:nvPr/>
        </p:nvSpPr>
        <p:spPr>
          <a:xfrm>
            <a:off x="4646999" y="3080000"/>
            <a:ext cx="1960200" cy="560100"/>
          </a:xfrm>
          <a:prstGeom prst="roundRect">
            <a:avLst>
              <a:gd fmla="val 12000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82275" spcFirstLastPara="1" rIns="822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MAPE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Mean Absolute Percentage Error</a:t>
            </a:r>
            <a:endParaRPr/>
          </a:p>
        </p:txBody>
      </p:sp>
      <p:sp>
        <p:nvSpPr>
          <p:cNvPr id="512" name="Google Shape;512;p26"/>
          <p:cNvSpPr/>
          <p:nvPr/>
        </p:nvSpPr>
        <p:spPr>
          <a:xfrm>
            <a:off x="6757221" y="3080000"/>
            <a:ext cx="1960200" cy="560100"/>
          </a:xfrm>
          <a:prstGeom prst="roundRect">
            <a:avLst>
              <a:gd fmla="val 12000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82275" spcFirstLastPara="1" rIns="822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SMAPE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Symmetric MAPE</a:t>
            </a:r>
            <a:endParaRPr/>
          </a:p>
        </p:txBody>
      </p:sp>
      <p:sp>
        <p:nvSpPr>
          <p:cNvPr id="513" name="Google Shape;513;p26"/>
          <p:cNvSpPr/>
          <p:nvPr/>
        </p:nvSpPr>
        <p:spPr>
          <a:xfrm>
            <a:off x="426555" y="3780000"/>
            <a:ext cx="1960200" cy="560100"/>
          </a:xfrm>
          <a:prstGeom prst="roundRect">
            <a:avLst>
              <a:gd fmla="val 12000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82275" spcFirstLastPara="1" rIns="822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R²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Coefficient of Determination</a:t>
            </a:r>
            <a:endParaRPr/>
          </a:p>
        </p:txBody>
      </p:sp>
      <p:sp>
        <p:nvSpPr>
          <p:cNvPr id="514" name="Google Shape;514;p26"/>
          <p:cNvSpPr/>
          <p:nvPr/>
        </p:nvSpPr>
        <p:spPr>
          <a:xfrm>
            <a:off x="2536777" y="3780000"/>
            <a:ext cx="1960200" cy="560100"/>
          </a:xfrm>
          <a:prstGeom prst="roundRect">
            <a:avLst>
              <a:gd fmla="val 12000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82275" spcFirstLastPara="1" rIns="822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Bias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Mean Forecast Error</a:t>
            </a:r>
            <a:endParaRPr/>
          </a:p>
        </p:txBody>
      </p:sp>
      <p:sp>
        <p:nvSpPr>
          <p:cNvPr id="515" name="Google Shape;515;p26"/>
          <p:cNvSpPr/>
          <p:nvPr/>
        </p:nvSpPr>
        <p:spPr>
          <a:xfrm>
            <a:off x="4646999" y="3780000"/>
            <a:ext cx="1960200" cy="560100"/>
          </a:xfrm>
          <a:prstGeom prst="roundRect">
            <a:avLst>
              <a:gd fmla="val 12000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82275" spcFirstLastPara="1" rIns="822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Pooled Error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Weighted error across candidate models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7"/>
          <p:cNvSpPr/>
          <p:nvPr/>
        </p:nvSpPr>
        <p:spPr>
          <a:xfrm>
            <a:off x="143357" y="156989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7"/>
          <p:cNvSpPr/>
          <p:nvPr/>
        </p:nvSpPr>
        <p:spPr>
          <a:xfrm>
            <a:off x="164711" y="199479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="0" i="0" sz="85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7"/>
          <p:cNvSpPr/>
          <p:nvPr/>
        </p:nvSpPr>
        <p:spPr>
          <a:xfrm>
            <a:off x="6792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7"/>
          <p:cNvSpPr/>
          <p:nvPr/>
        </p:nvSpPr>
        <p:spPr>
          <a:xfrm>
            <a:off x="1386061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7"/>
          <p:cNvSpPr/>
          <p:nvPr/>
        </p:nvSpPr>
        <p:spPr>
          <a:xfrm>
            <a:off x="7040850" y="150750"/>
            <a:ext cx="636000" cy="2664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0" i="0" sz="850" u="none" cap="none" strike="noStrike">
              <a:solidFill>
                <a:srgbClr val="8528C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5" name="Google Shape;525;p27"/>
          <p:cNvSpPr/>
          <p:nvPr/>
        </p:nvSpPr>
        <p:spPr>
          <a:xfrm>
            <a:off x="20929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7"/>
          <p:cNvSpPr/>
          <p:nvPr/>
        </p:nvSpPr>
        <p:spPr>
          <a:xfrm>
            <a:off x="42134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7"/>
          <p:cNvSpPr/>
          <p:nvPr/>
        </p:nvSpPr>
        <p:spPr>
          <a:xfrm>
            <a:off x="492031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7"/>
          <p:cNvSpPr/>
          <p:nvPr/>
        </p:nvSpPr>
        <p:spPr>
          <a:xfrm>
            <a:off x="279976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7"/>
          <p:cNvSpPr/>
          <p:nvPr/>
        </p:nvSpPr>
        <p:spPr>
          <a:xfrm>
            <a:off x="350661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7"/>
          <p:cNvSpPr/>
          <p:nvPr/>
        </p:nvSpPr>
        <p:spPr>
          <a:xfrm>
            <a:off x="56271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7"/>
          <p:cNvSpPr/>
          <p:nvPr/>
        </p:nvSpPr>
        <p:spPr>
          <a:xfrm>
            <a:off x="6334011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7"/>
          <p:cNvSpPr/>
          <p:nvPr/>
        </p:nvSpPr>
        <p:spPr>
          <a:xfrm>
            <a:off x="774771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7"/>
          <p:cNvSpPr txBox="1"/>
          <p:nvPr/>
        </p:nvSpPr>
        <p:spPr>
          <a:xfrm>
            <a:off x="1529600" y="2086850"/>
            <a:ext cx="6360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7"/>
          <p:cNvSpPr/>
          <p:nvPr/>
        </p:nvSpPr>
        <p:spPr>
          <a:xfrm>
            <a:off x="492475" y="643000"/>
            <a:ext cx="709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Foundational Models Win</a:t>
            </a:r>
            <a:r>
              <a:rPr lang="en" sz="24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535" name="Google Shape;535;p27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27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7" name="Google Shape;537;p27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38" name="Google Shape;538;p27" title="average_rank_by_model.png"/>
          <p:cNvPicPr preferRelativeResize="0"/>
          <p:nvPr/>
        </p:nvPicPr>
        <p:blipFill rotWithShape="1">
          <a:blip r:embed="rId6">
            <a:alphaModFix/>
          </a:blip>
          <a:srcRect b="0" l="0" r="4498" t="0"/>
          <a:stretch/>
        </p:blipFill>
        <p:spPr>
          <a:xfrm>
            <a:off x="0" y="2700000"/>
            <a:ext cx="9125524" cy="1236338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27"/>
          <p:cNvSpPr txBox="1"/>
          <p:nvPr/>
        </p:nvSpPr>
        <p:spPr>
          <a:xfrm>
            <a:off x="608361" y="1282180"/>
            <a:ext cx="24690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8529CC"/>
                </a:solidFill>
                <a:latin typeface="Open Sans"/>
                <a:ea typeface="Open Sans"/>
                <a:cs typeface="Open Sans"/>
                <a:sym typeface="Open Sans"/>
              </a:rPr>
              <a:t>42</a:t>
            </a:r>
            <a:r>
              <a:rPr b="1" i="0" lang="en" sz="3000" u="none" cap="none" strike="noStrike">
                <a:solidFill>
                  <a:srgbClr val="8529CC"/>
                </a:solidFill>
                <a:latin typeface="Open Sans"/>
                <a:ea typeface="Open Sans"/>
                <a:cs typeface="Open Sans"/>
                <a:sym typeface="Open Sans"/>
              </a:rPr>
              <a:t>%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More accurate than the best</a:t>
            </a:r>
            <a:br>
              <a:rPr i="0" lang="en" sz="9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i="0" lang="en" sz="9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traditional baseline (WAPE)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0" name="Google Shape;540;p27"/>
          <p:cNvSpPr txBox="1"/>
          <p:nvPr/>
        </p:nvSpPr>
        <p:spPr>
          <a:xfrm>
            <a:off x="3351635" y="1282180"/>
            <a:ext cx="24690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8529CC"/>
                </a:solidFill>
                <a:latin typeface="Open Sans"/>
                <a:ea typeface="Open Sans"/>
                <a:cs typeface="Open Sans"/>
                <a:sym typeface="Open Sans"/>
              </a:rPr>
              <a:t>3 / 3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Verticals where zero-shot</a:t>
            </a:r>
            <a:r>
              <a:rPr lang="en" sz="900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, with covariates</a:t>
            </a:r>
            <a:br>
              <a:rPr i="0" lang="en" sz="9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900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Chronos</a:t>
            </a:r>
            <a:r>
              <a:rPr i="0" lang="en" sz="9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 ranked #1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1" name="Google Shape;541;p27"/>
          <p:cNvSpPr txBox="1"/>
          <p:nvPr/>
        </p:nvSpPr>
        <p:spPr>
          <a:xfrm>
            <a:off x="6103783" y="1268730"/>
            <a:ext cx="24690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8529CC"/>
                </a:solidFill>
                <a:latin typeface="Open Sans"/>
                <a:ea typeface="Open Sans"/>
                <a:cs typeface="Open Sans"/>
                <a:sym typeface="Open Sans"/>
              </a:rPr>
              <a:t>20–25%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Original improvement target</a:t>
            </a:r>
            <a:br>
              <a:rPr i="0" lang="en" sz="9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i="0" lang="en" sz="9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— exceeded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8"/>
          <p:cNvSpPr/>
          <p:nvPr/>
        </p:nvSpPr>
        <p:spPr>
          <a:xfrm>
            <a:off x="143357" y="156989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8"/>
          <p:cNvSpPr/>
          <p:nvPr/>
        </p:nvSpPr>
        <p:spPr>
          <a:xfrm>
            <a:off x="152811" y="199479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 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="0" i="0" sz="85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8"/>
          <p:cNvSpPr/>
          <p:nvPr/>
        </p:nvSpPr>
        <p:spPr>
          <a:xfrm>
            <a:off x="6792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8"/>
          <p:cNvSpPr/>
          <p:nvPr/>
        </p:nvSpPr>
        <p:spPr>
          <a:xfrm>
            <a:off x="1386061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8"/>
          <p:cNvSpPr/>
          <p:nvPr/>
        </p:nvSpPr>
        <p:spPr>
          <a:xfrm>
            <a:off x="7040850" y="150750"/>
            <a:ext cx="636000" cy="2664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0" i="0" sz="850" u="none" cap="none" strike="noStrike">
              <a:solidFill>
                <a:srgbClr val="8528C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1" name="Google Shape;551;p28"/>
          <p:cNvSpPr/>
          <p:nvPr/>
        </p:nvSpPr>
        <p:spPr>
          <a:xfrm>
            <a:off x="20929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8"/>
          <p:cNvSpPr/>
          <p:nvPr/>
        </p:nvSpPr>
        <p:spPr>
          <a:xfrm>
            <a:off x="42134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8"/>
          <p:cNvSpPr/>
          <p:nvPr/>
        </p:nvSpPr>
        <p:spPr>
          <a:xfrm>
            <a:off x="492031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8"/>
          <p:cNvSpPr/>
          <p:nvPr/>
        </p:nvSpPr>
        <p:spPr>
          <a:xfrm>
            <a:off x="279976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8"/>
          <p:cNvSpPr/>
          <p:nvPr/>
        </p:nvSpPr>
        <p:spPr>
          <a:xfrm>
            <a:off x="350661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8"/>
          <p:cNvSpPr/>
          <p:nvPr/>
        </p:nvSpPr>
        <p:spPr>
          <a:xfrm>
            <a:off x="56271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8"/>
          <p:cNvSpPr/>
          <p:nvPr/>
        </p:nvSpPr>
        <p:spPr>
          <a:xfrm>
            <a:off x="6334011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8"/>
          <p:cNvSpPr/>
          <p:nvPr/>
        </p:nvSpPr>
        <p:spPr>
          <a:xfrm>
            <a:off x="774771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8"/>
          <p:cNvSpPr/>
          <p:nvPr/>
        </p:nvSpPr>
        <p:spPr>
          <a:xfrm>
            <a:off x="492475" y="643000"/>
            <a:ext cx="73338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Fine-tuning Didn’t Pay</a:t>
            </a:r>
            <a:endParaRPr sz="24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560" name="Google Shape;560;p28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28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2" name="Google Shape;562;p28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3" name="Google Shape;563;p28" title="mdape_improvement_vs_original.png"/>
          <p:cNvPicPr preferRelativeResize="0"/>
          <p:nvPr/>
        </p:nvPicPr>
        <p:blipFill rotWithShape="1">
          <a:blip r:embed="rId5">
            <a:alphaModFix/>
          </a:blip>
          <a:srcRect b="-130" l="0" r="0" t="130"/>
          <a:stretch/>
        </p:blipFill>
        <p:spPr>
          <a:xfrm>
            <a:off x="72300" y="2102426"/>
            <a:ext cx="8999398" cy="2618974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28"/>
          <p:cNvSpPr txBox="1"/>
          <p:nvPr/>
        </p:nvSpPr>
        <p:spPr>
          <a:xfrm>
            <a:off x="617236" y="1268730"/>
            <a:ext cx="24690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8529CC"/>
                </a:solidFill>
                <a:latin typeface="Open Sans"/>
                <a:ea typeface="Open Sans"/>
                <a:cs typeface="Open Sans"/>
                <a:sym typeface="Open Sans"/>
              </a:rPr>
              <a:t>83</a:t>
            </a:r>
            <a:r>
              <a:rPr b="1" i="0" lang="en" sz="3000" u="none" cap="none" strike="noStrike">
                <a:solidFill>
                  <a:srgbClr val="8529CC"/>
                </a:solidFill>
                <a:latin typeface="Open Sans"/>
                <a:ea typeface="Open Sans"/>
                <a:cs typeface="Open Sans"/>
                <a:sym typeface="Open Sans"/>
              </a:rPr>
              <a:t>%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Of 1</a:t>
            </a:r>
            <a:r>
              <a:rPr lang="en" sz="900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68</a:t>
            </a:r>
            <a:r>
              <a:rPr i="0" lang="en" sz="9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 fine-tuned runs got</a:t>
            </a:r>
            <a:br>
              <a:rPr i="0" lang="en" sz="9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i="0" lang="en" sz="9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worse than their base model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5" name="Google Shape;565;p28"/>
          <p:cNvSpPr txBox="1"/>
          <p:nvPr/>
        </p:nvSpPr>
        <p:spPr>
          <a:xfrm>
            <a:off x="3360510" y="1268730"/>
            <a:ext cx="24690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8529CC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Fine-tunes that beat</a:t>
            </a:r>
            <a:br>
              <a:rPr i="0" lang="en" sz="9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i="0" lang="en" sz="9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zero-shot, </a:t>
            </a:r>
            <a:r>
              <a:rPr lang="en" sz="900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with covariates Chronos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6" name="Google Shape;566;p28"/>
          <p:cNvSpPr txBox="1"/>
          <p:nvPr/>
        </p:nvSpPr>
        <p:spPr>
          <a:xfrm>
            <a:off x="6103783" y="1268730"/>
            <a:ext cx="24690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8529CC"/>
                </a:solidFill>
                <a:latin typeface="Open Sans"/>
                <a:ea typeface="Open Sans"/>
                <a:cs typeface="Open Sans"/>
                <a:sym typeface="Open Sans"/>
              </a:rPr>
              <a:t>$0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Training compute needed</a:t>
            </a:r>
            <a:br>
              <a:rPr i="0" lang="en" sz="9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i="0" lang="en" sz="9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for the winning model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9"/>
          <p:cNvSpPr/>
          <p:nvPr/>
        </p:nvSpPr>
        <p:spPr>
          <a:xfrm>
            <a:off x="143357" y="156989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9"/>
          <p:cNvSpPr/>
          <p:nvPr/>
        </p:nvSpPr>
        <p:spPr>
          <a:xfrm>
            <a:off x="228412" y="199479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/ 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  <a:endParaRPr b="0" i="0" sz="85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9"/>
          <p:cNvSpPr/>
          <p:nvPr/>
        </p:nvSpPr>
        <p:spPr>
          <a:xfrm>
            <a:off x="6792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9"/>
          <p:cNvSpPr/>
          <p:nvPr/>
        </p:nvSpPr>
        <p:spPr>
          <a:xfrm>
            <a:off x="1386061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9"/>
          <p:cNvSpPr/>
          <p:nvPr/>
        </p:nvSpPr>
        <p:spPr>
          <a:xfrm>
            <a:off x="7747700" y="150750"/>
            <a:ext cx="1094100" cy="2760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FINAL TAKEAWAY</a:t>
            </a:r>
            <a:endParaRPr b="0" i="0" sz="850" u="none" cap="none" strike="noStrike">
              <a:solidFill>
                <a:srgbClr val="8528C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6" name="Google Shape;576;p29"/>
          <p:cNvSpPr/>
          <p:nvPr/>
        </p:nvSpPr>
        <p:spPr>
          <a:xfrm>
            <a:off x="20929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9"/>
          <p:cNvSpPr/>
          <p:nvPr/>
        </p:nvSpPr>
        <p:spPr>
          <a:xfrm>
            <a:off x="42134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9"/>
          <p:cNvSpPr/>
          <p:nvPr/>
        </p:nvSpPr>
        <p:spPr>
          <a:xfrm>
            <a:off x="492031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9"/>
          <p:cNvSpPr/>
          <p:nvPr/>
        </p:nvSpPr>
        <p:spPr>
          <a:xfrm>
            <a:off x="279976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9"/>
          <p:cNvSpPr/>
          <p:nvPr/>
        </p:nvSpPr>
        <p:spPr>
          <a:xfrm>
            <a:off x="350661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9"/>
          <p:cNvSpPr/>
          <p:nvPr/>
        </p:nvSpPr>
        <p:spPr>
          <a:xfrm>
            <a:off x="56271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9"/>
          <p:cNvSpPr/>
          <p:nvPr/>
        </p:nvSpPr>
        <p:spPr>
          <a:xfrm>
            <a:off x="6334011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9"/>
          <p:cNvSpPr/>
          <p:nvPr/>
        </p:nvSpPr>
        <p:spPr>
          <a:xfrm>
            <a:off x="70408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9"/>
          <p:cNvSpPr/>
          <p:nvPr/>
        </p:nvSpPr>
        <p:spPr>
          <a:xfrm>
            <a:off x="480825" y="573475"/>
            <a:ext cx="8209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Dashboard</a:t>
            </a:r>
            <a:endParaRPr/>
          </a:p>
        </p:txBody>
      </p:sp>
      <p:pic>
        <p:nvPicPr>
          <p:cNvPr id="585" name="Google Shape;585;p29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29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7" name="Google Shape;587;p29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88" name="Google Shape;588;p29" title="Dashboard Demo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916100"/>
            <a:ext cx="8796500" cy="374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0"/>
          <p:cNvSpPr/>
          <p:nvPr/>
        </p:nvSpPr>
        <p:spPr>
          <a:xfrm>
            <a:off x="6253775" y="2078650"/>
            <a:ext cx="24678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0"/>
          <p:cNvSpPr/>
          <p:nvPr/>
        </p:nvSpPr>
        <p:spPr>
          <a:xfrm>
            <a:off x="3288288" y="2078650"/>
            <a:ext cx="24678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0"/>
          <p:cNvSpPr/>
          <p:nvPr/>
        </p:nvSpPr>
        <p:spPr>
          <a:xfrm>
            <a:off x="322800" y="2078650"/>
            <a:ext cx="24678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0"/>
          <p:cNvSpPr/>
          <p:nvPr/>
        </p:nvSpPr>
        <p:spPr>
          <a:xfrm>
            <a:off x="492475" y="643000"/>
            <a:ext cx="81372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400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Final Recommendation and Next Steps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450"/>
              <a:buFont typeface="Libre Baskerville"/>
              <a:buNone/>
            </a:pPr>
            <a:r>
              <a:t/>
            </a:r>
            <a:endParaRPr sz="275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97" name="Google Shape;597;p30"/>
          <p:cNvSpPr/>
          <p:nvPr/>
        </p:nvSpPr>
        <p:spPr>
          <a:xfrm>
            <a:off x="492475" y="1211150"/>
            <a:ext cx="856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Zero-shot covariate-aware Chronos won every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vertical, cutting WAPE by 42% vs the strongest baseline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Replace client-by-client forecasting with standardized vertical forecasting using zero-shot Chronos as the default model, while continuously benchmarking new models as additional data becomes available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t/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8" name="Google Shape;598;p30"/>
          <p:cNvSpPr/>
          <p:nvPr/>
        </p:nvSpPr>
        <p:spPr>
          <a:xfrm>
            <a:off x="397049" y="2231525"/>
            <a:ext cx="1884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Extend to Finance</a:t>
            </a:r>
            <a:endParaRPr b="0" i="0" sz="1500" u="none" cap="none" strike="noStrike"/>
          </a:p>
        </p:txBody>
      </p:sp>
      <p:sp>
        <p:nvSpPr>
          <p:cNvPr id="599" name="Google Shape;599;p30"/>
          <p:cNvSpPr/>
          <p:nvPr/>
        </p:nvSpPr>
        <p:spPr>
          <a:xfrm>
            <a:off x="397038" y="2760963"/>
            <a:ext cx="23193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Scaffolded in the pipeline but never populated</a:t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Add it once usable NIQ Finance data is available </a:t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0" name="Google Shape;600;p30"/>
          <p:cNvSpPr/>
          <p:nvPr/>
        </p:nvSpPr>
        <p:spPr>
          <a:xfrm>
            <a:off x="3461982" y="2231525"/>
            <a:ext cx="21204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Process unused Travel Data</a:t>
            </a:r>
            <a:endParaRPr b="0" i="0" sz="1500" u="none" cap="none" strike="noStrike"/>
          </a:p>
        </p:txBody>
      </p:sp>
      <p:sp>
        <p:nvSpPr>
          <p:cNvPr id="601" name="Google Shape;601;p30"/>
          <p:cNvSpPr/>
          <p:nvPr/>
        </p:nvSpPr>
        <p:spPr>
          <a:xfrm>
            <a:off x="3461976" y="2800750"/>
            <a:ext cx="19311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Received but blocked by format mismatch</a:t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Ingesting it also tests whether more data changes the fine tuning result</a:t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2" name="Google Shape;602;p30"/>
          <p:cNvSpPr/>
          <p:nvPr/>
        </p:nvSpPr>
        <p:spPr>
          <a:xfrm>
            <a:off x="6427470" y="2226725"/>
            <a:ext cx="21204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Production harden the Dashboard</a:t>
            </a:r>
            <a:endParaRPr b="0" i="0" sz="1500" u="none" cap="none" strike="noStrike"/>
          </a:p>
        </p:txBody>
      </p:sp>
      <p:sp>
        <p:nvSpPr>
          <p:cNvPr id="603" name="Google Shape;603;p30"/>
          <p:cNvSpPr/>
          <p:nvPr/>
        </p:nvSpPr>
        <p:spPr>
          <a:xfrm>
            <a:off x="6427475" y="2800750"/>
            <a:ext cx="21204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Lock down the dashboard so only Rakuten’s internal network can access it</a:t>
            </a:r>
            <a:endParaRPr b="0" i="0" sz="1200" u="none" cap="none" strike="noStrike"/>
          </a:p>
        </p:txBody>
      </p:sp>
      <p:pic>
        <p:nvPicPr>
          <p:cNvPr id="604" name="Google Shape;604;p30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30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6" name="Google Shape;606;p30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7" name="Google Shape;607;p30"/>
          <p:cNvSpPr/>
          <p:nvPr/>
        </p:nvSpPr>
        <p:spPr>
          <a:xfrm>
            <a:off x="143357" y="156989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0"/>
          <p:cNvSpPr/>
          <p:nvPr/>
        </p:nvSpPr>
        <p:spPr>
          <a:xfrm>
            <a:off x="228412" y="199479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="0" i="0" sz="85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0"/>
          <p:cNvSpPr/>
          <p:nvPr/>
        </p:nvSpPr>
        <p:spPr>
          <a:xfrm>
            <a:off x="6792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0"/>
          <p:cNvSpPr/>
          <p:nvPr/>
        </p:nvSpPr>
        <p:spPr>
          <a:xfrm>
            <a:off x="1386061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0"/>
          <p:cNvSpPr/>
          <p:nvPr/>
        </p:nvSpPr>
        <p:spPr>
          <a:xfrm>
            <a:off x="7747700" y="150750"/>
            <a:ext cx="1094100" cy="2760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FINAL TAKEAWAY</a:t>
            </a:r>
            <a:endParaRPr b="0" i="0" sz="850" u="none" cap="none" strike="noStrike">
              <a:solidFill>
                <a:srgbClr val="8528C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2" name="Google Shape;612;p30"/>
          <p:cNvSpPr/>
          <p:nvPr/>
        </p:nvSpPr>
        <p:spPr>
          <a:xfrm>
            <a:off x="2092912" y="152226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0"/>
          <p:cNvSpPr/>
          <p:nvPr/>
        </p:nvSpPr>
        <p:spPr>
          <a:xfrm>
            <a:off x="42134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0"/>
          <p:cNvSpPr/>
          <p:nvPr/>
        </p:nvSpPr>
        <p:spPr>
          <a:xfrm>
            <a:off x="492031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0"/>
          <p:cNvSpPr/>
          <p:nvPr/>
        </p:nvSpPr>
        <p:spPr>
          <a:xfrm>
            <a:off x="279976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0"/>
          <p:cNvSpPr/>
          <p:nvPr/>
        </p:nvSpPr>
        <p:spPr>
          <a:xfrm>
            <a:off x="3506612" y="1507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0"/>
          <p:cNvSpPr/>
          <p:nvPr/>
        </p:nvSpPr>
        <p:spPr>
          <a:xfrm>
            <a:off x="56271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0"/>
          <p:cNvSpPr/>
          <p:nvPr/>
        </p:nvSpPr>
        <p:spPr>
          <a:xfrm>
            <a:off x="6334011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0"/>
          <p:cNvSpPr/>
          <p:nvPr/>
        </p:nvSpPr>
        <p:spPr>
          <a:xfrm>
            <a:off x="7040862" y="145951"/>
            <a:ext cx="636000" cy="2760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1"/>
          <p:cNvSpPr txBox="1"/>
          <p:nvPr/>
        </p:nvSpPr>
        <p:spPr>
          <a:xfrm>
            <a:off x="594345" y="598680"/>
            <a:ext cx="800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</a:t>
            </a:r>
            <a:endParaRPr b="0" i="0" sz="14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25" name="Google Shape;625;p31"/>
          <p:cNvSpPr txBox="1"/>
          <p:nvPr/>
        </p:nvSpPr>
        <p:spPr>
          <a:xfrm>
            <a:off x="594360" y="1210608"/>
            <a:ext cx="713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1F1F1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Supporting detail for the dataset, variable definitions, and the full model evaluation results</a:t>
            </a:r>
            <a:endParaRPr b="0" i="0" sz="14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26" name="Google Shape;626;p31"/>
          <p:cNvSpPr/>
          <p:nvPr/>
        </p:nvSpPr>
        <p:spPr>
          <a:xfrm>
            <a:off x="731700" y="2060100"/>
            <a:ext cx="1272600" cy="646500"/>
          </a:xfrm>
          <a:prstGeom prst="roundRect">
            <a:avLst>
              <a:gd fmla="val 16667" name="adj"/>
            </a:avLst>
          </a:prstGeom>
          <a:solidFill>
            <a:srgbClr val="E9D7F8"/>
          </a:solidFill>
          <a:ln cap="flat" cmpd="sng" w="12700">
            <a:solidFill>
              <a:srgbClr val="DDC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137150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A</a:t>
            </a:r>
            <a:endParaRPr b="0" i="0" sz="13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27" name="Google Shape;627;p31"/>
          <p:cNvSpPr txBox="1"/>
          <p:nvPr/>
        </p:nvSpPr>
        <p:spPr>
          <a:xfrm>
            <a:off x="2541249" y="2241000"/>
            <a:ext cx="3778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F1F1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Types &amp; Variable Definitions</a:t>
            </a:r>
            <a:endParaRPr b="0" i="0" sz="14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28" name="Google Shape;628;p31"/>
          <p:cNvSpPr/>
          <p:nvPr/>
        </p:nvSpPr>
        <p:spPr>
          <a:xfrm>
            <a:off x="731700" y="2940942"/>
            <a:ext cx="1272600" cy="646500"/>
          </a:xfrm>
          <a:prstGeom prst="roundRect">
            <a:avLst>
              <a:gd fmla="val 16667" name="adj"/>
            </a:avLst>
          </a:prstGeom>
          <a:solidFill>
            <a:srgbClr val="E9D7F8"/>
          </a:solidFill>
          <a:ln cap="flat" cmpd="sng" w="12700">
            <a:solidFill>
              <a:srgbClr val="DDC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137150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 </a:t>
            </a:r>
            <a:endParaRPr b="1" i="0" sz="1300" u="none" cap="none" strike="noStrike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</a:t>
            </a:r>
            <a:endParaRPr b="0" i="0" sz="13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29" name="Google Shape;629;p31"/>
          <p:cNvSpPr txBox="1"/>
          <p:nvPr/>
        </p:nvSpPr>
        <p:spPr>
          <a:xfrm>
            <a:off x="2541249" y="3121850"/>
            <a:ext cx="3778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F1F1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 Evaluation Charts</a:t>
            </a:r>
            <a:endParaRPr b="0" i="0" sz="14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2"/>
          <p:cNvSpPr txBox="1"/>
          <p:nvPr/>
        </p:nvSpPr>
        <p:spPr>
          <a:xfrm>
            <a:off x="502920" y="192805"/>
            <a:ext cx="800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Appendix </a:t>
            </a:r>
            <a:r>
              <a:rPr lang="en" sz="2400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b="0" i="0" lang="en" sz="2400" u="none" cap="none" strike="noStrike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lang="en" sz="2400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Data Types</a:t>
            </a:r>
            <a:r>
              <a:rPr b="0" i="0" lang="en" sz="2400" u="none" cap="none" strike="noStrike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/>
          </a:p>
        </p:txBody>
      </p:sp>
      <p:graphicFrame>
        <p:nvGraphicFramePr>
          <p:cNvPr id="635" name="Google Shape;635;p32"/>
          <p:cNvGraphicFramePr/>
          <p:nvPr/>
        </p:nvGraphicFramePr>
        <p:xfrm>
          <a:off x="1701750" y="90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{C02CC8E5-6C95-467E-912A-38C3718EC678}</a:tableStyleId>
              </a:tblPr>
              <a:tblGrid>
                <a:gridCol w="4010700"/>
                <a:gridCol w="9088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Feature</a:t>
                      </a:r>
                      <a:endParaRPr b="1"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Type</a:t>
                      </a:r>
                      <a:endParaRPr b="1"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ORDER_DATE</a:t>
                      </a:r>
                      <a:endParaRPr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object</a:t>
                      </a:r>
                      <a:endParaRPr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VERTICAL</a:t>
                      </a:r>
                      <a:endParaRPr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object</a:t>
                      </a:r>
                      <a:endParaRPr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MERCHANT_NAME</a:t>
                      </a:r>
                      <a:endParaRPr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int64</a:t>
                      </a:r>
                      <a:endParaRPr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ORDER_COUNT</a:t>
                      </a:r>
                      <a:endParaRPr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int64</a:t>
                      </a:r>
                      <a:endParaRPr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SCALED_ORDER_VOLUME</a:t>
                      </a:r>
                      <a:endParaRPr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int64</a:t>
                      </a:r>
                      <a:endParaRPr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SCALED_ITEM_VOLUME</a:t>
                      </a:r>
                      <a:endParaRPr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int64</a:t>
                      </a:r>
                      <a:endParaRPr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SCALED_REVENUE</a:t>
                      </a:r>
                      <a:endParaRPr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float64</a:t>
                      </a:r>
                      <a:endParaRPr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SCALED_AOV</a:t>
                      </a:r>
                      <a:endParaRPr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float64</a:t>
                      </a:r>
                      <a:endParaRPr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3"/>
          <p:cNvSpPr txBox="1"/>
          <p:nvPr/>
        </p:nvSpPr>
        <p:spPr>
          <a:xfrm>
            <a:off x="502920" y="192805"/>
            <a:ext cx="800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Appendix </a:t>
            </a:r>
            <a:r>
              <a:rPr lang="en" sz="2400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b="0" i="0" lang="en" sz="2400" u="none" cap="none" strike="noStrike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lang="en" sz="2400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Variable</a:t>
            </a:r>
            <a:r>
              <a:rPr lang="en" sz="2400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 Description</a:t>
            </a:r>
            <a:r>
              <a:rPr b="0" i="0" lang="en" sz="2400" u="none" cap="none" strike="noStrike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/>
          </a:p>
        </p:txBody>
      </p:sp>
      <p:pic>
        <p:nvPicPr>
          <p:cNvPr id="641" name="Google Shape;641;p33"/>
          <p:cNvPicPr preferRelativeResize="0"/>
          <p:nvPr/>
        </p:nvPicPr>
        <p:blipFill rotWithShape="1">
          <a:blip r:embed="rId3">
            <a:alphaModFix/>
          </a:blip>
          <a:srcRect b="-900" l="0" r="0" t="900"/>
          <a:stretch/>
        </p:blipFill>
        <p:spPr>
          <a:xfrm>
            <a:off x="1262250" y="740450"/>
            <a:ext cx="5943600" cy="42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4"/>
          <p:cNvSpPr txBox="1"/>
          <p:nvPr/>
        </p:nvSpPr>
        <p:spPr>
          <a:xfrm>
            <a:off x="502920" y="192805"/>
            <a:ext cx="800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Appendix </a:t>
            </a:r>
            <a:r>
              <a:rPr lang="en" sz="2400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b="0" i="0" lang="en" sz="2400" u="none" cap="none" strike="noStrike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lang="en" sz="2400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Variable</a:t>
            </a:r>
            <a:r>
              <a:rPr lang="en" sz="2400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 Calculations</a:t>
            </a:r>
            <a:endParaRPr/>
          </a:p>
        </p:txBody>
      </p:sp>
      <p:pic>
        <p:nvPicPr>
          <p:cNvPr id="647" name="Google Shape;6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1369925"/>
            <a:ext cx="59436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0200" y="2276875"/>
            <a:ext cx="59436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0200" y="3389225"/>
            <a:ext cx="59436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34"/>
          <p:cNvSpPr txBox="1"/>
          <p:nvPr/>
        </p:nvSpPr>
        <p:spPr>
          <a:xfrm>
            <a:off x="1600200" y="887013"/>
            <a:ext cx="2498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1. </a:t>
            </a:r>
            <a:r>
              <a:rPr lang="en" sz="1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User Unique Weight</a:t>
            </a:r>
            <a:endParaRPr sz="12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51" name="Google Shape;651;p34"/>
          <p:cNvSpPr txBox="1"/>
          <p:nvPr/>
        </p:nvSpPr>
        <p:spPr>
          <a:xfrm>
            <a:off x="1600200" y="1927063"/>
            <a:ext cx="2498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2. Order</a:t>
            </a:r>
            <a:r>
              <a:rPr lang="en" sz="1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Unique Weight</a:t>
            </a:r>
            <a:endParaRPr sz="12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52" name="Google Shape;652;p34"/>
          <p:cNvSpPr txBox="1"/>
          <p:nvPr/>
        </p:nvSpPr>
        <p:spPr>
          <a:xfrm>
            <a:off x="1600200" y="2886738"/>
            <a:ext cx="2498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3. Scaled Metrics</a:t>
            </a:r>
            <a:endParaRPr sz="12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5"/>
          <p:cNvSpPr txBox="1"/>
          <p:nvPr/>
        </p:nvSpPr>
        <p:spPr>
          <a:xfrm>
            <a:off x="502920" y="192024"/>
            <a:ext cx="800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Appendix B: Overall Model Ranking</a:t>
            </a:r>
            <a:endParaRPr/>
          </a:p>
        </p:txBody>
      </p:sp>
      <p:pic>
        <p:nvPicPr>
          <p:cNvPr descr="average_rank_by_model.png" id="658" name="Google Shape;65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970944"/>
            <a:ext cx="8412482" cy="1087311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35"/>
          <p:cNvSpPr txBox="1"/>
          <p:nvPr/>
        </p:nvSpPr>
        <p:spPr>
          <a:xfrm>
            <a:off x="502920" y="4251960"/>
            <a:ext cx="8138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50" u="none" cap="none" strike="noStrike">
                <a:solidFill>
                  <a:srgbClr val="595959"/>
                </a:solidFill>
                <a:latin typeface="Georgia"/>
                <a:ea typeface="Georgia"/>
                <a:cs typeface="Georgia"/>
                <a:sym typeface="Georgia"/>
              </a:rPr>
              <a:t>Average rank of all 71 model configurations per vertical across all eight evaluation metrics and all verticals (1 = best). Covariate-aware Chronos ranks first (2.25); no-covariate TimesFM is second (4.79). Both leaders are zero-shot — no fine-tuned variant places near them.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6"/>
          <p:cNvSpPr txBox="1"/>
          <p:nvPr/>
        </p:nvSpPr>
        <p:spPr>
          <a:xfrm>
            <a:off x="502920" y="192024"/>
            <a:ext cx="800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Appendix B: Primary Metric — WAPE by Model</a:t>
            </a:r>
            <a:endParaRPr/>
          </a:p>
        </p:txBody>
      </p:sp>
      <p:pic>
        <p:nvPicPr>
          <p:cNvPr descr="wape_bar_chart.png" id="665" name="Google Shape;66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971024"/>
            <a:ext cx="8412482" cy="1087151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36"/>
          <p:cNvSpPr txBox="1"/>
          <p:nvPr/>
        </p:nvSpPr>
        <p:spPr>
          <a:xfrm>
            <a:off x="502920" y="4251960"/>
            <a:ext cx="8138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50" u="none" cap="none" strike="noStrike">
                <a:solidFill>
                  <a:srgbClr val="595959"/>
                </a:solidFill>
                <a:latin typeface="Georgia"/>
                <a:ea typeface="Georgia"/>
                <a:cs typeface="Georgia"/>
                <a:sym typeface="Georgia"/>
              </a:rPr>
              <a:t>Weighted Absolute Percentage Error (total error over total actual volume), averaged across verticals and sorted best to worst. WAPE is not distorted by near-zero revenue days, and 100% marks the level of a mean-reverting forecast.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7"/>
          <p:cNvSpPr txBox="1"/>
          <p:nvPr/>
        </p:nvSpPr>
        <p:spPr>
          <a:xfrm>
            <a:off x="502920" y="192024"/>
            <a:ext cx="800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Appendix B: Primary Metric — MdAPE by Model</a:t>
            </a:r>
            <a:endParaRPr sz="2400">
              <a:solidFill>
                <a:srgbClr val="8528C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mdape_bar_chart.png" id="672" name="Google Shape;67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971024"/>
            <a:ext cx="8412482" cy="1087151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37"/>
          <p:cNvSpPr txBox="1"/>
          <p:nvPr/>
        </p:nvSpPr>
        <p:spPr>
          <a:xfrm>
            <a:off x="502920" y="4251960"/>
            <a:ext cx="8138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50" u="none" cap="none" strike="noStrike">
                <a:solidFill>
                  <a:srgbClr val="595959"/>
                </a:solidFill>
                <a:latin typeface="Georgia"/>
                <a:ea typeface="Georgia"/>
                <a:cs typeface="Georgia"/>
                <a:sym typeface="Georgia"/>
              </a:rPr>
              <a:t>Median Absolute Percentage Error: the percentage miss on the median day, robust to the extreme days that dominate MAPE. Read as “typical-day accuracy.”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8"/>
          <p:cNvSpPr txBox="1"/>
          <p:nvPr/>
        </p:nvSpPr>
        <p:spPr>
          <a:xfrm>
            <a:off x="502920" y="192024"/>
            <a:ext cx="800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Appendix B: Fine-Tuning Effect on WAPE</a:t>
            </a:r>
            <a:endParaRPr/>
          </a:p>
        </p:txBody>
      </p:sp>
      <p:pic>
        <p:nvPicPr>
          <p:cNvPr descr="wape_improvement_vs_original.png" id="679" name="Google Shape;67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721299"/>
            <a:ext cx="8412479" cy="1586601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38"/>
          <p:cNvSpPr txBox="1"/>
          <p:nvPr/>
        </p:nvSpPr>
        <p:spPr>
          <a:xfrm>
            <a:off x="502920" y="4251960"/>
            <a:ext cx="8138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50" u="none" cap="none" strike="noStrike">
                <a:solidFill>
                  <a:srgbClr val="595959"/>
                </a:solidFill>
                <a:latin typeface="Georgia"/>
                <a:ea typeface="Georgia"/>
                <a:cs typeface="Georgia"/>
                <a:sym typeface="Georgia"/>
              </a:rPr>
              <a:t>Each bar is a fine-tuned variant’s WAPE change relative to its own base model (positive = improvement). Only 17% of the 168 fine-tuned comparisons improved; every method family had a negative median effect.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9"/>
          <p:cNvSpPr txBox="1"/>
          <p:nvPr/>
        </p:nvSpPr>
        <p:spPr>
          <a:xfrm>
            <a:off x="502920" y="192024"/>
            <a:ext cx="800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Appendix B: Fine-Tuning Effect on R²</a:t>
            </a:r>
            <a:endParaRPr sz="2400">
              <a:solidFill>
                <a:srgbClr val="8528C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r2_improvement_vs_original.png" id="686" name="Google Shape;68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721299"/>
            <a:ext cx="8412479" cy="1586601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39"/>
          <p:cNvSpPr txBox="1"/>
          <p:nvPr/>
        </p:nvSpPr>
        <p:spPr>
          <a:xfrm>
            <a:off x="502920" y="4251960"/>
            <a:ext cx="8138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50" u="none" cap="none" strike="noStrike">
                <a:solidFill>
                  <a:srgbClr val="595959"/>
                </a:solidFill>
                <a:latin typeface="Georgia"/>
                <a:ea typeface="Georgia"/>
                <a:cs typeface="Georgia"/>
                <a:sym typeface="Georgia"/>
              </a:rPr>
              <a:t>Change in the coefficient of determination relative to each variant’s own base model. Degradation is largest on the strongest backbones; the y-axis is logarithmic beyond the linear region so bars of very different size stay readable.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0"/>
          <p:cNvSpPr txBox="1"/>
          <p:nvPr/>
        </p:nvSpPr>
        <p:spPr>
          <a:xfrm>
            <a:off x="502920" y="192024"/>
            <a:ext cx="800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Appendix B: WAPE by Forecast Horizon</a:t>
            </a:r>
            <a:endParaRPr sz="2400">
              <a:solidFill>
                <a:srgbClr val="8528C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wape_by_horizon.png" id="693" name="Google Shape;69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9758" y="868680"/>
            <a:ext cx="5124482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40"/>
          <p:cNvSpPr txBox="1"/>
          <p:nvPr/>
        </p:nvSpPr>
        <p:spPr>
          <a:xfrm>
            <a:off x="502920" y="4251960"/>
            <a:ext cx="8138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50" u="none" cap="none" strike="noStrike">
                <a:solidFill>
                  <a:srgbClr val="595959"/>
                </a:solidFill>
                <a:latin typeface="Georgia"/>
                <a:ea typeface="Georgia"/>
                <a:cs typeface="Georgia"/>
                <a:sym typeface="Georgia"/>
              </a:rPr>
              <a:t>Mean WAPE at 30-, 90-, 180-, and 365-day horizons (scored from the first N days of each saved forecast). Covariate-aware Chronos is most accurate at every horizon (36.5% to 55.1%), with no-covariate TimesFM second throughout; lines above the 260% cap are noted on the chart.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1"/>
          <p:cNvSpPr txBox="1"/>
          <p:nvPr/>
        </p:nvSpPr>
        <p:spPr>
          <a:xfrm>
            <a:off x="502920" y="192024"/>
            <a:ext cx="800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8528CB"/>
                </a:solidFill>
                <a:latin typeface="Georgia"/>
                <a:ea typeface="Georgia"/>
                <a:cs typeface="Georgia"/>
                <a:sym typeface="Georgia"/>
              </a:rPr>
              <a:t>Appendix B: Fine-Tuning Success by Horizon</a:t>
            </a:r>
            <a:endParaRPr/>
          </a:p>
        </p:txBody>
      </p:sp>
      <p:pic>
        <p:nvPicPr>
          <p:cNvPr descr="fine_tuning_success_by_horizon.png" id="700" name="Google Shape;70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0156" y="868680"/>
            <a:ext cx="4823687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41"/>
          <p:cNvSpPr txBox="1"/>
          <p:nvPr/>
        </p:nvSpPr>
        <p:spPr>
          <a:xfrm>
            <a:off x="502920" y="4251960"/>
            <a:ext cx="8138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50" u="none" cap="none" strike="noStrike">
                <a:solidFill>
                  <a:srgbClr val="595959"/>
                </a:solidFill>
                <a:latin typeface="Georgia"/>
                <a:ea typeface="Georgia"/>
                <a:cs typeface="Georgia"/>
                <a:sym typeface="Georgia"/>
              </a:rPr>
              <a:t>Share of fine-tuned runs that beat their own base model on WAPE, by horizon. Success falls from 39% at one month to 20% at twelve, and never reaches the 50% break-even line — fine-tuning never helps more often than it hurts.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