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y="5143500" cx="9144000"/>
  <p:notesSz cx="6858000" cy="9144000"/>
  <p:embeddedFontLst>
    <p:embeddedFont>
      <p:font typeface="Libre Baskerville"/>
      <p:regular r:id="rId88"/>
      <p:bold r:id="rId89"/>
      <p:italic r:id="rId90"/>
      <p:boldItalic r:id="rId91"/>
    </p:embeddedFont>
    <p:embeddedFont>
      <p:font typeface="Martel Sans"/>
      <p:regular r:id="rId92"/>
      <p:bold r:id="rId93"/>
    </p:embeddedFont>
    <p:embeddedFont>
      <p:font typeface="Open Sans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F460DD-10AF-40BC-B361-AF604D13E5D1}">
  <a:tblStyle styleId="{A9F460DD-10AF-40BC-B361-AF604D13E5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OpenSans-bold.fntdata"/><Relationship Id="rId94" Type="http://schemas.openxmlformats.org/officeDocument/2006/relationships/font" Target="fonts/OpenSans-regular.fntdata"/><Relationship Id="rId97" Type="http://schemas.openxmlformats.org/officeDocument/2006/relationships/font" Target="fonts/OpenSans-boldItalic.fntdata"/><Relationship Id="rId96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LibreBaskerville-boldItalic.fntdata"/><Relationship Id="rId90" Type="http://schemas.openxmlformats.org/officeDocument/2006/relationships/font" Target="fonts/LibreBaskerville-italic.fntdata"/><Relationship Id="rId93" Type="http://schemas.openxmlformats.org/officeDocument/2006/relationships/font" Target="fonts/MartelSans-bold.fntdata"/><Relationship Id="rId92" Type="http://schemas.openxmlformats.org/officeDocument/2006/relationships/font" Target="fonts/MartelSans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font" Target="fonts/LibreBaskerville-regular.fntdata"/><Relationship Id="rId87" Type="http://schemas.openxmlformats.org/officeDocument/2006/relationships/slide" Target="slides/slide81.xml"/><Relationship Id="rId89" Type="http://schemas.openxmlformats.org/officeDocument/2006/relationships/font" Target="fonts/LibreBaskerville-bold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6580f527b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6580f527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30f6cd61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30f6cd61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0f6cd61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30f6cd61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30f6cd61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30f6cd61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Aren Mizuno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30f6cd61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30f6cd61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30f6cd61a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30f6cd61a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4971a269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4971a269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563947e0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563947e0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63947e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563947e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30f6cd61a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e30f6cd61a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30f6cd61a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30f6cd61a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562c05ba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562c05ba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5537bf225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f5537bf225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4d18a29fa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e4d18a29fa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Aren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4d18a29fa_1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e4d18a29fa_1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Aren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987fbb383_5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f987fbb383_5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577bac1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577bac1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Harleen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6580f527b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f6580f527b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Kevin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6e988abff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f6e988abff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f6e988abff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6580f527b_1_26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f6580f527b_1_26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f6580f527b_1_26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6580f527b_1_27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f6580f527b_1_27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6580f527b_1_27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6580f527b_1_28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f6580f527b_1_28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6580f527b_1_28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6580f527b_1_3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f6580f527b_1_3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f6580f527b_1_3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6580f527b_1_31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f6580f527b_1_31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f6580f527b_1_31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6580f527b_1_3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f6580f527b_1_32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f6580f527b_1_3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6580f527b_1_33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f6580f527b_1_33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f6580f527b_1_33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6580f527b_1_3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f6580f527b_1_34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f6580f527b_1_3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6580f527b_1_35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f6580f527b_1_35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f6580f527b_1_35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6580f527b_1_36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g3f6580f527b_1_36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f6580f527b_1_36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6580f527b_1_37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f6580f527b_1_37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f6580f527b_1_37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6580f527b_1_38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g3f6580f527b_1_38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f6580f527b_1_38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6580f527b_1_39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f6580f527b_1_39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f6580f527b_1_39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6580f527b_1_40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g3f6580f527b_1_40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f6580f527b_1_40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f6580f527b_1_41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f6580f527b_1_41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f6580f527b_1_41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6580f527b_1_4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g3f6580f527b_1_42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f6580f527b_1_4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6580f527b_1_43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f6580f527b_1_43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f6580f527b_1_43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6580f527b_1_4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f6580f527b_1_44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f6580f527b_1_4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6580f527b_1_45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g3f6580f527b_1_45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f6580f527b_1_45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f6580f527b_1_46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g3f6580f527b_1_46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3f6580f527b_1_46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f6580f527b_1_47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g3f6580f527b_1_47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f6580f527b_1_47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f6580f527b_1_48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g3f6580f527b_1_48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f6580f527b_1_48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f6580f527b_1_49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g3f6580f527b_1_49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f6580f527b_1_49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f6580f527b_1_50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g3f6580f527b_1_50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g3f6580f527b_1_50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f6580f527b_1_51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g3f6580f527b_1_51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3f6580f527b_1_51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f6580f527b_1_52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3f6580f527b_1_52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f6580f527b_1_52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f6580f527b_1_53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f6580f527b_1_53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g3f6580f527b_1_5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f6580f527b_1_54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g3f6580f527b_1_54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3f6580f527b_1_54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f6580f527b_1_55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g3f6580f527b_1_55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g3f6580f527b_1_55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f6580f527b_1_5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g3f6580f527b_1_5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f6580f527b_1_5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6580f527b_1_57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g3f6580f527b_1_57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3f6580f527b_1_57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f6580f527b_1_58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g3f6580f527b_1_58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f6580f527b_1_58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f6580f527b_1_59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3f6580f527b_1_59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f6580f527b_1_59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f6580f527b_1_60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g3f6580f527b_1_60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g3f6580f527b_1_60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f6580f527b_1_61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8" name="Google Shape;918;g3f6580f527b_1_61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g3f6580f527b_1_61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f6580f527b_1_62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g3f6580f527b_1_62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3f6580f527b_1_62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f6580f527b_1_63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g3f6580f527b_1_63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f6580f527b_1_6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f6580f527b_1_64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g3f6580f527b_1_64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g3f6580f527b_1_64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f6580f527b_1_65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g3f6580f527b_1_65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g3f6580f527b_1_65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f6580f527b_1_6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g3f6580f527b_1_6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g3f6580f527b_1_6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f6580f527b_1_67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g3f6580f527b_1_67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g3f6580f527b_1_67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f6580f527b_1_68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g3f6580f527b_1_68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g3f6580f527b_1_68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f6580f527b_1_69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g3f6580f527b_1_69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f6580f527b_1_69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f6580f527b_1_70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g3f6580f527b_1_70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f6580f527b_1_70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f6580f527b_1_71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8" name="Google Shape;1028;g3f6580f527b_1_71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g3f6580f527b_1_71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f6580f527b_1_72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g3f6580f527b_1_72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g3f6580f527b_1_72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f6580f527b_1_73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g3f6580f527b_1_73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3f6580f527b_1_7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f6580f527b_1_74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g3f6580f527b_1_74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g3f6580f527b_1_74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6580f527b_1_75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3f6580f527b_1_75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f6580f527b_1_75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f6580f527b_1_76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g3f6580f527b_1_76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f6580f527b_1_76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f6580f527b_1_77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3" name="Google Shape;1093;g3f6580f527b_1_77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g3f6580f527b_1_77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f6580f527b_1_78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g3f6580f527b_1_78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g3f6580f527b_1_78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f6580f527b_1_79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g3f6580f527b_1_79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g3f6580f527b_1_79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f6580f527b_1_80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6" name="Google Shape;1126;g3f6580f527b_1_80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g3f6580f527b_1_80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f6580f527b_1_8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g3f6580f527b_1_81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g3f6580f527b_1_81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f6e988abff_1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6" name="Google Shape;1156;g3f6e988abff_1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g3f6e988abff_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f6e988abff_1_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g3f6e988abff_1_4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g3f6e988abff_1_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f6e988abff_1_7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g3f6e988abff_1_7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g3f6e988abff_1_7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f6e988abff_1_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4" name="Google Shape;1254;g3f6e988abff_1_9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g3f6e988abff_1_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f6e988abff_1_1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g3f6e988abff_1_1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g3f6e988abff_1_1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f6e988abff_1_11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6" name="Google Shape;1276;g3f6e988abff_1_11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g3f6e988abff_1_11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7.jpg"/><Relationship Id="rId6" Type="http://schemas.openxmlformats.org/officeDocument/2006/relationships/image" Target="../media/image10.png"/><Relationship Id="rId7" Type="http://schemas.openxmlformats.org/officeDocument/2006/relationships/image" Target="../media/image34.jpg"/><Relationship Id="rId8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hyperlink" Target="http://drive.google.com/file/d/1axTof7RRrqbijgAknNYMaQQjSV533n7j/view" TargetMode="External"/><Relationship Id="rId6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0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0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6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96125" y="1374800"/>
            <a:ext cx="5011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lang="en" sz="275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Standardizing Accurate Revenue Forecasting for Affiliate Marketing</a:t>
            </a:r>
            <a:endParaRPr sz="275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496119" y="2967007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Building Standardized</a:t>
            </a: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Scalable</a:t>
            </a: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and Accurate </a:t>
            </a: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Forecasting Pipelines with Time Series Foundation Models and </a:t>
            </a: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Parameter-Efficient Fine-Tuning</a:t>
            </a:r>
            <a:endParaRPr b="0" i="0" sz="1100" u="none" cap="none" strike="noStrike"/>
          </a:p>
        </p:txBody>
      </p:sp>
      <p:sp>
        <p:nvSpPr>
          <p:cNvPr id="57" name="Google Shape;57;p14"/>
          <p:cNvSpPr/>
          <p:nvPr/>
        </p:nvSpPr>
        <p:spPr>
          <a:xfrm>
            <a:off x="496125" y="3580095"/>
            <a:ext cx="51801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1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Capstone Project · 202</a:t>
            </a:r>
            <a:r>
              <a:rPr i="1"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i="1"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i="1"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Harleen Buttar, Kevin Fan, Aren Mizuno, Kai Schindler </a:t>
            </a:r>
            <a:endParaRPr sz="175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t/>
            </a:r>
            <a:endParaRPr sz="175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t/>
            </a:r>
            <a:endParaRPr sz="175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i="1"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1"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4" title="channels4_pro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325" y="1701420"/>
            <a:ext cx="1265591" cy="1265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3347" y="1962158"/>
            <a:ext cx="1916103" cy="7472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Google Shape;60;p14"/>
          <p:cNvCxnSpPr/>
          <p:nvPr/>
        </p:nvCxnSpPr>
        <p:spPr>
          <a:xfrm>
            <a:off x="6888882" y="2025406"/>
            <a:ext cx="0" cy="620700"/>
          </a:xfrm>
          <a:prstGeom prst="straightConnector1">
            <a:avLst/>
          </a:prstGeom>
          <a:noFill/>
          <a:ln cap="flat" cmpd="sng" w="136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502400" y="1261450"/>
            <a:ext cx="2375700" cy="32751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81594" y="690932"/>
            <a:ext cx="4001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en" sz="25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Table of Contents</a:t>
            </a:r>
            <a:endParaRPr b="0" i="0" sz="2500" u="none" cap="none" strike="noStrike">
              <a:solidFill>
                <a:srgbClr val="8528CB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29069" y="1396733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8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  <a:endParaRPr b="0" i="0" sz="1800" u="none" cap="none" strike="noStrike"/>
          </a:p>
        </p:txBody>
      </p:sp>
      <p:sp>
        <p:nvSpPr>
          <p:cNvPr id="71" name="Google Shape;71;p15"/>
          <p:cNvSpPr/>
          <p:nvPr/>
        </p:nvSpPr>
        <p:spPr>
          <a:xfrm>
            <a:off x="629075" y="1681613"/>
            <a:ext cx="17676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Background</a:t>
            </a:r>
            <a:endParaRPr sz="2000">
              <a:solidFill>
                <a:srgbClr val="49495A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72" name="Google Shape;72;p15" title="channels4_pro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5"/>
          <p:cNvSpPr/>
          <p:nvPr/>
        </p:nvSpPr>
        <p:spPr>
          <a:xfrm>
            <a:off x="3391200" y="1261450"/>
            <a:ext cx="2375700" cy="32751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3506594" y="1396720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8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8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1800" u="none" cap="none" strike="noStrike"/>
          </a:p>
        </p:txBody>
      </p:sp>
      <p:pic>
        <p:nvPicPr>
          <p:cNvPr descr="preencoded.png" id="77" name="Google Shape;7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3464" y="3215286"/>
            <a:ext cx="2622724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25720" y="3215286"/>
            <a:ext cx="2622724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6240650" y="1261450"/>
            <a:ext cx="2375700" cy="32751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6382257" y="1404220"/>
            <a:ext cx="740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" sz="18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8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180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3528825" y="1685350"/>
            <a:ext cx="18546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Approach</a:t>
            </a:r>
            <a:endParaRPr sz="2000"/>
          </a:p>
        </p:txBody>
      </p:sp>
      <p:sp>
        <p:nvSpPr>
          <p:cNvPr id="82" name="Google Shape;82;p15"/>
          <p:cNvSpPr/>
          <p:nvPr/>
        </p:nvSpPr>
        <p:spPr>
          <a:xfrm>
            <a:off x="6382238" y="1685338"/>
            <a:ext cx="1180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2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</a:t>
            </a:r>
            <a:endParaRPr sz="2000"/>
          </a:p>
        </p:txBody>
      </p:sp>
      <p:sp>
        <p:nvSpPr>
          <p:cNvPr id="83" name="Google Shape;83;p15"/>
          <p:cNvSpPr txBox="1"/>
          <p:nvPr/>
        </p:nvSpPr>
        <p:spPr>
          <a:xfrm>
            <a:off x="564750" y="2318125"/>
            <a:ext cx="2184600" cy="18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Team Introduction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Company Background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Business Problem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Goal of Analysis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Deliverables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Literature Review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470500" y="2438250"/>
            <a:ext cx="2049000" cy="18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Modeling Analysis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286475" y="2318075"/>
            <a:ext cx="1735800" cy="18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Results 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Final Takeaway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4728925" y="3222563"/>
            <a:ext cx="1849200" cy="14496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370294" y="639574"/>
            <a:ext cx="4001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en" sz="25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Meet the Team</a:t>
            </a:r>
            <a:endParaRPr b="0" i="0" sz="2500" u="none" cap="none" strike="noStrike">
              <a:solidFill>
                <a:srgbClr val="8528CB"/>
              </a:solidFill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682048" y="2919125"/>
            <a:ext cx="1341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3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Harleen Buttar</a:t>
            </a:r>
            <a:endParaRPr b="0" i="0" sz="1350" u="none" cap="none" strike="noStrike"/>
          </a:p>
        </p:txBody>
      </p:sp>
      <p:sp>
        <p:nvSpPr>
          <p:cNvPr id="97" name="Google Shape;97;p16"/>
          <p:cNvSpPr/>
          <p:nvPr/>
        </p:nvSpPr>
        <p:spPr>
          <a:xfrm>
            <a:off x="3020524" y="2941625"/>
            <a:ext cx="919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3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Kevin Fan</a:t>
            </a:r>
            <a:endParaRPr b="0" i="0" sz="1350" u="none" cap="none" strike="noStrike"/>
          </a:p>
        </p:txBody>
      </p:sp>
      <p:sp>
        <p:nvSpPr>
          <p:cNvPr id="98" name="Google Shape;98;p16"/>
          <p:cNvSpPr/>
          <p:nvPr/>
        </p:nvSpPr>
        <p:spPr>
          <a:xfrm>
            <a:off x="5060726" y="2952649"/>
            <a:ext cx="11856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3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Aren Mizuno</a:t>
            </a:r>
            <a:endParaRPr b="0" i="0" sz="1350" u="none" cap="none" strike="noStrike"/>
          </a:p>
        </p:txBody>
      </p:sp>
      <p:sp>
        <p:nvSpPr>
          <p:cNvPr id="99" name="Google Shape;99;p16"/>
          <p:cNvSpPr/>
          <p:nvPr/>
        </p:nvSpPr>
        <p:spPr>
          <a:xfrm>
            <a:off x="4656675" y="3299188"/>
            <a:ext cx="1818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Applied Data Science,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BA Data Science &amp; Business Economics,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Intern, Actelligent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Intern, Morningstar</a:t>
            </a:r>
            <a:endParaRPr sz="7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7261328" y="2957437"/>
            <a:ext cx="1229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3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Kai Schindler</a:t>
            </a:r>
            <a:endParaRPr b="0" i="0" sz="1350" u="none" cap="none" strike="noStrike"/>
          </a:p>
        </p:txBody>
      </p:sp>
      <p:pic>
        <p:nvPicPr>
          <p:cNvPr id="101" name="Google Shape;101;p16" title="headshot.jpg"/>
          <p:cNvPicPr preferRelativeResize="0"/>
          <p:nvPr/>
        </p:nvPicPr>
        <p:blipFill rotWithShape="1">
          <a:blip r:embed="rId4">
            <a:alphaModFix/>
          </a:blip>
          <a:srcRect b="60" l="0" r="0" t="60"/>
          <a:stretch/>
        </p:blipFill>
        <p:spPr>
          <a:xfrm>
            <a:off x="4923375" y="1351467"/>
            <a:ext cx="1496400" cy="1494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6" title="1757438911229.jpeg"/>
          <p:cNvPicPr preferRelativeResize="0"/>
          <p:nvPr/>
        </p:nvPicPr>
        <p:blipFill rotWithShape="1">
          <a:blip r:embed="rId5">
            <a:alphaModFix/>
          </a:blip>
          <a:srcRect b="60" l="0" r="0" t="60"/>
          <a:stretch/>
        </p:blipFill>
        <p:spPr>
          <a:xfrm>
            <a:off x="604500" y="1341275"/>
            <a:ext cx="1496400" cy="1494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" name="Google Shape;103;p16"/>
          <p:cNvSpPr/>
          <p:nvPr/>
        </p:nvSpPr>
        <p:spPr>
          <a:xfrm>
            <a:off x="2578513" y="3224975"/>
            <a:ext cx="1849200" cy="14496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2506263" y="3301600"/>
            <a:ext cx="1818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Applied Data Science,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BS Data Science &amp; Economics, UC Berkeley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Academic Intern, UC Berkeley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28100" y="3223775"/>
            <a:ext cx="1849200" cy="14496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355850" y="3300400"/>
            <a:ext cx="1818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Applied Data Science,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BS Data Science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Project Manager, CharacTour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Team Member, Internet Equity Initiative</a:t>
            </a:r>
            <a:endParaRPr sz="7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7" name="Google Shape;107;p16" title="channels4_profi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6"/>
          <p:cNvSpPr/>
          <p:nvPr/>
        </p:nvSpPr>
        <p:spPr>
          <a:xfrm>
            <a:off x="6951575" y="3222575"/>
            <a:ext cx="1849200" cy="14496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6879325" y="3299200"/>
            <a:ext cx="18183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Applied Data Science,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BA Mathematics, UChicago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7940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Char char="●"/>
            </a:pPr>
            <a:r>
              <a:rPr lang="en" sz="8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Science Intern, CharacTour</a:t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7">
            <a:alphaModFix/>
          </a:blip>
          <a:srcRect b="0" l="0" r="0" t="21606"/>
          <a:stretch/>
        </p:blipFill>
        <p:spPr>
          <a:xfrm>
            <a:off x="7114175" y="1345675"/>
            <a:ext cx="1432200" cy="1494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16" title="05.jpg"/>
          <p:cNvPicPr preferRelativeResize="0"/>
          <p:nvPr/>
        </p:nvPicPr>
        <p:blipFill rotWithShape="1">
          <a:blip r:embed="rId8">
            <a:alphaModFix/>
          </a:blip>
          <a:srcRect b="16197" l="-5779" r="-5779" t="-2860"/>
          <a:stretch/>
        </p:blipFill>
        <p:spPr>
          <a:xfrm>
            <a:off x="2798200" y="1294017"/>
            <a:ext cx="1496400" cy="1494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p16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2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228400" y="755875"/>
            <a:ext cx="8854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Forecasting Matters at Rakuten Advertising </a:t>
            </a:r>
            <a:endParaRPr b="0" i="0" sz="25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228405" y="1619675"/>
            <a:ext cx="2965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b="0" i="0" lang="en" sz="18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Affiliate Network</a:t>
            </a:r>
            <a:endParaRPr b="0" i="0" sz="1800" u="none" cap="none" strike="noStrike">
              <a:solidFill>
                <a:srgbClr val="8528CB"/>
              </a:solidFill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28405" y="2061952"/>
            <a:ext cx="3610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Rakuten operates a </a:t>
            </a:r>
            <a:r>
              <a:rPr b="1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global affiliate advertising network</a:t>
            </a: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connecting brands with affiliate marketers and publishers across key verticals:</a:t>
            </a:r>
            <a:endParaRPr b="0" i="0" sz="110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4243657" y="1619675"/>
            <a:ext cx="4173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8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Accurate Forecasting Matters</a:t>
            </a:r>
            <a:endParaRPr b="0" i="0" sz="1000" u="none" cap="none" strike="noStrike">
              <a:solidFill>
                <a:srgbClr val="8528CB"/>
              </a:solidFill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277975" y="2133875"/>
            <a:ext cx="39729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Revenue forecasts protect</a:t>
            </a: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revenue and </a:t>
            </a: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drive critical business decisions:</a:t>
            </a:r>
            <a:endParaRPr b="0" i="0" sz="1100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4746363" y="2813966"/>
            <a:ext cx="3114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Target Setting</a:t>
            </a:r>
            <a:endParaRPr b="0" i="0" sz="100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4746363" y="3295648"/>
            <a:ext cx="3081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Advertising Budget Allocation</a:t>
            </a:r>
            <a:endParaRPr b="0" i="0" sz="1000" u="none" cap="none" strike="noStrike"/>
          </a:p>
        </p:txBody>
      </p:sp>
      <p:sp>
        <p:nvSpPr>
          <p:cNvPr id="130" name="Google Shape;130;p17"/>
          <p:cNvSpPr/>
          <p:nvPr/>
        </p:nvSpPr>
        <p:spPr>
          <a:xfrm>
            <a:off x="4746363" y="3787302"/>
            <a:ext cx="3081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Campaign Timing &amp; Planning</a:t>
            </a:r>
            <a:endParaRPr b="0" i="0" sz="100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4746363" y="4278956"/>
            <a:ext cx="3389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Libre Baskerville"/>
              <a:buNone/>
            </a:pPr>
            <a:r>
              <a:rPr b="0" i="0" lang="en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Affiliate Partner Selection</a:t>
            </a:r>
            <a:endParaRPr b="0" i="0" sz="100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420525" y="2933238"/>
            <a:ext cx="1157700" cy="5232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Luxury Brand Retail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1843750" y="2933238"/>
            <a:ext cx="1157700" cy="5232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Luxury Department Retail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420525" y="3638963"/>
            <a:ext cx="1157700" cy="5232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Travel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1843750" y="3638963"/>
            <a:ext cx="1157700" cy="5232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Finance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4277975" y="2813975"/>
            <a:ext cx="289200" cy="11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4277975" y="3295650"/>
            <a:ext cx="289200" cy="11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4277975" y="3842675"/>
            <a:ext cx="289200" cy="11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4277975" y="4304150"/>
            <a:ext cx="289200" cy="11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17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1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7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180425" y="632200"/>
            <a:ext cx="8902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50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Need for a Standardized Forecasting Pipeline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t/>
            </a:r>
            <a:endParaRPr sz="250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49600" y="1222175"/>
            <a:ext cx="3568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25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Process Challenges</a:t>
            </a:r>
            <a:endParaRPr b="0" i="0" sz="1050" u="none" cap="none" strike="noStrike"/>
          </a:p>
        </p:txBody>
      </p:sp>
      <p:sp>
        <p:nvSpPr>
          <p:cNvPr id="155" name="Google Shape;155;p18"/>
          <p:cNvSpPr/>
          <p:nvPr/>
        </p:nvSpPr>
        <p:spPr>
          <a:xfrm>
            <a:off x="449610" y="1597447"/>
            <a:ext cx="2670600" cy="1344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2213" y="1759975"/>
            <a:ext cx="2570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Manual Monthly Adjustments</a:t>
            </a:r>
            <a:endParaRPr b="0" i="0" sz="1250" u="none" cap="none" strike="noStrike"/>
          </a:p>
        </p:txBody>
      </p:sp>
      <p:sp>
        <p:nvSpPr>
          <p:cNvPr id="157" name="Google Shape;157;p18"/>
          <p:cNvSpPr/>
          <p:nvPr/>
        </p:nvSpPr>
        <p:spPr>
          <a:xfrm>
            <a:off x="592248" y="2010663"/>
            <a:ext cx="2342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lang="en" sz="1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Forecasts are manually revised each month with no scalable or repeatable framework, resulting in high revision costs</a:t>
            </a:r>
            <a:endParaRPr b="0" i="0" sz="1000" u="none" cap="none" strike="noStrike"/>
          </a:p>
        </p:txBody>
      </p:sp>
      <p:sp>
        <p:nvSpPr>
          <p:cNvPr id="158" name="Google Shape;158;p18"/>
          <p:cNvSpPr/>
          <p:nvPr/>
        </p:nvSpPr>
        <p:spPr>
          <a:xfrm>
            <a:off x="3236640" y="1597447"/>
            <a:ext cx="2670600" cy="1344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3422228" y="1740173"/>
            <a:ext cx="25704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lang="en" sz="1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Client Pressure</a:t>
            </a:r>
            <a:endParaRPr b="0" i="0" sz="125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3422228" y="2010668"/>
            <a:ext cx="2342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lang="en" sz="1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Clients frequently adjust company-specific assumptions, and inaccurate forecasts can reduce client satisfaction and trust</a:t>
            </a:r>
            <a:endParaRPr b="0" i="0" sz="100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6023670" y="1597447"/>
            <a:ext cx="2670600" cy="13443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6168650" y="1759975"/>
            <a:ext cx="2385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lang="en" sz="1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Vertical-level Modeling Gaps</a:t>
            </a:r>
            <a:endParaRPr b="0" i="0" sz="1250" u="none" cap="none" strike="noStrike"/>
          </a:p>
        </p:txBody>
      </p:sp>
      <p:sp>
        <p:nvSpPr>
          <p:cNvPr id="163" name="Google Shape;163;p18"/>
          <p:cNvSpPr/>
          <p:nvPr/>
        </p:nvSpPr>
        <p:spPr>
          <a:xfrm>
            <a:off x="6209258" y="2072663"/>
            <a:ext cx="2342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lang="en" sz="1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Companies within the same vertical often share trends and behaviors, but these relationships are not currently leveraged in forecasting models</a:t>
            </a:r>
            <a:endParaRPr b="0" i="0" sz="1000" u="none" cap="none" strike="noStrike"/>
          </a:p>
        </p:txBody>
      </p:sp>
      <p:sp>
        <p:nvSpPr>
          <p:cNvPr id="164" name="Google Shape;164;p18"/>
          <p:cNvSpPr/>
          <p:nvPr/>
        </p:nvSpPr>
        <p:spPr>
          <a:xfrm>
            <a:off x="474585" y="3039836"/>
            <a:ext cx="3338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25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Operational Cost</a:t>
            </a:r>
            <a:endParaRPr b="0" i="0" sz="1250" u="none" cap="none" strike="noStrike"/>
          </a:p>
        </p:txBody>
      </p:sp>
      <p:sp>
        <p:nvSpPr>
          <p:cNvPr id="165" name="Google Shape;165;p18"/>
          <p:cNvSpPr/>
          <p:nvPr/>
        </p:nvSpPr>
        <p:spPr>
          <a:xfrm>
            <a:off x="2433485" y="3488200"/>
            <a:ext cx="2180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6hrs</a:t>
            </a:r>
            <a:endParaRPr b="0" i="0" sz="3300" u="none" cap="none" strike="noStrike"/>
          </a:p>
        </p:txBody>
      </p:sp>
      <p:sp>
        <p:nvSpPr>
          <p:cNvPr id="166" name="Google Shape;166;p18"/>
          <p:cNvSpPr/>
          <p:nvPr/>
        </p:nvSpPr>
        <p:spPr>
          <a:xfrm>
            <a:off x="2606497" y="4063644"/>
            <a:ext cx="1834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 Forecast</a:t>
            </a:r>
            <a:endParaRPr b="0" i="0" sz="125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312344" y="3488188"/>
            <a:ext cx="2180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400</a:t>
            </a:r>
            <a:endParaRPr b="0" i="0" sz="330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485431" y="4063632"/>
            <a:ext cx="1834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Forecasts / </a:t>
            </a:r>
            <a:r>
              <a:rPr lang="en" sz="1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Month</a:t>
            </a:r>
            <a:endParaRPr b="0" i="0" sz="1250" u="none" cap="none" strike="noStrike"/>
          </a:p>
        </p:txBody>
      </p:sp>
      <p:sp>
        <p:nvSpPr>
          <p:cNvPr id="169" name="Google Shape;169;p18"/>
          <p:cNvSpPr/>
          <p:nvPr/>
        </p:nvSpPr>
        <p:spPr>
          <a:xfrm>
            <a:off x="4441078" y="3479325"/>
            <a:ext cx="2180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$75</a:t>
            </a:r>
            <a:endParaRPr b="0" i="0" sz="3300" u="none" cap="none" strike="noStrike"/>
          </a:p>
        </p:txBody>
      </p:sp>
      <p:sp>
        <p:nvSpPr>
          <p:cNvPr id="170" name="Google Shape;170;p18"/>
          <p:cNvSpPr/>
          <p:nvPr/>
        </p:nvSpPr>
        <p:spPr>
          <a:xfrm>
            <a:off x="4614165" y="4054769"/>
            <a:ext cx="1834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Labor Cost / Hr</a:t>
            </a:r>
            <a:endParaRPr b="0" i="0" sz="125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6538661" y="3479325"/>
            <a:ext cx="21807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$2.16M</a:t>
            </a:r>
            <a:endParaRPr b="0" i="0" sz="3300" u="none" cap="none" strike="noStrike">
              <a:solidFill>
                <a:srgbClr val="8528CB"/>
              </a:solidFill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711748" y="4054769"/>
            <a:ext cx="1834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50"/>
              <a:buFont typeface="Libre Baskerville"/>
              <a:buNone/>
            </a:pPr>
            <a:r>
              <a:rPr b="0" i="0" lang="en" sz="125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Annual Cost</a:t>
            </a:r>
            <a:endParaRPr b="0" i="0" sz="1250" u="none" cap="none" strike="noStrike">
              <a:solidFill>
                <a:srgbClr val="8528CB"/>
              </a:solidFill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74585" y="4407033"/>
            <a:ext cx="86943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lang="en" sz="1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400 forecasts × 12 months × </a:t>
            </a:r>
            <a:r>
              <a:rPr b="0" i="0" lang="en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6 hrs × $75/hr = </a:t>
            </a:r>
            <a:r>
              <a:rPr b="1" i="0" lang="en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$2.16M annually</a:t>
            </a:r>
            <a:r>
              <a:rPr b="0" i="0" lang="en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in forecasting labor</a:t>
            </a:r>
            <a:endParaRPr b="0" i="0" sz="1000" u="none" cap="none" strike="noStrike"/>
          </a:p>
        </p:txBody>
      </p:sp>
      <p:pic>
        <p:nvPicPr>
          <p:cNvPr id="174" name="Google Shape;174;p18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8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/>
          <p:nvPr/>
        </p:nvSpPr>
        <p:spPr>
          <a:xfrm>
            <a:off x="6107275" y="2158975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3169213" y="2158975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275625" y="2158975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492475" y="643000"/>
            <a:ext cx="81255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 Questions That Guided Our Design</a:t>
            </a:r>
            <a:endParaRPr b="0" i="0" sz="2500" u="none" cap="none" strike="noStrike"/>
          </a:p>
        </p:txBody>
      </p:sp>
      <p:sp>
        <p:nvSpPr>
          <p:cNvPr id="191" name="Google Shape;191;p19"/>
          <p:cNvSpPr/>
          <p:nvPr/>
        </p:nvSpPr>
        <p:spPr>
          <a:xfrm>
            <a:off x="492475" y="1365978"/>
            <a:ext cx="820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We aim to design a forecasting system that is </a:t>
            </a:r>
            <a:r>
              <a:rPr b="1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accurate</a:t>
            </a: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standardized</a:t>
            </a: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personalized by </a:t>
            </a:r>
            <a:r>
              <a:rPr lang="en" sz="125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vertical</a:t>
            </a: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b="1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computationally efficient</a:t>
            </a:r>
            <a:r>
              <a:rPr b="0" i="0" lang="en" sz="12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 To achieve this, we address three core research questions:</a:t>
            </a:r>
            <a:endParaRPr b="0" i="0" sz="1250" u="none" cap="none" strike="noStrike"/>
          </a:p>
        </p:txBody>
      </p:sp>
      <p:sp>
        <p:nvSpPr>
          <p:cNvPr id="192" name="Google Shape;192;p19"/>
          <p:cNvSpPr/>
          <p:nvPr/>
        </p:nvSpPr>
        <p:spPr>
          <a:xfrm>
            <a:off x="411580" y="2354113"/>
            <a:ext cx="1471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 1</a:t>
            </a:r>
            <a:endParaRPr b="0" i="0" sz="150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411563" y="2760625"/>
            <a:ext cx="2319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Do </a:t>
            </a:r>
            <a:r>
              <a:rPr b="1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Time Series Foundation Models (TSFMs)</a:t>
            </a: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outperform traditional forecasting approaches</a:t>
            </a: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0" i="0" sz="1200" u="none" cap="none" strike="noStrike"/>
          </a:p>
        </p:txBody>
      </p:sp>
      <p:sp>
        <p:nvSpPr>
          <p:cNvPr id="194" name="Google Shape;194;p19"/>
          <p:cNvSpPr/>
          <p:nvPr/>
        </p:nvSpPr>
        <p:spPr>
          <a:xfrm>
            <a:off x="3325331" y="2319622"/>
            <a:ext cx="1117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 2</a:t>
            </a:r>
            <a:endParaRPr b="0" i="0" sz="1500" u="none" cap="none" strike="noStrike"/>
          </a:p>
        </p:txBody>
      </p:sp>
      <p:sp>
        <p:nvSpPr>
          <p:cNvPr id="195" name="Google Shape;195;p19"/>
          <p:cNvSpPr/>
          <p:nvPr/>
        </p:nvSpPr>
        <p:spPr>
          <a:xfrm>
            <a:off x="3325328" y="2760625"/>
            <a:ext cx="24678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Can </a:t>
            </a:r>
            <a:r>
              <a:rPr b="1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Parameter-Efficient Fine-Tuning (PEFT)</a:t>
            </a: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improve forecasting accuracy within vertical while remaining cost-effective?</a:t>
            </a:r>
            <a:endParaRPr b="0" i="0" sz="1200" u="none" cap="none" strike="noStrike"/>
          </a:p>
        </p:txBody>
      </p:sp>
      <p:sp>
        <p:nvSpPr>
          <p:cNvPr id="196" name="Google Shape;196;p19"/>
          <p:cNvSpPr/>
          <p:nvPr/>
        </p:nvSpPr>
        <p:spPr>
          <a:xfrm>
            <a:off x="6268306" y="2314828"/>
            <a:ext cx="1155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 3</a:t>
            </a:r>
            <a:endParaRPr b="0" i="0" sz="1500" u="none" cap="none" strike="noStrike"/>
          </a:p>
        </p:txBody>
      </p:sp>
      <p:sp>
        <p:nvSpPr>
          <p:cNvPr id="197" name="Google Shape;197;p19"/>
          <p:cNvSpPr/>
          <p:nvPr/>
        </p:nvSpPr>
        <p:spPr>
          <a:xfrm>
            <a:off x="6268300" y="2760625"/>
            <a:ext cx="21204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Can these approaches operate within </a:t>
            </a:r>
            <a:r>
              <a:rPr b="1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Rakuten's computational and infrastructure constraints</a:t>
            </a:r>
            <a:r>
              <a:rPr b="0" i="0" lang="en" sz="12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at scale?</a:t>
            </a:r>
            <a:endParaRPr b="0" i="0" sz="1200" u="none" cap="none" strike="noStrike"/>
          </a:p>
        </p:txBody>
      </p:sp>
      <p:pic>
        <p:nvPicPr>
          <p:cNvPr id="198" name="Google Shape;198;p19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1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19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492469" y="788879"/>
            <a:ext cx="488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 Core Deliverables</a:t>
            </a:r>
            <a:endParaRPr b="0" i="0" sz="2500" u="none" cap="none" strike="noStrike"/>
          </a:p>
        </p:txBody>
      </p:sp>
      <p:sp>
        <p:nvSpPr>
          <p:cNvPr id="212" name="Google Shape;212;p20"/>
          <p:cNvSpPr/>
          <p:nvPr/>
        </p:nvSpPr>
        <p:spPr>
          <a:xfrm>
            <a:off x="5979375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3192350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t/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19625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61725" y="1925700"/>
            <a:ext cx="40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</a:t>
            </a: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b="0" i="0" sz="1500" u="none" cap="none" strike="noStrike"/>
          </a:p>
        </p:txBody>
      </p:sp>
      <p:sp>
        <p:nvSpPr>
          <p:cNvPr id="216" name="Google Shape;216;p20"/>
          <p:cNvSpPr/>
          <p:nvPr/>
        </p:nvSpPr>
        <p:spPr>
          <a:xfrm>
            <a:off x="595263" y="2571750"/>
            <a:ext cx="2319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Vertical-aware pipeline, one-click forecasts – replaces 6 hours of manual tuning per run</a:t>
            </a:r>
            <a:endParaRPr sz="13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323031" y="1891197"/>
            <a:ext cx="1117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</a:t>
            </a:r>
            <a:endParaRPr b="0" i="0" sz="1500" u="none" cap="none" strike="noStrike"/>
          </a:p>
        </p:txBody>
      </p:sp>
      <p:sp>
        <p:nvSpPr>
          <p:cNvPr id="218" name="Google Shape;218;p20"/>
          <p:cNvSpPr/>
          <p:nvPr/>
        </p:nvSpPr>
        <p:spPr>
          <a:xfrm>
            <a:off x="3432000" y="2319050"/>
            <a:ext cx="22698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Built for technical and non-technical stakeholders — adjustable models, covariates, and horizon, with forecasts, comparisons, and confidence intervals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124356" y="1925703"/>
            <a:ext cx="1155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en" sz="15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</a:t>
            </a:r>
            <a:endParaRPr b="0" i="0" sz="1500" u="none" cap="none" strike="noStrike"/>
          </a:p>
        </p:txBody>
      </p:sp>
      <p:sp>
        <p:nvSpPr>
          <p:cNvPr id="220" name="Google Shape;220;p20"/>
          <p:cNvSpPr/>
          <p:nvPr/>
        </p:nvSpPr>
        <p:spPr>
          <a:xfrm>
            <a:off x="6197625" y="2571750"/>
            <a:ext cx="2234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Scores every candidate model on shared metrics, re-checked for drift as new data arrives</a:t>
            </a:r>
            <a:endParaRPr sz="13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59813" y="1846050"/>
            <a:ext cx="2106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Standardized Forecasting Pipeline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565083" y="1913702"/>
            <a:ext cx="2469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en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Interactive Dashboard</a:t>
            </a:r>
            <a:endParaRPr b="0" i="0" u="none" cap="none" strike="noStrike"/>
          </a:p>
        </p:txBody>
      </p:sp>
      <p:sp>
        <p:nvSpPr>
          <p:cNvPr id="223" name="Google Shape;223;p20"/>
          <p:cNvSpPr/>
          <p:nvPr/>
        </p:nvSpPr>
        <p:spPr>
          <a:xfrm>
            <a:off x="6364247" y="1925689"/>
            <a:ext cx="2599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en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Evaluation Framework</a:t>
            </a:r>
            <a:endParaRPr b="0" i="0" u="none" cap="none" strike="noStrike"/>
          </a:p>
        </p:txBody>
      </p:sp>
      <p:pic>
        <p:nvPicPr>
          <p:cNvPr id="224" name="Google Shape;224;p20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2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0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/>
          <p:nvPr/>
        </p:nvSpPr>
        <p:spPr>
          <a:xfrm>
            <a:off x="4716450" y="1426925"/>
            <a:ext cx="4183200" cy="3237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467100" y="511850"/>
            <a:ext cx="73656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Literature’s Case: Pretrain Broadly, Fine-Tune Cheaply</a:t>
            </a:r>
            <a:endParaRPr sz="250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239" name="Google Shape;239;p21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21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1"/>
          <p:cNvSpPr/>
          <p:nvPr/>
        </p:nvSpPr>
        <p:spPr>
          <a:xfrm>
            <a:off x="4855150" y="1468488"/>
            <a:ext cx="28404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PEFT Enables Affordable Vertical Adaptation</a:t>
            </a:r>
            <a:endParaRPr b="0" i="0" sz="1700" u="none" cap="none" strike="noStrike"/>
          </a:p>
        </p:txBody>
      </p:sp>
      <p:sp>
        <p:nvSpPr>
          <p:cNvPr id="243" name="Google Shape;243;p21"/>
          <p:cNvSpPr/>
          <p:nvPr/>
        </p:nvSpPr>
        <p:spPr>
          <a:xfrm>
            <a:off x="4917000" y="2355200"/>
            <a:ext cx="37821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Full fine-tuning: costly, prone to overfitting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b="1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Low Rank Adaptation (LoRA / QLoRA):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update only a small fraction of parameters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Prompt-based methods: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trainable embeddings adapt to industry specific patterns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163250" y="1426925"/>
            <a:ext cx="4183200" cy="3237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352725" y="1468488"/>
            <a:ext cx="28404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t/>
            </a:r>
            <a:endParaRPr b="0" i="0" sz="1500" u="none" cap="none" strike="noStrike"/>
          </a:p>
        </p:txBody>
      </p:sp>
      <p:sp>
        <p:nvSpPr>
          <p:cNvPr id="246" name="Google Shape;246;p21"/>
          <p:cNvSpPr/>
          <p:nvPr/>
        </p:nvSpPr>
        <p:spPr>
          <a:xfrm>
            <a:off x="174425" y="2355200"/>
            <a:ext cx="40119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Broad temporal patterns learned via large-scale pretraining (web/search data or synthetic augmentation)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Variants extend this further: exogenous-variable support </a:t>
            </a:r>
            <a:r>
              <a:rPr b="1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(Tiny Time Mixer)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sparse-history handling </a:t>
            </a:r>
            <a:r>
              <a:rPr b="1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(Chronos)</a:t>
            </a: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trend alignment </a:t>
            </a:r>
            <a:r>
              <a:rPr b="1"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(TimesFM)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27325" y="1504850"/>
            <a:ext cx="35061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TSFMs Capture Complex Temporal Patterns at Scale</a:t>
            </a:r>
            <a:endParaRPr b="0" i="0" sz="1700" u="none" cap="none" strike="noStrike"/>
          </a:p>
        </p:txBody>
      </p:sp>
      <p:sp>
        <p:nvSpPr>
          <p:cNvPr id="248" name="Google Shape;248;p21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492469" y="788879"/>
            <a:ext cx="488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1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Overview 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t/>
            </a:r>
            <a:endParaRPr sz="25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5979375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3192350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419625" y="1730544"/>
            <a:ext cx="26706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595263" y="2357825"/>
            <a:ext cx="2319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lang="en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Nielsen Consumer Marketing Data (Receipts)</a:t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323031" y="1891197"/>
            <a:ext cx="1117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t/>
            </a:r>
            <a:endParaRPr b="0" i="0" sz="1500" u="none" cap="none" strike="noStrike"/>
          </a:p>
        </p:txBody>
      </p:sp>
      <p:sp>
        <p:nvSpPr>
          <p:cNvPr id="264" name="Google Shape;264;p22"/>
          <p:cNvSpPr/>
          <p:nvPr/>
        </p:nvSpPr>
        <p:spPr>
          <a:xfrm>
            <a:off x="3293753" y="2387725"/>
            <a:ext cx="24678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1,661,290 rows x 8 columns</a:t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100MB</a:t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t/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01-01-2022 to 04-05-2026</a:t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6124356" y="1925703"/>
            <a:ext cx="1155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t/>
            </a:r>
            <a:endParaRPr b="0" i="0" sz="1500" u="none" cap="none" strike="noStrike"/>
          </a:p>
        </p:txBody>
      </p:sp>
      <p:sp>
        <p:nvSpPr>
          <p:cNvPr id="266" name="Google Shape;266;p22"/>
          <p:cNvSpPr/>
          <p:nvPr/>
        </p:nvSpPr>
        <p:spPr>
          <a:xfrm>
            <a:off x="6080775" y="2356500"/>
            <a:ext cx="24678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i="1" lang="en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order date, vertical, merchant name, order count, scaled order volume, scaled item volume, scaled revenue, scaled average order value 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t/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t/>
            </a:r>
            <a:endParaRPr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92463" y="1842300"/>
            <a:ext cx="2106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Source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3300158" y="1913702"/>
            <a:ext cx="2469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Size and Range</a:t>
            </a:r>
            <a:endParaRPr i="0" sz="1700" u="none" cap="none" strike="noStrike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6080772" y="1913689"/>
            <a:ext cx="2599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lang="en" sz="1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Variables</a:t>
            </a:r>
            <a:endParaRPr b="0" i="0" sz="1700" u="none" cap="none" strike="noStrike"/>
          </a:p>
        </p:txBody>
      </p:sp>
      <p:pic>
        <p:nvPicPr>
          <p:cNvPr id="270" name="Google Shape;270;p22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22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2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3" title="correlation_matrix_luxury_bra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750" y="558227"/>
            <a:ext cx="3467676" cy="262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0" y="4346652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23"/>
          <p:cNvCxnSpPr/>
          <p:nvPr/>
        </p:nvCxnSpPr>
        <p:spPr>
          <a:xfrm>
            <a:off x="830538" y="45346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23"/>
          <p:cNvSpPr/>
          <p:nvPr/>
        </p:nvSpPr>
        <p:spPr>
          <a:xfrm>
            <a:off x="305275" y="643000"/>
            <a:ext cx="8209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1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Exploratory Data Analysis (EDA)</a:t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t/>
            </a:r>
            <a:endParaRPr sz="250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363525" y="1193973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525450" y="1160925"/>
            <a:ext cx="4125000" cy="9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0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Quality</a:t>
            </a:r>
            <a:endParaRPr i="0" sz="100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No duplicate records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10% missingness in scaled revenue &amp; </a:t>
            </a:r>
            <a:r>
              <a:rPr lang="en" sz="9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average order value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Weak relationship to observed variables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Limited concentration in primary verticals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525450" y="2117325"/>
            <a:ext cx="44403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0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Verticals</a:t>
            </a:r>
            <a:endParaRPr i="0" sz="100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14 business verticals in total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Narrowed to Luxury Brand Retail, Luxury Dept. Retail, Travel &amp; Finance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25450" y="2686775"/>
            <a:ext cx="3057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0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Trend &amp; Seasonality</a:t>
            </a:r>
            <a:endParaRPr i="0" sz="100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Seasonal patterns in revenue transaction metrics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Holiday demand peaks every December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525450" y="3869925"/>
            <a:ext cx="36990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0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Distribution Analysis</a:t>
            </a:r>
            <a:endParaRPr i="0" sz="100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Revenue, order count &amp; order volume are right-skewed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Many outliers observed across verticals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525450" y="3289300"/>
            <a:ext cx="4167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350"/>
              <a:buFont typeface="Calibri"/>
              <a:buNone/>
            </a:pPr>
            <a:r>
              <a:rPr b="1" i="0" lang="en" sz="10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Correlation Structure</a:t>
            </a:r>
            <a:endParaRPr i="0" sz="1000" u="none" cap="none" strike="noStrike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Order count, order volume &amp; item volume correlate strongly with revenue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900"/>
              <a:buFont typeface="Open Sans"/>
              <a:buChar char="–"/>
            </a:pPr>
            <a:r>
              <a:rPr lang="en" sz="9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Average order value </a:t>
            </a:r>
            <a:r>
              <a:rPr i="0" lang="en" sz="9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 behaves more independently across verticals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3" name="Google Shape;293;p23" title="imag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3725" y="4497747"/>
            <a:ext cx="1117151" cy="43565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363525" y="2144723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363538" y="2710048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363550" y="3304873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363525" y="3899698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7E57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5450" y="3105275"/>
            <a:ext cx="3743587" cy="2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/>
          <p:nvPr/>
        </p:nvSpPr>
        <p:spPr>
          <a:xfrm>
            <a:off x="4572000" y="1863200"/>
            <a:ext cx="4392900" cy="3040800"/>
          </a:xfrm>
          <a:prstGeom prst="roundRect">
            <a:avLst>
              <a:gd fmla="val 2086" name="adj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492475" y="643000"/>
            <a:ext cx="82098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90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Preprocessing &amp; Validation Strategy</a:t>
            </a:r>
            <a:endParaRPr sz="250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1661500" y="1846025"/>
            <a:ext cx="1357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700"/>
              <a:buFont typeface="Libre Baskerville"/>
              <a:buNone/>
            </a:pPr>
            <a:r>
              <a:rPr lang="en" sz="12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Vertical and Test/Train Split</a:t>
            </a:r>
            <a:endParaRPr sz="12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1661500" y="2336650"/>
            <a:ext cx="12846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dataset was segmented by business vertical and split chronologically into training and testing periods. The length of the testing window can be adjusted by the client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304250" y="1867675"/>
            <a:ext cx="1173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700"/>
              <a:buFont typeface="Libre Baskerville"/>
              <a:buNone/>
            </a:pPr>
            <a:r>
              <a:rPr b="0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  <a:endParaRPr b="0" i="0" sz="1200" u="none" cap="none" strike="noStrike">
              <a:solidFill>
                <a:srgbClr val="8528CB"/>
              </a:solidFill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304250" y="2336650"/>
            <a:ext cx="11508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Missing values were consistent with moving at random behavior and removed due to limited impact on the primary verticals of interest</a:t>
            </a:r>
            <a:endParaRPr b="0" i="0" sz="900" u="none" cap="none" strike="noStrike"/>
          </a:p>
        </p:txBody>
      </p:sp>
      <p:sp>
        <p:nvSpPr>
          <p:cNvPr id="315" name="Google Shape;315;p24"/>
          <p:cNvSpPr/>
          <p:nvPr/>
        </p:nvSpPr>
        <p:spPr>
          <a:xfrm>
            <a:off x="3018750" y="1881700"/>
            <a:ext cx="11508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700"/>
              <a:buFont typeface="Libre Baskerville"/>
              <a:buNone/>
            </a:pPr>
            <a:r>
              <a:rPr lang="en" sz="12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Normalization</a:t>
            </a:r>
            <a:endParaRPr b="0" i="0" sz="1200" u="none" cap="none" strike="noStrike">
              <a:solidFill>
                <a:srgbClr val="8528CB"/>
              </a:solidFill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3018750" y="2364650"/>
            <a:ext cx="10818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Standard scaling was applied to normalize the heavily right-skewed feature distributions</a:t>
            </a:r>
            <a:endParaRPr b="0" i="0" sz="900" u="none" cap="none" strike="noStrike"/>
          </a:p>
        </p:txBody>
      </p:sp>
      <p:sp>
        <p:nvSpPr>
          <p:cNvPr id="317" name="Google Shape;317;p24"/>
          <p:cNvSpPr/>
          <p:nvPr/>
        </p:nvSpPr>
        <p:spPr>
          <a:xfrm>
            <a:off x="4847004" y="1483375"/>
            <a:ext cx="1793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950"/>
              <a:buFont typeface="Libre Baskerville"/>
              <a:buNone/>
            </a:pPr>
            <a:r>
              <a:rPr lang="en" sz="13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  <a:endParaRPr b="0" i="0" sz="1300" u="none" cap="none" strike="noStrike">
              <a:solidFill>
                <a:srgbClr val="8528CB"/>
              </a:solidFill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681350" y="1931725"/>
            <a:ext cx="4046700" cy="29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Rolling statistics (7-day and 28-day moving averages and standard deviations)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Lag features for revenue, order count, and AOV (1, 7, and 28 days)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Day-over-day and week-over-week percentage change features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Ratio features including items per order and revenue per item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Cyclical sine/cosine encodings for day of week and month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Weekend indicator variables and expanding revenue averages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9" name="Google Shape;319;p24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2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24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 sz="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304250" y="1355363"/>
            <a:ext cx="341400" cy="354300"/>
          </a:xfrm>
          <a:prstGeom prst="ellipse">
            <a:avLst/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1661500" y="1355375"/>
            <a:ext cx="341400" cy="354300"/>
          </a:xfrm>
          <a:prstGeom prst="ellipse">
            <a:avLst/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921075" y="1480175"/>
            <a:ext cx="465000" cy="1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7B2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3018750" y="1382413"/>
            <a:ext cx="341400" cy="354300"/>
          </a:xfrm>
          <a:prstGeom prst="ellipse">
            <a:avLst/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4376000" y="1382425"/>
            <a:ext cx="341400" cy="354300"/>
          </a:xfrm>
          <a:prstGeom prst="ellipse">
            <a:avLst/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3635575" y="1480175"/>
            <a:ext cx="465000" cy="1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7B2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2278325" y="1480175"/>
            <a:ext cx="465000" cy="1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7B2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"/>
          <p:cNvSpPr/>
          <p:nvPr/>
        </p:nvSpPr>
        <p:spPr>
          <a:xfrm>
            <a:off x="426550" y="615600"/>
            <a:ext cx="8209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Benchmarks We Had to Beat</a:t>
            </a:r>
            <a:endParaRPr sz="250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228400" y="755875"/>
            <a:ext cx="8854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41" name="Google Shape;341;p25"/>
          <p:cNvSpPr/>
          <p:nvPr/>
        </p:nvSpPr>
        <p:spPr>
          <a:xfrm>
            <a:off x="3014875" y="1144375"/>
            <a:ext cx="31704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Statistical Forecasting Models</a:t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342" name="Google Shape;342;p25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5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" name="Google Shape;344;p2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25"/>
          <p:cNvSpPr/>
          <p:nvPr/>
        </p:nvSpPr>
        <p:spPr>
          <a:xfrm>
            <a:off x="143350" y="1499425"/>
            <a:ext cx="2108400" cy="17949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SARIMA/SARIMAX 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Seasonal AutoRegressive Integrated Moving Average/eXogenous regressors)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Autoregressive trend + seasonality modeling; SARIMAX adds external regressors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4920300" y="3762175"/>
            <a:ext cx="2108400" cy="938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XGBoost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9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Gradient boosting with engineered lag/rolling features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2063550" y="3762175"/>
            <a:ext cx="2108400" cy="938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LightGBM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9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Histogram-based tree boosting, optimized for speed and scale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2434900" y="1499425"/>
            <a:ext cx="2079000" cy="18303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VAR (Vector AutoRegression)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Multivariate modeling of interdependent time series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4697050" y="1499425"/>
            <a:ext cx="2108400" cy="18303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GARCH (Generalized AutoRegressive Conditional Heteroskedasticity)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Time-varying volatility (heteroskedasticity) modeling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6974800" y="1499425"/>
            <a:ext cx="2108400" cy="18303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ETS (Exponential Smoothing)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Level, trend, and seasonal decomposition via smoothing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3174600" y="3394888"/>
            <a:ext cx="2794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Machine Learning</a:t>
            </a: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Models</a:t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/>
          <p:nvPr/>
        </p:nvSpPr>
        <p:spPr>
          <a:xfrm>
            <a:off x="275625" y="559950"/>
            <a:ext cx="8807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Foundation Models Off the Shelf, Then Tuned 7 Ways</a:t>
            </a:r>
            <a:endParaRPr sz="2500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3532500" y="1144375"/>
            <a:ext cx="20790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Foundation</a:t>
            </a: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Models</a:t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t/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364" name="Google Shape;364;p26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6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6" name="Google Shape;366;p2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26"/>
          <p:cNvSpPr/>
          <p:nvPr/>
        </p:nvSpPr>
        <p:spPr>
          <a:xfrm>
            <a:off x="85675" y="14994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TimesFM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Decoder-only pretrained transformer (Google) for zero-shot forecasting</a:t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504550" y="3442363"/>
            <a:ext cx="2492100" cy="1211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P-tuning / Prompt Tuning / Prefix Tuning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Learn continuous prompt vectors prepended to inputs (or to keys/values per layer for prefix tuning); backbone frozen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6144250" y="3442225"/>
            <a:ext cx="2492100" cy="1211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LoRA/QLoRA/DoRA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9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Trainable low-rank matrices injected into frozen weights; QLoRA adds 4-bit quantization; applies LoRA only to direction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1913488" y="14994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Chronos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Tokenizes time series values, trained as a language model (Amazon, T5-based)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3741288" y="15225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MOMENT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Masked pretraining transformer for forecasting, classification, anomaly detection, imputation</a:t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7421800" y="14994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Moirai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Masked encoder transformer (Salesforce) handling arbitrary frequencies/dimensions via any-variate attention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2845800" y="3092425"/>
            <a:ext cx="3452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Parameter Efficient Fine-Tuning</a:t>
            </a:r>
            <a:endParaRPr sz="16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5581550" y="1522525"/>
            <a:ext cx="1661400" cy="1418100"/>
          </a:xfrm>
          <a:prstGeom prst="roundRect">
            <a:avLst>
              <a:gd fmla="val 16667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00" lIns="65000" spcFirstLastPara="1" rIns="65000" wrap="square" tIns="50000">
            <a:no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Tiny Time Mixers</a:t>
            </a:r>
            <a:endParaRPr i="0" sz="11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Lightweight MLP-Mixer model (IBM), no attention, fast zero/few-shot forecasting</a:t>
            </a:r>
            <a:endParaRPr sz="9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3232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3337150" y="3442225"/>
            <a:ext cx="2466600" cy="1211700"/>
          </a:xfrm>
          <a:prstGeom prst="roundRect">
            <a:avLst>
              <a:gd fmla="val 16667" name="adj"/>
            </a:avLst>
          </a:prstGeom>
          <a:solidFill>
            <a:srgbClr val="E9D7F8"/>
          </a:solidFill>
          <a:ln>
            <a:noFill/>
          </a:ln>
        </p:spPr>
        <p:txBody>
          <a:bodyPr anchorCtr="0" anchor="t" bIns="40000" lIns="65000" spcFirstLastPara="1" rIns="65000" wrap="square" tIns="5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" sz="11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BitFit</a:t>
            </a:r>
            <a:endParaRPr b="1" sz="11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sz="9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Fine-tunes only bias terms, freezes all other weights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12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/>
          <p:nvPr/>
        </p:nvSpPr>
        <p:spPr>
          <a:xfrm>
            <a:off x="426550" y="615600"/>
            <a:ext cx="85686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 Metrics Decide the Winner, 7 Keep It Honest</a:t>
            </a:r>
            <a:endParaRPr b="0" i="0" sz="2500" u="none" cap="none" strike="noStrike">
              <a:solidFill>
                <a:srgbClr val="403CC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26555" y="1155400"/>
            <a:ext cx="2965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00"/>
              <a:buFont typeface="Libre Baskerville"/>
              <a:buNone/>
            </a:pPr>
            <a:r>
              <a:rPr b="0" i="0" lang="en" sz="16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Metrics</a:t>
            </a:r>
            <a:endParaRPr b="0" i="0" sz="1600" u="none" cap="none" strike="noStrike">
              <a:solidFill>
                <a:srgbClr val="8528C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27" title="image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7" title="channels4_profil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0" name="Google Shape;390;p2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27"/>
          <p:cNvSpPr txBox="1"/>
          <p:nvPr/>
        </p:nvSpPr>
        <p:spPr>
          <a:xfrm>
            <a:off x="426555" y="1282100"/>
            <a:ext cx="8290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Nine accuracy metrics were computed for every model run; WAPE and MdAPE were tracked as the primary metrics.</a:t>
            </a:r>
            <a:endParaRPr/>
          </a:p>
        </p:txBody>
      </p:sp>
      <p:sp>
        <p:nvSpPr>
          <p:cNvPr id="392" name="Google Shape;392;p27"/>
          <p:cNvSpPr/>
          <p:nvPr/>
        </p:nvSpPr>
        <p:spPr>
          <a:xfrm>
            <a:off x="426555" y="1720000"/>
            <a:ext cx="4015500" cy="950100"/>
          </a:xfrm>
          <a:prstGeom prst="roundRect">
            <a:avLst>
              <a:gd fmla="val 10000" name="adj"/>
            </a:avLst>
          </a:prstGeom>
          <a:solidFill>
            <a:srgbClr val="8528CB"/>
          </a:solidFill>
          <a:ln>
            <a:noFill/>
          </a:ln>
        </p:spPr>
        <p:txBody>
          <a:bodyPr anchorCtr="0" anchor="ctr" bIns="73150" lIns="320025" spcFirstLastPara="1" rIns="3200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WAPE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Weighted Absolute Percentage Error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FE3FB"/>
                </a:solidFill>
                <a:latin typeface="Open Sans"/>
                <a:ea typeface="Open Sans"/>
                <a:cs typeface="Open Sans"/>
                <a:sym typeface="Open Sans"/>
              </a:rPr>
              <a:t>Primary metric — aggregate, scale-independent accuracy across verticals</a:t>
            </a:r>
            <a:endParaRPr/>
          </a:p>
        </p:txBody>
      </p:sp>
      <p:sp>
        <p:nvSpPr>
          <p:cNvPr id="393" name="Google Shape;393;p27"/>
          <p:cNvSpPr/>
          <p:nvPr/>
        </p:nvSpPr>
        <p:spPr>
          <a:xfrm>
            <a:off x="4702000" y="1720000"/>
            <a:ext cx="4015500" cy="950100"/>
          </a:xfrm>
          <a:prstGeom prst="roundRect">
            <a:avLst>
              <a:gd fmla="val 10000" name="adj"/>
            </a:avLst>
          </a:prstGeom>
          <a:solidFill>
            <a:srgbClr val="8528CB"/>
          </a:solidFill>
          <a:ln>
            <a:noFill/>
          </a:ln>
        </p:spPr>
        <p:txBody>
          <a:bodyPr anchorCtr="0" anchor="ctr" bIns="73150" lIns="320025" spcFirstLastPara="1" rIns="3200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MdAPE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Median Absolute Percentage Error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FE3FB"/>
                </a:solidFill>
                <a:latin typeface="Open Sans"/>
                <a:ea typeface="Open Sans"/>
                <a:cs typeface="Open Sans"/>
                <a:sym typeface="Open Sans"/>
              </a:rPr>
              <a:t>Primary metric — robust to outliers and near-zero revenue days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426555" y="2760000"/>
            <a:ext cx="8290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Also Tracked</a:t>
            </a:r>
            <a:endParaRPr sz="1600"/>
          </a:p>
        </p:txBody>
      </p:sp>
      <p:sp>
        <p:nvSpPr>
          <p:cNvPr id="395" name="Google Shape;395;p27"/>
          <p:cNvSpPr/>
          <p:nvPr/>
        </p:nvSpPr>
        <p:spPr>
          <a:xfrm>
            <a:off x="426555" y="30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Mean Absolute Error</a:t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2536777" y="30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RMSE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Root Mean Squared Error</a:t>
            </a:r>
            <a:endParaRPr/>
          </a:p>
        </p:txBody>
      </p:sp>
      <p:sp>
        <p:nvSpPr>
          <p:cNvPr id="397" name="Google Shape;397;p27"/>
          <p:cNvSpPr/>
          <p:nvPr/>
        </p:nvSpPr>
        <p:spPr>
          <a:xfrm>
            <a:off x="4646999" y="30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MAPE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Mean Absolute Percentage Error</a:t>
            </a:r>
            <a:endParaRPr/>
          </a:p>
        </p:txBody>
      </p:sp>
      <p:sp>
        <p:nvSpPr>
          <p:cNvPr id="398" name="Google Shape;398;p27"/>
          <p:cNvSpPr/>
          <p:nvPr/>
        </p:nvSpPr>
        <p:spPr>
          <a:xfrm>
            <a:off x="6757221" y="30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SMAPE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Symmetric MAPE</a:t>
            </a:r>
            <a:endParaRPr/>
          </a:p>
        </p:txBody>
      </p:sp>
      <p:sp>
        <p:nvSpPr>
          <p:cNvPr id="399" name="Google Shape;399;p27"/>
          <p:cNvSpPr/>
          <p:nvPr/>
        </p:nvSpPr>
        <p:spPr>
          <a:xfrm>
            <a:off x="426555" y="37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R²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Coefficient of Determination</a:t>
            </a: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2536777" y="37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Mean Forecast Error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4646999" y="3780000"/>
            <a:ext cx="1960200" cy="560100"/>
          </a:xfrm>
          <a:prstGeom prst="roundRect">
            <a:avLst>
              <a:gd fmla="val 12000" name="adj"/>
            </a:avLst>
          </a:prstGeom>
          <a:solidFill>
            <a:srgbClr val="FBFAFF"/>
          </a:solidFill>
          <a:ln cap="flat" cmpd="sng" w="12700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82275" spcFirstLastPara="1" rIns="822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Pooled Error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Weighted error across candidate models</a:t>
            </a:r>
            <a:endParaRPr/>
          </a:p>
        </p:txBody>
      </p:sp>
      <p:sp>
        <p:nvSpPr>
          <p:cNvPr id="402" name="Google Shape;402;p27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 txBox="1"/>
          <p:nvPr/>
        </p:nvSpPr>
        <p:spPr>
          <a:xfrm>
            <a:off x="1529600" y="2086850"/>
            <a:ext cx="6360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492475" y="643000"/>
            <a:ext cx="709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Foundational Models Win</a:t>
            </a: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25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14" name="Google Shape;414;p28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8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2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28"/>
          <p:cNvSpPr txBox="1"/>
          <p:nvPr/>
        </p:nvSpPr>
        <p:spPr>
          <a:xfrm>
            <a:off x="608386" y="1268730"/>
            <a:ext cx="2469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45</a:t>
            </a: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More accurate than the best</a:t>
            </a:r>
            <a:b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traditional baseline (WAPE)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8" name="Google Shape;418;p28"/>
          <p:cNvSpPr txBox="1"/>
          <p:nvPr/>
        </p:nvSpPr>
        <p:spPr>
          <a:xfrm>
            <a:off x="6066622" y="1268730"/>
            <a:ext cx="2469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3 / 3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Verticals where zero-shot</a:t>
            </a:r>
            <a:r>
              <a:rPr lang="en" sz="1100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, covariate</a:t>
            </a:r>
            <a:b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100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Chronos</a:t>
            </a: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 ranked #1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p28"/>
          <p:cNvSpPr txBox="1"/>
          <p:nvPr/>
        </p:nvSpPr>
        <p:spPr>
          <a:xfrm>
            <a:off x="3337508" y="1268730"/>
            <a:ext cx="2469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–25%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Original improvement target</a:t>
            </a:r>
            <a:b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— exceeded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rgbClr val="8528CB"/>
              </a:solidFill>
            </a:endParaRPr>
          </a:p>
        </p:txBody>
      </p:sp>
      <p:pic>
        <p:nvPicPr>
          <p:cNvPr id="426" name="Google Shape;426;p28" title="model_rank_amb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4600" y="2215425"/>
            <a:ext cx="6354811" cy="248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9"/>
          <p:cNvSpPr/>
          <p:nvPr/>
        </p:nvSpPr>
        <p:spPr>
          <a:xfrm>
            <a:off x="492475" y="643000"/>
            <a:ext cx="73338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Fine-tuning Foundational Models Didn’t Pay</a:t>
            </a:r>
            <a:endParaRPr sz="25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32" name="Google Shape;432;p29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9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4" name="Google Shape;434;p2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29"/>
          <p:cNvSpPr txBox="1"/>
          <p:nvPr/>
        </p:nvSpPr>
        <p:spPr>
          <a:xfrm>
            <a:off x="617236" y="1268730"/>
            <a:ext cx="2469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83</a:t>
            </a: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Of 1</a:t>
            </a:r>
            <a:r>
              <a:rPr lang="en" sz="1100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68</a:t>
            </a: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 fine-tuned runs got</a:t>
            </a:r>
            <a:b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worse than their base model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29"/>
          <p:cNvSpPr txBox="1"/>
          <p:nvPr/>
        </p:nvSpPr>
        <p:spPr>
          <a:xfrm>
            <a:off x="3360510" y="1207230"/>
            <a:ext cx="2469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Fine-tunes that beat</a:t>
            </a:r>
            <a:b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zero-shot, </a:t>
            </a:r>
            <a:r>
              <a:rPr lang="en" sz="1100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covariate Chronos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" name="Google Shape;437;p29"/>
          <p:cNvSpPr txBox="1"/>
          <p:nvPr/>
        </p:nvSpPr>
        <p:spPr>
          <a:xfrm>
            <a:off x="6103783" y="1268730"/>
            <a:ext cx="2469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8529CC"/>
                </a:solidFill>
                <a:latin typeface="Open Sans"/>
                <a:ea typeface="Open Sans"/>
                <a:cs typeface="Open Sans"/>
                <a:sym typeface="Open Sans"/>
              </a:rPr>
              <a:t>$0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Training compute needed</a:t>
            </a:r>
            <a:b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1100" u="none" cap="none" strike="noStrike">
                <a:solidFill>
                  <a:srgbClr val="4A4A59"/>
                </a:solidFill>
                <a:latin typeface="Open Sans"/>
                <a:ea typeface="Open Sans"/>
                <a:cs typeface="Open Sans"/>
                <a:sym typeface="Open Sans"/>
              </a:rPr>
              <a:t>for the winning model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15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rgbClr val="8528CB"/>
              </a:solidFill>
            </a:endParaRPr>
          </a:p>
        </p:txBody>
      </p:sp>
      <p:pic>
        <p:nvPicPr>
          <p:cNvPr id="444" name="Google Shape;444;p29" title="21b5becf-85b1-45a8-afba-50bd09ad2bbc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4800" y="2163925"/>
            <a:ext cx="5188475" cy="252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0"/>
          <p:cNvSpPr/>
          <p:nvPr/>
        </p:nvSpPr>
        <p:spPr>
          <a:xfrm>
            <a:off x="275625" y="516725"/>
            <a:ext cx="873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Every Forecast in the Deck, in a Tool Anyone Can Use</a:t>
            </a:r>
            <a:endParaRPr sz="25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50" name="Google Shape;450;p30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0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2" name="Google Shape;452;p3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30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54" name="Google Shape;454;p30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16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7" name="Google Shape;457;p30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rgbClr val="8528CB"/>
              </a:solidFill>
            </a:endParaRPr>
          </a:p>
        </p:txBody>
      </p:sp>
      <p:pic>
        <p:nvPicPr>
          <p:cNvPr id="459" name="Google Shape;459;p30" title="EditV2-8/5/2026, 1:47 PM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750" y="1042375"/>
            <a:ext cx="8524500" cy="33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1"/>
          <p:cNvSpPr/>
          <p:nvPr/>
        </p:nvSpPr>
        <p:spPr>
          <a:xfrm>
            <a:off x="344625" y="507850"/>
            <a:ext cx="83244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Foundation Models Yes, Fine-Tuning No, Deployment Almost</a:t>
            </a:r>
            <a:endParaRPr sz="25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65" name="Google Shape;465;p31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1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31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31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17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1" name="Google Shape;471;p31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2" name="Google Shape;472;p31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3" name="Google Shape;473;p31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rgbClr val="8528CB"/>
              </a:solidFill>
            </a:endParaRPr>
          </a:p>
        </p:txBody>
      </p:sp>
      <p:sp>
        <p:nvSpPr>
          <p:cNvPr id="474" name="Google Shape;474;p31"/>
          <p:cNvSpPr/>
          <p:nvPr/>
        </p:nvSpPr>
        <p:spPr>
          <a:xfrm>
            <a:off x="261100" y="1341375"/>
            <a:ext cx="2467800" cy="33234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1"/>
          <p:cNvSpPr/>
          <p:nvPr/>
        </p:nvSpPr>
        <p:spPr>
          <a:xfrm>
            <a:off x="344625" y="1544025"/>
            <a:ext cx="23397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Q1  Do TSFMs outperform traditional forecasting approaches?</a:t>
            </a:r>
            <a:endParaRPr i="0" sz="1000" u="none" cap="none" strike="noStrike"/>
          </a:p>
        </p:txBody>
      </p:sp>
      <p:sp>
        <p:nvSpPr>
          <p:cNvPr id="476" name="Google Shape;476;p31"/>
          <p:cNvSpPr/>
          <p:nvPr/>
        </p:nvSpPr>
        <p:spPr>
          <a:xfrm>
            <a:off x="361000" y="3575300"/>
            <a:ext cx="22680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Zero-shot covariate Chronos won every vertical, cutting WAPE 45% vs ETS, well past 13-25% target</a:t>
            </a:r>
            <a:endParaRPr b="0" i="0" sz="1200" u="none" cap="none" strike="noStrike"/>
          </a:p>
        </p:txBody>
      </p:sp>
      <p:sp>
        <p:nvSpPr>
          <p:cNvPr id="477" name="Google Shape;477;p31"/>
          <p:cNvSpPr/>
          <p:nvPr/>
        </p:nvSpPr>
        <p:spPr>
          <a:xfrm>
            <a:off x="624400" y="2548975"/>
            <a:ext cx="1741200" cy="602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YES</a:t>
            </a:r>
            <a:endParaRPr b="1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8" name="Google Shape;478;p31"/>
          <p:cNvSpPr/>
          <p:nvPr/>
        </p:nvSpPr>
        <p:spPr>
          <a:xfrm>
            <a:off x="3338100" y="1341375"/>
            <a:ext cx="2467800" cy="33234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1"/>
          <p:cNvSpPr/>
          <p:nvPr/>
        </p:nvSpPr>
        <p:spPr>
          <a:xfrm>
            <a:off x="3421625" y="1544025"/>
            <a:ext cx="23397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Q2  Does PEFT improve accuracy cost-effectively?</a:t>
            </a:r>
            <a:endParaRPr i="0" sz="1000" u="none" cap="none" strike="noStrike"/>
          </a:p>
        </p:txBody>
      </p:sp>
      <p:sp>
        <p:nvSpPr>
          <p:cNvPr id="480" name="Google Shape;480;p31"/>
          <p:cNvSpPr/>
          <p:nvPr/>
        </p:nvSpPr>
        <p:spPr>
          <a:xfrm>
            <a:off x="3438000" y="3575300"/>
            <a:ext cx="22680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PEFT beat its base model in only 17% of runs, and hurt the strongest backbones the most</a:t>
            </a:r>
            <a:endParaRPr b="0" i="0" sz="1200" u="none" cap="none" strike="noStrike"/>
          </a:p>
        </p:txBody>
      </p:sp>
      <p:sp>
        <p:nvSpPr>
          <p:cNvPr id="481" name="Google Shape;481;p31"/>
          <p:cNvSpPr/>
          <p:nvPr/>
        </p:nvSpPr>
        <p:spPr>
          <a:xfrm>
            <a:off x="3701400" y="2548975"/>
            <a:ext cx="1741200" cy="6027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 b="1">
              <a:solidFill>
                <a:srgbClr val="CC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2" name="Google Shape;482;p31"/>
          <p:cNvSpPr/>
          <p:nvPr/>
        </p:nvSpPr>
        <p:spPr>
          <a:xfrm>
            <a:off x="6415100" y="1332950"/>
            <a:ext cx="2467800" cy="33234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6498625" y="1535600"/>
            <a:ext cx="23397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3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Q3  Can this run within Rakuten’s infrastructure?</a:t>
            </a:r>
            <a:r>
              <a:rPr b="1" lang="en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31"/>
          <p:cNvSpPr/>
          <p:nvPr/>
        </p:nvSpPr>
        <p:spPr>
          <a:xfrm>
            <a:off x="6515000" y="3566875"/>
            <a:ext cx="2268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One fast, low-cost, </a:t>
            </a: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shareable</a:t>
            </a: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dashboard — still needs security </a:t>
            </a: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work </a:t>
            </a: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before production</a:t>
            </a:r>
            <a:endParaRPr b="0" i="0" sz="1200" u="none" cap="none" strike="noStrike"/>
          </a:p>
        </p:txBody>
      </p:sp>
      <p:sp>
        <p:nvSpPr>
          <p:cNvPr id="485" name="Google Shape;485;p31"/>
          <p:cNvSpPr/>
          <p:nvPr/>
        </p:nvSpPr>
        <p:spPr>
          <a:xfrm>
            <a:off x="6778400" y="2548975"/>
            <a:ext cx="1741200" cy="602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YES, with work</a:t>
            </a:r>
            <a:endParaRPr b="1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2"/>
          <p:cNvSpPr/>
          <p:nvPr/>
        </p:nvSpPr>
        <p:spPr>
          <a:xfrm>
            <a:off x="6253775" y="20786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2"/>
          <p:cNvSpPr/>
          <p:nvPr/>
        </p:nvSpPr>
        <p:spPr>
          <a:xfrm>
            <a:off x="3288288" y="20786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2"/>
          <p:cNvSpPr/>
          <p:nvPr/>
        </p:nvSpPr>
        <p:spPr>
          <a:xfrm>
            <a:off x="322800" y="2078650"/>
            <a:ext cx="2467800" cy="2208000"/>
          </a:xfrm>
          <a:prstGeom prst="roundRect">
            <a:avLst>
              <a:gd fmla="val 510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2"/>
          <p:cNvSpPr/>
          <p:nvPr/>
        </p:nvSpPr>
        <p:spPr>
          <a:xfrm>
            <a:off x="492475" y="643000"/>
            <a:ext cx="81372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lang="en" sz="2500">
                <a:solidFill>
                  <a:srgbClr val="8528C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$1.84M Saved, Three Steps to More</a:t>
            </a:r>
            <a:endParaRPr sz="250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94" name="Google Shape;494;p32"/>
          <p:cNvSpPr/>
          <p:nvPr/>
        </p:nvSpPr>
        <p:spPr>
          <a:xfrm>
            <a:off x="492475" y="1132650"/>
            <a:ext cx="856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Replace client-by-client forecasting with standardized zero-shot Chronos per vertical,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continuously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benchmarking new models as data grows 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i="1" lang="en" sz="1200">
                <a:solidFill>
                  <a:srgbClr val="7B2CBF"/>
                </a:solidFill>
                <a:latin typeface="Open Sans"/>
                <a:ea typeface="Open Sans"/>
                <a:cs typeface="Open Sans"/>
                <a:sym typeface="Open Sans"/>
              </a:rPr>
              <a:t>Impact: 85% less analyst time per forecast — ~$1.84M in annual savings</a:t>
            </a:r>
            <a:endParaRPr i="1" sz="1200">
              <a:solidFill>
                <a:srgbClr val="7B2C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5" name="Google Shape;495;p32"/>
          <p:cNvSpPr/>
          <p:nvPr/>
        </p:nvSpPr>
        <p:spPr>
          <a:xfrm>
            <a:off x="397050" y="2231525"/>
            <a:ext cx="2220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Extend to Data Coverage</a:t>
            </a:r>
            <a:endParaRPr b="0" i="0" sz="1500" u="none" cap="none" strike="noStrike"/>
          </a:p>
        </p:txBody>
      </p:sp>
      <p:sp>
        <p:nvSpPr>
          <p:cNvPr id="496" name="Google Shape;496;p32"/>
          <p:cNvSpPr/>
          <p:nvPr/>
        </p:nvSpPr>
        <p:spPr>
          <a:xfrm>
            <a:off x="397038" y="2847438"/>
            <a:ext cx="23193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Finance is scaffolded but unpopulated. A new Travel tranche is blocked by a format mismatch — fixing it also tests whether more data improves fine-tuning.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7" name="Google Shape;497;p32"/>
          <p:cNvSpPr/>
          <p:nvPr/>
        </p:nvSpPr>
        <p:spPr>
          <a:xfrm>
            <a:off x="3461982" y="2231525"/>
            <a:ext cx="2120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Parallelize Model Execution</a:t>
            </a:r>
            <a:endParaRPr b="0" i="0" sz="1500" u="none" cap="none" strike="noStrike"/>
          </a:p>
        </p:txBody>
      </p:sp>
      <p:sp>
        <p:nvSpPr>
          <p:cNvPr id="498" name="Google Shape;498;p32"/>
          <p:cNvSpPr/>
          <p:nvPr/>
        </p:nvSpPr>
        <p:spPr>
          <a:xfrm>
            <a:off x="3461975" y="2800750"/>
            <a:ext cx="21204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Comparisons run sequentially, so uncached runs take minutes. Concurrent execution is the highest-impact near-term fix.</a:t>
            </a:r>
            <a:endParaRPr sz="1200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9" name="Google Shape;499;p32"/>
          <p:cNvSpPr/>
          <p:nvPr/>
        </p:nvSpPr>
        <p:spPr>
          <a:xfrm>
            <a:off x="6427470" y="2226725"/>
            <a:ext cx="21204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lang="en" sz="1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Production harden the Dashboard</a:t>
            </a:r>
            <a:endParaRPr b="0" i="0" sz="1500" u="none" cap="none" strike="noStrike"/>
          </a:p>
        </p:txBody>
      </p:sp>
      <p:sp>
        <p:nvSpPr>
          <p:cNvPr id="500" name="Google Shape;500;p32"/>
          <p:cNvSpPr/>
          <p:nvPr/>
        </p:nvSpPr>
        <p:spPr>
          <a:xfrm>
            <a:off x="6427475" y="2800750"/>
            <a:ext cx="21204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lang="en" sz="1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Add authentication, restrict access to Rakuten's network, and automate re-evaluation as new data arrives.</a:t>
            </a:r>
            <a:endParaRPr b="0" i="0" sz="1200" u="none" cap="none" strike="noStrike"/>
          </a:p>
        </p:txBody>
      </p:sp>
      <p:pic>
        <p:nvPicPr>
          <p:cNvPr id="501" name="Google Shape;501;p32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2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3" name="Google Shape;503;p32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32"/>
          <p:cNvSpPr/>
          <p:nvPr/>
        </p:nvSpPr>
        <p:spPr>
          <a:xfrm>
            <a:off x="275632" y="161814"/>
            <a:ext cx="465000" cy="266400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528CB"/>
              </a:solidFill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360687" y="204304"/>
            <a:ext cx="752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18 </a:t>
            </a:r>
            <a:r>
              <a:rPr b="0" i="0" lang="en" sz="850" u="none" cap="none" strike="noStrike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/ 1</a:t>
            </a:r>
            <a:r>
              <a:rPr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850" u="none" cap="none" strike="noStrike">
              <a:solidFill>
                <a:srgbClr val="8528CB"/>
              </a:solidFill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904900" y="1918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294965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4994400" y="199325"/>
            <a:ext cx="1854600" cy="228900"/>
          </a:xfrm>
          <a:prstGeom prst="roundRect">
            <a:avLst>
              <a:gd fmla="val 6165" name="adj"/>
            </a:avLst>
          </a:prstGeom>
          <a:solidFill>
            <a:srgbClr val="8528CB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7013275" y="199325"/>
            <a:ext cx="1854600" cy="228900"/>
          </a:xfrm>
          <a:prstGeom prst="roundRect">
            <a:avLst>
              <a:gd fmla="val 6165" name="adj"/>
            </a:avLst>
          </a:prstGeom>
          <a:solidFill>
            <a:schemeClr val="lt1"/>
          </a:solidFill>
          <a:ln cap="flat" cmpd="sng" w="9525">
            <a:solidFill>
              <a:srgbClr val="8528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1" lang="en" sz="850">
                <a:solidFill>
                  <a:srgbClr val="8528CB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>
              <a:solidFill>
                <a:srgbClr val="8528CB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3"/>
          <p:cNvSpPr/>
          <p:nvPr/>
        </p:nvSpPr>
        <p:spPr>
          <a:xfrm>
            <a:off x="411480" y="89154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3"/>
          <p:cNvSpPr/>
          <p:nvPr/>
        </p:nvSpPr>
        <p:spPr>
          <a:xfrm>
            <a:off x="411480" y="1474470"/>
            <a:ext cx="720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Supporting detail for the dataset, variable definitions, and the full model evaluation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3"/>
          <p:cNvSpPr/>
          <p:nvPr/>
        </p:nvSpPr>
        <p:spPr>
          <a:xfrm>
            <a:off x="411480" y="2125980"/>
            <a:ext cx="1289400" cy="1920300"/>
          </a:xfrm>
          <a:prstGeom prst="roundRect">
            <a:avLst>
              <a:gd fmla="val 4255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3"/>
          <p:cNvSpPr/>
          <p:nvPr/>
        </p:nvSpPr>
        <p:spPr>
          <a:xfrm>
            <a:off x="521208" y="2263140"/>
            <a:ext cx="106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Libre Baskerville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3"/>
          <p:cNvSpPr/>
          <p:nvPr/>
        </p:nvSpPr>
        <p:spPr>
          <a:xfrm>
            <a:off x="521208" y="2571750"/>
            <a:ext cx="10698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Open Sans"/>
              <a:buNone/>
            </a:pPr>
            <a:r>
              <a:rPr b="0" i="0" lang="en" sz="8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Data Types &amp; Variable Definitions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3"/>
          <p:cNvSpPr/>
          <p:nvPr/>
        </p:nvSpPr>
        <p:spPr>
          <a:xfrm>
            <a:off x="1831086" y="2125980"/>
            <a:ext cx="1289400" cy="1920300"/>
          </a:xfrm>
          <a:prstGeom prst="roundRect">
            <a:avLst>
              <a:gd fmla="val 4255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3"/>
          <p:cNvSpPr/>
          <p:nvPr/>
        </p:nvSpPr>
        <p:spPr>
          <a:xfrm>
            <a:off x="1940814" y="2263140"/>
            <a:ext cx="106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Libre Baskerville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3"/>
          <p:cNvSpPr/>
          <p:nvPr/>
        </p:nvSpPr>
        <p:spPr>
          <a:xfrm>
            <a:off x="1940814" y="2571750"/>
            <a:ext cx="10698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Open Sans"/>
              <a:buNone/>
            </a:pPr>
            <a:r>
              <a:rPr b="0" i="0" lang="en" sz="8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Overall Model Performance Charts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3"/>
          <p:cNvSpPr/>
          <p:nvPr/>
        </p:nvSpPr>
        <p:spPr>
          <a:xfrm>
            <a:off x="3250692" y="2125980"/>
            <a:ext cx="1289400" cy="1920300"/>
          </a:xfrm>
          <a:prstGeom prst="roundRect">
            <a:avLst>
              <a:gd fmla="val 4255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3"/>
          <p:cNvSpPr/>
          <p:nvPr/>
        </p:nvSpPr>
        <p:spPr>
          <a:xfrm>
            <a:off x="3360420" y="2263140"/>
            <a:ext cx="106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Libre Baskerville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3"/>
          <p:cNvSpPr/>
          <p:nvPr/>
        </p:nvSpPr>
        <p:spPr>
          <a:xfrm>
            <a:off x="3360420" y="2571750"/>
            <a:ext cx="10698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Open Sans"/>
              <a:buNone/>
            </a:pPr>
            <a:r>
              <a:rPr b="0" i="0" lang="en" sz="8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Fine-Tuning Comparison Charts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3"/>
          <p:cNvSpPr/>
          <p:nvPr/>
        </p:nvSpPr>
        <p:spPr>
          <a:xfrm>
            <a:off x="4670298" y="2125980"/>
            <a:ext cx="1289400" cy="1920300"/>
          </a:xfrm>
          <a:prstGeom prst="roundRect">
            <a:avLst>
              <a:gd fmla="val 4255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3"/>
          <p:cNvSpPr/>
          <p:nvPr/>
        </p:nvSpPr>
        <p:spPr>
          <a:xfrm>
            <a:off x="4780026" y="2263140"/>
            <a:ext cx="106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Libre Baskerville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4780026" y="2571750"/>
            <a:ext cx="10698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Open Sans"/>
              <a:buNone/>
            </a:pPr>
            <a:r>
              <a:rPr b="0" i="0" lang="en" sz="8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Time Horizon Comparison Charts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6089904" y="2125980"/>
            <a:ext cx="1289400" cy="1920300"/>
          </a:xfrm>
          <a:prstGeom prst="roundRect">
            <a:avLst>
              <a:gd fmla="val 4255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3"/>
          <p:cNvSpPr/>
          <p:nvPr/>
        </p:nvSpPr>
        <p:spPr>
          <a:xfrm>
            <a:off x="6199632" y="2263140"/>
            <a:ext cx="106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Libre Baskerville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6199632" y="2571750"/>
            <a:ext cx="10698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Open Sans"/>
              <a:buNone/>
            </a:pPr>
            <a:r>
              <a:rPr b="0" i="0" lang="en" sz="8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Cost Savings Calculation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3"/>
          <p:cNvSpPr/>
          <p:nvPr/>
        </p:nvSpPr>
        <p:spPr>
          <a:xfrm>
            <a:off x="7509510" y="2125980"/>
            <a:ext cx="1289400" cy="1920300"/>
          </a:xfrm>
          <a:prstGeom prst="roundRect">
            <a:avLst>
              <a:gd fmla="val 4255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"/>
          <p:cNvSpPr/>
          <p:nvPr/>
        </p:nvSpPr>
        <p:spPr>
          <a:xfrm>
            <a:off x="7619238" y="2263140"/>
            <a:ext cx="106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Libre Baskerville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7619238" y="2571750"/>
            <a:ext cx="10698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Open Sans"/>
              <a:buNone/>
            </a:pPr>
            <a:r>
              <a:rPr b="0" i="0" lang="en" sz="8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Model &amp; Hyperparameter Definitions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_rakuten_logo_final.png" id="535" name="Google Shape;5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93742"/>
            <a:ext cx="466345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6" name="Google Shape;536;p33"/>
          <p:cNvCxnSpPr/>
          <p:nvPr/>
        </p:nvCxnSpPr>
        <p:spPr>
          <a:xfrm>
            <a:off x="822960" y="4786884"/>
            <a:ext cx="0" cy="233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assets_uchicago_logo.png" id="537" name="Google Shape;53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4793742"/>
            <a:ext cx="596646" cy="23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4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A: Data Types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4" name="Google Shape;544;p34"/>
          <p:cNvGraphicFramePr/>
          <p:nvPr/>
        </p:nvGraphicFramePr>
        <p:xfrm>
          <a:off x="48006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{A9F460DD-10AF-40BC-B361-AF604D13E5D1}</a:tableStyleId>
              </a:tblPr>
              <a:tblGrid>
                <a:gridCol w="2228850"/>
                <a:gridCol w="22288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b="1"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b="1"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Type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ORDER_DATE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object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VERTICAL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object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MERCHANT_NAME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int64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ORDER_COUNT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int64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SCALED_ORDER_VOLUME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int64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SCALED_ITEM_VOLUME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int64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SCALED_REVENUE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float64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SCALED_AOV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Open Sans"/>
                        <a:buNone/>
                      </a:pPr>
                      <a:r>
                        <a:rPr lang="en" sz="10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float64</a:t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45" name="Google Shape;545;p34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4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7" name="Google Shape;547;p3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5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A: Variable Description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480060" y="78867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1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Output Field Definitions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5" name="Google Shape;555;p35"/>
          <p:cNvGraphicFramePr/>
          <p:nvPr/>
        </p:nvGraphicFramePr>
        <p:xfrm>
          <a:off x="480060" y="1131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{A9F460DD-10AF-40BC-B361-AF604D13E5D1}</a:tableStyleId>
              </a:tblPr>
              <a:tblGrid>
                <a:gridCol w="1851650"/>
                <a:gridCol w="6309350"/>
              </a:tblGrid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Field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Description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order_date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 period start date, truncated to the grain (month, week, or day)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vertical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 category grouping assigned based on merchant_group and tags (e.g. Beauty, Department Stores)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merchant_name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Name of the individual retailer (or number for the encoded version)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order_count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Raw count of distinct orders observed in the NIQ panel — not projected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scaled_order_volume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Estimated total US market order volume, projected using each user's population weight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scaled_item_volume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Estimated total US market item volume, projected using population weights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scaled_revenue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Estimated total US market revenue at the item level (excludes tax/shipping), projected using population weights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scaled_aov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en" sz="9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Average order value — calculated as scaled_revenue divided by scaled_order_volume</a:t>
                      </a:r>
                      <a:endParaRPr sz="9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56" name="Google Shape;556;p35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5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8" name="Google Shape;558;p3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6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A: Variable Calculations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6"/>
          <p:cNvSpPr/>
          <p:nvPr/>
        </p:nvSpPr>
        <p:spPr>
          <a:xfrm>
            <a:off x="480060" y="96012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1. User Unique Weight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6"/>
          <p:cNvSpPr/>
          <p:nvPr/>
        </p:nvSpPr>
        <p:spPr>
          <a:xfrm>
            <a:off x="480060" y="1248156"/>
            <a:ext cx="7406400" cy="4116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6"/>
          <p:cNvSpPr/>
          <p:nvPr/>
        </p:nvSpPr>
        <p:spPr>
          <a:xfrm>
            <a:off x="651510" y="1303020"/>
            <a:ext cx="7063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user_unique_weight = projected_weight + (DENSE_RANK() × 0.0000001)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6"/>
          <p:cNvSpPr/>
          <p:nvPr/>
        </p:nvSpPr>
        <p:spPr>
          <a:xfrm>
            <a:off x="480060" y="1831086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2. Order Unique Weight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6"/>
          <p:cNvSpPr/>
          <p:nvPr/>
        </p:nvSpPr>
        <p:spPr>
          <a:xfrm>
            <a:off x="480060" y="2119122"/>
            <a:ext cx="7406400" cy="4116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6"/>
          <p:cNvSpPr/>
          <p:nvPr/>
        </p:nvSpPr>
        <p:spPr>
          <a:xfrm>
            <a:off x="651510" y="2173986"/>
            <a:ext cx="7063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order_unique_weight = projected_weight + (DENSE_RANK() × 0.000000001)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6"/>
          <p:cNvSpPr/>
          <p:nvPr/>
        </p:nvSpPr>
        <p:spPr>
          <a:xfrm>
            <a:off x="480060" y="2702052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3. Scaled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480060" y="2990088"/>
            <a:ext cx="7406400" cy="11316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6"/>
          <p:cNvSpPr/>
          <p:nvPr/>
        </p:nvSpPr>
        <p:spPr>
          <a:xfrm>
            <a:off x="651510" y="3044952"/>
            <a:ext cx="706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scaled_order_volume  = SUM(order_unique_weight)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scaled_item_volume   = SUM(projected_items)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scaled_revenue       = SUM(projected_revenue)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scaled_aov           = scaled_revenue / scaled_order_volume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p36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6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3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7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Overall Model Performance Charts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411480" y="960120"/>
            <a:ext cx="82983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This appendix contains the complete set of evaluation charts comparing every model configuration, including the statistical baselines, the gradient-boosted trees, the zero-shot foundation models, and all fine-tuned variants, across the three business verticals.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For each of the eight evaluation metrics, a heatmap reports performance for every model within each vertical, and a bar chart reports the average across verticals with models sorted from best to worst.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All charts use a common red-yellow-green traffic-light color scale in which green always indicates better relative performance and red always indicates worse, regardless of the direction of the underlying metric: lower is better for the error metrics (MAE, RMSE, MAPE, SMAPE, MdAPE, and WAPE), higher is better for R², and closest to zero is better for bias.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4" name="Google Shape;584;p37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7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6" name="Google Shape;586;p3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8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WAPE by Model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54_rot.png" id="593" name="Google Shape;5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498538"/>
            <a:ext cx="7955284" cy="2009263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8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A1. Weighted Absolute Percentage Error (WAPE)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5" name="Google Shape;595;p38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8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7" name="Google Shape;597;p3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9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WAPE by Model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4.png" id="604" name="Google Shape;6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9173"/>
            <a:ext cx="7955284" cy="10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39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A2. Weighted Absolute Percentage Error (WAPE)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6" name="Google Shape;606;p39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9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8" name="Google Shape;608;p3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0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MdAPE by Model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3_rot.png" id="615" name="Google Shape;6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498538"/>
            <a:ext cx="7955284" cy="20092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0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A3. Median Absolute Percentage Error (MdAPE)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40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0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9" name="Google Shape;619;p4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1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MdAPE by Model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0.png" id="626" name="Google Shape;62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9173"/>
            <a:ext cx="7955284" cy="10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1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A4. Median Absolute Percentage Error (MdAPE)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8" name="Google Shape;628;p41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41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0" name="Google Shape;630;p41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2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MAPE by Model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9_rot.png" id="637" name="Google Shape;6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498538"/>
            <a:ext cx="7955284" cy="2009263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2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A5. Mean Absolute Percentage Error (MAPE)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9" name="Google Shape;639;p42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2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1" name="Google Shape;641;p42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3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MAPE by Model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.png" id="648" name="Google Shape;6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9173"/>
            <a:ext cx="7955284" cy="10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3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A6. Mean Absolute Percentage Error (MAPE)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43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43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2" name="Google Shape;652;p43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4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SMAPE by Model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2_rot.png" id="659" name="Google Shape;65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498538"/>
            <a:ext cx="7955284" cy="2009263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44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A7. Symmetric Mean Absolute Percentage Error (SMAPE)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1" name="Google Shape;661;p44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4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3" name="Google Shape;663;p4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5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SMAPE by Model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8.png" id="670" name="Google Shape;67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8921"/>
            <a:ext cx="7955280" cy="1028498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5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A8. Symmetric Mean Absolute Percentage Error (SMAPE)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2" name="Google Shape;672;p45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5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4" name="Google Shape;674;p4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6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MAE by Model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7_rot.png" id="681" name="Google Shape;68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498538"/>
            <a:ext cx="7955284" cy="2009263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46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A9. Mean Absolute Error (MAE)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3" name="Google Shape;683;p46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6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5" name="Google Shape;685;p4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7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MAE by Model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6.png" id="692" name="Google Shape;69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9173"/>
            <a:ext cx="7955284" cy="10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7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A10. Mean Absolute Error (MAE)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4" name="Google Shape;694;p47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7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6" name="Google Shape;696;p4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8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RMSE by Model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5_rot.png" id="703" name="Google Shape;70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498538"/>
            <a:ext cx="7955284" cy="2009263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8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A11. Root Mean Squared Error (RMSE)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" name="Google Shape;705;p48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48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7" name="Google Shape;707;p4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9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RMSE by Model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4.png" id="714" name="Google Shape;71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9173"/>
            <a:ext cx="7955284" cy="10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9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A12. Root Mean Squared Error (RMSE)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6" name="Google Shape;716;p49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9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8" name="Google Shape;718;p4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0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R² by Model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1_rot.png" id="725" name="Google Shape;72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498538"/>
            <a:ext cx="7955284" cy="2009263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0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A13. Coefficient of Determination (R²)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7" name="Google Shape;727;p50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50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9" name="Google Shape;729;p5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1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R² by Model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0.png" id="736" name="Google Shape;73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9173"/>
            <a:ext cx="7955284" cy="10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1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A14. Coefficient of Determination (R²)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8" name="Google Shape;738;p51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51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0" name="Google Shape;740;p51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2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Bias by Model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1_rot.png" id="747" name="Google Shape;74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498538"/>
            <a:ext cx="7955284" cy="2009263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52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A15. Mean Forecast Error (Bias)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9" name="Google Shape;749;p52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52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1" name="Google Shape;751;p52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3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Bias by Model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6.png" id="758" name="Google Shape;75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9173"/>
            <a:ext cx="7955284" cy="10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53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A16. Mean Forecast Error (Bias)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0" name="Google Shape;760;p53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53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2" name="Google Shape;762;p53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4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B: Overall Model Ranking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4.png" id="769" name="Google Shape;76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989173"/>
            <a:ext cx="7955284" cy="10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54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A17. Average rank across all eight evaluation metrics and all verticals for every model configuration, where a rank of 1 is best. Reproduced from Figure 6.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Google Shape;771;p54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4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3" name="Google Shape;773;p5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5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Fine-Tuning Comparison Charts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5"/>
          <p:cNvSpPr/>
          <p:nvPr/>
        </p:nvSpPr>
        <p:spPr>
          <a:xfrm>
            <a:off x="411480" y="960120"/>
            <a:ext cx="82983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This appendix contains the complete set of charts for the fine-tuning comparison, covering the foundation-model backbones and their variants under each of the seven parameter-efficient fine-tuning methods (LoRA, QLoRA, DoRA, BitFit, prompt tuning, prefix tuning, and P-tuning).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For each of the eight evaluation metrics there are three charts: a heatmap of per-vertical performance, a bar chart of the cross-vertical average, and an improvement chart expressing each fine-tuned variant's change relative to its own base model, in which positive values always indicate that fine-tuning improved that metric.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The same red-yellow-green color convention from Appendix B applies throughout.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1" name="Google Shape;781;p55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55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3" name="Google Shape;783;p5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6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WAPE — Fine-Tuned Models by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8_rot.png" id="790" name="Google Shape;79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144856"/>
            <a:ext cx="7955279" cy="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56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B1. Weighted Absolute Percentage Error (WAPE)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2" name="Google Shape;792;p56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56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4" name="Google Shape;794;p5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7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WAPE — Fine-Tuned Models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9.png" id="801" name="Google Shape;80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581"/>
            <a:ext cx="7955279" cy="13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57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B2. Weighted Absolute Percentage Error (WAPE)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3" name="Google Shape;803;p57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57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5" name="Google Shape;805;p5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8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WAPE Improvement from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0.png" id="812" name="Google Shape;81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53112"/>
            <a:ext cx="7955282" cy="1500116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58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B3. Improvement in WAPE from fine-tuning, for each fine-tuned model relative to its own base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4" name="Google Shape;814;p58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8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6" name="Google Shape;816;p5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9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MdAPE — Fine-Tuned Models by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_rot.png" id="823" name="Google Shape;82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144856"/>
            <a:ext cx="7955279" cy="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59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B4. Median Absolute Percentage Error (MdAPE)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5" name="Google Shape;825;p59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9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7" name="Google Shape;827;p5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0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MdAPE — Fine-Tuned Models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7.png" id="834" name="Google Shape;83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581"/>
            <a:ext cx="7955279" cy="13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0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B5. Median Absolute Percentage Error (MdAPE)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6" name="Google Shape;836;p60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60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8" name="Google Shape;838;p6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1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MdAPE Improvement from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51.png" id="845" name="Google Shape;84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53112"/>
            <a:ext cx="7955282" cy="1500116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61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B6. Improvement in MdAPE from fine-tuning, for each fine-tuned model relative to its own base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7" name="Google Shape;847;p61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61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9" name="Google Shape;849;p61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2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MAPE — Fine-Tuned Models by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4_rot.png" id="856" name="Google Shape;85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144856"/>
            <a:ext cx="7955279" cy="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62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B7. Mean Absolute Percentage Error (MAPE)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8" name="Google Shape;858;p62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62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0" name="Google Shape;860;p62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3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MAPE — Fine-Tuned Models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2.png" id="867" name="Google Shape;86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581"/>
            <a:ext cx="7955279" cy="13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63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B8. Mean Absolute Percentage Error (MAPE)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9" name="Google Shape;869;p63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63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1" name="Google Shape;871;p63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64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MAPE Improvement from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50.png" id="878" name="Google Shape;87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53112"/>
            <a:ext cx="7955282" cy="1500116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64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B9. Improvement in MAPE from fine-tuning, for each fine-tuned model relative to its own base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0" name="Google Shape;880;p64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64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2" name="Google Shape;882;p6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5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SMAPE — Fine-Tuned Models by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7_rot.png" id="889" name="Google Shape;88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144856"/>
            <a:ext cx="7955279" cy="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65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B10. Symmetric Mean Absolute Percentage Error (SMAPE)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1" name="Google Shape;891;p65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65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3" name="Google Shape;893;p6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6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SMAPE — Fine-Tuned Models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1.png" id="900" name="Google Shape;90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906"/>
            <a:ext cx="7955280" cy="1326528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66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B11. Symmetric Mean Absolute Percentage Error (SMAPE)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2" name="Google Shape;902;p66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66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4" name="Google Shape;904;p6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7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SMAPE Improvement from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3.png" id="911" name="Google Shape;91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53223"/>
            <a:ext cx="7955280" cy="1499894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67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B12. Improvement in SMAPE from fine-tuning, for each fine-tuned model relative to its own base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3" name="Google Shape;913;p67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67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5" name="Google Shape;915;p6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8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MAE — Fine-Tuned Models by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_rot.png" id="922" name="Google Shape;92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144856"/>
            <a:ext cx="7955279" cy="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68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B13. Mean Absolute Error (MAE)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4" name="Google Shape;924;p68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68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6" name="Google Shape;926;p6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69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MAE — Fine-Tuned Models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8.png" id="933" name="Google Shape;93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581"/>
            <a:ext cx="7955279" cy="13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69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B14. Mean Absolute Error (MAE)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5" name="Google Shape;935;p69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69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7" name="Google Shape;937;p6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0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MAE Improvement from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2.png" id="944" name="Google Shape;94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53112"/>
            <a:ext cx="7955282" cy="1500116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0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B15. Improvement in MAE from fine-tuning, for each fine-tuned model relative to its own base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6" name="Google Shape;946;p70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70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8" name="Google Shape;948;p7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1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RMSE — Fine-Tuned Models by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1_rot.png" id="955" name="Google Shape;95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144856"/>
            <a:ext cx="7955279" cy="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71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B16. Root Mean Squared Error (RMSE)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7" name="Google Shape;957;p71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71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9" name="Google Shape;959;p71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2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RMSE — Fine-Tuned Models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3.png" id="966" name="Google Shape;96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581"/>
            <a:ext cx="7955279" cy="13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2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B17. Root Mean Squared Error (RMSE)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8" name="Google Shape;968;p72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2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0" name="Google Shape;970;p72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3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RMSE Improvement from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8.png" id="977" name="Google Shape;97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53112"/>
            <a:ext cx="7955282" cy="1500116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3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B18. Improvement in RMSE from fine-tuning, for each fine-tuned model relative to its own base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9" name="Google Shape;979;p73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3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1" name="Google Shape;981;p73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4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R² — Fine-Tuned Models by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5_rot.png" id="988" name="Google Shape;98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144856"/>
            <a:ext cx="7955279" cy="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74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B19. Coefficient of Determination (R²)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0" name="Google Shape;990;p74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4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2" name="Google Shape;992;p7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5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R² — Fine-Tuned Models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19.png" id="999" name="Google Shape;99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581"/>
            <a:ext cx="7955279" cy="13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75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B20. Coefficient of Determination (R²)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1" name="Google Shape;1001;p75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75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7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6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R² Improvement from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3.png" id="1010" name="Google Shape;1010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53112"/>
            <a:ext cx="7955282" cy="1500116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76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B21. Improvement in R² from fine-tuning, for each fine-tuned model relative to its own base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2" name="Google Shape;1012;p76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76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4" name="Google Shape;1014;p7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77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Bias — Fine-Tuned Models by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5_rot.png" id="1021" name="Google Shape;102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144856"/>
            <a:ext cx="7955279" cy="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77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B22. Mean Forecast Error (Bias) by model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3" name="Google Shape;1023;p77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77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5" name="Google Shape;1025;p7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8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Bias — Fine-Tuned Models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8.png" id="1032" name="Google Shape;103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581"/>
            <a:ext cx="7955279" cy="13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78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B23. Mean Forecast Error (Bias) by model, averaged across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4" name="Google Shape;1034;p78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78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6" name="Google Shape;1036;p7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79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Bias Improvement from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0.png" id="1043" name="Google Shape;104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53112"/>
            <a:ext cx="7955282" cy="1500116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79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B24. Improvement in Mean Forecast Error (Bias) from fine-tuning, for each fine-tuned model relative to its own base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5" name="Google Shape;1045;p79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79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7" name="Google Shape;1047;p79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0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C: Fine-Tuned Model Ranking (Average)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6.png" id="1054" name="Google Shape;105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839906"/>
            <a:ext cx="7955280" cy="1326528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0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B25. Average rank across all eight evaluation metrics and all verticals for the foundation models and their fine-tuned variants, where a rank of 1 is best.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6" name="Google Shape;1056;p80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80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8" name="Google Shape;1058;p80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1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D: Time Horizon Comparison Charts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81"/>
          <p:cNvSpPr/>
          <p:nvPr/>
        </p:nvSpPr>
        <p:spPr>
          <a:xfrm>
            <a:off x="411480" y="960120"/>
            <a:ext cx="82983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This appendix contains the forecast-horizon comparison charts, which re-evaluate the models at four horizons (1 month, 3 months, 6 months, and 12 months) using the same chronological train/test protocol described in the Methodology.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The first three figures aggregate across the three business verticals; the final three break the same comparisons out by vertical.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In the line charts, each series is one model and lower values indicate better accuracy; the vertical axis is capped at 260% so that the competitive models remain distinguishable. In the fine-tuning success charts, the dashed reference line marks 50%, the level at which fine-tuning would help and harm equally often.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6" name="Google Shape;1066;p81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81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8" name="Google Shape;1068;p81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2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D: WAPE by Forecast Horizon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5.png" id="1075" name="Google Shape;107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5306" y="874395"/>
            <a:ext cx="5071104" cy="32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82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C1. Weighted Absolute Percentage Error (WAPE) by forecast horizon, averaged across the three business verticals. Reproduced from Figure 8.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7" name="Google Shape;1077;p82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82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9" name="Google Shape;1079;p82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3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D: MdAPE by Forecast Horizon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47.png" id="1086" name="Google Shape;108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5306" y="874395"/>
            <a:ext cx="5071104" cy="32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83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C2. Median Absolute Percentage Error (MdAPE) by forecast horizon, averaged across the three business verticals.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8" name="Google Shape;1088;p83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83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0" name="Google Shape;1090;p83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4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D: Fine-Tuning Success by Horizon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3.png" id="1097" name="Google Shape;109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4137" y="874395"/>
            <a:ext cx="4773441" cy="32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84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C3. Share of fine-tuned runs that improved WAPE over their own base model, by forecast horizon. Reproduced from Figure 9.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9" name="Google Shape;1099;p84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84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1" name="Google Shape;1101;p84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5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D: WAPE by Horizon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25.png" id="1108" name="Google Shape;1108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220751"/>
            <a:ext cx="7955279" cy="2564838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85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C4. Weighted Absolute Percentage Error (WAPE) by forecast horizon, shown separately for each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0" name="Google Shape;1110;p85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85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2" name="Google Shape;1112;p85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6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D: MdAPE by Horizon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52.png" id="1119" name="Google Shape;111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220751"/>
            <a:ext cx="7955279" cy="25648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86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C5. Median Absolute Percentage Error (MdAPE) by forecast horizon, shown separately for each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1" name="Google Shape;1121;p86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86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3" name="Google Shape;1123;p86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7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D: Fine-Tuning Success by Horizon and Vertical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image53.png" id="1130" name="Google Shape;113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580" y="874395"/>
            <a:ext cx="5680556" cy="32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87"/>
          <p:cNvSpPr/>
          <p:nvPr/>
        </p:nvSpPr>
        <p:spPr>
          <a:xfrm>
            <a:off x="685800" y="4306824"/>
            <a:ext cx="777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Figure C6. Share of fine-tuned runs that improved WAPE over their own base model, by forecast horizon and business vertical.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2" name="Google Shape;1132;p87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87" title="channels4_profi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4" name="Google Shape;1134;p87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8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E: Cost Savings Calculation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88"/>
          <p:cNvSpPr/>
          <p:nvPr/>
        </p:nvSpPr>
        <p:spPr>
          <a:xfrm>
            <a:off x="480060" y="1097280"/>
            <a:ext cx="2571900" cy="2469000"/>
          </a:xfrm>
          <a:prstGeom prst="roundRect">
            <a:avLst>
              <a:gd fmla="val 222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88"/>
          <p:cNvSpPr/>
          <p:nvPr/>
        </p:nvSpPr>
        <p:spPr>
          <a:xfrm>
            <a:off x="651510" y="123444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1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Current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88"/>
          <p:cNvSpPr/>
          <p:nvPr/>
        </p:nvSpPr>
        <p:spPr>
          <a:xfrm>
            <a:off x="651510" y="1577340"/>
            <a:ext cx="2229000" cy="18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400 forecasts/month ×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4,800 forecasts/year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4,800 × 6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28,800 hours × $75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$2.16M/year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88"/>
          <p:cNvSpPr/>
          <p:nvPr/>
        </p:nvSpPr>
        <p:spPr>
          <a:xfrm>
            <a:off x="3284982" y="1097280"/>
            <a:ext cx="2571900" cy="2469000"/>
          </a:xfrm>
          <a:prstGeom prst="roundRect">
            <a:avLst>
              <a:gd fmla="val 222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88"/>
          <p:cNvSpPr/>
          <p:nvPr/>
        </p:nvSpPr>
        <p:spPr>
          <a:xfrm>
            <a:off x="3456432" y="123444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Open Sans"/>
              <a:buNone/>
            </a:pPr>
            <a:r>
              <a:rPr b="1" i="0" lang="en" sz="11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Projected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88"/>
          <p:cNvSpPr/>
          <p:nvPr/>
        </p:nvSpPr>
        <p:spPr>
          <a:xfrm>
            <a:off x="3456432" y="1577340"/>
            <a:ext cx="2229000" cy="18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85% time reduction leaves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~1 hour per forecast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for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4,800 × 0.9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4,320 hours × $75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Open Sans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= $324K/year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88"/>
          <p:cNvSpPr/>
          <p:nvPr/>
        </p:nvSpPr>
        <p:spPr>
          <a:xfrm>
            <a:off x="6089904" y="1097280"/>
            <a:ext cx="2571900" cy="2469000"/>
          </a:xfrm>
          <a:prstGeom prst="roundRect">
            <a:avLst>
              <a:gd fmla="val 2222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88"/>
          <p:cNvSpPr/>
          <p:nvPr/>
        </p:nvSpPr>
        <p:spPr>
          <a:xfrm>
            <a:off x="6261354" y="123444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Projected Savings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88"/>
          <p:cNvSpPr/>
          <p:nvPr/>
        </p:nvSpPr>
        <p:spPr>
          <a:xfrm>
            <a:off x="6261354" y="1851660"/>
            <a:ext cx="22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Libre Baskerville"/>
              <a:buNone/>
            </a:pPr>
            <a:r>
              <a:rPr b="0" i="0" lang="en" sz="33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$1.84M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88"/>
          <p:cNvSpPr/>
          <p:nvPr/>
        </p:nvSpPr>
        <p:spPr>
          <a:xfrm>
            <a:off x="6261354" y="25031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CFB"/>
              </a:buClr>
              <a:buSzPts val="1000"/>
              <a:buFont typeface="Open Sans"/>
              <a:buNone/>
            </a:pPr>
            <a:r>
              <a:rPr b="0" i="0" lang="en" sz="1000" u="none" cap="none" strike="noStrike">
                <a:solidFill>
                  <a:srgbClr val="F1ECFB"/>
                </a:solidFill>
                <a:latin typeface="Open Sans"/>
                <a:ea typeface="Open Sans"/>
                <a:cs typeface="Open Sans"/>
                <a:sym typeface="Open Sans"/>
              </a:rPr>
              <a:t>per 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1" name="Google Shape;1151;p88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00" y="4664010"/>
            <a:ext cx="1117151" cy="43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88" title="channels4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" y="4511990"/>
            <a:ext cx="737881" cy="737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3" name="Google Shape;1153;p88"/>
          <p:cNvCxnSpPr/>
          <p:nvPr/>
        </p:nvCxnSpPr>
        <p:spPr>
          <a:xfrm>
            <a:off x="867313" y="4700885"/>
            <a:ext cx="0" cy="361800"/>
          </a:xfrm>
          <a:prstGeom prst="straightConnector1">
            <a:avLst/>
          </a:prstGeom>
          <a:noFill/>
          <a:ln cap="flat" cmpd="sng" w="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89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F: Model Definitions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89"/>
          <p:cNvSpPr/>
          <p:nvPr/>
        </p:nvSpPr>
        <p:spPr>
          <a:xfrm>
            <a:off x="342900" y="822960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89"/>
          <p:cNvSpPr/>
          <p:nvPr/>
        </p:nvSpPr>
        <p:spPr>
          <a:xfrm>
            <a:off x="438912" y="89154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SARIMA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89"/>
          <p:cNvSpPr/>
          <p:nvPr/>
        </p:nvSpPr>
        <p:spPr>
          <a:xfrm>
            <a:off x="438912" y="1110996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Autoregressive trend and seasonality modeling on a single series.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89"/>
          <p:cNvSpPr/>
          <p:nvPr/>
        </p:nvSpPr>
        <p:spPr>
          <a:xfrm>
            <a:off x="2484310" y="822960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89"/>
          <p:cNvSpPr/>
          <p:nvPr/>
        </p:nvSpPr>
        <p:spPr>
          <a:xfrm>
            <a:off x="2580323" y="89154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SARIMAX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89"/>
          <p:cNvSpPr/>
          <p:nvPr/>
        </p:nvSpPr>
        <p:spPr>
          <a:xfrm>
            <a:off x="2580323" y="1110996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SARIMA extended with exogenous calendar regressors.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89"/>
          <p:cNvSpPr/>
          <p:nvPr/>
        </p:nvSpPr>
        <p:spPr>
          <a:xfrm>
            <a:off x="4625721" y="822960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9"/>
          <p:cNvSpPr/>
          <p:nvPr/>
        </p:nvSpPr>
        <p:spPr>
          <a:xfrm>
            <a:off x="4721733" y="89154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89"/>
          <p:cNvSpPr/>
          <p:nvPr/>
        </p:nvSpPr>
        <p:spPr>
          <a:xfrm>
            <a:off x="4721733" y="1110996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Level, trend, and seasonal decomposition via exponential smoothing.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89"/>
          <p:cNvSpPr/>
          <p:nvPr/>
        </p:nvSpPr>
        <p:spPr>
          <a:xfrm>
            <a:off x="6767132" y="822960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9"/>
          <p:cNvSpPr/>
          <p:nvPr/>
        </p:nvSpPr>
        <p:spPr>
          <a:xfrm>
            <a:off x="6863144" y="89154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89"/>
          <p:cNvSpPr/>
          <p:nvPr/>
        </p:nvSpPr>
        <p:spPr>
          <a:xfrm>
            <a:off x="6863144" y="1110996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Multivariate modeling of interdependent time series.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89"/>
          <p:cNvSpPr/>
          <p:nvPr/>
        </p:nvSpPr>
        <p:spPr>
          <a:xfrm>
            <a:off x="342900" y="2082546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89"/>
          <p:cNvSpPr/>
          <p:nvPr/>
        </p:nvSpPr>
        <p:spPr>
          <a:xfrm>
            <a:off x="438912" y="2151126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89"/>
          <p:cNvSpPr/>
          <p:nvPr/>
        </p:nvSpPr>
        <p:spPr>
          <a:xfrm>
            <a:off x="438912" y="2370582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Models time-varying volatility (heteroskedasticity) in the series.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89"/>
          <p:cNvSpPr/>
          <p:nvPr/>
        </p:nvSpPr>
        <p:spPr>
          <a:xfrm>
            <a:off x="2484310" y="2082546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89"/>
          <p:cNvSpPr/>
          <p:nvPr/>
        </p:nvSpPr>
        <p:spPr>
          <a:xfrm>
            <a:off x="2580323" y="2151126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LightGBM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89"/>
          <p:cNvSpPr/>
          <p:nvPr/>
        </p:nvSpPr>
        <p:spPr>
          <a:xfrm>
            <a:off x="2580323" y="2370582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Histogram-based gradient-boosted trees, optimized for speed and scale.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89"/>
          <p:cNvSpPr/>
          <p:nvPr/>
        </p:nvSpPr>
        <p:spPr>
          <a:xfrm>
            <a:off x="4625721" y="2082546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89"/>
          <p:cNvSpPr/>
          <p:nvPr/>
        </p:nvSpPr>
        <p:spPr>
          <a:xfrm>
            <a:off x="4721733" y="2151126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XGBoost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89"/>
          <p:cNvSpPr/>
          <p:nvPr/>
        </p:nvSpPr>
        <p:spPr>
          <a:xfrm>
            <a:off x="4721733" y="2370582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Gradient-boosted trees over engineered lag and rolling features.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89"/>
          <p:cNvSpPr/>
          <p:nvPr/>
        </p:nvSpPr>
        <p:spPr>
          <a:xfrm>
            <a:off x="6767132" y="2082546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89"/>
          <p:cNvSpPr/>
          <p:nvPr/>
        </p:nvSpPr>
        <p:spPr>
          <a:xfrm>
            <a:off x="6863144" y="2151126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Chronos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89"/>
          <p:cNvSpPr/>
          <p:nvPr/>
        </p:nvSpPr>
        <p:spPr>
          <a:xfrm>
            <a:off x="6863144" y="2370582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Tokenizes time series values and forecasts with a pretrained language model (Amazon, T5-based).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89"/>
          <p:cNvSpPr/>
          <p:nvPr/>
        </p:nvSpPr>
        <p:spPr>
          <a:xfrm>
            <a:off x="342900" y="3342132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89"/>
          <p:cNvSpPr/>
          <p:nvPr/>
        </p:nvSpPr>
        <p:spPr>
          <a:xfrm>
            <a:off x="438912" y="3410712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TimesFM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89"/>
          <p:cNvSpPr/>
          <p:nvPr/>
        </p:nvSpPr>
        <p:spPr>
          <a:xfrm>
            <a:off x="438912" y="3630168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Decoder-only pretrained transformer (Google) for zero-shot forecasting.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89"/>
          <p:cNvSpPr/>
          <p:nvPr/>
        </p:nvSpPr>
        <p:spPr>
          <a:xfrm>
            <a:off x="2484310" y="3342132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89"/>
          <p:cNvSpPr/>
          <p:nvPr/>
        </p:nvSpPr>
        <p:spPr>
          <a:xfrm>
            <a:off x="2580323" y="3410712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Moirai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89"/>
          <p:cNvSpPr/>
          <p:nvPr/>
        </p:nvSpPr>
        <p:spPr>
          <a:xfrm>
            <a:off x="2580323" y="3630168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Masked encoder transformer (Salesforce) handling arbitrary frequencies via any-variate attention.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89"/>
          <p:cNvSpPr/>
          <p:nvPr/>
        </p:nvSpPr>
        <p:spPr>
          <a:xfrm>
            <a:off x="4625721" y="3342132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89"/>
          <p:cNvSpPr/>
          <p:nvPr/>
        </p:nvSpPr>
        <p:spPr>
          <a:xfrm>
            <a:off x="4721733" y="3410712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89"/>
          <p:cNvSpPr/>
          <p:nvPr/>
        </p:nvSpPr>
        <p:spPr>
          <a:xfrm>
            <a:off x="4721733" y="3630168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Masked-pretraining transformer for forecasting, classification, anomaly detection, and imputation.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89"/>
          <p:cNvSpPr/>
          <p:nvPr/>
        </p:nvSpPr>
        <p:spPr>
          <a:xfrm>
            <a:off x="6767132" y="3342132"/>
            <a:ext cx="2031900" cy="1149900"/>
          </a:xfrm>
          <a:prstGeom prst="roundRect">
            <a:avLst>
              <a:gd fmla="val 3579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89"/>
          <p:cNvSpPr/>
          <p:nvPr/>
        </p:nvSpPr>
        <p:spPr>
          <a:xfrm>
            <a:off x="6863144" y="3410712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TTM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89"/>
          <p:cNvSpPr/>
          <p:nvPr/>
        </p:nvSpPr>
        <p:spPr>
          <a:xfrm>
            <a:off x="6863144" y="3630168"/>
            <a:ext cx="1839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Lightweight MLP-Mixer model (IBM), no attention, fast zero/few-shot forecasting.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_rakuten_logo_final.png" id="1196" name="Google Shape;119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93742"/>
            <a:ext cx="466345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7" name="Google Shape;1197;p89"/>
          <p:cNvCxnSpPr/>
          <p:nvPr/>
        </p:nvCxnSpPr>
        <p:spPr>
          <a:xfrm>
            <a:off x="822960" y="4786884"/>
            <a:ext cx="0" cy="233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assets_uchicago_logo.png" id="1198" name="Google Shape;1198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4793742"/>
            <a:ext cx="596646" cy="23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90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F: PEFT Method Definitions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90"/>
          <p:cNvSpPr/>
          <p:nvPr/>
        </p:nvSpPr>
        <p:spPr>
          <a:xfrm>
            <a:off x="342900" y="822960"/>
            <a:ext cx="2031900" cy="1779900"/>
          </a:xfrm>
          <a:prstGeom prst="roundRect">
            <a:avLst>
              <a:gd fmla="val 231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90"/>
          <p:cNvSpPr/>
          <p:nvPr/>
        </p:nvSpPr>
        <p:spPr>
          <a:xfrm>
            <a:off x="438912" y="89154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90"/>
          <p:cNvSpPr/>
          <p:nvPr/>
        </p:nvSpPr>
        <p:spPr>
          <a:xfrm>
            <a:off x="438912" y="1110996"/>
            <a:ext cx="18396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Injects trainable low-rank matrices into frozen backbone weights. Rank 8, alpha 16.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90"/>
          <p:cNvSpPr/>
          <p:nvPr/>
        </p:nvSpPr>
        <p:spPr>
          <a:xfrm>
            <a:off x="2484310" y="822960"/>
            <a:ext cx="2031900" cy="1779900"/>
          </a:xfrm>
          <a:prstGeom prst="roundRect">
            <a:avLst>
              <a:gd fmla="val 231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90"/>
          <p:cNvSpPr/>
          <p:nvPr/>
        </p:nvSpPr>
        <p:spPr>
          <a:xfrm>
            <a:off x="2580323" y="89154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QLoRA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90"/>
          <p:cNvSpPr/>
          <p:nvPr/>
        </p:nvSpPr>
        <p:spPr>
          <a:xfrm>
            <a:off x="2580323" y="1110996"/>
            <a:ext cx="18396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LoRA with simulated 4-bit (NF4) quantization of the frozen down-projection. Rank 4, alpha 16.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90"/>
          <p:cNvSpPr/>
          <p:nvPr/>
        </p:nvSpPr>
        <p:spPr>
          <a:xfrm>
            <a:off x="4625721" y="822960"/>
            <a:ext cx="2031900" cy="1779900"/>
          </a:xfrm>
          <a:prstGeom prst="roundRect">
            <a:avLst>
              <a:gd fmla="val 231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90"/>
          <p:cNvSpPr/>
          <p:nvPr/>
        </p:nvSpPr>
        <p:spPr>
          <a:xfrm>
            <a:off x="4721733" y="89154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90"/>
          <p:cNvSpPr/>
          <p:nvPr/>
        </p:nvSpPr>
        <p:spPr>
          <a:xfrm>
            <a:off x="4721733" y="1110996"/>
            <a:ext cx="18396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Decomposes weight updates into magnitude and direction; LoRA applied only to direction. Rank 8, alpha 16.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90"/>
          <p:cNvSpPr/>
          <p:nvPr/>
        </p:nvSpPr>
        <p:spPr>
          <a:xfrm>
            <a:off x="6767132" y="822960"/>
            <a:ext cx="2031900" cy="1779900"/>
          </a:xfrm>
          <a:prstGeom prst="roundRect">
            <a:avLst>
              <a:gd fmla="val 231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90"/>
          <p:cNvSpPr/>
          <p:nvPr/>
        </p:nvSpPr>
        <p:spPr>
          <a:xfrm>
            <a:off x="6863144" y="89154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BitFit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90"/>
          <p:cNvSpPr/>
          <p:nvPr/>
        </p:nvSpPr>
        <p:spPr>
          <a:xfrm>
            <a:off x="6863144" y="1110996"/>
            <a:ext cx="18396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Fine-tunes only the bias terms; all other weights stay frozen. Hidden dim 64, 2 layers.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90"/>
          <p:cNvSpPr/>
          <p:nvPr/>
        </p:nvSpPr>
        <p:spPr>
          <a:xfrm>
            <a:off x="342900" y="2712339"/>
            <a:ext cx="2031900" cy="1779900"/>
          </a:xfrm>
          <a:prstGeom prst="roundRect">
            <a:avLst>
              <a:gd fmla="val 231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90"/>
          <p:cNvSpPr/>
          <p:nvPr/>
        </p:nvSpPr>
        <p:spPr>
          <a:xfrm>
            <a:off x="438912" y="2780919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Prompt Tuning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90"/>
          <p:cNvSpPr/>
          <p:nvPr/>
        </p:nvSpPr>
        <p:spPr>
          <a:xfrm>
            <a:off x="438912" y="3000375"/>
            <a:ext cx="18396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Learns a continuous prompt vector prepended to input embeddings; backbone frozen. Prompt length 8, dim 32.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90"/>
          <p:cNvSpPr/>
          <p:nvPr/>
        </p:nvSpPr>
        <p:spPr>
          <a:xfrm>
            <a:off x="2484310" y="2712339"/>
            <a:ext cx="2031900" cy="1779900"/>
          </a:xfrm>
          <a:prstGeom prst="roundRect">
            <a:avLst>
              <a:gd fmla="val 231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90"/>
          <p:cNvSpPr/>
          <p:nvPr/>
        </p:nvSpPr>
        <p:spPr>
          <a:xfrm>
            <a:off x="2580323" y="2780919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Prefix Tuning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90"/>
          <p:cNvSpPr/>
          <p:nvPr/>
        </p:nvSpPr>
        <p:spPr>
          <a:xfrm>
            <a:off x="2580323" y="3000375"/>
            <a:ext cx="18396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Learns continuous vectors prepended to keys/values at each layer; backbone frozen. 4 layers, prefix length 8.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90"/>
          <p:cNvSpPr/>
          <p:nvPr/>
        </p:nvSpPr>
        <p:spPr>
          <a:xfrm>
            <a:off x="4625721" y="2712339"/>
            <a:ext cx="2031900" cy="1779900"/>
          </a:xfrm>
          <a:prstGeom prst="roundRect">
            <a:avLst>
              <a:gd fmla="val 2312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90"/>
          <p:cNvSpPr/>
          <p:nvPr/>
        </p:nvSpPr>
        <p:spPr>
          <a:xfrm>
            <a:off x="4721733" y="2780919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P-Tuning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90"/>
          <p:cNvSpPr/>
          <p:nvPr/>
        </p:nvSpPr>
        <p:spPr>
          <a:xfrm>
            <a:off x="4721733" y="3000375"/>
            <a:ext cx="18396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Learns a continuous prompt via a small trainable encoder rather than direct embeddings; backbone frozen. Prompt length 8, dim 32.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90"/>
          <p:cNvSpPr/>
          <p:nvPr/>
        </p:nvSpPr>
        <p:spPr>
          <a:xfrm>
            <a:off x="342900" y="4574286"/>
            <a:ext cx="845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Shared across all seven adapters: context length 128, horizon 24, dropout 0.05, 3 epochs, batch size 8, learning rate 1e-3 (AdamW), trained on the most recent 25 sliding windows.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_rakuten_logo_final.png" id="1227" name="Google Shape;122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93742"/>
            <a:ext cx="466345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8" name="Google Shape;1228;p90"/>
          <p:cNvCxnSpPr/>
          <p:nvPr/>
        </p:nvCxnSpPr>
        <p:spPr>
          <a:xfrm>
            <a:off x="822960" y="4786884"/>
            <a:ext cx="0" cy="233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assets_uchicago_logo.png" id="1229" name="Google Shape;1229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4793742"/>
            <a:ext cx="596646" cy="23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91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F: Hyperparameter Tuning Protocol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91"/>
          <p:cNvSpPr/>
          <p:nvPr/>
        </p:nvSpPr>
        <p:spPr>
          <a:xfrm>
            <a:off x="342900" y="1028700"/>
            <a:ext cx="2031900" cy="1509000"/>
          </a:xfrm>
          <a:prstGeom prst="roundRect">
            <a:avLst>
              <a:gd fmla="val 2727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91"/>
          <p:cNvSpPr/>
          <p:nvPr/>
        </p:nvSpPr>
        <p:spPr>
          <a:xfrm>
            <a:off x="438912" y="109728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 Validation Split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91"/>
          <p:cNvSpPr/>
          <p:nvPr/>
        </p:nvSpPr>
        <p:spPr>
          <a:xfrm>
            <a:off x="438912" y="1316736"/>
            <a:ext cx="1839600" cy="1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A 178-day validation slice is carved from the tail of each vertical's training partition; the preceding 1,012 observations form tuning-train.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91"/>
          <p:cNvSpPr/>
          <p:nvPr/>
        </p:nvSpPr>
        <p:spPr>
          <a:xfrm>
            <a:off x="2484310" y="1028700"/>
            <a:ext cx="2031900" cy="1509000"/>
          </a:xfrm>
          <a:prstGeom prst="roundRect">
            <a:avLst>
              <a:gd fmla="val 2727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91"/>
          <p:cNvSpPr/>
          <p:nvPr/>
        </p:nvSpPr>
        <p:spPr>
          <a:xfrm>
            <a:off x="2580323" y="109728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2. Grid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91"/>
          <p:cNvSpPr/>
          <p:nvPr/>
        </p:nvSpPr>
        <p:spPr>
          <a:xfrm>
            <a:off x="2580323" y="1316736"/>
            <a:ext cx="1839600" cy="1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Every hyperparameter combination is fit on tuning-train and scored on the validation slice across nine metrics. 130 configurations per vertical, 390 total.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91"/>
          <p:cNvSpPr/>
          <p:nvPr/>
        </p:nvSpPr>
        <p:spPr>
          <a:xfrm>
            <a:off x="4625721" y="1028700"/>
            <a:ext cx="2031900" cy="1509000"/>
          </a:xfrm>
          <a:prstGeom prst="roundRect">
            <a:avLst>
              <a:gd fmla="val 2727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91"/>
          <p:cNvSpPr/>
          <p:nvPr/>
        </p:nvSpPr>
        <p:spPr>
          <a:xfrm>
            <a:off x="4721733" y="109728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2626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 Selection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91"/>
          <p:cNvSpPr/>
          <p:nvPr/>
        </p:nvSpPr>
        <p:spPr>
          <a:xfrm>
            <a:off x="4721733" y="1316736"/>
            <a:ext cx="1839600" cy="1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The configuration with the lowest validation RMSE wins; the full scoreboard and winning config are logged per model and vertical.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91"/>
          <p:cNvSpPr/>
          <p:nvPr/>
        </p:nvSpPr>
        <p:spPr>
          <a:xfrm>
            <a:off x="6767132" y="1028700"/>
            <a:ext cx="2031900" cy="1509000"/>
          </a:xfrm>
          <a:prstGeom prst="roundRect">
            <a:avLst>
              <a:gd fmla="val 2727" name="adj"/>
            </a:avLst>
          </a:prstGeom>
          <a:solidFill>
            <a:srgbClr val="7B2C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91"/>
          <p:cNvSpPr/>
          <p:nvPr/>
        </p:nvSpPr>
        <p:spPr>
          <a:xfrm>
            <a:off x="6863144" y="1097280"/>
            <a:ext cx="18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ibre Baskerville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4. Refit &amp; 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91"/>
          <p:cNvSpPr/>
          <p:nvPr/>
        </p:nvSpPr>
        <p:spPr>
          <a:xfrm>
            <a:off x="6863144" y="1316736"/>
            <a:ext cx="1839600" cy="1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1ECFB"/>
              </a:buClr>
              <a:buSzPts val="700"/>
              <a:buFont typeface="Open Sans"/>
              <a:buNone/>
            </a:pPr>
            <a:r>
              <a:rPr b="0" i="0" lang="en" sz="700" u="none" cap="none" strike="noStrike">
                <a:solidFill>
                  <a:srgbClr val="F1ECFB"/>
                </a:solidFill>
                <a:latin typeface="Open Sans"/>
                <a:ea typeface="Open Sans"/>
                <a:cs typeface="Open Sans"/>
                <a:sym typeface="Open Sans"/>
              </a:rPr>
              <a:t>The winning configuration is refit on the full training partition and forecasts the untouched test window exactly once.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91"/>
          <p:cNvSpPr/>
          <p:nvPr/>
        </p:nvSpPr>
        <p:spPr>
          <a:xfrm>
            <a:off x="342900" y="2619756"/>
            <a:ext cx="845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Context length 512 was selected in 13 of 15 foundation-model slots, and every vertical chose weekly (period-7) seasonality where available. PEFT adapters use fixed hyperparameters with no grid search (Appendix F: PEFT Method Definitions).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Open Sans"/>
              <a:buNone/>
            </a:pPr>
            <a:r>
              <a:rPr b="0" i="1" lang="en" sz="8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Note: tune flags for Moirai, MOMENT, TimesFM, TTM, and VAR are currently saved as False in src/models, and the dashboard defaults to tune=False unless the caller opts in — reconcile before this goes into an external report.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_rakuten_logo_final.png" id="1249" name="Google Shape;1249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93742"/>
            <a:ext cx="466345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0" name="Google Shape;1250;p91"/>
          <p:cNvCxnSpPr/>
          <p:nvPr/>
        </p:nvCxnSpPr>
        <p:spPr>
          <a:xfrm>
            <a:off x="822960" y="4786884"/>
            <a:ext cx="0" cy="233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assets_uchicago_logo.png" id="1251" name="Google Shape;1251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4793742"/>
            <a:ext cx="596646" cy="23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2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F: Hyperparameter Search Spaces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8" name="Google Shape;1258;p92"/>
          <p:cNvGraphicFramePr/>
          <p:nvPr/>
        </p:nvGraphicFramePr>
        <p:xfrm>
          <a:off x="342900" y="8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{A9F460DD-10AF-40BC-B361-AF604D13E5D1}</a:tableStyleId>
              </a:tblPr>
              <a:tblGrid>
                <a:gridCol w="1063000"/>
                <a:gridCol w="6741425"/>
                <a:gridCol w="651500"/>
              </a:tblGrid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b="1"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b="1"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Grid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b="1"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Combos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SARIMA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order in {(1,0,0), (1,1,0), (1,1,1), (2,1,1)}; seasonal_order in {(0,0,0,0), (1,0,1,7), (1,1,1,7), (1,1,1,30)}; trend = None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SARIMAX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Same grid as SARIMA (exogenous calendar features held fixed)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ETS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error = add; trend in {None, add}; seasonal in {None, add}; seasonal_periods in {7, 30}; damped_trend in {False, True}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VAR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maxlags in {1, 2, 3, 7}; trend in {c, n}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GARCH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 in {1, 2}; q in {1, 2}; mean in {Constant, Zero}; vol = GARCH; dist in {normal, t}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LightGBM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n_estimators in {300, 500}; learning_rate in {0.03, 0.05}; num_leaves in {15, 31}; max_depth in {-1, 6}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XGBoost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n_estimators in {300, 500}; learning_rate in {0.03, 0.05}; max_depth in {3, 5}; subsample in {0.8, 0.9}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Chronos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context_length in {256, 512}; num_samples in {50, 100}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TimesFM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max_context in {256, 512}; max_horizon in {64, 128}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Moirai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context_length in {256, 512}; num_samples in {50, 100}; patch_size = auto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MOMENT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context_length in {256, 512}; forecast_horizon = 96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TTM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context_length = 512; prediction_length in {96, 192, 336, 720}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700"/>
                        <a:buFont typeface="Open Sans"/>
                        <a:buNone/>
                      </a:pPr>
                      <a:r>
                        <a:rPr lang="en" sz="7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sz="7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9" name="Google Shape;1259;p92"/>
          <p:cNvSpPr/>
          <p:nvPr/>
        </p:nvSpPr>
        <p:spPr>
          <a:xfrm>
            <a:off x="342900" y="4238244"/>
            <a:ext cx="8456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Open Sans"/>
              <a:buNone/>
            </a:pPr>
            <a:r>
              <a:rPr b="0" i="1" lang="en" sz="7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Held fixed outside the grids: gradient-boosting lags = (1, 7, 14, 30), rolling_windows = (7, 14, 30), colsample_bytree = 0.9, reg_lambda = 1.0, reg_alpha = 0.0, random_state = 42; statistical models alpha = 0.20 with enforce_stationarity and enforce_invertibility both False; GARCH rescale_factor = 100; Moirai model_size = small, batch_size = 32; TimesFM normalize_inputs = True; TTM scaling = True. 130 configurations evaluated per vertical, 390 total.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_rakuten_logo_final.png" id="1260" name="Google Shape;126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93742"/>
            <a:ext cx="466345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1" name="Google Shape;1261;p92"/>
          <p:cNvCxnSpPr/>
          <p:nvPr/>
        </p:nvCxnSpPr>
        <p:spPr>
          <a:xfrm>
            <a:off x="822960" y="4786884"/>
            <a:ext cx="0" cy="233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assets_uchicago_logo.png" id="1262" name="Google Shape;1262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4793742"/>
            <a:ext cx="596646" cy="23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93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F: Selected Hyperparameters — Statistical/ML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9" name="Google Shape;1269;p93"/>
          <p:cNvGraphicFramePr/>
          <p:nvPr/>
        </p:nvGraphicFramePr>
        <p:xfrm>
          <a:off x="342900" y="8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{A9F460DD-10AF-40BC-B361-AF604D13E5D1}</a:tableStyleId>
              </a:tblPr>
              <a:tblGrid>
                <a:gridCol w="1268750"/>
                <a:gridCol w="2400300"/>
                <a:gridCol w="2400300"/>
                <a:gridCol w="2386575"/>
              </a:tblGrid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b="1"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b="1"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Luxury Brand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b="1"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Luxury Dept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b="1"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Travel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SARIMA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(1,0,0) x (1,0,1,7)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(1,1,1) x (1,1,1,7)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(2,1,1) x (1,0,1,7)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SARIMAX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(1,0,0) x (1,0,1,7)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(1,1,1) x (1,1,1,7)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(2,1,1) x (1,0,1,7)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add / no trend / add / 7 / undamped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add / add / add / 7 / damped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add / add / add / 7 / undamped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VAR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maxlags 2, trend n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maxlags 1, trend n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maxlags 7, trend n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GARCH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p1 q2, Constant, normal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p1 q1, Zero, normal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p2 q1, Constant, t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LightGBM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500 / 0.05 / leaves 31 / depth -1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500 / 0.03 / leaves 15 / depth 6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500 / 0.05 / leaves 15 / depth -1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XGBoost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500 / 0.03 / depth 3 / sub 0.8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300 / 0.03 / depth 3 / sub 0.8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300 / 0.03 / depth 3 / sub 0.8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70" name="Google Shape;1270;p93"/>
          <p:cNvSpPr/>
          <p:nvPr/>
        </p:nvSpPr>
        <p:spPr>
          <a:xfrm>
            <a:off x="342900" y="4149090"/>
            <a:ext cx="845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Open Sans"/>
              <a:buNone/>
            </a:pPr>
            <a:r>
              <a:rPr b="0" i="1" lang="en" sz="7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Selection criterion: lowest validation RMSE, refit on the full training partition. ETS fields read error / trend / seasonal / seasonal_periods / damped_trend.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_rakuten_logo_final.png" id="1271" name="Google Shape;1271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93742"/>
            <a:ext cx="466345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2" name="Google Shape;1272;p93"/>
          <p:cNvCxnSpPr/>
          <p:nvPr/>
        </p:nvCxnSpPr>
        <p:spPr>
          <a:xfrm>
            <a:off x="822960" y="4786884"/>
            <a:ext cx="0" cy="233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assets_uchicago_logo.png" id="1273" name="Google Shape;127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4793742"/>
            <a:ext cx="596646" cy="23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94"/>
          <p:cNvSpPr/>
          <p:nvPr/>
        </p:nvSpPr>
        <p:spPr>
          <a:xfrm>
            <a:off x="342900" y="240030"/>
            <a:ext cx="8503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CBF"/>
              </a:buClr>
              <a:buSzPts val="2000"/>
              <a:buFont typeface="Libre Baskerville"/>
              <a:buNone/>
            </a:pPr>
            <a:r>
              <a:rPr b="0" i="0" lang="en" sz="2000" u="none" cap="none" strike="noStrike">
                <a:solidFill>
                  <a:srgbClr val="7B2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Appendix F: Selected Hyperparameters — Foundation Models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0" name="Google Shape;1280;p94"/>
          <p:cNvGraphicFramePr/>
          <p:nvPr/>
        </p:nvGraphicFramePr>
        <p:xfrm>
          <a:off x="342900" y="8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{A9F460DD-10AF-40BC-B361-AF604D13E5D1}</a:tableStyleId>
              </a:tblPr>
              <a:tblGrid>
                <a:gridCol w="1440200"/>
                <a:gridCol w="2338575"/>
                <a:gridCol w="2338575"/>
                <a:gridCol w="2338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b="1"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b="1"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Luxury Brand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b="1"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Luxury Dept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b="1"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Travel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Chronos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50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50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50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Chronos (nocov)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50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256, 100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256, 100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TimesFM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128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64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128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TimesFM (nocov)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128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128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128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Moirai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50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100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100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Moirai (nocov)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256, 50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100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100 samples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MOMENT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96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96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horizon 96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TTM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pred 96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pred 96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800"/>
                        <a:buFont typeface="Open Sans"/>
                        <a:buNone/>
                      </a:pPr>
                      <a:r>
                        <a:rPr lang="en" sz="800" u="none" cap="none" strike="noStrike">
                          <a:solidFill>
                            <a:srgbClr val="26262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ctx 512, pred 96</a:t>
                      </a:r>
                      <a:endParaRPr sz="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34300" marB="34300" marR="68600" marL="68600" anchor="ctr">
                    <a:lnL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1" name="Google Shape;1281;p94"/>
          <p:cNvSpPr/>
          <p:nvPr/>
        </p:nvSpPr>
        <p:spPr>
          <a:xfrm>
            <a:off x="342900" y="4402836"/>
            <a:ext cx="845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Open Sans"/>
              <a:buNone/>
            </a:pPr>
            <a:r>
              <a:rPr b="0" i="1" lang="en" sz="700" u="none" cap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Checkpoints: amazon/chronos-2, google/timesfm-2.5-200m-pytorch, AutonLab/MOMENT-1-small, ibm-granite/granite-timeseries-ttm-r2, Moirai small. Context length 512 was selected in 13 of 15 slots.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_rakuten_logo_final.png" id="1282" name="Google Shape;128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93742"/>
            <a:ext cx="466345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3" name="Google Shape;1283;p94"/>
          <p:cNvCxnSpPr/>
          <p:nvPr/>
        </p:nvCxnSpPr>
        <p:spPr>
          <a:xfrm>
            <a:off x="822960" y="4786884"/>
            <a:ext cx="0" cy="233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assets_uchicago_logo.png" id="1284" name="Google Shape;1284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4793742"/>
            <a:ext cx="596646" cy="233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